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1" r:id="rId9"/>
    <p:sldId id="266" r:id="rId10"/>
    <p:sldId id="267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9CB8-E569-D4EE-1E17-18E8CEE4F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373" y="2487560"/>
            <a:ext cx="10217253" cy="1560871"/>
          </a:xfrm>
        </p:spPr>
        <p:txBody>
          <a:bodyPr/>
          <a:lstStyle/>
          <a:p>
            <a:r>
              <a:rPr lang="ro-RO" dirty="0"/>
              <a:t>Advantages of message-oriented middleware in enterprise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447A1-7B22-2279-39F7-40B14CA45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7373" y="4250967"/>
            <a:ext cx="1938492" cy="488181"/>
          </a:xfrm>
        </p:spPr>
        <p:txBody>
          <a:bodyPr/>
          <a:lstStyle/>
          <a:p>
            <a:r>
              <a:rPr lang="ro-RO" dirty="0"/>
              <a:t>Goian sergiu</a:t>
            </a:r>
          </a:p>
        </p:txBody>
      </p:sp>
    </p:spTree>
    <p:extLst>
      <p:ext uri="{BB962C8B-B14F-4D97-AF65-F5344CB8AC3E}">
        <p14:creationId xmlns:p14="http://schemas.microsoft.com/office/powerpoint/2010/main" val="407871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ABEA-EE47-1421-BD46-415D013D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Enterprise systems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9D46A-4386-85BC-1D0B-D64C4DD80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2969343"/>
          </a:xfrm>
        </p:spPr>
        <p:txBody>
          <a:bodyPr/>
          <a:lstStyle/>
          <a:p>
            <a:r>
              <a:rPr lang="ro-RO" dirty="0"/>
              <a:t>Systems designed to allow an organisation to manage its data and business processes;</a:t>
            </a:r>
          </a:p>
          <a:p>
            <a:endParaRPr lang="ro-RO" dirty="0"/>
          </a:p>
          <a:p>
            <a:r>
              <a:rPr lang="ro-RO" dirty="0"/>
              <a:t>Enterprise Resource Planning, Enterprise Content Management, Customer Relationship Management, BI &amp; Analytics, etc;</a:t>
            </a:r>
          </a:p>
        </p:txBody>
      </p:sp>
    </p:spTree>
    <p:extLst>
      <p:ext uri="{BB962C8B-B14F-4D97-AF65-F5344CB8AC3E}">
        <p14:creationId xmlns:p14="http://schemas.microsoft.com/office/powerpoint/2010/main" val="2252514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0ED7-409C-77D1-6765-170773FA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D121-53AE-D7FF-CBFB-80C6E855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7C5E7-9FF3-0897-DC2F-B89FC4F5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4788311"/>
          </a:xfrm>
        </p:spPr>
        <p:txBody>
          <a:bodyPr>
            <a:normAutofit/>
          </a:bodyPr>
          <a:lstStyle/>
          <a:p>
            <a:r>
              <a:rPr lang="ro-RO" dirty="0"/>
              <a:t>Component that binds together multiple components of a system;</a:t>
            </a:r>
          </a:p>
          <a:p>
            <a:r>
              <a:rPr lang="ro-RO" dirty="0"/>
              <a:t>Data exchange, interoperability across heterogeneous systems, authentication / authorization, logging, error handling;</a:t>
            </a:r>
          </a:p>
          <a:p>
            <a:endParaRPr lang="ro-RO" dirty="0"/>
          </a:p>
          <a:p>
            <a:r>
              <a:rPr lang="ro-RO" dirty="0"/>
              <a:t>Core types:</a:t>
            </a:r>
          </a:p>
          <a:p>
            <a:pPr lvl="1"/>
            <a:r>
              <a:rPr lang="ro-RO" dirty="0"/>
              <a:t>Message Oriented;</a:t>
            </a:r>
          </a:p>
          <a:p>
            <a:pPr lvl="1"/>
            <a:r>
              <a:rPr lang="ro-RO" dirty="0"/>
              <a:t>Database Middleware: joins apps to the data persistence layer;</a:t>
            </a:r>
          </a:p>
          <a:p>
            <a:pPr lvl="1"/>
            <a:r>
              <a:rPr lang="ro-RO" dirty="0"/>
              <a:t>Web: sorts web traffic, requests across different components;</a:t>
            </a:r>
          </a:p>
          <a:p>
            <a:pPr lvl="1"/>
            <a:r>
              <a:rPr lang="ro-RO" dirty="0"/>
              <a:t>Transaction: manages distirbuted transaction across multiple systems;</a:t>
            </a:r>
          </a:p>
          <a:p>
            <a:pPr lvl="1"/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4536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26C03-2208-55DE-7CDD-0FFC4FC9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7D96-906C-0A4F-F3C6-1F229F86D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Message-oriented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184C-FEE0-A4BD-FE86-A5BA03EF2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95948"/>
            <a:ext cx="9905999" cy="3411794"/>
          </a:xfrm>
        </p:spPr>
        <p:txBody>
          <a:bodyPr>
            <a:normAutofit/>
          </a:bodyPr>
          <a:lstStyle/>
          <a:p>
            <a:r>
              <a:rPr lang="ro-RO" dirty="0"/>
              <a:t>Allows components of a distirbuted systems exchange data async by passing messages;</a:t>
            </a:r>
          </a:p>
          <a:p>
            <a:endParaRPr lang="ro-RO" dirty="0"/>
          </a:p>
          <a:p>
            <a:r>
              <a:rPr lang="ro-RO" dirty="0"/>
              <a:t>Publish-subscribe pattern: messages are sent to a topic and distirbuted to all interested subscribers;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4080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27DD-45F6-A689-2F85-2F004F0B7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DB52-76AF-731B-27D2-91D67013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534D-027C-E4C5-FDDF-AE2C8F1D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7"/>
            <a:ext cx="9905999" cy="4876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ro-RO" dirty="0"/>
          </a:p>
          <a:p>
            <a:r>
              <a:rPr lang="ro-RO" sz="2600" dirty="0"/>
              <a:t>Queue: used to temporarily store data if receiving system is slow / busy / down;</a:t>
            </a:r>
          </a:p>
          <a:p>
            <a:endParaRPr lang="ro-RO" sz="2600" dirty="0"/>
          </a:p>
          <a:p>
            <a:r>
              <a:rPr lang="ro-RO" sz="2600" dirty="0"/>
              <a:t>Broker: intermediary component / tool that manages routing of produced messages;</a:t>
            </a:r>
          </a:p>
          <a:p>
            <a:endParaRPr lang="ro-RO" sz="2600" dirty="0"/>
          </a:p>
          <a:p>
            <a:r>
              <a:rPr lang="ro-RO" sz="2600" dirty="0"/>
              <a:t>Producer: pushes messages to queue;</a:t>
            </a:r>
          </a:p>
          <a:p>
            <a:endParaRPr lang="ro-RO" sz="2600" dirty="0"/>
          </a:p>
          <a:p>
            <a:r>
              <a:rPr lang="ro-RO" sz="2600" dirty="0"/>
              <a:t>Consumer: pops messages from the queue;</a:t>
            </a:r>
          </a:p>
        </p:txBody>
      </p:sp>
    </p:spTree>
    <p:extLst>
      <p:ext uri="{BB962C8B-B14F-4D97-AF65-F5344CB8AC3E}">
        <p14:creationId xmlns:p14="http://schemas.microsoft.com/office/powerpoint/2010/main" val="78837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5F8BC-C172-6AE5-E0D0-A717877D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Message Oriented Middleware (MOM)? - GeeksforGeeks">
            <a:extLst>
              <a:ext uri="{FF2B5EF4-FFF2-40B4-BE49-F238E27FC236}">
                <a16:creationId xmlns:a16="http://schemas.microsoft.com/office/drawing/2014/main" id="{95D1B00A-BAA3-8ADA-CE40-C3600B37B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529" y="1502778"/>
            <a:ext cx="8172942" cy="385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55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CDFBE-624F-3507-2427-3084D064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88DB-5E01-29F7-B7E1-CED002E6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CE29-02FD-8921-207B-664BEFBA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4788311"/>
          </a:xfrm>
        </p:spPr>
        <p:txBody>
          <a:bodyPr>
            <a:normAutofit/>
          </a:bodyPr>
          <a:lstStyle/>
          <a:p>
            <a:r>
              <a:rPr lang="ro-RO" dirty="0"/>
              <a:t>Implement the framework, easy to be integrated;</a:t>
            </a:r>
          </a:p>
          <a:p>
            <a:endParaRPr lang="ro-RO" dirty="0"/>
          </a:p>
          <a:p>
            <a:r>
              <a:rPr lang="ro-RO" dirty="0"/>
              <a:t>Most commonly used:</a:t>
            </a:r>
          </a:p>
          <a:p>
            <a:pPr lvl="1"/>
            <a:r>
              <a:rPr lang="ro-RO" dirty="0"/>
              <a:t>RabbitMQ: widely use dopen-source message broker;</a:t>
            </a:r>
          </a:p>
          <a:p>
            <a:pPr lvl="1"/>
            <a:r>
              <a:rPr lang="ro-RO" dirty="0"/>
              <a:t>Apache Kafka: high-throughput distirbuted streaming platform;</a:t>
            </a:r>
          </a:p>
          <a:p>
            <a:pPr lvl="1"/>
            <a:r>
              <a:rPr lang="ro-RO" dirty="0"/>
              <a:t>Amazon SQS / Azure Service Bus: cloud-based queueing services;</a:t>
            </a:r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98804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1C2E6-E6F1-E509-06E7-2CBF8553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0E36-A078-B984-9F42-BE6B98454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Rabbitmq - Main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B69DF-0954-C4A9-DB72-C86AAAAEC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4788311"/>
          </a:xfrm>
        </p:spPr>
        <p:txBody>
          <a:bodyPr>
            <a:normAutofit/>
          </a:bodyPr>
          <a:lstStyle/>
          <a:p>
            <a:r>
              <a:rPr lang="ro-RO" dirty="0"/>
              <a:t>Exchanges: handles message routing, receives messages from producers and decides to which queue to push them using routing keys;</a:t>
            </a:r>
          </a:p>
          <a:p>
            <a:endParaRPr lang="ro-RO" dirty="0"/>
          </a:p>
          <a:p>
            <a:r>
              <a:rPr lang="ro-RO" dirty="0"/>
              <a:t>Channels: </a:t>
            </a:r>
          </a:p>
          <a:p>
            <a:pPr lvl="1"/>
            <a:r>
              <a:rPr lang="ro-RO" dirty="0"/>
              <a:t>virtual lightweight connections unde one main TCP connection;</a:t>
            </a:r>
          </a:p>
          <a:p>
            <a:pPr lvl="1"/>
            <a:r>
              <a:rPr lang="ro-RO" dirty="0"/>
              <a:t>efficient: not needed to create multiple TCP connections;</a:t>
            </a:r>
          </a:p>
        </p:txBody>
      </p:sp>
    </p:spTree>
    <p:extLst>
      <p:ext uri="{BB962C8B-B14F-4D97-AF65-F5344CB8AC3E}">
        <p14:creationId xmlns:p14="http://schemas.microsoft.com/office/powerpoint/2010/main" val="34179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A1E3-82E6-945D-C14E-A1A78388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abbitMQ: Concepts and Best Practices | by Clearwater Analytics Engineering  | cwan-engineering | Medium">
            <a:extLst>
              <a:ext uri="{FF2B5EF4-FFF2-40B4-BE49-F238E27FC236}">
                <a16:creationId xmlns:a16="http://schemas.microsoft.com/office/drawing/2014/main" id="{6D0A65A4-4125-2824-F4C2-E2A612A04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7" y="719137"/>
            <a:ext cx="446722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861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FE8CD-B0D2-47FB-B4A8-7F816125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8EF9-C715-2304-36CA-AB655DE82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Rabbitmq -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574CC-9E47-9666-5725-4D94CF194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4788311"/>
          </a:xfrm>
        </p:spPr>
        <p:txBody>
          <a:bodyPr>
            <a:normAutofit/>
          </a:bodyPr>
          <a:lstStyle/>
          <a:p>
            <a:r>
              <a:rPr lang="ro-RO" dirty="0"/>
              <a:t>Fanout: </a:t>
            </a:r>
            <a:r>
              <a:rPr lang="en-US" dirty="0"/>
              <a:t> broadcasts all messages to every bound queue (pub/sub)</a:t>
            </a:r>
            <a:r>
              <a:rPr lang="ro-RO" dirty="0"/>
              <a:t>;</a:t>
            </a:r>
          </a:p>
          <a:p>
            <a:endParaRPr lang="ro-RO" dirty="0"/>
          </a:p>
          <a:p>
            <a:r>
              <a:rPr lang="ro-RO" dirty="0"/>
              <a:t>Topic: </a:t>
            </a:r>
            <a:r>
              <a:rPr lang="en-US" dirty="0"/>
              <a:t>routes messages using wildcard pattern matching on the routing key (for complex routing)</a:t>
            </a:r>
            <a:r>
              <a:rPr lang="ro-RO" dirty="0"/>
              <a:t>;</a:t>
            </a:r>
          </a:p>
          <a:p>
            <a:endParaRPr lang="ro-RO" dirty="0"/>
          </a:p>
          <a:p>
            <a:r>
              <a:rPr lang="ro-RO" dirty="0"/>
              <a:t>Direct: </a:t>
            </a:r>
            <a:r>
              <a:rPr lang="en-US" dirty="0"/>
              <a:t>routes messages based on an exact routing key match</a:t>
            </a:r>
            <a:r>
              <a:rPr lang="ro-RO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0220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49D4-CD94-DA01-699D-893B5B53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6362-7CED-9B4E-D7BB-436B274AD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B1F72-7973-6AA0-8AA1-2F6FDDEB8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4788311"/>
          </a:xfrm>
        </p:spPr>
        <p:txBody>
          <a:bodyPr>
            <a:normAutofit/>
          </a:bodyPr>
          <a:lstStyle/>
          <a:p>
            <a:r>
              <a:rPr lang="ro-RO" dirty="0"/>
              <a:t>Loose coupling: components </a:t>
            </a:r>
            <a:r>
              <a:rPr lang="ro-RO"/>
              <a:t>operate independently;</a:t>
            </a:r>
            <a:endParaRPr lang="ro-RO" dirty="0"/>
          </a:p>
          <a:p>
            <a:endParaRPr lang="ro-RO" dirty="0"/>
          </a:p>
          <a:p>
            <a:r>
              <a:rPr lang="ro-RO" dirty="0"/>
              <a:t>Asynchronous: producers and consumers don’t need to be available simultaneously;</a:t>
            </a:r>
          </a:p>
          <a:p>
            <a:endParaRPr lang="ro-RO" dirty="0"/>
          </a:p>
          <a:p>
            <a:r>
              <a:rPr lang="ro-RO" dirty="0"/>
              <a:t>Reliability and fault tolerance: guaranteed message delivery, prevents data loss even if apps are down temporarily;</a:t>
            </a:r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58413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425BA-08C0-E666-4762-B66140E5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8C80-C85E-DBFF-AAB0-E173F125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56321"/>
          </a:xfrm>
        </p:spPr>
        <p:txBody>
          <a:bodyPr/>
          <a:lstStyle/>
          <a:p>
            <a:r>
              <a:rPr lang="ro-RO" dirty="0"/>
              <a:t>Usage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8A73E-9EEE-C736-41DC-A59CE3DE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1986"/>
            <a:ext cx="9905999" cy="4788311"/>
          </a:xfrm>
        </p:spPr>
        <p:txBody>
          <a:bodyPr>
            <a:normAutofit/>
          </a:bodyPr>
          <a:lstStyle/>
          <a:p>
            <a:r>
              <a:rPr lang="ro-RO" dirty="0"/>
              <a:t>Banking Enterprise System, customer / producer purchase triggers series of internal systems to process data async, trnasaction message generated and sent to RabbitMQ exchange;</a:t>
            </a:r>
          </a:p>
          <a:p>
            <a:endParaRPr lang="ro-RO" dirty="0"/>
          </a:p>
          <a:p>
            <a:r>
              <a:rPr lang="ro-RO" dirty="0"/>
              <a:t>Exchange dupplicates it to multiple queues:</a:t>
            </a:r>
          </a:p>
          <a:p>
            <a:pPr lvl="1"/>
            <a:r>
              <a:rPr lang="ro-RO" dirty="0"/>
              <a:t>Fraud detection queue: consumer that checks message integrity;</a:t>
            </a:r>
          </a:p>
          <a:p>
            <a:pPr lvl="1"/>
            <a:r>
              <a:rPr lang="ro-RO" dirty="0"/>
              <a:t>Accounting queue: consumer that checks customer’s balance and updates it;</a:t>
            </a:r>
          </a:p>
          <a:p>
            <a:pPr lvl="1"/>
            <a:r>
              <a:rPr lang="ro-RO" dirty="0"/>
              <a:t>Notification queue: notification broadcasted to all customer’s subscribed device;s</a:t>
            </a:r>
          </a:p>
        </p:txBody>
      </p:sp>
    </p:spTree>
    <p:extLst>
      <p:ext uri="{BB962C8B-B14F-4D97-AF65-F5344CB8AC3E}">
        <p14:creationId xmlns:p14="http://schemas.microsoft.com/office/powerpoint/2010/main" val="2510445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{E987CB0F-B079-4A87-AAE2-68EE480F962A}TF6d5feb1e-e145-43f1-b745-cb4b54c5ee97e8df5820-d231c73adf5d</Template>
  <TotalTime>172</TotalTime>
  <Words>430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Advantages of message-oriented middleware in enterprise systems</vt:lpstr>
      <vt:lpstr>Enterprise systems </vt:lpstr>
      <vt:lpstr>middleware</vt:lpstr>
      <vt:lpstr>Message-oriented middleware</vt:lpstr>
      <vt:lpstr>components</vt:lpstr>
      <vt:lpstr>PowerPoint Presentation</vt:lpstr>
      <vt:lpstr>Tools</vt:lpstr>
      <vt:lpstr>Rabbitmq - Main Components </vt:lpstr>
      <vt:lpstr>PowerPoint Presentation</vt:lpstr>
      <vt:lpstr>Rabbitmq - Routing</vt:lpstr>
      <vt:lpstr>advantages</vt:lpstr>
      <vt:lpstr>Usage scenario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SERGIU-RAREŞ GOIAN</dc:creator>
  <cp:lastModifiedBy>SERGIU-RAREŞ GOIAN</cp:lastModifiedBy>
  <cp:revision>5</cp:revision>
  <dcterms:created xsi:type="dcterms:W3CDTF">2026-04-05T07:05:12Z</dcterms:created>
  <dcterms:modified xsi:type="dcterms:W3CDTF">2026-04-06T15:49:20Z</dcterms:modified>
</cp:coreProperties>
</file>