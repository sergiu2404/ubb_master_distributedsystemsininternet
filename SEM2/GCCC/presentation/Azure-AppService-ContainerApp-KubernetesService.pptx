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13"/>
  </p:notesMasterIdLst>
  <p:handoutMasterIdLst>
    <p:handoutMasterId r:id="rId14"/>
  </p:handoutMasterIdLst>
  <p:sldIdLst>
    <p:sldId id="256" r:id="rId5"/>
    <p:sldId id="278" r:id="rId6"/>
    <p:sldId id="279" r:id="rId7"/>
    <p:sldId id="280" r:id="rId8"/>
    <p:sldId id="281" r:id="rId9"/>
    <p:sldId id="284" r:id="rId10"/>
    <p:sldId id="282" r:id="rId11"/>
    <p:sldId id="283" r:id="rId12"/>
  </p:sldIdLst>
  <p:sldSz cx="12192000" cy="6858000"/>
  <p:notesSz cx="6858000" cy="9144000"/>
  <p:defaultTextStyle>
    <a:defPPr rtl="0">
      <a:defRPr lang="ro-ro"/>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033" autoAdjust="0"/>
  </p:normalViewPr>
  <p:slideViewPr>
    <p:cSldViewPr snapToGrid="0">
      <p:cViewPr varScale="1">
        <p:scale>
          <a:sx n="82" d="100"/>
          <a:sy n="82" d="100"/>
        </p:scale>
        <p:origin x="720" y="77"/>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5" d="100"/>
          <a:sy n="85" d="100"/>
        </p:scale>
        <p:origin x="3804"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ubstituent ante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ro-RO" dirty="0"/>
          </a:p>
        </p:txBody>
      </p:sp>
      <p:sp>
        <p:nvSpPr>
          <p:cNvPr id="3" name="Substituent dată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AEF2A764-9427-4A16-BA5F-5D351D8D6982}" type="datetime1">
              <a:rPr lang="ro-RO" smtClean="0"/>
              <a:t>27.05.2026</a:t>
            </a:fld>
            <a:endParaRPr lang="ro-RO" dirty="0"/>
          </a:p>
        </p:txBody>
      </p:sp>
      <p:sp>
        <p:nvSpPr>
          <p:cNvPr id="4" name="Substituent subsol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ro-RO" dirty="0"/>
          </a:p>
        </p:txBody>
      </p:sp>
      <p:sp>
        <p:nvSpPr>
          <p:cNvPr id="5" name="Substituent număr diapozitiv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FB53ADFC-ABB8-401A-BB24-33FDAFEDCEBD}" type="slidenum">
              <a:rPr lang="ro-RO" smtClean="0"/>
              <a:t>‹#›</a:t>
            </a:fld>
            <a:endParaRPr lang="ro-RO" dirty="0"/>
          </a:p>
        </p:txBody>
      </p:sp>
    </p:spTree>
    <p:extLst>
      <p:ext uri="{BB962C8B-B14F-4D97-AF65-F5344CB8AC3E}">
        <p14:creationId xmlns:p14="http://schemas.microsoft.com/office/powerpoint/2010/main" val="273324930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ubstituent ante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ro-RO" noProof="0" dirty="0"/>
          </a:p>
        </p:txBody>
      </p:sp>
      <p:sp>
        <p:nvSpPr>
          <p:cNvPr id="3" name="Substituent dată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9D0C6F-E87F-450D-8A16-E4E0DC635057}" type="datetime1">
              <a:rPr lang="ro-RO" smtClean="0"/>
              <a:pPr/>
              <a:t>27.05.2026</a:t>
            </a:fld>
            <a:endParaRPr lang="ro-RO" dirty="0"/>
          </a:p>
        </p:txBody>
      </p:sp>
      <p:sp>
        <p:nvSpPr>
          <p:cNvPr id="4" name="Substituent imagine diapozitiv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ro-RO" noProof="0" dirty="0"/>
          </a:p>
        </p:txBody>
      </p:sp>
      <p:sp>
        <p:nvSpPr>
          <p:cNvPr id="5" name="Substituent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ro-RO" noProof="0" dirty="0"/>
              <a:t>Faceți clic pentru a edita stilurile de text coordonator</a:t>
            </a:r>
          </a:p>
          <a:p>
            <a:pPr lvl="1" rtl="0"/>
            <a:r>
              <a:rPr lang="ro-RO" noProof="0" dirty="0"/>
              <a:t>Al doilea nivel</a:t>
            </a:r>
          </a:p>
          <a:p>
            <a:pPr lvl="2" rtl="0"/>
            <a:r>
              <a:rPr lang="ro-RO" noProof="0" dirty="0"/>
              <a:t>Al treilea nivel</a:t>
            </a:r>
          </a:p>
          <a:p>
            <a:pPr lvl="3" rtl="0"/>
            <a:r>
              <a:rPr lang="ro-RO" noProof="0" dirty="0"/>
              <a:t>Al patrulea nivel</a:t>
            </a:r>
          </a:p>
          <a:p>
            <a:pPr lvl="4" rtl="0"/>
            <a:r>
              <a:rPr lang="ro-RO" noProof="0" dirty="0"/>
              <a:t>Al cincilea nivel</a:t>
            </a:r>
          </a:p>
        </p:txBody>
      </p:sp>
      <p:sp>
        <p:nvSpPr>
          <p:cNvPr id="6" name="Substituent subsol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ro-RO" noProof="0" dirty="0"/>
          </a:p>
        </p:txBody>
      </p:sp>
      <p:sp>
        <p:nvSpPr>
          <p:cNvPr id="7" name="Substituent număr diapozitiv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4B725628-3A68-42F4-BA86-981817953149}" type="slidenum">
              <a:rPr lang="ro-RO" noProof="0" smtClean="0"/>
              <a:t>‹#›</a:t>
            </a:fld>
            <a:endParaRPr lang="ro-RO" noProof="0" dirty="0"/>
          </a:p>
        </p:txBody>
      </p:sp>
    </p:spTree>
    <p:extLst>
      <p:ext uri="{BB962C8B-B14F-4D97-AF65-F5344CB8AC3E}">
        <p14:creationId xmlns:p14="http://schemas.microsoft.com/office/powerpoint/2010/main" val="649258610"/>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sp>
      <p:sp>
        <p:nvSpPr>
          <p:cNvPr id="3" name="Substituent note 2"/>
          <p:cNvSpPr>
            <a:spLocks noGrp="1"/>
          </p:cNvSpPr>
          <p:nvPr>
            <p:ph type="body" idx="1"/>
          </p:nvPr>
        </p:nvSpPr>
        <p:spPr/>
        <p:txBody>
          <a:bodyPr rtlCol="0"/>
          <a:lstStyle/>
          <a:p>
            <a:pPr rtl="0"/>
            <a:endParaRPr lang="ro-RO" dirty="0"/>
          </a:p>
        </p:txBody>
      </p:sp>
      <p:sp>
        <p:nvSpPr>
          <p:cNvPr id="4" name="Substituent număr diapozitiv 3"/>
          <p:cNvSpPr>
            <a:spLocks noGrp="1"/>
          </p:cNvSpPr>
          <p:nvPr>
            <p:ph type="sldNum" sz="quarter" idx="10"/>
          </p:nvPr>
        </p:nvSpPr>
        <p:spPr/>
        <p:txBody>
          <a:bodyPr rtlCol="0"/>
          <a:lstStyle/>
          <a:p>
            <a:pPr rtl="0"/>
            <a:fld id="{4B725628-3A68-42F4-BA86-981817953149}" type="slidenum">
              <a:rPr lang="ro-RO" smtClean="0"/>
              <a:t>1</a:t>
            </a:fld>
            <a:endParaRPr lang="ro-RO" dirty="0"/>
          </a:p>
        </p:txBody>
      </p:sp>
    </p:spTree>
    <p:extLst>
      <p:ext uri="{BB962C8B-B14F-4D97-AF65-F5344CB8AC3E}">
        <p14:creationId xmlns:p14="http://schemas.microsoft.com/office/powerpoint/2010/main" val="38592577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F01B95-59F2-6E07-6375-F464B092D5A3}"/>
            </a:ext>
          </a:extLst>
        </p:cNvPr>
        <p:cNvGrpSpPr/>
        <p:nvPr/>
      </p:nvGrpSpPr>
      <p:grpSpPr>
        <a:xfrm>
          <a:off x="0" y="0"/>
          <a:ext cx="0" cy="0"/>
          <a:chOff x="0" y="0"/>
          <a:chExt cx="0" cy="0"/>
        </a:xfrm>
      </p:grpSpPr>
      <p:sp>
        <p:nvSpPr>
          <p:cNvPr id="2" name="Substituent imagine diapozitiv 1">
            <a:extLst>
              <a:ext uri="{FF2B5EF4-FFF2-40B4-BE49-F238E27FC236}">
                <a16:creationId xmlns:a16="http://schemas.microsoft.com/office/drawing/2014/main" id="{5AD36A75-9433-55FF-3E81-6D4239C7489B}"/>
              </a:ext>
            </a:extLst>
          </p:cNvPr>
          <p:cNvSpPr>
            <a:spLocks noGrp="1" noRot="1" noChangeAspect="1"/>
          </p:cNvSpPr>
          <p:nvPr>
            <p:ph type="sldImg"/>
          </p:nvPr>
        </p:nvSpPr>
        <p:spPr/>
      </p:sp>
      <p:sp>
        <p:nvSpPr>
          <p:cNvPr id="3" name="Substituent note 2">
            <a:extLst>
              <a:ext uri="{FF2B5EF4-FFF2-40B4-BE49-F238E27FC236}">
                <a16:creationId xmlns:a16="http://schemas.microsoft.com/office/drawing/2014/main" id="{071DBFA1-86E5-B5CB-2311-A125F9859101}"/>
              </a:ext>
            </a:extLst>
          </p:cNvPr>
          <p:cNvSpPr>
            <a:spLocks noGrp="1"/>
          </p:cNvSpPr>
          <p:nvPr>
            <p:ph type="body" idx="1"/>
          </p:nvPr>
        </p:nvSpPr>
        <p:spPr/>
        <p:txBody>
          <a:bodyPr rtlCol="0"/>
          <a:lstStyle/>
          <a:p>
            <a:pPr rtl="0"/>
            <a:r>
              <a:rPr lang="ro-RO" dirty="0"/>
              <a:t>Care dintre ele ar trebui folosite cand vrei sa deployezi pe azure</a:t>
            </a:r>
          </a:p>
          <a:p>
            <a:pPr rtl="0"/>
            <a:endParaRPr lang="ro-RO" dirty="0"/>
          </a:p>
          <a:p>
            <a:pPr rtl="0"/>
            <a:r>
              <a:rPr lang="ro-RO" dirty="0"/>
              <a:t>3 optiuni: Azure app service, azure container apps, azure kubernetes service</a:t>
            </a:r>
          </a:p>
          <a:p>
            <a:pPr rtl="0"/>
            <a:endParaRPr lang="ro-RO" dirty="0"/>
          </a:p>
          <a:p>
            <a:pPr rtl="0"/>
            <a:r>
              <a:rPr lang="ro-RO" dirty="0"/>
              <a:t>Scopul prezentarii: evidentierea diferentelor dintre cele 3 servicii</a:t>
            </a:r>
          </a:p>
        </p:txBody>
      </p:sp>
      <p:sp>
        <p:nvSpPr>
          <p:cNvPr id="4" name="Substituent număr diapozitiv 3">
            <a:extLst>
              <a:ext uri="{FF2B5EF4-FFF2-40B4-BE49-F238E27FC236}">
                <a16:creationId xmlns:a16="http://schemas.microsoft.com/office/drawing/2014/main" id="{C902BBEE-B598-2846-3FA6-25BA5F4E2C5E}"/>
              </a:ext>
            </a:extLst>
          </p:cNvPr>
          <p:cNvSpPr>
            <a:spLocks noGrp="1"/>
          </p:cNvSpPr>
          <p:nvPr>
            <p:ph type="sldNum" sz="quarter" idx="10"/>
          </p:nvPr>
        </p:nvSpPr>
        <p:spPr/>
        <p:txBody>
          <a:bodyPr rtlCol="0"/>
          <a:lstStyle/>
          <a:p>
            <a:pPr rtl="0"/>
            <a:fld id="{4B725628-3A68-42F4-BA86-981817953149}" type="slidenum">
              <a:rPr lang="ro-RO" smtClean="0"/>
              <a:t>2</a:t>
            </a:fld>
            <a:endParaRPr lang="ro-RO" dirty="0"/>
          </a:p>
        </p:txBody>
      </p:sp>
    </p:spTree>
    <p:extLst>
      <p:ext uri="{BB962C8B-B14F-4D97-AF65-F5344CB8AC3E}">
        <p14:creationId xmlns:p14="http://schemas.microsoft.com/office/powerpoint/2010/main" val="28656888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BDF5D-BC4E-4CA4-68EA-CA9C119C7A4F}"/>
            </a:ext>
          </a:extLst>
        </p:cNvPr>
        <p:cNvGrpSpPr/>
        <p:nvPr/>
      </p:nvGrpSpPr>
      <p:grpSpPr>
        <a:xfrm>
          <a:off x="0" y="0"/>
          <a:ext cx="0" cy="0"/>
          <a:chOff x="0" y="0"/>
          <a:chExt cx="0" cy="0"/>
        </a:xfrm>
      </p:grpSpPr>
      <p:sp>
        <p:nvSpPr>
          <p:cNvPr id="2" name="Substituent imagine diapozitiv 1">
            <a:extLst>
              <a:ext uri="{FF2B5EF4-FFF2-40B4-BE49-F238E27FC236}">
                <a16:creationId xmlns:a16="http://schemas.microsoft.com/office/drawing/2014/main" id="{16FA6612-6BA0-4FAD-1743-4E430F81715B}"/>
              </a:ext>
            </a:extLst>
          </p:cNvPr>
          <p:cNvSpPr>
            <a:spLocks noGrp="1" noRot="1" noChangeAspect="1"/>
          </p:cNvSpPr>
          <p:nvPr>
            <p:ph type="sldImg"/>
          </p:nvPr>
        </p:nvSpPr>
        <p:spPr/>
      </p:sp>
      <p:sp>
        <p:nvSpPr>
          <p:cNvPr id="3" name="Substituent note 2">
            <a:extLst>
              <a:ext uri="{FF2B5EF4-FFF2-40B4-BE49-F238E27FC236}">
                <a16:creationId xmlns:a16="http://schemas.microsoft.com/office/drawing/2014/main" id="{9E9D994B-E4D2-88DF-0F66-E225D2756368}"/>
              </a:ext>
            </a:extLst>
          </p:cNvPr>
          <p:cNvSpPr>
            <a:spLocks noGrp="1"/>
          </p:cNvSpPr>
          <p:nvPr>
            <p:ph type="body" idx="1"/>
          </p:nvPr>
        </p:nvSpPr>
        <p:spPr/>
        <p:txBody>
          <a:bodyPr rtlCol="0"/>
          <a:lstStyle/>
          <a:p>
            <a:pPr rtl="0"/>
            <a:r>
              <a:rPr lang="ro-RO" dirty="0"/>
              <a:t>Azure app service:</a:t>
            </a:r>
          </a:p>
          <a:p>
            <a:pPr rtl="0"/>
            <a:endParaRPr lang="ro-RO" dirty="0"/>
          </a:p>
          <a:p>
            <a:pPr rtl="0"/>
            <a:r>
              <a:rPr lang="ro-RO" dirty="0"/>
              <a:t>De tip PaaS, pentru hosting de aplicatii web, rest api-uri si backend-uri</a:t>
            </a:r>
          </a:p>
          <a:p>
            <a:pPr rtl="0"/>
            <a:r>
              <a:rPr lang="ro-RO" dirty="0"/>
              <a:t>Tu te ocupi doar de cod, il deployezi, azure face restul: server, OS, patch-uri, disponibilitate</a:t>
            </a:r>
          </a:p>
          <a:p>
            <a:pPr rtl="0"/>
            <a:r>
              <a:rPr lang="ro-RO" dirty="0"/>
              <a:t>Ideal pentru aplicatii mici si medii, pentru situatii in car evrei sa deployezi rapid, sau cand echipa nu are experienta pe partea de devops (nu ai nevoie de cunostiinte de docker, sau infra</a:t>
            </a:r>
          </a:p>
        </p:txBody>
      </p:sp>
      <p:sp>
        <p:nvSpPr>
          <p:cNvPr id="4" name="Substituent număr diapozitiv 3">
            <a:extLst>
              <a:ext uri="{FF2B5EF4-FFF2-40B4-BE49-F238E27FC236}">
                <a16:creationId xmlns:a16="http://schemas.microsoft.com/office/drawing/2014/main" id="{3FE87ECF-138E-CE61-D2CB-C74BDC638442}"/>
              </a:ext>
            </a:extLst>
          </p:cNvPr>
          <p:cNvSpPr>
            <a:spLocks noGrp="1"/>
          </p:cNvSpPr>
          <p:nvPr>
            <p:ph type="sldNum" sz="quarter" idx="10"/>
          </p:nvPr>
        </p:nvSpPr>
        <p:spPr/>
        <p:txBody>
          <a:bodyPr rtlCol="0"/>
          <a:lstStyle/>
          <a:p>
            <a:pPr rtl="0"/>
            <a:fld id="{4B725628-3A68-42F4-BA86-981817953149}" type="slidenum">
              <a:rPr lang="ro-RO" smtClean="0"/>
              <a:t>3</a:t>
            </a:fld>
            <a:endParaRPr lang="ro-RO" dirty="0"/>
          </a:p>
        </p:txBody>
      </p:sp>
    </p:spTree>
    <p:extLst>
      <p:ext uri="{BB962C8B-B14F-4D97-AF65-F5344CB8AC3E}">
        <p14:creationId xmlns:p14="http://schemas.microsoft.com/office/powerpoint/2010/main" val="5320383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76F578-2317-9743-6BBA-82C5E191CAD7}"/>
            </a:ext>
          </a:extLst>
        </p:cNvPr>
        <p:cNvGrpSpPr/>
        <p:nvPr/>
      </p:nvGrpSpPr>
      <p:grpSpPr>
        <a:xfrm>
          <a:off x="0" y="0"/>
          <a:ext cx="0" cy="0"/>
          <a:chOff x="0" y="0"/>
          <a:chExt cx="0" cy="0"/>
        </a:xfrm>
      </p:grpSpPr>
      <p:sp>
        <p:nvSpPr>
          <p:cNvPr id="2" name="Substituent imagine diapozitiv 1">
            <a:extLst>
              <a:ext uri="{FF2B5EF4-FFF2-40B4-BE49-F238E27FC236}">
                <a16:creationId xmlns:a16="http://schemas.microsoft.com/office/drawing/2014/main" id="{74632C48-9BA6-85F0-F71D-66408BC2BDC7}"/>
              </a:ext>
            </a:extLst>
          </p:cNvPr>
          <p:cNvSpPr>
            <a:spLocks noGrp="1" noRot="1" noChangeAspect="1"/>
          </p:cNvSpPr>
          <p:nvPr>
            <p:ph type="sldImg"/>
          </p:nvPr>
        </p:nvSpPr>
        <p:spPr/>
      </p:sp>
      <p:sp>
        <p:nvSpPr>
          <p:cNvPr id="3" name="Substituent note 2">
            <a:extLst>
              <a:ext uri="{FF2B5EF4-FFF2-40B4-BE49-F238E27FC236}">
                <a16:creationId xmlns:a16="http://schemas.microsoft.com/office/drawing/2014/main" id="{B79E2335-3A29-1CF7-EC5C-F8A481E2709B}"/>
              </a:ext>
            </a:extLst>
          </p:cNvPr>
          <p:cNvSpPr>
            <a:spLocks noGrp="1"/>
          </p:cNvSpPr>
          <p:nvPr>
            <p:ph type="body" idx="1"/>
          </p:nvPr>
        </p:nvSpPr>
        <p:spPr/>
        <p:txBody>
          <a:bodyPr rtlCol="0"/>
          <a:lstStyle/>
          <a:p>
            <a:pPr rtl="0"/>
            <a:r>
              <a:rPr lang="ro-RO" dirty="0"/>
              <a:t>Azure container apps</a:t>
            </a:r>
          </a:p>
          <a:p>
            <a:pPr rtl="0"/>
            <a:endParaRPr lang="ro-RO" dirty="0"/>
          </a:p>
          <a:p>
            <a:pPr rtl="0"/>
            <a:r>
              <a:rPr lang="ro-RO" dirty="0"/>
              <a:t>Platforma serverless pentru containere, are la baza K8s, nu trebuie sa interactionezi direct cu K8s (fara yaml de cluster sau gestionare de noduri)</a:t>
            </a:r>
          </a:p>
          <a:p>
            <a:pPr rtl="0"/>
            <a:r>
              <a:rPr lang="ro-RO" dirty="0"/>
              <a:t>Potrivit pentur microservicii, aplicatii event-driven, cand ai nevoie de container dar nu vrei sa te ocupi de infrastructura</a:t>
            </a:r>
          </a:p>
          <a:p>
            <a:pPr rtl="0"/>
            <a:r>
              <a:rPr lang="ro-RO" dirty="0"/>
              <a:t>Avantaj major: scalarea, fara trafic nu ruleaza nimic, nu platesti nimic, iar la trafic porneste automat, bazat pe trafic Http sau eventuri custom</a:t>
            </a:r>
          </a:p>
          <a:p>
            <a:pPr rtl="0"/>
            <a:r>
              <a:rPr lang="ro-RO" dirty="0"/>
              <a:t>Poate avea mai multe versiuni</a:t>
            </a:r>
          </a:p>
        </p:txBody>
      </p:sp>
      <p:sp>
        <p:nvSpPr>
          <p:cNvPr id="4" name="Substituent număr diapozitiv 3">
            <a:extLst>
              <a:ext uri="{FF2B5EF4-FFF2-40B4-BE49-F238E27FC236}">
                <a16:creationId xmlns:a16="http://schemas.microsoft.com/office/drawing/2014/main" id="{727F641B-ED1B-CD4F-717B-2FBF1405F850}"/>
              </a:ext>
            </a:extLst>
          </p:cNvPr>
          <p:cNvSpPr>
            <a:spLocks noGrp="1"/>
          </p:cNvSpPr>
          <p:nvPr>
            <p:ph type="sldNum" sz="quarter" idx="10"/>
          </p:nvPr>
        </p:nvSpPr>
        <p:spPr/>
        <p:txBody>
          <a:bodyPr rtlCol="0"/>
          <a:lstStyle/>
          <a:p>
            <a:pPr rtl="0"/>
            <a:fld id="{4B725628-3A68-42F4-BA86-981817953149}" type="slidenum">
              <a:rPr lang="ro-RO" smtClean="0"/>
              <a:t>4</a:t>
            </a:fld>
            <a:endParaRPr lang="ro-RO" dirty="0"/>
          </a:p>
        </p:txBody>
      </p:sp>
    </p:spTree>
    <p:extLst>
      <p:ext uri="{BB962C8B-B14F-4D97-AF65-F5344CB8AC3E}">
        <p14:creationId xmlns:p14="http://schemas.microsoft.com/office/powerpoint/2010/main" val="39078652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A660E-BC2E-2E38-F9C1-DD06912EFB4A}"/>
            </a:ext>
          </a:extLst>
        </p:cNvPr>
        <p:cNvGrpSpPr/>
        <p:nvPr/>
      </p:nvGrpSpPr>
      <p:grpSpPr>
        <a:xfrm>
          <a:off x="0" y="0"/>
          <a:ext cx="0" cy="0"/>
          <a:chOff x="0" y="0"/>
          <a:chExt cx="0" cy="0"/>
        </a:xfrm>
      </p:grpSpPr>
      <p:sp>
        <p:nvSpPr>
          <p:cNvPr id="2" name="Substituent imagine diapozitiv 1">
            <a:extLst>
              <a:ext uri="{FF2B5EF4-FFF2-40B4-BE49-F238E27FC236}">
                <a16:creationId xmlns:a16="http://schemas.microsoft.com/office/drawing/2014/main" id="{F67B194C-6A6E-0151-52A6-4F1B9F3B8E5D}"/>
              </a:ext>
            </a:extLst>
          </p:cNvPr>
          <p:cNvSpPr>
            <a:spLocks noGrp="1" noRot="1" noChangeAspect="1"/>
          </p:cNvSpPr>
          <p:nvPr>
            <p:ph type="sldImg"/>
          </p:nvPr>
        </p:nvSpPr>
        <p:spPr/>
      </p:sp>
      <p:sp>
        <p:nvSpPr>
          <p:cNvPr id="3" name="Substituent note 2">
            <a:extLst>
              <a:ext uri="{FF2B5EF4-FFF2-40B4-BE49-F238E27FC236}">
                <a16:creationId xmlns:a16="http://schemas.microsoft.com/office/drawing/2014/main" id="{CDB1477D-F12D-DC32-BB88-ECB86275A3EA}"/>
              </a:ext>
            </a:extLst>
          </p:cNvPr>
          <p:cNvSpPr>
            <a:spLocks noGrp="1"/>
          </p:cNvSpPr>
          <p:nvPr>
            <p:ph type="body" idx="1"/>
          </p:nvPr>
        </p:nvSpPr>
        <p:spPr/>
        <p:txBody>
          <a:bodyPr rtlCol="0"/>
          <a:lstStyle/>
          <a:p>
            <a:pPr rtl="0"/>
            <a:r>
              <a:rPr lang="ro-RO" dirty="0"/>
              <a:t>Azure kubernetes Service</a:t>
            </a:r>
          </a:p>
          <a:p>
            <a:pPr rtl="0"/>
            <a:endParaRPr lang="ro-RO" dirty="0"/>
          </a:p>
          <a:p>
            <a:pPr rtl="0"/>
            <a:r>
              <a:rPr lang="ro-RO" dirty="0"/>
              <a:t>Este un cluster K8s complet gestionat de azure, ai toata puterea K8s-ului, fara sa te ocupi de control plane (care se ocupa de gestionarea de pods-uri, worker nodes si alte resurse</a:t>
            </a:r>
          </a:p>
          <a:p>
            <a:pPr rtl="0"/>
            <a:r>
              <a:rPr lang="ro-RO" dirty="0"/>
              <a:t>Ales pentru sisteme cu microservicii complexe, workloaduri unde ai nevoie de control total asupra retelei, storageului sau schedulingului</a:t>
            </a:r>
          </a:p>
          <a:p>
            <a:pPr rtl="0"/>
            <a:r>
              <a:rPr lang="ro-RO" dirty="0"/>
              <a:t>Ofera acces la toate functionalitatiel K8s-ului, cum ar fi deployuri custom, controllere ingress, policyuri in retea</a:t>
            </a:r>
          </a:p>
          <a:p>
            <a:pPr rtl="0"/>
            <a:r>
              <a:rPr lang="ro-RO" dirty="0"/>
              <a:t>Dezavantajul: complexitatea, cunostinte foarte bune de Kubernetes</a:t>
            </a:r>
          </a:p>
        </p:txBody>
      </p:sp>
      <p:sp>
        <p:nvSpPr>
          <p:cNvPr id="4" name="Substituent număr diapozitiv 3">
            <a:extLst>
              <a:ext uri="{FF2B5EF4-FFF2-40B4-BE49-F238E27FC236}">
                <a16:creationId xmlns:a16="http://schemas.microsoft.com/office/drawing/2014/main" id="{57C8002B-8E5C-5C7D-11D4-E304DBF9EA05}"/>
              </a:ext>
            </a:extLst>
          </p:cNvPr>
          <p:cNvSpPr>
            <a:spLocks noGrp="1"/>
          </p:cNvSpPr>
          <p:nvPr>
            <p:ph type="sldNum" sz="quarter" idx="10"/>
          </p:nvPr>
        </p:nvSpPr>
        <p:spPr/>
        <p:txBody>
          <a:bodyPr rtlCol="0"/>
          <a:lstStyle/>
          <a:p>
            <a:pPr rtl="0"/>
            <a:fld id="{4B725628-3A68-42F4-BA86-981817953149}" type="slidenum">
              <a:rPr lang="ro-RO" smtClean="0"/>
              <a:t>5</a:t>
            </a:fld>
            <a:endParaRPr lang="ro-RO" dirty="0"/>
          </a:p>
        </p:txBody>
      </p:sp>
    </p:spTree>
    <p:extLst>
      <p:ext uri="{BB962C8B-B14F-4D97-AF65-F5344CB8AC3E}">
        <p14:creationId xmlns:p14="http://schemas.microsoft.com/office/powerpoint/2010/main" val="1487422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5A38D7-28FF-797C-3AAA-C06F79F9376B}"/>
            </a:ext>
          </a:extLst>
        </p:cNvPr>
        <p:cNvGrpSpPr/>
        <p:nvPr/>
      </p:nvGrpSpPr>
      <p:grpSpPr>
        <a:xfrm>
          <a:off x="0" y="0"/>
          <a:ext cx="0" cy="0"/>
          <a:chOff x="0" y="0"/>
          <a:chExt cx="0" cy="0"/>
        </a:xfrm>
      </p:grpSpPr>
      <p:sp>
        <p:nvSpPr>
          <p:cNvPr id="2" name="Substituent imagine diapozitiv 1">
            <a:extLst>
              <a:ext uri="{FF2B5EF4-FFF2-40B4-BE49-F238E27FC236}">
                <a16:creationId xmlns:a16="http://schemas.microsoft.com/office/drawing/2014/main" id="{CFC8162B-8684-BA5B-5AF7-9FE317BDBA99}"/>
              </a:ext>
            </a:extLst>
          </p:cNvPr>
          <p:cNvSpPr>
            <a:spLocks noGrp="1" noRot="1" noChangeAspect="1"/>
          </p:cNvSpPr>
          <p:nvPr>
            <p:ph type="sldImg"/>
          </p:nvPr>
        </p:nvSpPr>
        <p:spPr/>
      </p:sp>
      <p:sp>
        <p:nvSpPr>
          <p:cNvPr id="3" name="Substituent note 2">
            <a:extLst>
              <a:ext uri="{FF2B5EF4-FFF2-40B4-BE49-F238E27FC236}">
                <a16:creationId xmlns:a16="http://schemas.microsoft.com/office/drawing/2014/main" id="{7CE77F92-6AFD-5A0C-7C8C-1EA52F679731}"/>
              </a:ext>
            </a:extLst>
          </p:cNvPr>
          <p:cNvSpPr>
            <a:spLocks noGrp="1"/>
          </p:cNvSpPr>
          <p:nvPr>
            <p:ph type="body" idx="1"/>
          </p:nvPr>
        </p:nvSpPr>
        <p:spPr/>
        <p:txBody>
          <a:bodyPr rtlCol="0"/>
          <a:lstStyle/>
          <a:p>
            <a:pPr rtl="0"/>
            <a:r>
              <a:rPr lang="ro-RO" dirty="0"/>
              <a:t>Diferentele principale</a:t>
            </a:r>
          </a:p>
          <a:p>
            <a:pPr rtl="0"/>
            <a:endParaRPr lang="ro-RO" dirty="0"/>
          </a:p>
          <a:p>
            <a:pPr rtl="0"/>
            <a:r>
              <a:rPr lang="ro-RO" dirty="0"/>
              <a:t>App Service – cel mai simplu deploy pe Azure, direct din Visual Studio fara Dockerfile sau YAML, fara să știm despre infrastructură. Dezavantaj - plătești mereu, cel puțin o instanță rulează permanent, chiar dacă nu vine niciun request</a:t>
            </a:r>
          </a:p>
          <a:p>
            <a:pPr rtl="0"/>
            <a:r>
              <a:rPr lang="ro-RO" dirty="0"/>
              <a:t>Container Apps - rezolvă problema App Service, când nu există trafic, aplicația scalează la zero, nu ești facturat. In plus are revision management built-in, deci poți avea mai multe versiuni ale aplicației rulând simultan și poți împărți traficul între ele, ex: 90% pe o versiune stabilă și 10% pe una nouă</a:t>
            </a:r>
          </a:p>
          <a:p>
            <a:pPr rtl="0"/>
            <a:r>
              <a:rPr lang="ro-RO" dirty="0"/>
              <a:t>AKS: aici vedem tot: pod-urile, nodurile, mașinile virtuale de dedesubt, si controlăm tot: scalare manuală, customizarea retelei, orice oferă Kubernetes. Cel mai complex dintre cele trei"</a:t>
            </a:r>
          </a:p>
        </p:txBody>
      </p:sp>
      <p:sp>
        <p:nvSpPr>
          <p:cNvPr id="4" name="Substituent număr diapozitiv 3">
            <a:extLst>
              <a:ext uri="{FF2B5EF4-FFF2-40B4-BE49-F238E27FC236}">
                <a16:creationId xmlns:a16="http://schemas.microsoft.com/office/drawing/2014/main" id="{DCDC94A3-C194-5429-6ED7-A6E75A5D3404}"/>
              </a:ext>
            </a:extLst>
          </p:cNvPr>
          <p:cNvSpPr>
            <a:spLocks noGrp="1"/>
          </p:cNvSpPr>
          <p:nvPr>
            <p:ph type="sldNum" sz="quarter" idx="10"/>
          </p:nvPr>
        </p:nvSpPr>
        <p:spPr/>
        <p:txBody>
          <a:bodyPr rtlCol="0"/>
          <a:lstStyle/>
          <a:p>
            <a:pPr rtl="0"/>
            <a:fld id="{4B725628-3A68-42F4-BA86-981817953149}" type="slidenum">
              <a:rPr lang="ro-RO" smtClean="0"/>
              <a:t>6</a:t>
            </a:fld>
            <a:endParaRPr lang="ro-RO" dirty="0"/>
          </a:p>
        </p:txBody>
      </p:sp>
    </p:spTree>
    <p:extLst>
      <p:ext uri="{BB962C8B-B14F-4D97-AF65-F5344CB8AC3E}">
        <p14:creationId xmlns:p14="http://schemas.microsoft.com/office/powerpoint/2010/main" val="24430839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6A4D5-ADB8-5FCD-D8D6-7DB67A0807D7}"/>
            </a:ext>
          </a:extLst>
        </p:cNvPr>
        <p:cNvGrpSpPr/>
        <p:nvPr/>
      </p:nvGrpSpPr>
      <p:grpSpPr>
        <a:xfrm>
          <a:off x="0" y="0"/>
          <a:ext cx="0" cy="0"/>
          <a:chOff x="0" y="0"/>
          <a:chExt cx="0" cy="0"/>
        </a:xfrm>
      </p:grpSpPr>
      <p:sp>
        <p:nvSpPr>
          <p:cNvPr id="2" name="Substituent imagine diapozitiv 1">
            <a:extLst>
              <a:ext uri="{FF2B5EF4-FFF2-40B4-BE49-F238E27FC236}">
                <a16:creationId xmlns:a16="http://schemas.microsoft.com/office/drawing/2014/main" id="{54B9A59C-63DC-9B00-4435-C946F772BD95}"/>
              </a:ext>
            </a:extLst>
          </p:cNvPr>
          <p:cNvSpPr>
            <a:spLocks noGrp="1" noRot="1" noChangeAspect="1"/>
          </p:cNvSpPr>
          <p:nvPr>
            <p:ph type="sldImg"/>
          </p:nvPr>
        </p:nvSpPr>
        <p:spPr/>
      </p:sp>
      <p:sp>
        <p:nvSpPr>
          <p:cNvPr id="3" name="Substituent note 2">
            <a:extLst>
              <a:ext uri="{FF2B5EF4-FFF2-40B4-BE49-F238E27FC236}">
                <a16:creationId xmlns:a16="http://schemas.microsoft.com/office/drawing/2014/main" id="{C809A6B4-7985-B079-408E-C3050A13FDAC}"/>
              </a:ext>
            </a:extLst>
          </p:cNvPr>
          <p:cNvSpPr>
            <a:spLocks noGrp="1"/>
          </p:cNvSpPr>
          <p:nvPr>
            <p:ph type="body" idx="1"/>
          </p:nvPr>
        </p:nvSpPr>
        <p:spPr/>
        <p:txBody>
          <a:bodyPr rtlCol="0"/>
          <a:lstStyle/>
          <a:p>
            <a:pPr marL="171450" indent="-171450" rtl="0">
              <a:buFontTx/>
              <a:buChar char="-"/>
            </a:pPr>
            <a:r>
              <a:rPr lang="ro-RO" dirty="0"/>
              <a:t>App service</a:t>
            </a:r>
          </a:p>
          <a:p>
            <a:pPr marL="171450" indent="-171450" rtl="0">
              <a:buFontTx/>
              <a:buChar char="-"/>
            </a:pPr>
            <a:r>
              <a:rPr lang="ro-RO" dirty="0"/>
              <a:t>Container app</a:t>
            </a:r>
          </a:p>
          <a:p>
            <a:pPr marL="171450" indent="-171450" rtl="0">
              <a:buFontTx/>
              <a:buChar char="-"/>
            </a:pPr>
            <a:r>
              <a:rPr lang="ro-RO" dirty="0"/>
              <a:t>AKS</a:t>
            </a:r>
          </a:p>
        </p:txBody>
      </p:sp>
      <p:sp>
        <p:nvSpPr>
          <p:cNvPr id="4" name="Substituent număr diapozitiv 3">
            <a:extLst>
              <a:ext uri="{FF2B5EF4-FFF2-40B4-BE49-F238E27FC236}">
                <a16:creationId xmlns:a16="http://schemas.microsoft.com/office/drawing/2014/main" id="{36FA903A-E0CD-2991-0999-EA4C22E046FD}"/>
              </a:ext>
            </a:extLst>
          </p:cNvPr>
          <p:cNvSpPr>
            <a:spLocks noGrp="1"/>
          </p:cNvSpPr>
          <p:nvPr>
            <p:ph type="sldNum" sz="quarter" idx="10"/>
          </p:nvPr>
        </p:nvSpPr>
        <p:spPr/>
        <p:txBody>
          <a:bodyPr rtlCol="0"/>
          <a:lstStyle/>
          <a:p>
            <a:pPr rtl="0"/>
            <a:fld id="{4B725628-3A68-42F4-BA86-981817953149}" type="slidenum">
              <a:rPr lang="ro-RO" smtClean="0"/>
              <a:t>7</a:t>
            </a:fld>
            <a:endParaRPr lang="ro-RO" dirty="0"/>
          </a:p>
        </p:txBody>
      </p:sp>
    </p:spTree>
    <p:extLst>
      <p:ext uri="{BB962C8B-B14F-4D97-AF65-F5344CB8AC3E}">
        <p14:creationId xmlns:p14="http://schemas.microsoft.com/office/powerpoint/2010/main" val="9215212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04C35-EE67-B08D-68BF-099B99071D77}"/>
            </a:ext>
          </a:extLst>
        </p:cNvPr>
        <p:cNvGrpSpPr/>
        <p:nvPr/>
      </p:nvGrpSpPr>
      <p:grpSpPr>
        <a:xfrm>
          <a:off x="0" y="0"/>
          <a:ext cx="0" cy="0"/>
          <a:chOff x="0" y="0"/>
          <a:chExt cx="0" cy="0"/>
        </a:xfrm>
      </p:grpSpPr>
      <p:sp>
        <p:nvSpPr>
          <p:cNvPr id="2" name="Substituent imagine diapozitiv 1">
            <a:extLst>
              <a:ext uri="{FF2B5EF4-FFF2-40B4-BE49-F238E27FC236}">
                <a16:creationId xmlns:a16="http://schemas.microsoft.com/office/drawing/2014/main" id="{57300DDC-962E-F2C8-0B5F-0A5C3A41C3A4}"/>
              </a:ext>
            </a:extLst>
          </p:cNvPr>
          <p:cNvSpPr>
            <a:spLocks noGrp="1" noRot="1" noChangeAspect="1"/>
          </p:cNvSpPr>
          <p:nvPr>
            <p:ph type="sldImg"/>
          </p:nvPr>
        </p:nvSpPr>
        <p:spPr/>
      </p:sp>
      <p:sp>
        <p:nvSpPr>
          <p:cNvPr id="3" name="Substituent note 2">
            <a:extLst>
              <a:ext uri="{FF2B5EF4-FFF2-40B4-BE49-F238E27FC236}">
                <a16:creationId xmlns:a16="http://schemas.microsoft.com/office/drawing/2014/main" id="{B708B181-3ED2-D88C-895F-290265246DA2}"/>
              </a:ext>
            </a:extLst>
          </p:cNvPr>
          <p:cNvSpPr>
            <a:spLocks noGrp="1"/>
          </p:cNvSpPr>
          <p:nvPr>
            <p:ph type="body" idx="1"/>
          </p:nvPr>
        </p:nvSpPr>
        <p:spPr/>
        <p:txBody>
          <a:bodyPr rtlCol="0"/>
          <a:lstStyle/>
          <a:p>
            <a:pPr rtl="0"/>
            <a:endParaRPr lang="ro-RO" dirty="0"/>
          </a:p>
        </p:txBody>
      </p:sp>
      <p:sp>
        <p:nvSpPr>
          <p:cNvPr id="4" name="Substituent număr diapozitiv 3">
            <a:extLst>
              <a:ext uri="{FF2B5EF4-FFF2-40B4-BE49-F238E27FC236}">
                <a16:creationId xmlns:a16="http://schemas.microsoft.com/office/drawing/2014/main" id="{4FC1C7D0-65AC-F6EE-1871-AEF3661570BD}"/>
              </a:ext>
            </a:extLst>
          </p:cNvPr>
          <p:cNvSpPr>
            <a:spLocks noGrp="1"/>
          </p:cNvSpPr>
          <p:nvPr>
            <p:ph type="sldNum" sz="quarter" idx="10"/>
          </p:nvPr>
        </p:nvSpPr>
        <p:spPr/>
        <p:txBody>
          <a:bodyPr rtlCol="0"/>
          <a:lstStyle/>
          <a:p>
            <a:pPr rtl="0"/>
            <a:fld id="{4B725628-3A68-42F4-BA86-981817953149}" type="slidenum">
              <a:rPr lang="ro-RO" smtClean="0"/>
              <a:t>8</a:t>
            </a:fld>
            <a:endParaRPr lang="ro-RO" dirty="0"/>
          </a:p>
        </p:txBody>
      </p:sp>
    </p:spTree>
    <p:extLst>
      <p:ext uri="{BB962C8B-B14F-4D97-AF65-F5344CB8AC3E}">
        <p14:creationId xmlns:p14="http://schemas.microsoft.com/office/powerpoint/2010/main" val="3986733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zitiv titlu">
    <p:spTree>
      <p:nvGrpSpPr>
        <p:cNvPr id="1" name=""/>
        <p:cNvGrpSpPr/>
        <p:nvPr/>
      </p:nvGrpSpPr>
      <p:grpSpPr>
        <a:xfrm>
          <a:off x="0" y="0"/>
          <a:ext cx="0" cy="0"/>
          <a:chOff x="0" y="0"/>
          <a:chExt cx="0" cy="0"/>
        </a:xfrm>
      </p:grpSpPr>
      <p:sp>
        <p:nvSpPr>
          <p:cNvPr id="10" name="Dreptunghi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o-RO"/>
          </a:p>
        </p:txBody>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o-RO"/>
          </a:p>
        </p:txBody>
      </p:sp>
      <p:sp>
        <p:nvSpPr>
          <p:cNvPr id="2" name="Titlu 1"/>
          <p:cNvSpPr>
            <a:spLocks noGrp="1"/>
          </p:cNvSpPr>
          <p:nvPr>
            <p:ph type="ctrTitle"/>
          </p:nvPr>
        </p:nvSpPr>
        <p:spPr>
          <a:xfrm>
            <a:off x="457200" y="4960137"/>
            <a:ext cx="7772400" cy="1463040"/>
          </a:xfrm>
        </p:spPr>
        <p:txBody>
          <a:bodyPr rtlCol="0" anchor="ctr">
            <a:normAutofit/>
          </a:bodyPr>
          <a:lstStyle>
            <a:lvl1pPr algn="r">
              <a:defRPr sz="5000" spc="200" baseline="0"/>
            </a:lvl1pPr>
          </a:lstStyle>
          <a:p>
            <a:pPr rtl="0"/>
            <a:r>
              <a:rPr lang="en-US" noProof="0"/>
              <a:t>Click to edit Master title style</a:t>
            </a:r>
            <a:endParaRPr lang="ro-RO" noProof="0" dirty="0"/>
          </a:p>
        </p:txBody>
      </p:sp>
      <p:sp>
        <p:nvSpPr>
          <p:cNvPr id="3" name="Subtitlu 2"/>
          <p:cNvSpPr>
            <a:spLocks noGrp="1"/>
          </p:cNvSpPr>
          <p:nvPr>
            <p:ph type="subTitle" idx="1"/>
          </p:nvPr>
        </p:nvSpPr>
        <p:spPr>
          <a:xfrm>
            <a:off x="8610600" y="4960137"/>
            <a:ext cx="3200400" cy="1463040"/>
          </a:xfrm>
        </p:spPr>
        <p:txBody>
          <a:bodyPr lIns="91440" rIns="91440" rtlCol="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pPr rtl="0"/>
            <a:r>
              <a:rPr lang="en-US" noProof="0"/>
              <a:t>Click to edit Master subtitle style</a:t>
            </a:r>
            <a:endParaRPr lang="ro-RO" noProof="0" dirty="0"/>
          </a:p>
        </p:txBody>
      </p:sp>
      <p:sp>
        <p:nvSpPr>
          <p:cNvPr id="4" name="Substituent dată 3"/>
          <p:cNvSpPr>
            <a:spLocks noGrp="1"/>
          </p:cNvSpPr>
          <p:nvPr>
            <p:ph type="dt" sz="half" idx="10"/>
          </p:nvPr>
        </p:nvSpPr>
        <p:spPr/>
        <p:txBody>
          <a:bodyPr rtlCol="0"/>
          <a:lstStyle>
            <a:lvl1pPr algn="l">
              <a:defRPr/>
            </a:lvl1pPr>
          </a:lstStyle>
          <a:p>
            <a:fld id="{83132C9F-8568-4E54-96EF-FEFD7328E734}" type="datetime1">
              <a:rPr lang="ro-RO" smtClean="0"/>
              <a:pPr/>
              <a:t>27.05.2026</a:t>
            </a:fld>
            <a:endParaRPr lang="ro-RO" dirty="0"/>
          </a:p>
        </p:txBody>
      </p:sp>
      <p:sp>
        <p:nvSpPr>
          <p:cNvPr id="5" name="Substituent subsol 4"/>
          <p:cNvSpPr>
            <a:spLocks noGrp="1"/>
          </p:cNvSpPr>
          <p:nvPr>
            <p:ph type="ftr" sz="quarter" idx="11"/>
          </p:nvPr>
        </p:nvSpPr>
        <p:spPr/>
        <p:txBody>
          <a:bodyPr rtlCol="0"/>
          <a:lstStyle/>
          <a:p>
            <a:pPr rtl="0"/>
            <a:endParaRPr lang="ro-RO" noProof="0" dirty="0"/>
          </a:p>
        </p:txBody>
      </p:sp>
      <p:sp>
        <p:nvSpPr>
          <p:cNvPr id="6" name="Substituent număr diapozitiv 5"/>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cxnSp>
        <p:nvCxnSpPr>
          <p:cNvPr id="8" name="Conector drept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u și conținut">
    <p:spTree>
      <p:nvGrpSpPr>
        <p:cNvPr id="1" name=""/>
        <p:cNvGrpSpPr/>
        <p:nvPr/>
      </p:nvGrpSpPr>
      <p:grpSpPr>
        <a:xfrm>
          <a:off x="0" y="0"/>
          <a:ext cx="0" cy="0"/>
          <a:chOff x="0" y="0"/>
          <a:chExt cx="0" cy="0"/>
        </a:xfrm>
      </p:grpSpPr>
      <p:sp>
        <p:nvSpPr>
          <p:cNvPr id="2" name="Titlu 1"/>
          <p:cNvSpPr>
            <a:spLocks noGrp="1"/>
          </p:cNvSpPr>
          <p:nvPr>
            <p:ph type="title"/>
          </p:nvPr>
        </p:nvSpPr>
        <p:spPr/>
        <p:txBody>
          <a:bodyPr rtlCol="0"/>
          <a:lstStyle/>
          <a:p>
            <a:pPr rtl="0"/>
            <a:r>
              <a:rPr lang="en-US" noProof="0"/>
              <a:t>Click to edit Master title style</a:t>
            </a:r>
            <a:endParaRPr lang="ro-RO" noProof="0" dirty="0"/>
          </a:p>
        </p:txBody>
      </p:sp>
      <p:sp>
        <p:nvSpPr>
          <p:cNvPr id="3" name="Substituent conținut 2"/>
          <p:cNvSpPr>
            <a:spLocks noGrp="1"/>
          </p:cNvSpPr>
          <p:nvPr>
            <p:ph idx="1"/>
          </p:nvPr>
        </p:nvSpPr>
        <p:spPr/>
        <p:txBody>
          <a:bodyPr rtlCol="0"/>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4" name="Substituent dată 3"/>
          <p:cNvSpPr>
            <a:spLocks noGrp="1"/>
          </p:cNvSpPr>
          <p:nvPr>
            <p:ph type="dt" sz="half" idx="10"/>
          </p:nvPr>
        </p:nvSpPr>
        <p:spPr/>
        <p:txBody>
          <a:bodyPr rtlCol="0"/>
          <a:lstStyle>
            <a:lvl1pPr>
              <a:defRPr/>
            </a:lvl1pPr>
          </a:lstStyle>
          <a:p>
            <a:fld id="{DA781A47-AA14-468F-A95D-86027E150AC0}" type="datetime1">
              <a:rPr lang="ro-RO" smtClean="0"/>
              <a:pPr/>
              <a:t>27.05.2026</a:t>
            </a:fld>
            <a:endParaRPr lang="ro-RO" dirty="0"/>
          </a:p>
        </p:txBody>
      </p:sp>
      <p:sp>
        <p:nvSpPr>
          <p:cNvPr id="5" name="Substituent subsol 4"/>
          <p:cNvSpPr>
            <a:spLocks noGrp="1"/>
          </p:cNvSpPr>
          <p:nvPr>
            <p:ph type="ftr" sz="quarter" idx="11"/>
          </p:nvPr>
        </p:nvSpPr>
        <p:spPr/>
        <p:txBody>
          <a:bodyPr rtlCol="0"/>
          <a:lstStyle/>
          <a:p>
            <a:pPr rtl="0"/>
            <a:endParaRPr lang="ro-RO" noProof="0" dirty="0"/>
          </a:p>
        </p:txBody>
      </p:sp>
      <p:sp>
        <p:nvSpPr>
          <p:cNvPr id="6" name="Substituent număr diapozitiv 5"/>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Antet secțiune">
    <p:spTree>
      <p:nvGrpSpPr>
        <p:cNvPr id="1" name=""/>
        <p:cNvGrpSpPr/>
        <p:nvPr/>
      </p:nvGrpSpPr>
      <p:grpSpPr>
        <a:xfrm>
          <a:off x="0" y="0"/>
          <a:ext cx="0" cy="0"/>
          <a:chOff x="0" y="0"/>
          <a:chExt cx="0" cy="0"/>
        </a:xfrm>
      </p:grpSpPr>
      <p:sp>
        <p:nvSpPr>
          <p:cNvPr id="9" name="Dreptunghi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u 1"/>
          <p:cNvSpPr>
            <a:spLocks noGrp="1"/>
          </p:cNvSpPr>
          <p:nvPr>
            <p:ph type="title"/>
          </p:nvPr>
        </p:nvSpPr>
        <p:spPr>
          <a:xfrm>
            <a:off x="457200" y="4960137"/>
            <a:ext cx="7772400" cy="1463040"/>
          </a:xfrm>
        </p:spPr>
        <p:txBody>
          <a:bodyPr rtlCol="0" anchor="ctr">
            <a:normAutofit/>
          </a:bodyPr>
          <a:lstStyle>
            <a:lvl1pPr algn="r">
              <a:defRPr sz="5000" b="0" spc="200" baseline="0"/>
            </a:lvl1pPr>
          </a:lstStyle>
          <a:p>
            <a:pPr rtl="0"/>
            <a:r>
              <a:rPr lang="en-US" noProof="0"/>
              <a:t>Click to edit Master title style</a:t>
            </a:r>
            <a:endParaRPr lang="ro-RO" noProof="0" dirty="0"/>
          </a:p>
        </p:txBody>
      </p:sp>
      <p:sp>
        <p:nvSpPr>
          <p:cNvPr id="3" name="Substituent text 2"/>
          <p:cNvSpPr>
            <a:spLocks noGrp="1"/>
          </p:cNvSpPr>
          <p:nvPr>
            <p:ph type="body" idx="1"/>
          </p:nvPr>
        </p:nvSpPr>
        <p:spPr>
          <a:xfrm>
            <a:off x="8610600" y="4960137"/>
            <a:ext cx="3200400" cy="1463040"/>
          </a:xfrm>
        </p:spPr>
        <p:txBody>
          <a:bodyPr lIns="91440" rIns="91440" rtlCol="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en-US" noProof="0"/>
              <a:t>Click to edit Master text styles</a:t>
            </a:r>
          </a:p>
        </p:txBody>
      </p:sp>
      <p:sp>
        <p:nvSpPr>
          <p:cNvPr id="4" name="Substituent dată 3"/>
          <p:cNvSpPr>
            <a:spLocks noGrp="1"/>
          </p:cNvSpPr>
          <p:nvPr>
            <p:ph type="dt" sz="half" idx="10"/>
          </p:nvPr>
        </p:nvSpPr>
        <p:spPr/>
        <p:txBody>
          <a:bodyPr rtlCol="0"/>
          <a:lstStyle>
            <a:lvl1pPr>
              <a:defRPr/>
            </a:lvl1pPr>
          </a:lstStyle>
          <a:p>
            <a:fld id="{AD767E70-02B5-4881-B61C-15DEF66228E8}" type="datetime1">
              <a:rPr lang="ro-RO" smtClean="0"/>
              <a:pPr/>
              <a:t>27.05.2026</a:t>
            </a:fld>
            <a:endParaRPr lang="ro-RO" dirty="0"/>
          </a:p>
        </p:txBody>
      </p:sp>
      <p:sp>
        <p:nvSpPr>
          <p:cNvPr id="5" name="Substituent subsol 4"/>
          <p:cNvSpPr>
            <a:spLocks noGrp="1"/>
          </p:cNvSpPr>
          <p:nvPr>
            <p:ph type="ftr" sz="quarter" idx="11"/>
          </p:nvPr>
        </p:nvSpPr>
        <p:spPr/>
        <p:txBody>
          <a:bodyPr rtlCol="0"/>
          <a:lstStyle/>
          <a:p>
            <a:pPr rtl="0"/>
            <a:endParaRPr lang="ro-RO" noProof="0" dirty="0"/>
          </a:p>
        </p:txBody>
      </p:sp>
      <p:sp>
        <p:nvSpPr>
          <p:cNvPr id="6" name="Substituent număr diapozitiv 5"/>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cxnSp>
        <p:nvCxnSpPr>
          <p:cNvPr id="8" name="Conector drept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uă tipuri de conținut">
    <p:spTree>
      <p:nvGrpSpPr>
        <p:cNvPr id="1" name=""/>
        <p:cNvGrpSpPr/>
        <p:nvPr/>
      </p:nvGrpSpPr>
      <p:grpSpPr>
        <a:xfrm>
          <a:off x="0" y="0"/>
          <a:ext cx="0" cy="0"/>
          <a:chOff x="0" y="0"/>
          <a:chExt cx="0" cy="0"/>
        </a:xfrm>
      </p:grpSpPr>
      <p:sp>
        <p:nvSpPr>
          <p:cNvPr id="2" name="Titlu 1"/>
          <p:cNvSpPr>
            <a:spLocks noGrp="1"/>
          </p:cNvSpPr>
          <p:nvPr>
            <p:ph type="title"/>
          </p:nvPr>
        </p:nvSpPr>
        <p:spPr>
          <a:xfrm>
            <a:off x="1024128" y="585216"/>
            <a:ext cx="9720072" cy="1499616"/>
          </a:xfrm>
        </p:spPr>
        <p:txBody>
          <a:bodyPr rtlCol="0"/>
          <a:lstStyle/>
          <a:p>
            <a:pPr rtl="0"/>
            <a:r>
              <a:rPr lang="en-US" noProof="0"/>
              <a:t>Click to edit Master title style</a:t>
            </a:r>
            <a:endParaRPr lang="ro-RO" noProof="0" dirty="0"/>
          </a:p>
        </p:txBody>
      </p:sp>
      <p:sp>
        <p:nvSpPr>
          <p:cNvPr id="3" name="Substituent conținut 2"/>
          <p:cNvSpPr>
            <a:spLocks noGrp="1"/>
          </p:cNvSpPr>
          <p:nvPr>
            <p:ph sz="half" idx="1"/>
          </p:nvPr>
        </p:nvSpPr>
        <p:spPr>
          <a:xfrm>
            <a:off x="1024127" y="2286000"/>
            <a:ext cx="4754880" cy="4023360"/>
          </a:xfrm>
        </p:spPr>
        <p:txBody>
          <a:bodyPr rtlCol="0"/>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4" name="Substituent conținut 3"/>
          <p:cNvSpPr>
            <a:spLocks noGrp="1"/>
          </p:cNvSpPr>
          <p:nvPr>
            <p:ph sz="half" idx="2"/>
          </p:nvPr>
        </p:nvSpPr>
        <p:spPr>
          <a:xfrm>
            <a:off x="5989320" y="2286000"/>
            <a:ext cx="4754880" cy="4023360"/>
          </a:xfrm>
        </p:spPr>
        <p:txBody>
          <a:bodyPr rtlCol="0"/>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5" name="Substituent dată 4"/>
          <p:cNvSpPr>
            <a:spLocks noGrp="1"/>
          </p:cNvSpPr>
          <p:nvPr>
            <p:ph type="dt" sz="half" idx="10"/>
          </p:nvPr>
        </p:nvSpPr>
        <p:spPr/>
        <p:txBody>
          <a:bodyPr rtlCol="0"/>
          <a:lstStyle>
            <a:lvl1pPr>
              <a:defRPr/>
            </a:lvl1pPr>
          </a:lstStyle>
          <a:p>
            <a:fld id="{A93CB538-090E-4643-A104-8B5A147AE854}" type="datetime1">
              <a:rPr lang="ro-RO" smtClean="0"/>
              <a:pPr/>
              <a:t>27.05.2026</a:t>
            </a:fld>
            <a:endParaRPr lang="ro-RO" dirty="0"/>
          </a:p>
        </p:txBody>
      </p:sp>
      <p:sp>
        <p:nvSpPr>
          <p:cNvPr id="6" name="Substituent subsol 5"/>
          <p:cNvSpPr>
            <a:spLocks noGrp="1"/>
          </p:cNvSpPr>
          <p:nvPr>
            <p:ph type="ftr" sz="quarter" idx="11"/>
          </p:nvPr>
        </p:nvSpPr>
        <p:spPr/>
        <p:txBody>
          <a:bodyPr rtlCol="0"/>
          <a:lstStyle/>
          <a:p>
            <a:pPr rtl="0"/>
            <a:endParaRPr lang="ro-RO" noProof="0" dirty="0"/>
          </a:p>
        </p:txBody>
      </p:sp>
      <p:sp>
        <p:nvSpPr>
          <p:cNvPr id="7" name="Substituent număr diapozitiv 6"/>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ție">
    <p:spTree>
      <p:nvGrpSpPr>
        <p:cNvPr id="1" name=""/>
        <p:cNvGrpSpPr/>
        <p:nvPr/>
      </p:nvGrpSpPr>
      <p:grpSpPr>
        <a:xfrm>
          <a:off x="0" y="0"/>
          <a:ext cx="0" cy="0"/>
          <a:chOff x="0" y="0"/>
          <a:chExt cx="0" cy="0"/>
        </a:xfrm>
      </p:grpSpPr>
      <p:sp>
        <p:nvSpPr>
          <p:cNvPr id="10" name="Titlu 9"/>
          <p:cNvSpPr>
            <a:spLocks noGrp="1"/>
          </p:cNvSpPr>
          <p:nvPr>
            <p:ph type="title"/>
          </p:nvPr>
        </p:nvSpPr>
        <p:spPr/>
        <p:txBody>
          <a:bodyPr rtlCol="0"/>
          <a:lstStyle/>
          <a:p>
            <a:pPr rtl="0"/>
            <a:r>
              <a:rPr lang="en-US" noProof="0"/>
              <a:t>Click to edit Master title style</a:t>
            </a:r>
            <a:endParaRPr lang="ro-RO" noProof="0" dirty="0"/>
          </a:p>
        </p:txBody>
      </p:sp>
      <p:sp>
        <p:nvSpPr>
          <p:cNvPr id="3" name="Substituent text 2"/>
          <p:cNvSpPr>
            <a:spLocks noGrp="1"/>
          </p:cNvSpPr>
          <p:nvPr>
            <p:ph type="body" idx="1"/>
          </p:nvPr>
        </p:nvSpPr>
        <p:spPr>
          <a:xfrm>
            <a:off x="1024128" y="2179636"/>
            <a:ext cx="4754880" cy="822960"/>
          </a:xfrm>
        </p:spPr>
        <p:txBody>
          <a:bodyPr lIns="137160" rIns="137160" rtlCol="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4" name="Substituent conținut 3"/>
          <p:cNvSpPr>
            <a:spLocks noGrp="1"/>
          </p:cNvSpPr>
          <p:nvPr>
            <p:ph sz="half" idx="2"/>
          </p:nvPr>
        </p:nvSpPr>
        <p:spPr>
          <a:xfrm>
            <a:off x="1024128" y="2967788"/>
            <a:ext cx="4754880" cy="3341572"/>
          </a:xfrm>
        </p:spPr>
        <p:txBody>
          <a:bodyPr rtlCol="0"/>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5" name="Substituent text 4"/>
          <p:cNvSpPr>
            <a:spLocks noGrp="1"/>
          </p:cNvSpPr>
          <p:nvPr>
            <p:ph type="body" sz="quarter" idx="3"/>
          </p:nvPr>
        </p:nvSpPr>
        <p:spPr>
          <a:xfrm>
            <a:off x="5990888" y="2179636"/>
            <a:ext cx="4754880" cy="822960"/>
          </a:xfrm>
        </p:spPr>
        <p:txBody>
          <a:bodyPr lIns="137160" rIns="137160" rtlCol="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noProof="0"/>
              <a:t>Click to edit Master text styles</a:t>
            </a:r>
          </a:p>
        </p:txBody>
      </p:sp>
      <p:sp>
        <p:nvSpPr>
          <p:cNvPr id="6" name="Substituent conținut 5"/>
          <p:cNvSpPr>
            <a:spLocks noGrp="1"/>
          </p:cNvSpPr>
          <p:nvPr>
            <p:ph sz="quarter" idx="4"/>
          </p:nvPr>
        </p:nvSpPr>
        <p:spPr>
          <a:xfrm>
            <a:off x="5990888" y="2967788"/>
            <a:ext cx="4754880" cy="3341572"/>
          </a:xfrm>
        </p:spPr>
        <p:txBody>
          <a:bodyPr rtlCol="0"/>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7" name="Substituent dată 6"/>
          <p:cNvSpPr>
            <a:spLocks noGrp="1"/>
          </p:cNvSpPr>
          <p:nvPr>
            <p:ph type="dt" sz="half" idx="10"/>
          </p:nvPr>
        </p:nvSpPr>
        <p:spPr/>
        <p:txBody>
          <a:bodyPr rtlCol="0"/>
          <a:lstStyle>
            <a:lvl1pPr>
              <a:defRPr/>
            </a:lvl1pPr>
          </a:lstStyle>
          <a:p>
            <a:fld id="{66BFC990-C2F9-449B-8E1F-4D3586531F52}" type="datetime1">
              <a:rPr lang="ro-RO" smtClean="0"/>
              <a:pPr/>
              <a:t>27.05.2026</a:t>
            </a:fld>
            <a:endParaRPr lang="ro-RO" dirty="0"/>
          </a:p>
        </p:txBody>
      </p:sp>
      <p:sp>
        <p:nvSpPr>
          <p:cNvPr id="8" name="Substituent subsol 7"/>
          <p:cNvSpPr>
            <a:spLocks noGrp="1"/>
          </p:cNvSpPr>
          <p:nvPr>
            <p:ph type="ftr" sz="quarter" idx="11"/>
          </p:nvPr>
        </p:nvSpPr>
        <p:spPr/>
        <p:txBody>
          <a:bodyPr rtlCol="0"/>
          <a:lstStyle/>
          <a:p>
            <a:pPr rtl="0"/>
            <a:endParaRPr lang="ro-RO" noProof="0" dirty="0"/>
          </a:p>
        </p:txBody>
      </p:sp>
      <p:sp>
        <p:nvSpPr>
          <p:cNvPr id="9" name="Substituent număr diapozitiv 8"/>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Doar titlu">
    <p:spTree>
      <p:nvGrpSpPr>
        <p:cNvPr id="1" name=""/>
        <p:cNvGrpSpPr/>
        <p:nvPr/>
      </p:nvGrpSpPr>
      <p:grpSpPr>
        <a:xfrm>
          <a:off x="0" y="0"/>
          <a:ext cx="0" cy="0"/>
          <a:chOff x="0" y="0"/>
          <a:chExt cx="0" cy="0"/>
        </a:xfrm>
      </p:grpSpPr>
      <p:sp>
        <p:nvSpPr>
          <p:cNvPr id="2" name="Titlu 1"/>
          <p:cNvSpPr>
            <a:spLocks noGrp="1"/>
          </p:cNvSpPr>
          <p:nvPr>
            <p:ph type="title"/>
          </p:nvPr>
        </p:nvSpPr>
        <p:spPr/>
        <p:txBody>
          <a:bodyPr rtlCol="0"/>
          <a:lstStyle/>
          <a:p>
            <a:pPr rtl="0"/>
            <a:r>
              <a:rPr lang="en-US" noProof="0"/>
              <a:t>Click to edit Master title style</a:t>
            </a:r>
            <a:endParaRPr lang="ro-RO" noProof="0" dirty="0"/>
          </a:p>
        </p:txBody>
      </p:sp>
      <p:sp>
        <p:nvSpPr>
          <p:cNvPr id="3" name="Substituent dată 2"/>
          <p:cNvSpPr>
            <a:spLocks noGrp="1"/>
          </p:cNvSpPr>
          <p:nvPr>
            <p:ph type="dt" sz="half" idx="10"/>
          </p:nvPr>
        </p:nvSpPr>
        <p:spPr/>
        <p:txBody>
          <a:bodyPr rtlCol="0"/>
          <a:lstStyle>
            <a:lvl1pPr>
              <a:defRPr/>
            </a:lvl1pPr>
          </a:lstStyle>
          <a:p>
            <a:fld id="{376B9D71-7294-4FD2-9379-E10328420711}" type="datetime1">
              <a:rPr lang="ro-RO" smtClean="0"/>
              <a:pPr/>
              <a:t>27.05.2026</a:t>
            </a:fld>
            <a:endParaRPr lang="ro-RO" dirty="0"/>
          </a:p>
        </p:txBody>
      </p:sp>
      <p:sp>
        <p:nvSpPr>
          <p:cNvPr id="4" name="Substituent subsol 3"/>
          <p:cNvSpPr>
            <a:spLocks noGrp="1"/>
          </p:cNvSpPr>
          <p:nvPr>
            <p:ph type="ftr" sz="quarter" idx="11"/>
          </p:nvPr>
        </p:nvSpPr>
        <p:spPr/>
        <p:txBody>
          <a:bodyPr rtlCol="0"/>
          <a:lstStyle/>
          <a:p>
            <a:pPr rtl="0"/>
            <a:endParaRPr lang="ro-RO" noProof="0" dirty="0"/>
          </a:p>
        </p:txBody>
      </p:sp>
      <p:sp>
        <p:nvSpPr>
          <p:cNvPr id="5" name="Substituent număr diapozitiv 4"/>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Necompletat">
    <p:spTree>
      <p:nvGrpSpPr>
        <p:cNvPr id="1" name=""/>
        <p:cNvGrpSpPr/>
        <p:nvPr/>
      </p:nvGrpSpPr>
      <p:grpSpPr>
        <a:xfrm>
          <a:off x="0" y="0"/>
          <a:ext cx="0" cy="0"/>
          <a:chOff x="0" y="0"/>
          <a:chExt cx="0" cy="0"/>
        </a:xfrm>
      </p:grpSpPr>
      <p:sp>
        <p:nvSpPr>
          <p:cNvPr id="2" name="Substituent dată 1"/>
          <p:cNvSpPr>
            <a:spLocks noGrp="1"/>
          </p:cNvSpPr>
          <p:nvPr>
            <p:ph type="dt" sz="half" idx="10"/>
          </p:nvPr>
        </p:nvSpPr>
        <p:spPr/>
        <p:txBody>
          <a:bodyPr rtlCol="0"/>
          <a:lstStyle>
            <a:lvl1pPr>
              <a:defRPr/>
            </a:lvl1pPr>
          </a:lstStyle>
          <a:p>
            <a:fld id="{664F9D75-BC0E-4317-883B-91188A2E7B39}" type="datetime1">
              <a:rPr lang="ro-RO" smtClean="0"/>
              <a:pPr/>
              <a:t>27.05.2026</a:t>
            </a:fld>
            <a:endParaRPr lang="ro-RO" dirty="0"/>
          </a:p>
        </p:txBody>
      </p:sp>
      <p:sp>
        <p:nvSpPr>
          <p:cNvPr id="3" name="Substituent subsol 2"/>
          <p:cNvSpPr>
            <a:spLocks noGrp="1"/>
          </p:cNvSpPr>
          <p:nvPr>
            <p:ph type="ftr" sz="quarter" idx="11"/>
          </p:nvPr>
        </p:nvSpPr>
        <p:spPr/>
        <p:txBody>
          <a:bodyPr rtlCol="0"/>
          <a:lstStyle/>
          <a:p>
            <a:pPr rtl="0"/>
            <a:endParaRPr lang="ro-RO" noProof="0" dirty="0"/>
          </a:p>
        </p:txBody>
      </p:sp>
      <p:sp>
        <p:nvSpPr>
          <p:cNvPr id="4" name="Substituent număr diapozitiv 3"/>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ținut cu legendă">
    <p:spTree>
      <p:nvGrpSpPr>
        <p:cNvPr id="1" name=""/>
        <p:cNvGrpSpPr/>
        <p:nvPr/>
      </p:nvGrpSpPr>
      <p:grpSpPr>
        <a:xfrm>
          <a:off x="0" y="0"/>
          <a:ext cx="0" cy="0"/>
          <a:chOff x="0" y="0"/>
          <a:chExt cx="0" cy="0"/>
        </a:xfrm>
      </p:grpSpPr>
      <p:sp>
        <p:nvSpPr>
          <p:cNvPr id="8" name="Titlu 7"/>
          <p:cNvSpPr>
            <a:spLocks noGrp="1"/>
          </p:cNvSpPr>
          <p:nvPr>
            <p:ph type="title"/>
          </p:nvPr>
        </p:nvSpPr>
        <p:spPr>
          <a:xfrm>
            <a:off x="1024128" y="471509"/>
            <a:ext cx="4389120" cy="1737360"/>
          </a:xfrm>
        </p:spPr>
        <p:txBody>
          <a:bodyPr rtlCol="0">
            <a:noAutofit/>
          </a:bodyPr>
          <a:lstStyle>
            <a:lvl1pPr>
              <a:lnSpc>
                <a:spcPct val="80000"/>
              </a:lnSpc>
              <a:defRPr sz="4000"/>
            </a:lvl1pPr>
          </a:lstStyle>
          <a:p>
            <a:pPr rtl="0"/>
            <a:r>
              <a:rPr lang="en-US" noProof="0"/>
              <a:t>Click to edit Master title style</a:t>
            </a:r>
            <a:endParaRPr lang="ro-RO" noProof="0" dirty="0"/>
          </a:p>
        </p:txBody>
      </p:sp>
      <p:sp>
        <p:nvSpPr>
          <p:cNvPr id="3" name="Substituent conținut 2"/>
          <p:cNvSpPr>
            <a:spLocks noGrp="1"/>
          </p:cNvSpPr>
          <p:nvPr>
            <p:ph idx="1"/>
          </p:nvPr>
        </p:nvSpPr>
        <p:spPr>
          <a:xfrm>
            <a:off x="5715000" y="822960"/>
            <a:ext cx="5678424" cy="5184648"/>
          </a:xfrm>
        </p:spPr>
        <p:txBody>
          <a:bodyPr rtlCol="0"/>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4" name="Substituent text 3"/>
          <p:cNvSpPr>
            <a:spLocks noGrp="1"/>
          </p:cNvSpPr>
          <p:nvPr>
            <p:ph type="body" sz="half" idx="2"/>
          </p:nvPr>
        </p:nvSpPr>
        <p:spPr>
          <a:xfrm>
            <a:off x="1024128" y="2257506"/>
            <a:ext cx="4389120" cy="3762294"/>
          </a:xfrm>
        </p:spPr>
        <p:txBody>
          <a:bodyPr lIns="91440" rIns="91440" rtlCol="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n-US" noProof="0"/>
              <a:t>Click to edit Master text styles</a:t>
            </a:r>
          </a:p>
        </p:txBody>
      </p:sp>
      <p:sp>
        <p:nvSpPr>
          <p:cNvPr id="5" name="Substituent dată 4"/>
          <p:cNvSpPr>
            <a:spLocks noGrp="1"/>
          </p:cNvSpPr>
          <p:nvPr>
            <p:ph type="dt" sz="half" idx="10"/>
          </p:nvPr>
        </p:nvSpPr>
        <p:spPr/>
        <p:txBody>
          <a:bodyPr rtlCol="0"/>
          <a:lstStyle>
            <a:lvl1pPr>
              <a:defRPr/>
            </a:lvl1pPr>
          </a:lstStyle>
          <a:p>
            <a:fld id="{4378AD59-E426-4AB8-A995-F6C0C8EB9A23}" type="datetime1">
              <a:rPr lang="ro-RO" smtClean="0"/>
              <a:pPr/>
              <a:t>27.05.2026</a:t>
            </a:fld>
            <a:endParaRPr lang="ro-RO" dirty="0"/>
          </a:p>
        </p:txBody>
      </p:sp>
      <p:sp>
        <p:nvSpPr>
          <p:cNvPr id="6" name="Substituent subsol 5"/>
          <p:cNvSpPr>
            <a:spLocks noGrp="1"/>
          </p:cNvSpPr>
          <p:nvPr>
            <p:ph type="ftr" sz="quarter" idx="11"/>
          </p:nvPr>
        </p:nvSpPr>
        <p:spPr/>
        <p:txBody>
          <a:bodyPr rtlCol="0"/>
          <a:lstStyle/>
          <a:p>
            <a:pPr rtl="0"/>
            <a:endParaRPr lang="ro-RO" noProof="0" dirty="0"/>
          </a:p>
        </p:txBody>
      </p:sp>
      <p:sp>
        <p:nvSpPr>
          <p:cNvPr id="7" name="Substituent număr diapozitiv 6"/>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ine cu legendă">
    <p:spTree>
      <p:nvGrpSpPr>
        <p:cNvPr id="1" name=""/>
        <p:cNvGrpSpPr/>
        <p:nvPr/>
      </p:nvGrpSpPr>
      <p:grpSpPr>
        <a:xfrm>
          <a:off x="0" y="0"/>
          <a:ext cx="0" cy="0"/>
          <a:chOff x="0" y="0"/>
          <a:chExt cx="0" cy="0"/>
        </a:xfrm>
      </p:grpSpPr>
      <p:sp>
        <p:nvSpPr>
          <p:cNvPr id="2" name="Titlu 1"/>
          <p:cNvSpPr>
            <a:spLocks noGrp="1"/>
          </p:cNvSpPr>
          <p:nvPr>
            <p:ph type="title"/>
          </p:nvPr>
        </p:nvSpPr>
        <p:spPr>
          <a:xfrm>
            <a:off x="457200" y="4960138"/>
            <a:ext cx="7772400" cy="1463040"/>
          </a:xfrm>
        </p:spPr>
        <p:txBody>
          <a:bodyPr rtlCol="0" anchor="ctr">
            <a:normAutofit/>
          </a:bodyPr>
          <a:lstStyle>
            <a:lvl1pPr algn="r">
              <a:defRPr sz="5000" spc="200" baseline="0"/>
            </a:lvl1pPr>
          </a:lstStyle>
          <a:p>
            <a:pPr rtl="0"/>
            <a:r>
              <a:rPr lang="en-US" noProof="0"/>
              <a:t>Click to edit Master title style</a:t>
            </a:r>
            <a:endParaRPr lang="ro-RO" noProof="0" dirty="0"/>
          </a:p>
        </p:txBody>
      </p:sp>
      <p:sp>
        <p:nvSpPr>
          <p:cNvPr id="3" name="Substituent imagine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rtlCol="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n-US" noProof="0"/>
              <a:t>Click icon to add picture</a:t>
            </a:r>
            <a:endParaRPr lang="ro-RO" noProof="0" dirty="0"/>
          </a:p>
        </p:txBody>
      </p:sp>
      <p:sp>
        <p:nvSpPr>
          <p:cNvPr id="4" name="Substituent text 3"/>
          <p:cNvSpPr>
            <a:spLocks noGrp="1"/>
          </p:cNvSpPr>
          <p:nvPr>
            <p:ph type="body" sz="half" idx="2"/>
          </p:nvPr>
        </p:nvSpPr>
        <p:spPr>
          <a:xfrm>
            <a:off x="8610600" y="4960138"/>
            <a:ext cx="3200400" cy="1463040"/>
          </a:xfrm>
        </p:spPr>
        <p:txBody>
          <a:bodyPr lIns="91440" rIns="91440" rtlCol="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n-US" noProof="0"/>
              <a:t>Click to edit Master text styles</a:t>
            </a:r>
          </a:p>
        </p:txBody>
      </p:sp>
      <p:sp>
        <p:nvSpPr>
          <p:cNvPr id="5" name="Substituent dată 4"/>
          <p:cNvSpPr>
            <a:spLocks noGrp="1"/>
          </p:cNvSpPr>
          <p:nvPr>
            <p:ph type="dt" sz="half" idx="10"/>
          </p:nvPr>
        </p:nvSpPr>
        <p:spPr/>
        <p:txBody>
          <a:bodyPr rtlCol="0"/>
          <a:lstStyle>
            <a:lvl1pPr>
              <a:defRPr/>
            </a:lvl1pPr>
          </a:lstStyle>
          <a:p>
            <a:fld id="{32031241-8F07-4DD0-89E6-F142D9B9A8C9}" type="datetime1">
              <a:rPr lang="ro-RO" smtClean="0"/>
              <a:pPr/>
              <a:t>27.05.2026</a:t>
            </a:fld>
            <a:endParaRPr lang="ro-RO" dirty="0"/>
          </a:p>
        </p:txBody>
      </p:sp>
      <p:sp>
        <p:nvSpPr>
          <p:cNvPr id="6" name="Substituent subsol 5"/>
          <p:cNvSpPr>
            <a:spLocks noGrp="1"/>
          </p:cNvSpPr>
          <p:nvPr>
            <p:ph type="ftr" sz="quarter" idx="11"/>
          </p:nvPr>
        </p:nvSpPr>
        <p:spPr/>
        <p:txBody>
          <a:bodyPr rtlCol="0"/>
          <a:lstStyle/>
          <a:p>
            <a:pPr rtl="0"/>
            <a:endParaRPr lang="ro-RO" noProof="0" dirty="0"/>
          </a:p>
        </p:txBody>
      </p:sp>
      <p:sp>
        <p:nvSpPr>
          <p:cNvPr id="7" name="Substituent număr diapozitiv 6"/>
          <p:cNvSpPr>
            <a:spLocks noGrp="1"/>
          </p:cNvSpPr>
          <p:nvPr>
            <p:ph type="sldNum" sz="quarter" idx="12"/>
          </p:nvPr>
        </p:nvSpPr>
        <p:spPr/>
        <p:txBody>
          <a:bodyPr rtlCol="0"/>
          <a:lstStyle/>
          <a:p>
            <a:pPr rtl="0"/>
            <a:fld id="{867E5644-1E61-4311-A31E-84CB9C7AA8A9}" type="slidenum">
              <a:rPr lang="ro-RO" noProof="0" smtClean="0"/>
              <a:t>‹#›</a:t>
            </a:fld>
            <a:endParaRPr lang="ro-RO" noProof="0" dirty="0"/>
          </a:p>
        </p:txBody>
      </p:sp>
      <p:cxnSp>
        <p:nvCxnSpPr>
          <p:cNvPr id="8" name="Conector drept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u și text vertical">
    <p:spTree>
      <p:nvGrpSpPr>
        <p:cNvPr id="1" name=""/>
        <p:cNvGrpSpPr/>
        <p:nvPr/>
      </p:nvGrpSpPr>
      <p:grpSpPr>
        <a:xfrm>
          <a:off x="0" y="0"/>
          <a:ext cx="0" cy="0"/>
          <a:chOff x="0" y="0"/>
          <a:chExt cx="0" cy="0"/>
        </a:xfrm>
      </p:grpSpPr>
      <p:sp>
        <p:nvSpPr>
          <p:cNvPr id="2" name="Titlu 1"/>
          <p:cNvSpPr>
            <a:spLocks noGrp="1"/>
          </p:cNvSpPr>
          <p:nvPr>
            <p:ph type="title"/>
          </p:nvPr>
        </p:nvSpPr>
        <p:spPr/>
        <p:txBody>
          <a:bodyPr rtlCol="0"/>
          <a:lstStyle/>
          <a:p>
            <a:pPr rtl="0"/>
            <a:r>
              <a:rPr lang="en-US" noProof="0"/>
              <a:t>Click to edit Master title style</a:t>
            </a:r>
            <a:endParaRPr lang="ro-RO" noProof="0" dirty="0"/>
          </a:p>
        </p:txBody>
      </p:sp>
      <p:sp>
        <p:nvSpPr>
          <p:cNvPr id="3" name="Substituent text vertical 2"/>
          <p:cNvSpPr>
            <a:spLocks noGrp="1"/>
          </p:cNvSpPr>
          <p:nvPr>
            <p:ph type="body" orient="vert" idx="1"/>
          </p:nvPr>
        </p:nvSpPr>
        <p:spPr/>
        <p:txBody>
          <a:bodyPr vert="eaVert" rtlCol="0"/>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4" name="Substituent dată 3"/>
          <p:cNvSpPr>
            <a:spLocks noGrp="1"/>
          </p:cNvSpPr>
          <p:nvPr>
            <p:ph type="dt" sz="half" idx="10"/>
          </p:nvPr>
        </p:nvSpPr>
        <p:spPr/>
        <p:txBody>
          <a:bodyPr rtlCol="0"/>
          <a:lstStyle>
            <a:lvl1pPr>
              <a:defRPr/>
            </a:lvl1pPr>
          </a:lstStyle>
          <a:p>
            <a:fld id="{FEB96391-5099-46D6-AE86-E71636D16A83}" type="datetime1">
              <a:rPr lang="ro-RO" smtClean="0"/>
              <a:pPr/>
              <a:t>27.05.2026</a:t>
            </a:fld>
            <a:endParaRPr lang="ro-RO" dirty="0"/>
          </a:p>
        </p:txBody>
      </p:sp>
      <p:sp>
        <p:nvSpPr>
          <p:cNvPr id="5" name="Substituent subsol 4"/>
          <p:cNvSpPr>
            <a:spLocks noGrp="1"/>
          </p:cNvSpPr>
          <p:nvPr>
            <p:ph type="ftr" sz="quarter" idx="11"/>
          </p:nvPr>
        </p:nvSpPr>
        <p:spPr/>
        <p:txBody>
          <a:bodyPr rtlCol="0"/>
          <a:lstStyle/>
          <a:p>
            <a:pPr rtl="0"/>
            <a:endParaRPr lang="ro-RO" noProof="0" dirty="0"/>
          </a:p>
        </p:txBody>
      </p:sp>
      <p:sp>
        <p:nvSpPr>
          <p:cNvPr id="6" name="Substituent număr diapozitiv 5"/>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lu vertical și text">
    <p:spTree>
      <p:nvGrpSpPr>
        <p:cNvPr id="1" name=""/>
        <p:cNvGrpSpPr/>
        <p:nvPr/>
      </p:nvGrpSpPr>
      <p:grpSpPr>
        <a:xfrm>
          <a:off x="0" y="0"/>
          <a:ext cx="0" cy="0"/>
          <a:chOff x="0" y="0"/>
          <a:chExt cx="0" cy="0"/>
        </a:xfrm>
      </p:grpSpPr>
      <p:sp>
        <p:nvSpPr>
          <p:cNvPr id="2" name="Titlu vertical 1"/>
          <p:cNvSpPr>
            <a:spLocks noGrp="1"/>
          </p:cNvSpPr>
          <p:nvPr>
            <p:ph type="title" orient="vert"/>
          </p:nvPr>
        </p:nvSpPr>
        <p:spPr>
          <a:xfrm>
            <a:off x="8724901" y="762000"/>
            <a:ext cx="2628900" cy="5410200"/>
          </a:xfrm>
        </p:spPr>
        <p:txBody>
          <a:bodyPr vert="eaVert" lIns="45720" tIns="91440" rIns="45720" bIns="91440" rtlCol="0"/>
          <a:lstStyle/>
          <a:p>
            <a:pPr rtl="0"/>
            <a:r>
              <a:rPr lang="en-US" noProof="0"/>
              <a:t>Click to edit Master title style</a:t>
            </a:r>
            <a:endParaRPr lang="ro-RO" noProof="0" dirty="0"/>
          </a:p>
        </p:txBody>
      </p:sp>
      <p:sp>
        <p:nvSpPr>
          <p:cNvPr id="3" name="Substituent text vertical 2"/>
          <p:cNvSpPr>
            <a:spLocks noGrp="1"/>
          </p:cNvSpPr>
          <p:nvPr>
            <p:ph type="body" orient="vert" idx="1"/>
          </p:nvPr>
        </p:nvSpPr>
        <p:spPr>
          <a:xfrm>
            <a:off x="990601" y="762000"/>
            <a:ext cx="7581900" cy="5410200"/>
          </a:xfrm>
        </p:spPr>
        <p:txBody>
          <a:bodyPr vert="eaVert" rtlCol="0"/>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4" name="Substituent dată 3"/>
          <p:cNvSpPr>
            <a:spLocks noGrp="1"/>
          </p:cNvSpPr>
          <p:nvPr>
            <p:ph type="dt" sz="half" idx="10"/>
          </p:nvPr>
        </p:nvSpPr>
        <p:spPr/>
        <p:txBody>
          <a:bodyPr rtlCol="0"/>
          <a:lstStyle>
            <a:lvl1pPr>
              <a:defRPr/>
            </a:lvl1pPr>
          </a:lstStyle>
          <a:p>
            <a:fld id="{42EB3B23-A515-41F6-8AB5-93B207C54187}" type="datetime1">
              <a:rPr lang="ro-RO" smtClean="0"/>
              <a:pPr/>
              <a:t>27.05.2026</a:t>
            </a:fld>
            <a:endParaRPr lang="ro-RO" dirty="0"/>
          </a:p>
        </p:txBody>
      </p:sp>
      <p:sp>
        <p:nvSpPr>
          <p:cNvPr id="5" name="Substituent subsol 4"/>
          <p:cNvSpPr>
            <a:spLocks noGrp="1"/>
          </p:cNvSpPr>
          <p:nvPr>
            <p:ph type="ftr" sz="quarter" idx="11"/>
          </p:nvPr>
        </p:nvSpPr>
        <p:spPr/>
        <p:txBody>
          <a:bodyPr rtlCol="0"/>
          <a:lstStyle/>
          <a:p>
            <a:pPr rtl="0"/>
            <a:endParaRPr lang="ro-RO" noProof="0" dirty="0"/>
          </a:p>
        </p:txBody>
      </p:sp>
      <p:sp>
        <p:nvSpPr>
          <p:cNvPr id="6" name="Substituent număr diapozitiv 5"/>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cxnSp>
        <p:nvCxnSpPr>
          <p:cNvPr id="7" name="Conector drept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ubstituent titlu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pPr rtl="0"/>
            <a:r>
              <a:rPr lang="ro-RO" noProof="0" dirty="0"/>
              <a:t>Faceți clic pentru a edita stilul de titlu coordonator</a:t>
            </a:r>
          </a:p>
        </p:txBody>
      </p:sp>
      <p:sp>
        <p:nvSpPr>
          <p:cNvPr id="3" name="Substituent text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rtl="0"/>
            <a:r>
              <a:rPr lang="ro-RO" noProof="0" dirty="0"/>
              <a:t>Faceți clic pentru a edita stilurile de text coordonator</a:t>
            </a:r>
          </a:p>
          <a:p>
            <a:pPr lvl="1" rtl="0"/>
            <a:r>
              <a:rPr lang="ro-RO" noProof="0" dirty="0"/>
              <a:t>Al doilea nivel</a:t>
            </a:r>
          </a:p>
          <a:p>
            <a:pPr lvl="2" rtl="0"/>
            <a:r>
              <a:rPr lang="ro-RO" noProof="0" dirty="0"/>
              <a:t>Al treilea nivel</a:t>
            </a:r>
          </a:p>
          <a:p>
            <a:pPr lvl="3" rtl="0"/>
            <a:r>
              <a:rPr lang="ro-RO" noProof="0" dirty="0"/>
              <a:t>Al patrulea nivel</a:t>
            </a:r>
          </a:p>
          <a:p>
            <a:pPr lvl="4" rtl="0"/>
            <a:r>
              <a:rPr lang="ro-RO" noProof="0" dirty="0"/>
              <a:t>Al cincilea nivel</a:t>
            </a:r>
          </a:p>
        </p:txBody>
      </p:sp>
      <p:sp>
        <p:nvSpPr>
          <p:cNvPr id="4" name="Substituent dată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CCB63F66-1975-45FF-BD77-55BFD36725B4}" type="datetime1">
              <a:rPr lang="ro-RO" smtClean="0"/>
              <a:pPr/>
              <a:t>27.05.2026</a:t>
            </a:fld>
            <a:endParaRPr lang="ro-RO" dirty="0"/>
          </a:p>
        </p:txBody>
      </p:sp>
      <p:sp>
        <p:nvSpPr>
          <p:cNvPr id="5" name="Substituent subsol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pPr rtl="0"/>
            <a:endParaRPr lang="ro-RO" noProof="0" dirty="0"/>
          </a:p>
        </p:txBody>
      </p:sp>
      <p:sp>
        <p:nvSpPr>
          <p:cNvPr id="6" name="Substituent număr diapozitiv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pPr rtl="0"/>
            <a:fld id="{4FAB73BC-B049-4115-A692-8D63A059BFB8}" type="slidenum">
              <a:rPr lang="ro-RO" noProof="0" smtClean="0"/>
              <a:pPr rtl="0"/>
              <a:t>‹#›</a:t>
            </a:fld>
            <a:endParaRPr lang="ro-RO" noProof="0" dirty="0"/>
          </a:p>
        </p:txBody>
      </p:sp>
      <p:cxnSp>
        <p:nvCxnSpPr>
          <p:cNvPr id="7" name="Conector drept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8" r:id="rId10"/>
    <p:sldLayoutId id="2147483659" r:id="rId11"/>
  </p:sldLayoutIdLst>
  <p:hf sldNum="0" hdr="0" ftr="0" dt="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5.jpeg"/></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5.jpeg"/></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Dreptunghi 18">
            <a:extLst>
              <a:ext uri="{FF2B5EF4-FFF2-40B4-BE49-F238E27FC236}">
                <a16:creationId xmlns:a16="http://schemas.microsoft.com/office/drawing/2014/main" id="{2FDF0794-1B86-42B2-B8C7-F60123E638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4"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dirty="0"/>
          </a:p>
        </p:txBody>
      </p:sp>
      <p:pic>
        <p:nvPicPr>
          <p:cNvPr id="5" name="Imagine 4">
            <a:extLst>
              <a:ext uri="{FF2B5EF4-FFF2-40B4-BE49-F238E27FC236}">
                <a16:creationId xmlns:a16="http://schemas.microsoft.com/office/drawing/2014/main" id="{230BD1B1-AA22-48F1-B3ED-579CD284605D}"/>
              </a:ext>
              <a:ext uri="{C183D7F6-B498-43B3-948B-1728B52AA6E4}">
                <adec:decorative xmlns:adec="http://schemas.microsoft.com/office/drawing/2017/decorative" val="1"/>
              </a:ext>
            </a:extLst>
          </p:cNvPr>
          <p:cNvPicPr>
            <a:picLocks noChangeAspect="1"/>
          </p:cNvPicPr>
          <p:nvPr/>
        </p:nvPicPr>
        <p:blipFill rotWithShape="1">
          <a:blip r:embed="rId3"/>
          <a:srcRect r="52444" b="-1"/>
          <a:stretch/>
        </p:blipFill>
        <p:spPr>
          <a:xfrm>
            <a:off x="20" y="975"/>
            <a:ext cx="12191980" cy="6858000"/>
          </a:xfrm>
          <a:prstGeom prst="rect">
            <a:avLst/>
          </a:prstGeom>
        </p:spPr>
      </p:pic>
      <p:sp>
        <p:nvSpPr>
          <p:cNvPr id="21" name="Dreptunghi 20">
            <a:extLst>
              <a:ext uri="{FF2B5EF4-FFF2-40B4-BE49-F238E27FC236}">
                <a16:creationId xmlns:a16="http://schemas.microsoft.com/office/drawing/2014/main" id="{EAA48FC5-3C83-4F1B-BC33-DF0B588F83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96786" y="3064931"/>
            <a:ext cx="8295215" cy="2488568"/>
          </a:xfrm>
          <a:prstGeom prst="rect">
            <a:avLst/>
          </a:prstGeom>
          <a:solidFill>
            <a:srgbClr val="000001">
              <a:alpha val="7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rtl="0"/>
            <a:endParaRPr lang="ro-RO" dirty="0"/>
          </a:p>
        </p:txBody>
      </p:sp>
      <p:sp>
        <p:nvSpPr>
          <p:cNvPr id="2" name="Titlu 1">
            <a:extLst>
              <a:ext uri="{FF2B5EF4-FFF2-40B4-BE49-F238E27FC236}">
                <a16:creationId xmlns:a16="http://schemas.microsoft.com/office/drawing/2014/main" id="{DE3D84FB-5D02-47D2-98FD-4F01A02E2AEA}"/>
              </a:ext>
            </a:extLst>
          </p:cNvPr>
          <p:cNvSpPr>
            <a:spLocks noGrp="1"/>
          </p:cNvSpPr>
          <p:nvPr>
            <p:ph type="ctrTitle"/>
          </p:nvPr>
        </p:nvSpPr>
        <p:spPr>
          <a:xfrm>
            <a:off x="4309349" y="3429000"/>
            <a:ext cx="7501651" cy="1090938"/>
          </a:xfrm>
        </p:spPr>
        <p:txBody>
          <a:bodyPr rtlCol="0" anchor="b">
            <a:normAutofit fontScale="90000"/>
          </a:bodyPr>
          <a:lstStyle/>
          <a:p>
            <a:pPr algn="l"/>
            <a:r>
              <a:rPr lang="ro-RO" dirty="0">
                <a:solidFill>
                  <a:srgbClr val="FFFFFF"/>
                </a:solidFill>
              </a:rPr>
              <a:t>Azure app service vs azure container apps vs aks</a:t>
            </a:r>
          </a:p>
        </p:txBody>
      </p:sp>
      <p:sp>
        <p:nvSpPr>
          <p:cNvPr id="3" name="Subtitlu 2">
            <a:extLst>
              <a:ext uri="{FF2B5EF4-FFF2-40B4-BE49-F238E27FC236}">
                <a16:creationId xmlns:a16="http://schemas.microsoft.com/office/drawing/2014/main" id="{E9F6641D-ADF3-40BD-9BA3-E740E77C8826}"/>
              </a:ext>
            </a:extLst>
          </p:cNvPr>
          <p:cNvSpPr>
            <a:spLocks noGrp="1"/>
          </p:cNvSpPr>
          <p:nvPr>
            <p:ph type="subTitle" idx="1"/>
          </p:nvPr>
        </p:nvSpPr>
        <p:spPr>
          <a:xfrm>
            <a:off x="4309349" y="4779313"/>
            <a:ext cx="7501650" cy="514816"/>
          </a:xfrm>
        </p:spPr>
        <p:txBody>
          <a:bodyPr rtlCol="0" anchor="t">
            <a:normAutofit/>
          </a:bodyPr>
          <a:lstStyle/>
          <a:p>
            <a:pPr rtl="0"/>
            <a:r>
              <a:rPr lang="ro-RO" b="1" dirty="0">
                <a:solidFill>
                  <a:srgbClr val="FFFFFF"/>
                </a:solidFill>
              </a:rPr>
              <a:t>Goian Sergiu-Rares</a:t>
            </a:r>
            <a:r>
              <a:rPr lang="ro-RO" dirty="0">
                <a:solidFill>
                  <a:srgbClr val="FFFFFF"/>
                </a:solidFill>
              </a:rPr>
              <a:t>, Distributed Systems in Internet - UBB</a:t>
            </a:r>
            <a:endParaRPr lang="ro-RO" b="1" dirty="0">
              <a:solidFill>
                <a:srgbClr val="FFFFFF"/>
              </a:solidFill>
            </a:endParaRPr>
          </a:p>
        </p:txBody>
      </p:sp>
      <p:cxnSp>
        <p:nvCxnSpPr>
          <p:cNvPr id="23" name="Conector drept 22">
            <a:extLst>
              <a:ext uri="{FF2B5EF4-FFF2-40B4-BE49-F238E27FC236}">
                <a16:creationId xmlns:a16="http://schemas.microsoft.com/office/drawing/2014/main" id="{62F01714-1A39-4194-BD47-8A9960C5998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09349" y="4666480"/>
            <a:ext cx="6832499" cy="0"/>
          </a:xfrm>
          <a:prstGeom prst="line">
            <a:avLst/>
          </a:prstGeom>
          <a:ln w="22225">
            <a:solidFill>
              <a:srgbClr val="4AC4E3"/>
            </a:solidFill>
          </a:ln>
        </p:spPr>
        <p:style>
          <a:lnRef idx="3">
            <a:schemeClr val="accent1"/>
          </a:lnRef>
          <a:fillRef idx="0">
            <a:schemeClr val="accent1"/>
          </a:fillRef>
          <a:effectRef idx="2">
            <a:schemeClr val="accent1"/>
          </a:effectRef>
          <a:fontRef idx="minor">
            <a:schemeClr val="tx1"/>
          </a:fontRef>
        </p:style>
      </p:cxnSp>
      <p:pic>
        <p:nvPicPr>
          <p:cNvPr id="4" name="Picture 3" descr="Microsoft Azure - Wikipedia">
            <a:extLst>
              <a:ext uri="{FF2B5EF4-FFF2-40B4-BE49-F238E27FC236}">
                <a16:creationId xmlns:a16="http://schemas.microsoft.com/office/drawing/2014/main" id="{0128B923-3FE8-AB51-C1AC-91124E2A390E}"/>
              </a:ext>
            </a:extLst>
          </p:cNvPr>
          <p:cNvPicPr>
            <a:picLocks noChangeAspect="1"/>
          </p:cNvPicPr>
          <p:nvPr/>
        </p:nvPicPr>
        <p:blipFill>
          <a:blip r:embed="rId4"/>
          <a:stretch>
            <a:fillRect/>
          </a:stretch>
        </p:blipFill>
        <p:spPr>
          <a:xfrm>
            <a:off x="1594613" y="4292302"/>
            <a:ext cx="1163779" cy="1163779"/>
          </a:xfrm>
          <a:prstGeom prst="rect">
            <a:avLst/>
          </a:prstGeom>
        </p:spPr>
      </p:pic>
    </p:spTree>
    <p:extLst>
      <p:ext uri="{BB962C8B-B14F-4D97-AF65-F5344CB8AC3E}">
        <p14:creationId xmlns:p14="http://schemas.microsoft.com/office/powerpoint/2010/main" val="28062570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3CCE27-CA2A-A4ED-4710-F5F260FA2A15}"/>
            </a:ext>
          </a:extLst>
        </p:cNvPr>
        <p:cNvGrpSpPr/>
        <p:nvPr/>
      </p:nvGrpSpPr>
      <p:grpSpPr>
        <a:xfrm>
          <a:off x="0" y="0"/>
          <a:ext cx="0" cy="0"/>
          <a:chOff x="0" y="0"/>
          <a:chExt cx="0" cy="0"/>
        </a:xfrm>
      </p:grpSpPr>
      <p:sp>
        <p:nvSpPr>
          <p:cNvPr id="2" name="Titlu 1">
            <a:extLst>
              <a:ext uri="{FF2B5EF4-FFF2-40B4-BE49-F238E27FC236}">
                <a16:creationId xmlns:a16="http://schemas.microsoft.com/office/drawing/2014/main" id="{55EAB347-EFBE-39F5-8137-F86AF6ABBBEB}"/>
              </a:ext>
            </a:extLst>
          </p:cNvPr>
          <p:cNvSpPr>
            <a:spLocks noGrp="1"/>
          </p:cNvSpPr>
          <p:nvPr>
            <p:ph type="title"/>
          </p:nvPr>
        </p:nvSpPr>
        <p:spPr>
          <a:xfrm>
            <a:off x="1024128" y="585216"/>
            <a:ext cx="9720072" cy="1499616"/>
          </a:xfrm>
        </p:spPr>
        <p:txBody>
          <a:bodyPr rtlCol="0">
            <a:normAutofit/>
          </a:bodyPr>
          <a:lstStyle/>
          <a:p>
            <a:r>
              <a:rPr lang="ro-RO" dirty="0"/>
              <a:t>Azure hosting: Which service do you need?</a:t>
            </a:r>
          </a:p>
        </p:txBody>
      </p:sp>
      <p:sp>
        <p:nvSpPr>
          <p:cNvPr id="4" name="Content Placeholder 3">
            <a:extLst>
              <a:ext uri="{FF2B5EF4-FFF2-40B4-BE49-F238E27FC236}">
                <a16:creationId xmlns:a16="http://schemas.microsoft.com/office/drawing/2014/main" id="{F4BE117D-E65F-13C5-8363-F9442601D5BD}"/>
              </a:ext>
            </a:extLst>
          </p:cNvPr>
          <p:cNvSpPr>
            <a:spLocks noGrp="1"/>
          </p:cNvSpPr>
          <p:nvPr>
            <p:ph idx="1"/>
          </p:nvPr>
        </p:nvSpPr>
        <p:spPr>
          <a:xfrm>
            <a:off x="810882" y="2084831"/>
            <a:ext cx="9933318" cy="2487168"/>
          </a:xfrm>
        </p:spPr>
        <p:txBody>
          <a:bodyPr>
            <a:noAutofit/>
          </a:bodyPr>
          <a:lstStyle/>
          <a:p>
            <a:r>
              <a:rPr lang="ro-RO" sz="2500" dirty="0"/>
              <a:t>-</a:t>
            </a:r>
            <a:r>
              <a:rPr lang="ro-RO" sz="2500" b="1" dirty="0"/>
              <a:t>Context</a:t>
            </a:r>
            <a:r>
              <a:rPr lang="ro-RO" sz="2500" dirty="0"/>
              <a:t>: app to be deployed on Azure;</a:t>
            </a:r>
          </a:p>
          <a:p>
            <a:endParaRPr lang="ro-RO" sz="2500" dirty="0"/>
          </a:p>
          <a:p>
            <a:r>
              <a:rPr lang="ro-RO" sz="2500" dirty="0"/>
              <a:t>-</a:t>
            </a:r>
            <a:r>
              <a:rPr lang="ro-RO" sz="2500" b="1" dirty="0"/>
              <a:t>3 options</a:t>
            </a:r>
            <a:r>
              <a:rPr lang="ro-RO" sz="2500" dirty="0"/>
              <a:t>: Azure App Service, Azure Container Apps, AKS;</a:t>
            </a:r>
          </a:p>
          <a:p>
            <a:endParaRPr lang="ro-RO" sz="2500" dirty="0"/>
          </a:p>
          <a:p>
            <a:r>
              <a:rPr lang="ro-RO" sz="2500" dirty="0"/>
              <a:t>-same goal, different tradeoffs;</a:t>
            </a:r>
          </a:p>
          <a:p>
            <a:endParaRPr lang="ro-RO" sz="2500" dirty="0"/>
          </a:p>
        </p:txBody>
      </p:sp>
      <p:pic>
        <p:nvPicPr>
          <p:cNvPr id="3" name="Picture 2" descr="App Service - Web App | Microsoft Azure Color">
            <a:extLst>
              <a:ext uri="{FF2B5EF4-FFF2-40B4-BE49-F238E27FC236}">
                <a16:creationId xmlns:a16="http://schemas.microsoft.com/office/drawing/2014/main" id="{01E1D6BC-D6F3-8D68-7F9F-4D6936F7A2D8}"/>
              </a:ext>
            </a:extLst>
          </p:cNvPr>
          <p:cNvPicPr>
            <a:picLocks noChangeAspect="1"/>
          </p:cNvPicPr>
          <p:nvPr/>
        </p:nvPicPr>
        <p:blipFill>
          <a:blip r:embed="rId3"/>
          <a:stretch>
            <a:fillRect/>
          </a:stretch>
        </p:blipFill>
        <p:spPr>
          <a:xfrm>
            <a:off x="1091344" y="4773168"/>
            <a:ext cx="1409700" cy="1409700"/>
          </a:xfrm>
          <a:prstGeom prst="rect">
            <a:avLst/>
          </a:prstGeom>
        </p:spPr>
      </p:pic>
      <p:pic>
        <p:nvPicPr>
          <p:cNvPr id="5" name="Picture 4" descr="Azure Worker Container App Icon - Free SVG &amp; PNG Download ...">
            <a:extLst>
              <a:ext uri="{FF2B5EF4-FFF2-40B4-BE49-F238E27FC236}">
                <a16:creationId xmlns:a16="http://schemas.microsoft.com/office/drawing/2014/main" id="{77C0201C-8A7A-F75E-2287-11DA0F9A8664}"/>
              </a:ext>
            </a:extLst>
          </p:cNvPr>
          <p:cNvPicPr>
            <a:picLocks noChangeAspect="1"/>
          </p:cNvPicPr>
          <p:nvPr/>
        </p:nvPicPr>
        <p:blipFill>
          <a:blip r:embed="rId4"/>
          <a:stretch>
            <a:fillRect/>
          </a:stretch>
        </p:blipFill>
        <p:spPr>
          <a:xfrm>
            <a:off x="5391150" y="4773168"/>
            <a:ext cx="1409700" cy="1409700"/>
          </a:xfrm>
          <a:prstGeom prst="rect">
            <a:avLst/>
          </a:prstGeom>
        </p:spPr>
      </p:pic>
      <p:pic>
        <p:nvPicPr>
          <p:cNvPr id="6" name="Picture 5" descr="Azure Aks Vector SVG Icon - SVG Repo">
            <a:extLst>
              <a:ext uri="{FF2B5EF4-FFF2-40B4-BE49-F238E27FC236}">
                <a16:creationId xmlns:a16="http://schemas.microsoft.com/office/drawing/2014/main" id="{A617EA38-FADF-C445-207D-D6B625906B8E}"/>
              </a:ext>
            </a:extLst>
          </p:cNvPr>
          <p:cNvPicPr>
            <a:picLocks noChangeAspect="1"/>
          </p:cNvPicPr>
          <p:nvPr/>
        </p:nvPicPr>
        <p:blipFill>
          <a:blip r:embed="rId5"/>
          <a:stretch>
            <a:fillRect/>
          </a:stretch>
        </p:blipFill>
        <p:spPr>
          <a:xfrm>
            <a:off x="9495865" y="4773168"/>
            <a:ext cx="1409700" cy="1409700"/>
          </a:xfrm>
          <a:prstGeom prst="rect">
            <a:avLst/>
          </a:prstGeom>
        </p:spPr>
      </p:pic>
    </p:spTree>
    <p:extLst>
      <p:ext uri="{BB962C8B-B14F-4D97-AF65-F5344CB8AC3E}">
        <p14:creationId xmlns:p14="http://schemas.microsoft.com/office/powerpoint/2010/main" val="4309219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E1B25D-0A5D-9491-B0BA-08F36354B727}"/>
            </a:ext>
          </a:extLst>
        </p:cNvPr>
        <p:cNvGrpSpPr/>
        <p:nvPr/>
      </p:nvGrpSpPr>
      <p:grpSpPr>
        <a:xfrm>
          <a:off x="0" y="0"/>
          <a:ext cx="0" cy="0"/>
          <a:chOff x="0" y="0"/>
          <a:chExt cx="0" cy="0"/>
        </a:xfrm>
      </p:grpSpPr>
      <p:sp>
        <p:nvSpPr>
          <p:cNvPr id="2" name="Titlu 1">
            <a:extLst>
              <a:ext uri="{FF2B5EF4-FFF2-40B4-BE49-F238E27FC236}">
                <a16:creationId xmlns:a16="http://schemas.microsoft.com/office/drawing/2014/main" id="{D4CA895E-3298-0356-8F79-3D1E5D633090}"/>
              </a:ext>
            </a:extLst>
          </p:cNvPr>
          <p:cNvSpPr>
            <a:spLocks noGrp="1"/>
          </p:cNvSpPr>
          <p:nvPr>
            <p:ph type="title"/>
          </p:nvPr>
        </p:nvSpPr>
        <p:spPr>
          <a:xfrm>
            <a:off x="1024128" y="585216"/>
            <a:ext cx="4225604" cy="1499616"/>
          </a:xfrm>
        </p:spPr>
        <p:txBody>
          <a:bodyPr rtlCol="0">
            <a:normAutofit/>
          </a:bodyPr>
          <a:lstStyle/>
          <a:p>
            <a:r>
              <a:rPr lang="ro-RO" dirty="0"/>
              <a:t>Azure app service</a:t>
            </a:r>
          </a:p>
        </p:txBody>
      </p:sp>
      <p:sp>
        <p:nvSpPr>
          <p:cNvPr id="4" name="Content Placeholder 3">
            <a:extLst>
              <a:ext uri="{FF2B5EF4-FFF2-40B4-BE49-F238E27FC236}">
                <a16:creationId xmlns:a16="http://schemas.microsoft.com/office/drawing/2014/main" id="{273AA689-C16B-1A07-8C13-47598D5E7B48}"/>
              </a:ext>
            </a:extLst>
          </p:cNvPr>
          <p:cNvSpPr>
            <a:spLocks noGrp="1"/>
          </p:cNvSpPr>
          <p:nvPr>
            <p:ph idx="1"/>
          </p:nvPr>
        </p:nvSpPr>
        <p:spPr>
          <a:xfrm>
            <a:off x="810884" y="2286000"/>
            <a:ext cx="8386904" cy="4125558"/>
          </a:xfrm>
        </p:spPr>
        <p:txBody>
          <a:bodyPr>
            <a:normAutofit/>
          </a:bodyPr>
          <a:lstStyle/>
          <a:p>
            <a:pPr marL="0" indent="0">
              <a:buNone/>
            </a:pPr>
            <a:r>
              <a:rPr lang="ro-RO" sz="2500" dirty="0"/>
              <a:t>- fully managed PaaS for hosting web apps, REST APIs, backends;</a:t>
            </a:r>
          </a:p>
          <a:p>
            <a:pPr marL="0" indent="0">
              <a:buNone/>
            </a:pPr>
            <a:endParaRPr lang="ro-RO" sz="2500" dirty="0"/>
          </a:p>
          <a:p>
            <a:pPr marL="0" indent="0">
              <a:buNone/>
            </a:pPr>
            <a:r>
              <a:rPr lang="ro-RO" sz="2500" dirty="0"/>
              <a:t>- you deploy, Azure handles the rest;</a:t>
            </a:r>
            <a:endParaRPr lang="ro-RO" sz="2500" b="1" dirty="0"/>
          </a:p>
          <a:p>
            <a:pPr marL="0" indent="0">
              <a:buNone/>
            </a:pPr>
            <a:endParaRPr lang="ro-RO" sz="2500" dirty="0"/>
          </a:p>
          <a:p>
            <a:pPr marL="0" indent="0">
              <a:buNone/>
            </a:pPr>
            <a:r>
              <a:rPr lang="ro-RO" sz="2500" dirty="0"/>
              <a:t>- </a:t>
            </a:r>
            <a:r>
              <a:rPr lang="ro-RO" sz="2500" b="1" dirty="0"/>
              <a:t>use cases: s</a:t>
            </a:r>
            <a:r>
              <a:rPr lang="ro-RO" sz="2500" dirty="0"/>
              <a:t>mall to medium apps, quick deplyoments, teams without DevOps expertise;</a:t>
            </a:r>
          </a:p>
        </p:txBody>
      </p:sp>
      <p:pic>
        <p:nvPicPr>
          <p:cNvPr id="3" name="Picture 2" descr="App Service - Web App | Microsoft Azure Color">
            <a:extLst>
              <a:ext uri="{FF2B5EF4-FFF2-40B4-BE49-F238E27FC236}">
                <a16:creationId xmlns:a16="http://schemas.microsoft.com/office/drawing/2014/main" id="{2F20280F-CC15-3560-21BF-F412B9C524FE}"/>
              </a:ext>
            </a:extLst>
          </p:cNvPr>
          <p:cNvPicPr>
            <a:picLocks noChangeAspect="1"/>
          </p:cNvPicPr>
          <p:nvPr/>
        </p:nvPicPr>
        <p:blipFill>
          <a:blip r:embed="rId3"/>
          <a:stretch>
            <a:fillRect/>
          </a:stretch>
        </p:blipFill>
        <p:spPr>
          <a:xfrm>
            <a:off x="10039352" y="4792308"/>
            <a:ext cx="1409700" cy="1409700"/>
          </a:xfrm>
          <a:prstGeom prst="rect">
            <a:avLst/>
          </a:prstGeom>
        </p:spPr>
      </p:pic>
    </p:spTree>
    <p:extLst>
      <p:ext uri="{BB962C8B-B14F-4D97-AF65-F5344CB8AC3E}">
        <p14:creationId xmlns:p14="http://schemas.microsoft.com/office/powerpoint/2010/main" val="42215468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0A764-9294-C8DF-7538-640AD49B1B9B}"/>
            </a:ext>
          </a:extLst>
        </p:cNvPr>
        <p:cNvGrpSpPr/>
        <p:nvPr/>
      </p:nvGrpSpPr>
      <p:grpSpPr>
        <a:xfrm>
          <a:off x="0" y="0"/>
          <a:ext cx="0" cy="0"/>
          <a:chOff x="0" y="0"/>
          <a:chExt cx="0" cy="0"/>
        </a:xfrm>
      </p:grpSpPr>
      <p:sp>
        <p:nvSpPr>
          <p:cNvPr id="2" name="Titlu 1">
            <a:extLst>
              <a:ext uri="{FF2B5EF4-FFF2-40B4-BE49-F238E27FC236}">
                <a16:creationId xmlns:a16="http://schemas.microsoft.com/office/drawing/2014/main" id="{A8EE5E7F-1BDC-722E-5534-D5D2E5884F4C}"/>
              </a:ext>
            </a:extLst>
          </p:cNvPr>
          <p:cNvSpPr>
            <a:spLocks noGrp="1"/>
          </p:cNvSpPr>
          <p:nvPr>
            <p:ph type="title"/>
          </p:nvPr>
        </p:nvSpPr>
        <p:spPr>
          <a:xfrm>
            <a:off x="1024127" y="585216"/>
            <a:ext cx="5473491" cy="1499616"/>
          </a:xfrm>
        </p:spPr>
        <p:txBody>
          <a:bodyPr rtlCol="0">
            <a:normAutofit/>
          </a:bodyPr>
          <a:lstStyle/>
          <a:p>
            <a:r>
              <a:rPr lang="ro-RO" dirty="0"/>
              <a:t>Azure container apps</a:t>
            </a:r>
          </a:p>
        </p:txBody>
      </p:sp>
      <p:sp>
        <p:nvSpPr>
          <p:cNvPr id="4" name="Content Placeholder 3">
            <a:extLst>
              <a:ext uri="{FF2B5EF4-FFF2-40B4-BE49-F238E27FC236}">
                <a16:creationId xmlns:a16="http://schemas.microsoft.com/office/drawing/2014/main" id="{370702A9-F0D8-703F-E268-FA2657893CAF}"/>
              </a:ext>
            </a:extLst>
          </p:cNvPr>
          <p:cNvSpPr>
            <a:spLocks noGrp="1"/>
          </p:cNvSpPr>
          <p:nvPr>
            <p:ph idx="1"/>
          </p:nvPr>
        </p:nvSpPr>
        <p:spPr>
          <a:xfrm>
            <a:off x="810884" y="1861073"/>
            <a:ext cx="8935544" cy="4808668"/>
          </a:xfrm>
        </p:spPr>
        <p:txBody>
          <a:bodyPr>
            <a:normAutofit/>
          </a:bodyPr>
          <a:lstStyle/>
          <a:p>
            <a:pPr marL="0" indent="0">
              <a:buNone/>
            </a:pPr>
            <a:r>
              <a:rPr lang="ro-RO" sz="2500" dirty="0"/>
              <a:t>- serverless hosting platform for containers, on top of Kubernetes, without touching it directly;</a:t>
            </a:r>
          </a:p>
          <a:p>
            <a:pPr marL="0" indent="0">
              <a:buNone/>
            </a:pPr>
            <a:endParaRPr lang="ro-RO" sz="2500" dirty="0"/>
          </a:p>
          <a:p>
            <a:pPr marL="0" indent="0">
              <a:buNone/>
            </a:pPr>
            <a:r>
              <a:rPr lang="ro-RO" sz="2500" dirty="0"/>
              <a:t>- </a:t>
            </a:r>
            <a:r>
              <a:rPr lang="ro-RO" sz="2500" b="1" dirty="0"/>
              <a:t>use cases</a:t>
            </a:r>
            <a:r>
              <a:rPr lang="ro-RO" sz="2500" dirty="0"/>
              <a:t>: microservices, event-driven apps, when need of containers without managing infrastructure;</a:t>
            </a:r>
            <a:endParaRPr lang="ro-RO" sz="2500" b="1" dirty="0"/>
          </a:p>
          <a:p>
            <a:pPr marL="0" indent="0">
              <a:buNone/>
            </a:pPr>
            <a:endParaRPr lang="ro-RO" sz="2500" dirty="0"/>
          </a:p>
          <a:p>
            <a:pPr marL="0" indent="0">
              <a:buNone/>
            </a:pPr>
            <a:r>
              <a:rPr lang="ro-RO" sz="2500" dirty="0"/>
              <a:t>- scale: when no traffic, app scales down completely, and based on HTTP traffic, queue length and custom event;</a:t>
            </a:r>
          </a:p>
          <a:p>
            <a:pPr>
              <a:buFontTx/>
              <a:buChar char="-"/>
            </a:pPr>
            <a:endParaRPr lang="ro-RO" sz="2500" dirty="0"/>
          </a:p>
          <a:p>
            <a:pPr marL="0" indent="0">
              <a:buNone/>
            </a:pPr>
            <a:r>
              <a:rPr lang="ro-RO" sz="2500" dirty="0"/>
              <a:t>- multiple versions of app running simultaneously;</a:t>
            </a:r>
          </a:p>
          <a:p>
            <a:pPr>
              <a:buFontTx/>
              <a:buChar char="-"/>
            </a:pPr>
            <a:endParaRPr lang="ro-RO" sz="2500" dirty="0"/>
          </a:p>
        </p:txBody>
      </p:sp>
      <p:pic>
        <p:nvPicPr>
          <p:cNvPr id="5" name="Picture 4" descr="Azure Worker Container App Icon - Free SVG &amp; PNG Download ...">
            <a:extLst>
              <a:ext uri="{FF2B5EF4-FFF2-40B4-BE49-F238E27FC236}">
                <a16:creationId xmlns:a16="http://schemas.microsoft.com/office/drawing/2014/main" id="{B692F719-E267-B1FC-2EBB-FBF1855FAD80}"/>
              </a:ext>
            </a:extLst>
          </p:cNvPr>
          <p:cNvPicPr>
            <a:picLocks noChangeAspect="1"/>
          </p:cNvPicPr>
          <p:nvPr/>
        </p:nvPicPr>
        <p:blipFill>
          <a:blip r:embed="rId3"/>
          <a:stretch>
            <a:fillRect/>
          </a:stretch>
        </p:blipFill>
        <p:spPr>
          <a:xfrm>
            <a:off x="9971416" y="5001858"/>
            <a:ext cx="1409700" cy="1409700"/>
          </a:xfrm>
          <a:prstGeom prst="rect">
            <a:avLst/>
          </a:prstGeom>
        </p:spPr>
      </p:pic>
    </p:spTree>
    <p:extLst>
      <p:ext uri="{BB962C8B-B14F-4D97-AF65-F5344CB8AC3E}">
        <p14:creationId xmlns:p14="http://schemas.microsoft.com/office/powerpoint/2010/main" val="18885095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06A857-4048-1007-4483-87CB16C46FA4}"/>
            </a:ext>
          </a:extLst>
        </p:cNvPr>
        <p:cNvGrpSpPr/>
        <p:nvPr/>
      </p:nvGrpSpPr>
      <p:grpSpPr>
        <a:xfrm>
          <a:off x="0" y="0"/>
          <a:ext cx="0" cy="0"/>
          <a:chOff x="0" y="0"/>
          <a:chExt cx="0" cy="0"/>
        </a:xfrm>
      </p:grpSpPr>
      <p:sp>
        <p:nvSpPr>
          <p:cNvPr id="2" name="Titlu 1">
            <a:extLst>
              <a:ext uri="{FF2B5EF4-FFF2-40B4-BE49-F238E27FC236}">
                <a16:creationId xmlns:a16="http://schemas.microsoft.com/office/drawing/2014/main" id="{B9DAA6F3-485F-8A2F-5022-7A3B682282D2}"/>
              </a:ext>
            </a:extLst>
          </p:cNvPr>
          <p:cNvSpPr>
            <a:spLocks noGrp="1"/>
          </p:cNvSpPr>
          <p:nvPr>
            <p:ph type="title"/>
          </p:nvPr>
        </p:nvSpPr>
        <p:spPr>
          <a:xfrm>
            <a:off x="1024127" y="585216"/>
            <a:ext cx="6882744" cy="1499616"/>
          </a:xfrm>
        </p:spPr>
        <p:txBody>
          <a:bodyPr rtlCol="0">
            <a:normAutofit/>
          </a:bodyPr>
          <a:lstStyle/>
          <a:p>
            <a:r>
              <a:rPr lang="ro-RO" dirty="0"/>
              <a:t>Azure Kubernetes Service (aks)</a:t>
            </a:r>
          </a:p>
        </p:txBody>
      </p:sp>
      <p:sp>
        <p:nvSpPr>
          <p:cNvPr id="4" name="Content Placeholder 3">
            <a:extLst>
              <a:ext uri="{FF2B5EF4-FFF2-40B4-BE49-F238E27FC236}">
                <a16:creationId xmlns:a16="http://schemas.microsoft.com/office/drawing/2014/main" id="{750C1E30-CF52-BB12-EA29-9EAD5D6E0C20}"/>
              </a:ext>
            </a:extLst>
          </p:cNvPr>
          <p:cNvSpPr>
            <a:spLocks noGrp="1"/>
          </p:cNvSpPr>
          <p:nvPr>
            <p:ph idx="1"/>
          </p:nvPr>
        </p:nvSpPr>
        <p:spPr>
          <a:xfrm>
            <a:off x="810884" y="2084832"/>
            <a:ext cx="8881756" cy="4187952"/>
          </a:xfrm>
        </p:spPr>
        <p:txBody>
          <a:bodyPr>
            <a:normAutofit/>
          </a:bodyPr>
          <a:lstStyle/>
          <a:p>
            <a:pPr marL="0" indent="0">
              <a:buNone/>
            </a:pPr>
            <a:r>
              <a:rPr lang="ro-RO" sz="2500" dirty="0"/>
              <a:t>- fully managed Kubernetes cluster, full Kubernetes power;</a:t>
            </a:r>
          </a:p>
          <a:p>
            <a:pPr marL="0" indent="0">
              <a:buNone/>
            </a:pPr>
            <a:endParaRPr lang="ro-RO" sz="2500" dirty="0"/>
          </a:p>
          <a:p>
            <a:pPr marL="0" indent="0">
              <a:buNone/>
            </a:pPr>
            <a:r>
              <a:rPr lang="ro-RO" sz="2500" dirty="0"/>
              <a:t>- </a:t>
            </a:r>
            <a:r>
              <a:rPr lang="ro-RO" sz="2500" b="1" dirty="0"/>
              <a:t>use cases</a:t>
            </a:r>
            <a:r>
              <a:rPr lang="ro-RO" sz="2500" dirty="0"/>
              <a:t>: large systems, complex microservices, workloads where you need full control over networking, storage, scheduling;</a:t>
            </a:r>
            <a:endParaRPr lang="ro-RO" sz="2500" b="1" dirty="0"/>
          </a:p>
          <a:p>
            <a:pPr marL="0" indent="0">
              <a:buNone/>
            </a:pPr>
            <a:endParaRPr lang="ro-RO" sz="2500" dirty="0"/>
          </a:p>
          <a:p>
            <a:pPr marL="0" indent="0">
              <a:buNone/>
            </a:pPr>
            <a:r>
              <a:rPr lang="ro-RO" sz="2500" dirty="0"/>
              <a:t>- custom deployments, ingress controllers, network policies;</a:t>
            </a:r>
          </a:p>
          <a:p>
            <a:pPr>
              <a:buFontTx/>
              <a:buChar char="-"/>
            </a:pPr>
            <a:endParaRPr lang="ro-RO" sz="2500" dirty="0"/>
          </a:p>
          <a:p>
            <a:pPr marL="0" indent="0">
              <a:buNone/>
            </a:pPr>
            <a:r>
              <a:rPr lang="ro-RO" sz="2500" dirty="0"/>
              <a:t>- requires knowledge of K8s: pods, deployments, yaml manifests;</a:t>
            </a:r>
          </a:p>
        </p:txBody>
      </p:sp>
      <p:pic>
        <p:nvPicPr>
          <p:cNvPr id="3" name="Picture 2" descr="Azure Aks Vector SVG Icon - SVG Repo">
            <a:extLst>
              <a:ext uri="{FF2B5EF4-FFF2-40B4-BE49-F238E27FC236}">
                <a16:creationId xmlns:a16="http://schemas.microsoft.com/office/drawing/2014/main" id="{498D71E8-B642-68AA-94DF-A2AE04C0CBC3}"/>
              </a:ext>
            </a:extLst>
          </p:cNvPr>
          <p:cNvPicPr>
            <a:picLocks noChangeAspect="1"/>
          </p:cNvPicPr>
          <p:nvPr/>
        </p:nvPicPr>
        <p:blipFill>
          <a:blip r:embed="rId3"/>
          <a:stretch>
            <a:fillRect/>
          </a:stretch>
        </p:blipFill>
        <p:spPr>
          <a:xfrm>
            <a:off x="9971416" y="5095897"/>
            <a:ext cx="1409700" cy="1409700"/>
          </a:xfrm>
          <a:prstGeom prst="rect">
            <a:avLst/>
          </a:prstGeom>
        </p:spPr>
      </p:pic>
    </p:spTree>
    <p:extLst>
      <p:ext uri="{BB962C8B-B14F-4D97-AF65-F5344CB8AC3E}">
        <p14:creationId xmlns:p14="http://schemas.microsoft.com/office/powerpoint/2010/main" val="2802197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F51E7-6D6D-53E0-3785-17488C890CA5}"/>
            </a:ext>
          </a:extLst>
        </p:cNvPr>
        <p:cNvGrpSpPr/>
        <p:nvPr/>
      </p:nvGrpSpPr>
      <p:grpSpPr>
        <a:xfrm>
          <a:off x="0" y="0"/>
          <a:ext cx="0" cy="0"/>
          <a:chOff x="0" y="0"/>
          <a:chExt cx="0" cy="0"/>
        </a:xfrm>
      </p:grpSpPr>
      <p:sp>
        <p:nvSpPr>
          <p:cNvPr id="2" name="Titlu 1">
            <a:extLst>
              <a:ext uri="{FF2B5EF4-FFF2-40B4-BE49-F238E27FC236}">
                <a16:creationId xmlns:a16="http://schemas.microsoft.com/office/drawing/2014/main" id="{5F1313AF-7EB5-E6C2-C2DC-D5E5B705D32D}"/>
              </a:ext>
            </a:extLst>
          </p:cNvPr>
          <p:cNvSpPr>
            <a:spLocks noGrp="1"/>
          </p:cNvSpPr>
          <p:nvPr>
            <p:ph type="title"/>
          </p:nvPr>
        </p:nvSpPr>
        <p:spPr>
          <a:xfrm>
            <a:off x="1024127" y="585216"/>
            <a:ext cx="6882744" cy="1499616"/>
          </a:xfrm>
        </p:spPr>
        <p:txBody>
          <a:bodyPr rtlCol="0">
            <a:normAutofit/>
          </a:bodyPr>
          <a:lstStyle/>
          <a:p>
            <a:r>
              <a:rPr lang="ro-RO" dirty="0"/>
              <a:t>Key differences</a:t>
            </a:r>
          </a:p>
        </p:txBody>
      </p:sp>
      <p:sp>
        <p:nvSpPr>
          <p:cNvPr id="4" name="Content Placeholder 3">
            <a:extLst>
              <a:ext uri="{FF2B5EF4-FFF2-40B4-BE49-F238E27FC236}">
                <a16:creationId xmlns:a16="http://schemas.microsoft.com/office/drawing/2014/main" id="{8C3E35F4-A34D-3989-84B3-F64D5548B9F1}"/>
              </a:ext>
            </a:extLst>
          </p:cNvPr>
          <p:cNvSpPr>
            <a:spLocks noGrp="1"/>
          </p:cNvSpPr>
          <p:nvPr>
            <p:ph idx="1"/>
          </p:nvPr>
        </p:nvSpPr>
        <p:spPr>
          <a:xfrm>
            <a:off x="810883" y="1990846"/>
            <a:ext cx="10694351" cy="4514126"/>
          </a:xfrm>
        </p:spPr>
        <p:txBody>
          <a:bodyPr>
            <a:normAutofit/>
          </a:bodyPr>
          <a:lstStyle/>
          <a:p>
            <a:pPr marL="0" indent="0">
              <a:buNone/>
            </a:pPr>
            <a:r>
              <a:rPr lang="ro-RO" sz="2500" dirty="0"/>
              <a:t>- </a:t>
            </a:r>
            <a:r>
              <a:rPr lang="ro-RO" sz="2500" b="1" dirty="0"/>
              <a:t>App Service</a:t>
            </a:r>
            <a:r>
              <a:rPr lang="ro-RO" sz="2500" dirty="0"/>
              <a:t>:</a:t>
            </a:r>
          </a:p>
          <a:p>
            <a:pPr lvl="1">
              <a:buFontTx/>
              <a:buChar char="-"/>
            </a:pPr>
            <a:r>
              <a:rPr lang="ro-RO" sz="2100" dirty="0"/>
              <a:t>Deployed directly from Visual Studio, no Docker, no YAML, no infrastructure knowledge;</a:t>
            </a:r>
          </a:p>
          <a:p>
            <a:pPr lvl="1">
              <a:buFontTx/>
              <a:buChar char="-"/>
            </a:pPr>
            <a:r>
              <a:rPr lang="ro-RO" sz="2100" dirty="0"/>
              <a:t>You always pay (one instance always running);</a:t>
            </a:r>
          </a:p>
          <a:p>
            <a:pPr marL="0" indent="0">
              <a:buNone/>
            </a:pPr>
            <a:r>
              <a:rPr lang="ro-RO" sz="2500" dirty="0"/>
              <a:t>- </a:t>
            </a:r>
            <a:r>
              <a:rPr lang="ro-RO" sz="2500" b="1" dirty="0"/>
              <a:t>Container Apps</a:t>
            </a:r>
            <a:r>
              <a:rPr lang="ro-RO" sz="2500" dirty="0"/>
              <a:t>:</a:t>
            </a:r>
          </a:p>
          <a:p>
            <a:pPr lvl="1">
              <a:buFontTx/>
              <a:buChar char="-"/>
            </a:pPr>
            <a:r>
              <a:rPr lang="ro-RO" sz="2100" dirty="0"/>
              <a:t>Scale to zero when no traffic, nothing runs, nothing billed;</a:t>
            </a:r>
          </a:p>
          <a:p>
            <a:pPr lvl="1">
              <a:buFontTx/>
              <a:buChar char="-"/>
            </a:pPr>
            <a:r>
              <a:rPr lang="ro-RO" sz="2100" dirty="0"/>
              <a:t>Built in revision management, multiple versions can run simultaneously, traffic can be split between them;</a:t>
            </a:r>
            <a:endParaRPr lang="ro-RO" sz="2500" dirty="0"/>
          </a:p>
          <a:p>
            <a:pPr marL="0" indent="0">
              <a:buNone/>
            </a:pPr>
            <a:r>
              <a:rPr lang="ro-RO" sz="2500" dirty="0"/>
              <a:t>- </a:t>
            </a:r>
            <a:r>
              <a:rPr lang="ro-RO" sz="2500" b="1" dirty="0"/>
              <a:t>AKS</a:t>
            </a:r>
            <a:r>
              <a:rPr lang="ro-RO" sz="2500" dirty="0"/>
              <a:t>:</a:t>
            </a:r>
          </a:p>
          <a:p>
            <a:pPr lvl="1">
              <a:buFontTx/>
              <a:buChar char="-"/>
            </a:pPr>
            <a:r>
              <a:rPr lang="ro-RO" sz="2100" dirty="0"/>
              <a:t>You see everything: pods, nodes, underlying infrastructure;</a:t>
            </a:r>
          </a:p>
          <a:p>
            <a:pPr lvl="1">
              <a:buFontTx/>
              <a:buChar char="-"/>
            </a:pPr>
            <a:r>
              <a:rPr lang="ro-RO" sz="2100" dirty="0"/>
              <a:t>You control everything: manual scaling, custom networking, full Kubernetes power if needed;</a:t>
            </a:r>
          </a:p>
          <a:p>
            <a:pPr lvl="1">
              <a:buFontTx/>
              <a:buChar char="-"/>
            </a:pPr>
            <a:r>
              <a:rPr lang="ro-RO" sz="2100" dirty="0"/>
              <a:t>Most complex, but nothing hidden from the user;</a:t>
            </a:r>
          </a:p>
        </p:txBody>
      </p:sp>
      <p:pic>
        <p:nvPicPr>
          <p:cNvPr id="5" name="Picture 4" descr="App Service - Web App | Microsoft Azure Color">
            <a:extLst>
              <a:ext uri="{FF2B5EF4-FFF2-40B4-BE49-F238E27FC236}">
                <a16:creationId xmlns:a16="http://schemas.microsoft.com/office/drawing/2014/main" id="{78359B8B-9526-28F2-064D-6DD5BE06E543}"/>
              </a:ext>
            </a:extLst>
          </p:cNvPr>
          <p:cNvPicPr>
            <a:picLocks noChangeAspect="1"/>
          </p:cNvPicPr>
          <p:nvPr/>
        </p:nvPicPr>
        <p:blipFill>
          <a:blip r:embed="rId3"/>
          <a:stretch>
            <a:fillRect/>
          </a:stretch>
        </p:blipFill>
        <p:spPr>
          <a:xfrm>
            <a:off x="5256505" y="773092"/>
            <a:ext cx="989636" cy="989636"/>
          </a:xfrm>
          <a:prstGeom prst="rect">
            <a:avLst/>
          </a:prstGeom>
        </p:spPr>
      </p:pic>
      <p:pic>
        <p:nvPicPr>
          <p:cNvPr id="6" name="Picture 5" descr="Azure Worker Container App Icon - Free SVG &amp; PNG Download ...">
            <a:extLst>
              <a:ext uri="{FF2B5EF4-FFF2-40B4-BE49-F238E27FC236}">
                <a16:creationId xmlns:a16="http://schemas.microsoft.com/office/drawing/2014/main" id="{B1053AD0-86D7-69FD-4495-F0C3AC29ABC0}"/>
              </a:ext>
            </a:extLst>
          </p:cNvPr>
          <p:cNvPicPr>
            <a:picLocks noChangeAspect="1"/>
          </p:cNvPicPr>
          <p:nvPr/>
        </p:nvPicPr>
        <p:blipFill>
          <a:blip r:embed="rId4"/>
          <a:stretch>
            <a:fillRect/>
          </a:stretch>
        </p:blipFill>
        <p:spPr>
          <a:xfrm>
            <a:off x="7635090" y="773092"/>
            <a:ext cx="989636" cy="989636"/>
          </a:xfrm>
          <a:prstGeom prst="rect">
            <a:avLst/>
          </a:prstGeom>
        </p:spPr>
      </p:pic>
      <p:pic>
        <p:nvPicPr>
          <p:cNvPr id="7" name="Picture 6" descr="Azure Aks Vector SVG Icon - SVG Repo">
            <a:extLst>
              <a:ext uri="{FF2B5EF4-FFF2-40B4-BE49-F238E27FC236}">
                <a16:creationId xmlns:a16="http://schemas.microsoft.com/office/drawing/2014/main" id="{9B70B671-3338-9E02-DFD5-3126602B9F9A}"/>
              </a:ext>
            </a:extLst>
          </p:cNvPr>
          <p:cNvPicPr>
            <a:picLocks noChangeAspect="1"/>
          </p:cNvPicPr>
          <p:nvPr/>
        </p:nvPicPr>
        <p:blipFill>
          <a:blip r:embed="rId5"/>
          <a:stretch>
            <a:fillRect/>
          </a:stretch>
        </p:blipFill>
        <p:spPr>
          <a:xfrm>
            <a:off x="10013675" y="773093"/>
            <a:ext cx="989635" cy="989635"/>
          </a:xfrm>
          <a:prstGeom prst="rect">
            <a:avLst/>
          </a:prstGeom>
        </p:spPr>
      </p:pic>
    </p:spTree>
    <p:extLst>
      <p:ext uri="{BB962C8B-B14F-4D97-AF65-F5344CB8AC3E}">
        <p14:creationId xmlns:p14="http://schemas.microsoft.com/office/powerpoint/2010/main" val="22628492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61239-262D-401C-26B0-8E890ECC903B}"/>
            </a:ext>
          </a:extLst>
        </p:cNvPr>
        <p:cNvGrpSpPr/>
        <p:nvPr/>
      </p:nvGrpSpPr>
      <p:grpSpPr>
        <a:xfrm>
          <a:off x="0" y="0"/>
          <a:ext cx="0" cy="0"/>
          <a:chOff x="0" y="0"/>
          <a:chExt cx="0" cy="0"/>
        </a:xfrm>
      </p:grpSpPr>
      <p:sp>
        <p:nvSpPr>
          <p:cNvPr id="2" name="Titlu 1">
            <a:extLst>
              <a:ext uri="{FF2B5EF4-FFF2-40B4-BE49-F238E27FC236}">
                <a16:creationId xmlns:a16="http://schemas.microsoft.com/office/drawing/2014/main" id="{480FE76C-D44B-C3BE-780A-A458F9CCAEE9}"/>
              </a:ext>
            </a:extLst>
          </p:cNvPr>
          <p:cNvSpPr>
            <a:spLocks noGrp="1"/>
          </p:cNvSpPr>
          <p:nvPr>
            <p:ph type="title"/>
          </p:nvPr>
        </p:nvSpPr>
        <p:spPr>
          <a:xfrm>
            <a:off x="1024127" y="585216"/>
            <a:ext cx="6882744" cy="1499616"/>
          </a:xfrm>
        </p:spPr>
        <p:txBody>
          <a:bodyPr rtlCol="0">
            <a:normAutofit/>
          </a:bodyPr>
          <a:lstStyle/>
          <a:p>
            <a:r>
              <a:rPr lang="ro-RO" dirty="0"/>
              <a:t>demo</a:t>
            </a:r>
          </a:p>
        </p:txBody>
      </p:sp>
      <p:pic>
        <p:nvPicPr>
          <p:cNvPr id="7" name="Picture 6" descr="Microsoft Azure - Wikipedia">
            <a:extLst>
              <a:ext uri="{FF2B5EF4-FFF2-40B4-BE49-F238E27FC236}">
                <a16:creationId xmlns:a16="http://schemas.microsoft.com/office/drawing/2014/main" id="{9C6E7225-47A8-2470-789D-56A70780CA87}"/>
              </a:ext>
            </a:extLst>
          </p:cNvPr>
          <p:cNvPicPr>
            <a:picLocks noChangeAspect="1"/>
          </p:cNvPicPr>
          <p:nvPr/>
        </p:nvPicPr>
        <p:blipFill>
          <a:blip r:embed="rId3"/>
          <a:stretch>
            <a:fillRect/>
          </a:stretch>
        </p:blipFill>
        <p:spPr>
          <a:xfrm>
            <a:off x="5514110" y="2847110"/>
            <a:ext cx="1163779" cy="1163779"/>
          </a:xfrm>
          <a:prstGeom prst="rect">
            <a:avLst/>
          </a:prstGeom>
        </p:spPr>
      </p:pic>
    </p:spTree>
    <p:extLst>
      <p:ext uri="{BB962C8B-B14F-4D97-AF65-F5344CB8AC3E}">
        <p14:creationId xmlns:p14="http://schemas.microsoft.com/office/powerpoint/2010/main" val="9122424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D7663-C0C2-7E5B-5CAB-7F3FAB18EEDB}"/>
            </a:ext>
          </a:extLst>
        </p:cNvPr>
        <p:cNvGrpSpPr/>
        <p:nvPr/>
      </p:nvGrpSpPr>
      <p:grpSpPr>
        <a:xfrm>
          <a:off x="0" y="0"/>
          <a:ext cx="0" cy="0"/>
          <a:chOff x="0" y="0"/>
          <a:chExt cx="0" cy="0"/>
        </a:xfrm>
      </p:grpSpPr>
      <p:pic>
        <p:nvPicPr>
          <p:cNvPr id="5" name="Imagine 4">
            <a:extLst>
              <a:ext uri="{FF2B5EF4-FFF2-40B4-BE49-F238E27FC236}">
                <a16:creationId xmlns:a16="http://schemas.microsoft.com/office/drawing/2014/main" id="{B00561BD-4659-5226-475D-01C71C5023A7}"/>
              </a:ext>
              <a:ext uri="{C183D7F6-B498-43B3-948B-1728B52AA6E4}">
                <adec:decorative xmlns:adec="http://schemas.microsoft.com/office/drawing/2017/decorative" val="1"/>
              </a:ext>
            </a:extLst>
          </p:cNvPr>
          <p:cNvPicPr>
            <a:picLocks noChangeAspect="1"/>
          </p:cNvPicPr>
          <p:nvPr/>
        </p:nvPicPr>
        <p:blipFill rotWithShape="1">
          <a:blip r:embed="rId3"/>
          <a:srcRect r="52444" b="-1"/>
          <a:stretch/>
        </p:blipFill>
        <p:spPr>
          <a:xfrm>
            <a:off x="20" y="975"/>
            <a:ext cx="12191980" cy="6858000"/>
          </a:xfrm>
          <a:prstGeom prst="rect">
            <a:avLst/>
          </a:prstGeom>
        </p:spPr>
      </p:pic>
      <p:pic>
        <p:nvPicPr>
          <p:cNvPr id="4" name="Picture 3" descr="Microsoft Azure - Wikipedia">
            <a:extLst>
              <a:ext uri="{FF2B5EF4-FFF2-40B4-BE49-F238E27FC236}">
                <a16:creationId xmlns:a16="http://schemas.microsoft.com/office/drawing/2014/main" id="{B3B22D64-640C-B319-C70B-BB46CA1B6FA7}"/>
              </a:ext>
            </a:extLst>
          </p:cNvPr>
          <p:cNvPicPr>
            <a:picLocks noChangeAspect="1"/>
          </p:cNvPicPr>
          <p:nvPr/>
        </p:nvPicPr>
        <p:blipFill>
          <a:blip r:embed="rId4"/>
          <a:stretch>
            <a:fillRect/>
          </a:stretch>
        </p:blipFill>
        <p:spPr>
          <a:xfrm>
            <a:off x="1572795" y="4292302"/>
            <a:ext cx="1163779" cy="1163779"/>
          </a:xfrm>
          <a:prstGeom prst="rect">
            <a:avLst/>
          </a:prstGeom>
        </p:spPr>
      </p:pic>
      <p:sp>
        <p:nvSpPr>
          <p:cNvPr id="6" name="TextBox 5">
            <a:extLst>
              <a:ext uri="{FF2B5EF4-FFF2-40B4-BE49-F238E27FC236}">
                <a16:creationId xmlns:a16="http://schemas.microsoft.com/office/drawing/2014/main" id="{49943DE7-76DC-9529-5FBF-29EAAE6C3128}"/>
              </a:ext>
            </a:extLst>
          </p:cNvPr>
          <p:cNvSpPr txBox="1"/>
          <p:nvPr/>
        </p:nvSpPr>
        <p:spPr>
          <a:xfrm>
            <a:off x="5054574" y="4721250"/>
            <a:ext cx="2082852" cy="630942"/>
          </a:xfrm>
          <a:prstGeom prst="rect">
            <a:avLst/>
          </a:prstGeom>
          <a:noFill/>
        </p:spPr>
        <p:txBody>
          <a:bodyPr wrap="square" rtlCol="0">
            <a:spAutoFit/>
          </a:bodyPr>
          <a:lstStyle/>
          <a:p>
            <a:r>
              <a:rPr lang="ro-RO" sz="3500" dirty="0"/>
              <a:t>Thank You!</a:t>
            </a:r>
          </a:p>
        </p:txBody>
      </p:sp>
    </p:spTree>
    <p:extLst>
      <p:ext uri="{BB962C8B-B14F-4D97-AF65-F5344CB8AC3E}">
        <p14:creationId xmlns:p14="http://schemas.microsoft.com/office/powerpoint/2010/main" val="194516592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Office_36806455_TF22378848.potx" id="{BC4F946F-3DE6-4D58-9B87-378BB3736322}" vid="{A52ACFF6-AAB4-408D-A28A-90FB737F40CB}"/>
    </a:ext>
  </a:extLst>
</a:theme>
</file>

<file path=ppt/theme/theme2.xml><?xml version="1.0" encoding="utf-8"?>
<a:theme xmlns:a="http://schemas.openxmlformats.org/drawingml/2006/main" name="Temă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ă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88A2F88-55C5-4ED1-9541-807C65424763}">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4F44C90D-2A62-4985-9618-3460247437B1}">
  <ds:schemaRefs>
    <ds:schemaRef ds:uri="http://schemas.microsoft.com/sharepoint/v3/contenttype/forms"/>
  </ds:schemaRefs>
</ds:datastoreItem>
</file>

<file path=customXml/itemProps3.xml><?xml version="1.0" encoding="utf-8"?>
<ds:datastoreItem xmlns:ds="http://schemas.openxmlformats.org/officeDocument/2006/customXml" ds:itemID="{B61EAB5F-88FC-4FAE-AE3C-037A3C365EB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Proiectarea Integrală</Template>
  <TotalTime>497</TotalTime>
  <Words>776</Words>
  <Application>Microsoft Office PowerPoint</Application>
  <PresentationFormat>Widescreen</PresentationFormat>
  <Paragraphs>81</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Calibri</vt:lpstr>
      <vt:lpstr>Tw Cen MT</vt:lpstr>
      <vt:lpstr>Tw Cen MT Condensed</vt:lpstr>
      <vt:lpstr>Wingdings 3</vt:lpstr>
      <vt:lpstr>Integral</vt:lpstr>
      <vt:lpstr>Azure app service vs azure container apps vs aks</vt:lpstr>
      <vt:lpstr>Azure hosting: Which service do you need?</vt:lpstr>
      <vt:lpstr>Azure app service</vt:lpstr>
      <vt:lpstr>Azure container apps</vt:lpstr>
      <vt:lpstr>Azure Kubernetes Service (aks)</vt:lpstr>
      <vt:lpstr>Key differences</vt:lpstr>
      <vt:lpstr>demo</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SERGIU-RAREŞ GOIAN</dc:creator>
  <cp:lastModifiedBy>SERGIU-RAREŞ GOIAN</cp:lastModifiedBy>
  <cp:revision>9</cp:revision>
  <dcterms:created xsi:type="dcterms:W3CDTF">2026-05-23T09:00:26Z</dcterms:created>
  <dcterms:modified xsi:type="dcterms:W3CDTF">2026-05-27T12:21:47Z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