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6" r:id="rId11"/>
    <p:sldId id="265" r:id="rId12"/>
    <p:sldId id="267" r:id="rId13"/>
    <p:sldId id="268" r:id="rId14"/>
    <p:sldId id="269" r:id="rId15"/>
    <p:sldId id="271" r:id="rId16"/>
    <p:sldId id="270" r:id="rId17"/>
    <p:sldId id="277" r:id="rId18"/>
    <p:sldId id="272" r:id="rId19"/>
    <p:sldId id="273" r:id="rId20"/>
    <p:sldId id="278" r:id="rId21"/>
    <p:sldId id="274" r:id="rId22"/>
    <p:sldId id="275" r:id="rId23"/>
    <p:sldId id="276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4" y="-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12D13-AAFE-4426-8B87-B0F0B0F7DBA6}" type="datetimeFigureOut">
              <a:rPr lang="ro-RO" smtClean="0"/>
              <a:t>16.03.2026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6816F-3C3C-4A55-9EA8-2284D23B2E9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85306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6816F-3C3C-4A55-9EA8-2284D23B2E97}" type="slidenum">
              <a:rPr lang="ro-RO" smtClean="0"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38938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6F789-8661-420F-32B0-01ABC69EB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024" y="2450590"/>
            <a:ext cx="11283696" cy="805371"/>
          </a:xfrm>
        </p:spPr>
        <p:txBody>
          <a:bodyPr>
            <a:normAutofit fontScale="90000"/>
          </a:bodyPr>
          <a:lstStyle/>
          <a:p>
            <a:r>
              <a:rPr lang="ro-RO" dirty="0"/>
              <a:t>Securizarea API-urilor Rest prin jwt in .net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957FC-B6E1-94E8-729D-2F8339FAC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1236" y="3602039"/>
            <a:ext cx="5091304" cy="903923"/>
          </a:xfrm>
        </p:spPr>
        <p:txBody>
          <a:bodyPr>
            <a:normAutofit lnSpcReduction="10000"/>
          </a:bodyPr>
          <a:lstStyle/>
          <a:p>
            <a:r>
              <a:rPr lang="ro-RO" dirty="0">
                <a:solidFill>
                  <a:schemeClr val="bg1"/>
                </a:solidFill>
              </a:rPr>
              <a:t>Protocoale de securitate in comunicatii</a:t>
            </a:r>
          </a:p>
          <a:p>
            <a:r>
              <a:rPr lang="ro-RO" dirty="0">
                <a:solidFill>
                  <a:schemeClr val="bg1"/>
                </a:solidFill>
              </a:rPr>
              <a:t>Sergiu Goian</a:t>
            </a:r>
          </a:p>
        </p:txBody>
      </p:sp>
    </p:spTree>
    <p:extLst>
      <p:ext uri="{BB962C8B-B14F-4D97-AF65-F5344CB8AC3E}">
        <p14:creationId xmlns:p14="http://schemas.microsoft.com/office/powerpoint/2010/main" val="84552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FB98-8260-370D-3BF5-3BB241551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Securizarea API-urilor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056BA-E93D-390F-FFB6-AE2151DA7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4992624"/>
          </a:xfrm>
        </p:spPr>
        <p:txBody>
          <a:bodyPr/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Cele mai multe aplicatii folosesc API-uri REST;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Logica de business;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HTTP / HTTPs;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Fara autentificare corecta =&gt; vulnerabilitati;</a:t>
            </a:r>
          </a:p>
        </p:txBody>
      </p:sp>
    </p:spTree>
    <p:extLst>
      <p:ext uri="{BB962C8B-B14F-4D97-AF65-F5344CB8AC3E}">
        <p14:creationId xmlns:p14="http://schemas.microsoft.com/office/powerpoint/2010/main" val="2804319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D61E-E40B-CA09-F830-B0E8E47C3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814B-DEC4-B7ED-E5E4-08A699258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Vulnerabilitati comune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D8F95-F4A5-58CD-AA3B-2E8FC4138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4992624"/>
          </a:xfrm>
        </p:spPr>
        <p:txBody>
          <a:bodyPr/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Broken Access Control: acces neautorizat la functii / resurse;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Data Exposure: scurgeri de date sensibile prin API;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DoS / DDoS ([Distributed] Denial of Service): endpoint-uri neprotejate „inundate” de request-uri provenite din surse multiple =&gt; serviciul devine inaccesibil pentru utilizatorii legitimi;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Injection: manipulare a inputului din API;</a:t>
            </a:r>
          </a:p>
        </p:txBody>
      </p:sp>
    </p:spTree>
    <p:extLst>
      <p:ext uri="{BB962C8B-B14F-4D97-AF65-F5344CB8AC3E}">
        <p14:creationId xmlns:p14="http://schemas.microsoft.com/office/powerpoint/2010/main" val="89539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DE4EB-41CC-7F25-0977-B3395E0C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FD905-9596-579F-0CE5-00E66DAF4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Metode de autentificare in api-uri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67E10-D78A-E7E3-E162-B51F296CD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499262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Session-based;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API keys;</a:t>
            </a:r>
          </a:p>
          <a:p>
            <a:pPr marL="0" indent="0">
              <a:buNone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Oauth 2.0;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b="1" dirty="0">
                <a:solidFill>
                  <a:schemeClr val="bg1"/>
                </a:solidFill>
              </a:rPr>
              <a:t>JWT (Json Web Tokens)</a:t>
            </a:r>
            <a:r>
              <a:rPr lang="ro-RO" dirty="0">
                <a:solidFill>
                  <a:schemeClr val="bg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51964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DCC6A-B76D-5D2B-041D-D57A6C189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792F8-96F5-58BE-2AC1-BDEF9A350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JWT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2B179-B9FE-7D7F-8E0A-3DEA85B53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499262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Autentificare, autorizare, transmitere sigura a informatiilor;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Self-contained: contine toate informatiile necesare;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Semnat digital: contine semnatura care garanteaza ca datele nu au fost modificate;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Compact: usor de transmis prin headerul HTTP;</a:t>
            </a:r>
          </a:p>
        </p:txBody>
      </p:sp>
    </p:spTree>
    <p:extLst>
      <p:ext uri="{BB962C8B-B14F-4D97-AF65-F5344CB8AC3E}">
        <p14:creationId xmlns:p14="http://schemas.microsoft.com/office/powerpoint/2010/main" val="2228126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7F23E-023C-DC14-CF83-04F503BAB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517D9-163A-69FD-1CD5-01B40FFD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Structura jwt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52131-1073-FA15-1301-F38CDF4AA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499262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Header, payload, signature;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Base64Url: format de transport pntru caractere in URL (Base64 contine caractere ca ‘+’ sau ‘/’ care pot crea probleme in URL-uri, Base64Url le inlocuieste in schimb cu ‘-’ sau ‘_’);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Headerul si payloadul sunt vizibile (codificate, nu criptate);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Signature este partea care ofera securitate / integritate;</a:t>
            </a:r>
          </a:p>
        </p:txBody>
      </p:sp>
    </p:spTree>
    <p:extLst>
      <p:ext uri="{BB962C8B-B14F-4D97-AF65-F5344CB8AC3E}">
        <p14:creationId xmlns:p14="http://schemas.microsoft.com/office/powerpoint/2010/main" val="3153798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0E72D-C617-9638-3A42-753455564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E293-1A4C-4484-4699-3AA3F542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Jwt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EF3D0-53F6-4BBE-4F29-AAF38EFE4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499262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Header: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Algoritmul de semnare;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Tipul tokenului;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Ex: {  </a:t>
            </a:r>
            <a:r>
              <a:rPr lang="ro-RO" dirty="0"/>
              <a:t>"alg": "HS256",  "typ": "JWT" </a:t>
            </a:r>
            <a:r>
              <a:rPr lang="ro-RO" dirty="0">
                <a:solidFill>
                  <a:schemeClr val="bg1"/>
                </a:solidFill>
              </a:rPr>
              <a:t> }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Algoritmi de semnare: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Simetrici (ex: HS256): foloseste aceeasi cheie secreta;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Asimetrici (ex: RS256): pereche de chei: (</a:t>
            </a:r>
            <a:r>
              <a:rPr lang="ro-RO" b="1" dirty="0">
                <a:solidFill>
                  <a:schemeClr val="bg1"/>
                </a:solidFill>
              </a:rPr>
              <a:t>privata</a:t>
            </a:r>
            <a:r>
              <a:rPr lang="ro-RO" dirty="0">
                <a:solidFill>
                  <a:schemeClr val="bg1"/>
                </a:solidFill>
              </a:rPr>
              <a:t>, </a:t>
            </a:r>
            <a:r>
              <a:rPr lang="ro-RO" b="1" dirty="0">
                <a:solidFill>
                  <a:schemeClr val="bg1"/>
                </a:solidFill>
              </a:rPr>
              <a:t>publica</a:t>
            </a:r>
            <a:r>
              <a:rPr lang="ro-RO" dirty="0">
                <a:solidFill>
                  <a:schemeClr val="bg1"/>
                </a:solidFill>
              </a:rPr>
              <a:t>), folosit unde mai multe servicii verifica token-ul fara a cunoaste cheia privata;</a:t>
            </a:r>
            <a:endParaRPr lang="ro-RO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132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EC8C8-3F36-8962-DDF1-B3CEA178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306CB-0260-5EB5-49C7-C6725D37F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Jwt Payload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19A48-1F44-AB9E-E204-6A815676E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4992624"/>
          </a:xfrm>
        </p:spPr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Claimuri: informatii despre user, pot fi: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Registered:</a:t>
            </a:r>
          </a:p>
          <a:p>
            <a:pPr lvl="2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iss (issuer): cine l-a emis;</a:t>
            </a:r>
          </a:p>
          <a:p>
            <a:pPr lvl="2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sub (subject): identitatea userului (ex: ID-ul);</a:t>
            </a:r>
          </a:p>
          <a:p>
            <a:pPr lvl="2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aud (audience): cine trebuie sa consume /accepte tokenul;</a:t>
            </a:r>
          </a:p>
          <a:p>
            <a:pPr lvl="2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exp (expiration): timpul dupa care tokenul devine invalid;</a:t>
            </a:r>
          </a:p>
          <a:p>
            <a:pPr lvl="2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iat (issued at): cand a fost generat;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Public:</a:t>
            </a:r>
          </a:p>
          <a:p>
            <a:pPr lvl="2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Role: permisiuni precum ‘Admin’, ‘Editor’, etc;</a:t>
            </a:r>
          </a:p>
          <a:p>
            <a:pPr lvl="2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Username / Email: identificator vizibil al userului; 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Private: </a:t>
            </a:r>
          </a:p>
          <a:p>
            <a:pPr lvl="2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Date esentiale pentru business logic-ul aplicatiei folosite de server (ex: subscription_tier, department_id, internal_user_code, etc.);</a:t>
            </a:r>
          </a:p>
        </p:txBody>
      </p:sp>
    </p:spTree>
    <p:extLst>
      <p:ext uri="{BB962C8B-B14F-4D97-AF65-F5344CB8AC3E}">
        <p14:creationId xmlns:p14="http://schemas.microsoft.com/office/powerpoint/2010/main" val="427696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EC03C-6DF5-9B5E-CC95-AFB34AA44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4BE7-4DB2-394B-F997-C4FC311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Jwt Signature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EDF26-5AF7-84A0-53CC-CDCA11D7F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499262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Asigura integritatea, autenticitatea informatiei;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o-RO" dirty="0">
                <a:solidFill>
                  <a:schemeClr val="bg1"/>
                </a:solidFill>
              </a:rPr>
              <a:t>HMACSHA256(</a:t>
            </a:r>
          </a:p>
          <a:p>
            <a:pPr marL="0" indent="0">
              <a:buNone/>
            </a:pPr>
            <a:r>
              <a:rPr lang="ro-RO" dirty="0">
                <a:solidFill>
                  <a:schemeClr val="bg1"/>
                </a:solidFill>
              </a:rPr>
              <a:t>    base64Url(header) + ‘.’ + base64Url(payload),</a:t>
            </a:r>
          </a:p>
          <a:p>
            <a:pPr marL="0" indent="0">
              <a:buNone/>
            </a:pPr>
            <a:r>
              <a:rPr lang="ro-RO" dirty="0">
                <a:solidFill>
                  <a:schemeClr val="bg1"/>
                </a:solidFill>
              </a:rPr>
              <a:t>    secret</a:t>
            </a:r>
          </a:p>
          <a:p>
            <a:pPr marL="0" indent="0">
              <a:buNone/>
            </a:pPr>
            <a:r>
              <a:rPr lang="ro-RO" dirty="0">
                <a:solidFill>
                  <a:schemeClr val="bg1"/>
                </a:solidFill>
              </a:rPr>
              <a:t>);</a:t>
            </a:r>
          </a:p>
          <a:p>
            <a:pPr marL="0" indent="0">
              <a:buNone/>
            </a:pPr>
            <a:endParaRPr lang="ro-R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746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692A-CFD4-3ACD-2396-CAD3A7E54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E5513-E2EB-0B01-CFB3-0A2659B52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Procesul de autentificare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4EF56-4867-5C54-0A5E-8C92CC2BB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4462272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Clientul se logheaza (username + parola), genereaza JWT-ul si il returneaza clientului;</a:t>
            </a: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Clientul stocheaza JWT-ul, acceseaza resurse protejate cu headerul Authorization: Bearer &lt;JWT&gt;;</a:t>
            </a: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Serverul verifica daca tokenul a fost modificat (cu cheia privata pentru algoritmi simetrici sau publica pentru asimetrici), valideaza Claimurile (iss – daca a fost emis de un anumit server, exp – daca mai este valid, aud – daca este destinat pentru API-ul respectiv);</a:t>
            </a:r>
          </a:p>
        </p:txBody>
      </p:sp>
    </p:spTree>
    <p:extLst>
      <p:ext uri="{BB962C8B-B14F-4D97-AF65-F5344CB8AC3E}">
        <p14:creationId xmlns:p14="http://schemas.microsoft.com/office/powerpoint/2010/main" val="2438200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2E439-F8E9-AC1F-E25B-3684535E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C77A9-AC79-315B-4C76-38FA8BF21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Procesul de autentificare</a:t>
            </a:r>
          </a:p>
        </p:txBody>
      </p:sp>
      <p:pic>
        <p:nvPicPr>
          <p:cNvPr id="2050" name="Picture 2" descr="JWT Authentication Best Practices">
            <a:extLst>
              <a:ext uri="{FF2B5EF4-FFF2-40B4-BE49-F238E27FC236}">
                <a16:creationId xmlns:a16="http://schemas.microsoft.com/office/drawing/2014/main" id="{0AAA78DE-DD69-C4A8-8BFF-3BB16EA9F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35024"/>
            <a:ext cx="8839200" cy="527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507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141C6-1F4E-F9BD-52E0-AB3E12CC4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C723-D8A0-3B84-3BAD-AC7E9BED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Stocarea token-ului pe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D5EC7-786D-5034-9D2E-18690EE3F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499262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Local / Session storage: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Usor de implementat;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Vulnerabil la atacuri XSS (Cross-Site Scripting), daca un atacator poate rula un script pe pagina, poate lua tokenul;</a:t>
            </a: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Cookies: cea mai sigura metoda, dar trebuie configurata cu 3 flaguri</a:t>
            </a:r>
          </a:p>
          <a:p>
            <a:pPr lvl="1">
              <a:buFontTx/>
              <a:buChar char="-"/>
            </a:pPr>
            <a:r>
              <a:rPr lang="ro-RO" b="1" dirty="0">
                <a:solidFill>
                  <a:schemeClr val="bg1"/>
                </a:solidFill>
              </a:rPr>
              <a:t>HttpOnly</a:t>
            </a:r>
            <a:r>
              <a:rPr lang="ro-RO" dirty="0">
                <a:solidFill>
                  <a:schemeClr val="bg1"/>
                </a:solidFill>
              </a:rPr>
              <a:t>: tokenul nu poate fi accesat de Javascript, protejandu-l de atacuri XSS, cookieul folosit doar pentru comunicarea cu serverul;</a:t>
            </a:r>
          </a:p>
          <a:p>
            <a:pPr lvl="1">
              <a:buFontTx/>
              <a:buChar char="-"/>
            </a:pPr>
            <a:r>
              <a:rPr lang="ro-RO" b="1" dirty="0">
                <a:solidFill>
                  <a:schemeClr val="bg1"/>
                </a:solidFill>
              </a:rPr>
              <a:t>Secure</a:t>
            </a:r>
            <a:r>
              <a:rPr lang="ro-RO" dirty="0">
                <a:solidFill>
                  <a:schemeClr val="bg1"/>
                </a:solidFill>
              </a:rPr>
              <a:t>: cookieul se trimite </a:t>
            </a:r>
            <a:r>
              <a:rPr lang="ro-RO" b="1" dirty="0">
                <a:solidFill>
                  <a:schemeClr val="bg1"/>
                </a:solidFill>
              </a:rPr>
              <a:t>doar</a:t>
            </a:r>
            <a:r>
              <a:rPr lang="ro-RO" dirty="0">
                <a:solidFill>
                  <a:schemeClr val="bg1"/>
                </a:solidFill>
              </a:rPr>
              <a:t> prin HTTPS (criptat);</a:t>
            </a:r>
          </a:p>
          <a:p>
            <a:pPr lvl="1">
              <a:buFontTx/>
              <a:buChar char="-"/>
            </a:pPr>
            <a:r>
              <a:rPr lang="ro-RO" b="1" dirty="0">
                <a:solidFill>
                  <a:schemeClr val="bg1"/>
                </a:solidFill>
              </a:rPr>
              <a:t>SameSite</a:t>
            </a:r>
            <a:r>
              <a:rPr lang="ro-RO" dirty="0">
                <a:solidFill>
                  <a:schemeClr val="bg1"/>
                </a:solidFill>
              </a:rPr>
              <a:t>: previne atacurile CSRF / Cross Site Request Forgery (browserul nu va mai putea trimite cookieul daca cererea vine de pe un alt site);</a:t>
            </a:r>
            <a:endParaRPr lang="ro-RO" b="1" dirty="0">
              <a:solidFill>
                <a:schemeClr val="bg1"/>
              </a:solidFill>
            </a:endParaRPr>
          </a:p>
          <a:p>
            <a:pPr lvl="1"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 lvl="1">
              <a:buFontTx/>
              <a:buChar char="-"/>
            </a:pPr>
            <a:endParaRPr lang="ro-RO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080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63E24-806E-8117-A9A2-B68AEBC7A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0FFC3-9A27-CFB0-3999-5586318F1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https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62706-9F2A-E62E-342C-30E9DA131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499262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JWT-ul este doar codificat (Base64) nu criptat =&gt; cine il intercepteaza in retea poate citi datele;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b="1" dirty="0">
                <a:solidFill>
                  <a:schemeClr val="bg1"/>
                </a:solidFill>
              </a:rPr>
              <a:t>Tunelul TSL / HTTPS</a:t>
            </a:r>
            <a:r>
              <a:rPr lang="ro-RO" dirty="0">
                <a:solidFill>
                  <a:schemeClr val="bg1"/>
                </a:solidFill>
              </a:rPr>
              <a:t>: 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Cripteaza comunicarea intre client si server;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Tokenul devine inaccesibil pentru atacatorii care fac ‘sniffing’ in retea;</a:t>
            </a:r>
          </a:p>
        </p:txBody>
      </p:sp>
    </p:spTree>
    <p:extLst>
      <p:ext uri="{BB962C8B-B14F-4D97-AF65-F5344CB8AC3E}">
        <p14:creationId xmlns:p14="http://schemas.microsoft.com/office/powerpoint/2010/main" val="3451039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8B3E3-8C8A-8A52-8A15-1B2ED2689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00865-214B-5A65-6C41-3408ABC4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Gestionarea furtului unui token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E3582-522F-DB5C-B77A-B2CCB0C21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499262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Acces token (durata scurta): stocat in storage sau Authorization header: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Expira in putin timp (ex: 15 min);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Daca este furat, atacatorul are putin timp pentru a-l folosi;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Refresh token (durata lunga): stocat in cookie;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Doar pentru a cere un nou Access Token;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Stocat mai sigur (baza de date + cookie HttpOnly;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Daca o alta persoana are acces la dispozitivul userului, nu poate cere refresh la Access Token daca nu are cookieul in care e stocat (HttpOnly si Secure), si va avea acces la resurse doar pana expira access tokenul;</a:t>
            </a:r>
          </a:p>
          <a:p>
            <a:pPr lvl="1"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592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AA14A-9D1E-ED9D-C125-AE43DFB7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F59A0-878E-E159-E497-3C766DDB8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Asp.net core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6CE8A-B792-D744-C639-1CAD5955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2268" y="1517904"/>
            <a:ext cx="10709212" cy="472157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Microsoft.AspNetCore.Authentication.JwtBearer: middlewareul care intercepteaza cererile HTTP, eventurile de autentificare, configureaza parametrii de validare, populeaza ClaimsPrincipal (identitatea userului curent);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Microsoft.AspNetCore.Identity: gestionarea utilizatorilor si claimurilor specifice;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System.IdentityModel.Tokens.Jwt: citeste si valideaza stringul JWT folosind cheia;</a:t>
            </a:r>
          </a:p>
        </p:txBody>
      </p:sp>
    </p:spTree>
    <p:extLst>
      <p:ext uri="{BB962C8B-B14F-4D97-AF65-F5344CB8AC3E}">
        <p14:creationId xmlns:p14="http://schemas.microsoft.com/office/powerpoint/2010/main" val="1537297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65F43-8DCB-4B1F-95B1-034222E52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A8C0A-95C9-073E-19A0-C63C305F4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Asp.net core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4D33-0A8D-E63F-290C-FA9B7D4CF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499262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b="1" dirty="0">
                <a:solidFill>
                  <a:schemeClr val="bg1"/>
                </a:solidFill>
              </a:rPr>
              <a:t>Request HTTP</a:t>
            </a:r>
            <a:r>
              <a:rPr lang="ro-RO" dirty="0">
                <a:solidFill>
                  <a:schemeClr val="bg1"/>
                </a:solidFill>
              </a:rPr>
              <a:t>: Authorization: Bearer JWT;</a:t>
            </a:r>
            <a:endParaRPr lang="ro-RO" b="1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b="1" dirty="0">
                <a:solidFill>
                  <a:schemeClr val="bg1"/>
                </a:solidFill>
              </a:rPr>
              <a:t>Authentication Middleware (UseAuthentication)</a:t>
            </a:r>
            <a:r>
              <a:rPr lang="ro-RO" dirty="0">
                <a:solidFill>
                  <a:schemeClr val="bg1"/>
                </a:solidFill>
              </a:rPr>
              <a:t>: apeleaze JwtBearer Handler, extrage tokenul, verifica semnatura si data expirarii, creeaza ClaimsPrincipal (identitatea userului);</a:t>
            </a:r>
            <a:endParaRPr lang="ro-RO" b="1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b="1" dirty="0">
                <a:solidFill>
                  <a:schemeClr val="bg1"/>
                </a:solidFill>
              </a:rPr>
              <a:t>UseAuthorization</a:t>
            </a:r>
            <a:r>
              <a:rPr lang="ro-RO" dirty="0">
                <a:solidFill>
                  <a:schemeClr val="bg1"/>
                </a:solidFill>
              </a:rPr>
              <a:t>: verifica drepturile de access / eventuale roluri;</a:t>
            </a:r>
          </a:p>
          <a:p>
            <a:pPr>
              <a:buFontTx/>
              <a:buChar char="-"/>
            </a:pPr>
            <a:r>
              <a:rPr lang="ro-RO" b="1">
                <a:solidFill>
                  <a:schemeClr val="bg1"/>
                </a:solidFill>
              </a:rPr>
              <a:t>JwtBearer </a:t>
            </a:r>
            <a:r>
              <a:rPr lang="ro-RO" b="1" dirty="0">
                <a:solidFill>
                  <a:schemeClr val="bg1"/>
                </a:solidFill>
              </a:rPr>
              <a:t>Handler</a:t>
            </a:r>
            <a:r>
              <a:rPr lang="ro-RO" dirty="0">
                <a:solidFill>
                  <a:schemeClr val="bg1"/>
                </a:solidFill>
              </a:rPr>
              <a:t>: extrage datele (id, roluri) si le pune in </a:t>
            </a:r>
            <a:r>
              <a:rPr lang="ro-RO" b="1" dirty="0">
                <a:solidFill>
                  <a:schemeClr val="bg1"/>
                </a:solidFill>
              </a:rPr>
              <a:t>User.Identity</a:t>
            </a:r>
            <a:r>
              <a:rPr lang="ro-RO" dirty="0">
                <a:solidFill>
                  <a:schemeClr val="bg1"/>
                </a:solidFill>
              </a:rPr>
              <a:t> pentru a fi folosite de Controller;</a:t>
            </a: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Token invalid =&gt; opreste requestul cu eroarea 401 Unauthorized;</a:t>
            </a:r>
          </a:p>
          <a:p>
            <a:pPr>
              <a:buFontTx/>
              <a:buChar char="-"/>
            </a:pPr>
            <a:endParaRPr lang="ro-RO" b="1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732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BBC8A-5AF1-6485-4EA6-9DCBD9C84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7EC14-DD0C-AED5-3587-31D4B1B13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ASP.net core identity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A7E8C-4FFF-03E7-1056-E4EE8342B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10621963" cy="178041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Helper optional;</a:t>
            </a: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Management de utilizatori, parole, role-based authorization;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3CA992-41EA-EDD0-C102-AA029AAE9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35" y="2840989"/>
            <a:ext cx="7659329" cy="354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007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AAADB-8E56-0817-D760-F3F17B70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9797-FBBE-D2E1-7AE5-9E309B71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Configurarea cu jwt bearer authentication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E0CD55-D5D1-FAA6-5AED-EBF737869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294" y="1632015"/>
            <a:ext cx="8182236" cy="359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226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2F6D5-CA23-D8CB-C52E-2257DB83D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9BE6-7ED5-557A-DA73-56B84BA6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Generarea tokenului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F21AB9-52E6-1AD0-E6BC-DEEF7C69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5" y="1484696"/>
            <a:ext cx="8324850" cy="388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95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CBF9D-1591-713A-7199-073CCAEFD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BA20C-2AE6-64F6-8160-2AC48066A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Cookie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F4AFF-4F32-6EE2-A1C2-6529057D8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10621963" cy="178041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Generat de server, trimis la client cu tokenul inauntrul</a:t>
            </a: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Clientul trimite cookie-ul la fiecare request;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632101-1ADE-7195-6ADB-CCF54F499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024" y="3133725"/>
            <a:ext cx="7478776" cy="216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87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2A525-131D-711B-2C02-24C1E0085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0B460-6193-D713-D7AB-8D7E640E9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Endpointuri protejate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8FDBCD-6891-2570-1179-439E399B2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701" y="3429000"/>
            <a:ext cx="7037419" cy="263903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5A85AA-79B0-2E61-BD61-4B5F91F87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1475613"/>
          </a:xfrm>
        </p:spPr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Adnotarea [Authorize]: deasupra unei clase Controller sau metode, .NET nu va lasa pe nimeni sa ruleze codul fara un JWT valid;</a:t>
            </a: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[AllowAnonymous]: permite acces fara autentificare;</a:t>
            </a:r>
          </a:p>
        </p:txBody>
      </p:sp>
    </p:spTree>
    <p:extLst>
      <p:ext uri="{BB962C8B-B14F-4D97-AF65-F5344CB8AC3E}">
        <p14:creationId xmlns:p14="http://schemas.microsoft.com/office/powerpoint/2010/main" val="856643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6CD00-44CD-6534-D9A6-C162B00C3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E4029-70FE-E89E-3BFE-459E47D5B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Role-based si policy-based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6E1668-3431-AE35-8AF9-F413456B0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1959231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Role-based: pe langa autentificare, necesita un rol specific, altfel 403 Forbidden;</a:t>
            </a: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Policy-based: reguli customizabile, mai complexe (ex: userul trebuie sa fie si admin si sa aiba peste 18 ani);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DCC01A-EBFA-3117-DD7D-9F26756C3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90" y="3712145"/>
            <a:ext cx="4817860" cy="22961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4D4E58-0F2C-4EA6-C007-81B65284F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073" y="3312542"/>
            <a:ext cx="4655038" cy="14847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0D01E4-EBE7-9690-9C49-F12635825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074" y="5020775"/>
            <a:ext cx="4655038" cy="14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15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0A5B5-DCDC-C5F6-C232-FCA9753C4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C6AD7-D8E7-ADC5-3CFF-DA00DEDF8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970" y="3125611"/>
            <a:ext cx="1492059" cy="606778"/>
          </a:xfrm>
        </p:spPr>
        <p:txBody>
          <a:bodyPr/>
          <a:lstStyle/>
          <a:p>
            <a:r>
              <a:rPr lang="ro-RO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899240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3CD13-F3CE-D1DF-3900-81C446202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53C5B-253F-5738-EC59-A74CE79CD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Avantaje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2D494-A7C0-B59C-13C0-F0CA078EA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499262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Stateless: serverul nu trebuie sa stocheze sesiuni, scalabilitate pentru aplicatii distribuite;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Integrare buna in ASP.NET: suport pentru JWT Bearer, middleware built-in;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Acces controlat prin claim-uri si roluri;</a:t>
            </a:r>
          </a:p>
        </p:txBody>
      </p:sp>
    </p:spTree>
    <p:extLst>
      <p:ext uri="{BB962C8B-B14F-4D97-AF65-F5344CB8AC3E}">
        <p14:creationId xmlns:p14="http://schemas.microsoft.com/office/powerpoint/2010/main" val="2941814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FEACB-4967-06DA-F19F-E913F07F8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458A-2052-7A8F-614E-73C51F478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dezAvantaje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29413-BD1E-7D2B-4F66-5F4974F79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499262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Token furat =&gt; reutilizat;</a:t>
            </a: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Configurare incorecta (secret key slab, validari lipsa ex: issuer, audience);</a:t>
            </a: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Revocarea / invalidarea tokenului inainte de expirare se face separat;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b="1" dirty="0">
                <a:solidFill>
                  <a:schemeClr val="bg1"/>
                </a:solidFill>
              </a:rPr>
              <a:t>Solutii: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HTTPS;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Expirare scurta si refresh tokens, iar la logout, punerea tokenului in blacklist pana la expirare;</a:t>
            </a:r>
          </a:p>
          <a:p>
            <a:pPr lvl="1"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Secure cookie flags;</a:t>
            </a:r>
          </a:p>
        </p:txBody>
      </p:sp>
    </p:spTree>
    <p:extLst>
      <p:ext uri="{BB962C8B-B14F-4D97-AF65-F5344CB8AC3E}">
        <p14:creationId xmlns:p14="http://schemas.microsoft.com/office/powerpoint/2010/main" val="3166295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3B58C-2FBA-36A5-0AAA-451F89191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E0005-994F-06EB-AF54-44841315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comparatii</a:t>
            </a:r>
          </a:p>
        </p:txBody>
      </p:sp>
      <p:pic>
        <p:nvPicPr>
          <p:cNvPr id="1026" name="Picture 2" descr="Token, Session, Cookie, JWT, OAuth2 , I can't tell the difference! | by  Umesh Kumar Yadav | Stackademic">
            <a:extLst>
              <a:ext uri="{FF2B5EF4-FFF2-40B4-BE49-F238E27FC236}">
                <a16:creationId xmlns:a16="http://schemas.microsoft.com/office/drawing/2014/main" id="{64363001-23B6-A71F-4659-0179BD416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5731" y="1466850"/>
            <a:ext cx="7297361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590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D4410-0EA3-7390-8DE2-4FF9AAAD7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6C879-8C3D-CDB6-1D0B-F26977546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6778"/>
          </a:xfrm>
        </p:spPr>
        <p:txBody>
          <a:bodyPr/>
          <a:lstStyle/>
          <a:p>
            <a:r>
              <a:rPr lang="ro-RO" dirty="0"/>
              <a:t>concluzii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28E26-EA0E-AA8D-CD4F-728A7C281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3312"/>
            <a:ext cx="9905999" cy="343776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JWT – solutie eficiente pentru autentificarea in API-uri REST;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Se integreaza usor in ecosistemul .NET;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ro-RO" dirty="0">
                <a:solidFill>
                  <a:schemeClr val="bg1"/>
                </a:solidFill>
              </a:rPr>
              <a:t>Securitatea depinde de configurare corecta (HTTPS, token lifetime, managementul cheilor secrete);</a:t>
            </a: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endParaRPr lang="ro-R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7745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{D1DCE41E-EB33-4539-86CC-069CAC50935D}TF6d5feb1e-e145-43f1-b745-cb4b54c5ee97e8df5820-d231c73adf5d</Template>
  <TotalTime>922</TotalTime>
  <Words>1178</Words>
  <Application>Microsoft Office PowerPoint</Application>
  <PresentationFormat>Widescreen</PresentationFormat>
  <Paragraphs>150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Arial</vt:lpstr>
      <vt:lpstr>Tw Cen MT</vt:lpstr>
      <vt:lpstr>Circuit</vt:lpstr>
      <vt:lpstr>Securizarea API-urilor Rest prin jwt in .net</vt:lpstr>
      <vt:lpstr>Securizarea API-urilor</vt:lpstr>
      <vt:lpstr>Vulnerabilitati comune</vt:lpstr>
      <vt:lpstr>Metode de autentificare in api-uri</vt:lpstr>
      <vt:lpstr>JWT</vt:lpstr>
      <vt:lpstr>Structura jwt</vt:lpstr>
      <vt:lpstr>Jwt Header</vt:lpstr>
      <vt:lpstr>Jwt Payload</vt:lpstr>
      <vt:lpstr>Jwt Signature</vt:lpstr>
      <vt:lpstr>Procesul de autentificare</vt:lpstr>
      <vt:lpstr>Procesul de autentificare</vt:lpstr>
      <vt:lpstr>Stocarea token-ului pe client</vt:lpstr>
      <vt:lpstr>https</vt:lpstr>
      <vt:lpstr>Gestionarea furtului unui token</vt:lpstr>
      <vt:lpstr>Asp.net core authentication</vt:lpstr>
      <vt:lpstr>Asp.net core authentication</vt:lpstr>
      <vt:lpstr>ASP.net core identity</vt:lpstr>
      <vt:lpstr>Configurarea cu jwt bearer authentication</vt:lpstr>
      <vt:lpstr>Generarea tokenului</vt:lpstr>
      <vt:lpstr>Cookie authentication</vt:lpstr>
      <vt:lpstr>Endpointuri protejate</vt:lpstr>
      <vt:lpstr>Role-based si policy-based</vt:lpstr>
      <vt:lpstr>DEMO</vt:lpstr>
      <vt:lpstr>Avantaje</vt:lpstr>
      <vt:lpstr>dezAvantaje</vt:lpstr>
      <vt:lpstr>comparatii</vt:lpstr>
      <vt:lpstr>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SERGIU-RAREŞ GOIAN</dc:creator>
  <cp:lastModifiedBy>SERGIU-RAREŞ GOIAN</cp:lastModifiedBy>
  <cp:revision>29</cp:revision>
  <dcterms:created xsi:type="dcterms:W3CDTF">2026-03-09T07:50:51Z</dcterms:created>
  <dcterms:modified xsi:type="dcterms:W3CDTF">2026-03-16T09:24:01Z</dcterms:modified>
</cp:coreProperties>
</file>