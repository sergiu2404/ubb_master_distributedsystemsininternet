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6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 autoCompressPictures="0">
  <p:sldMasterIdLst>
    <p:sldMasterId id="2147483648" r:id="rId3"/>
    <p:sldMasterId id="2147483649" r:id="rId4"/>
    <p:sldMasterId id="2147483650" r:id="rId5"/>
    <p:sldMasterId id="2147483651" r:id="rId6"/>
    <p:sldMasterId id="2147483652" r:id="rId7"/>
  </p:sldMasterIdLst>
  <p:notesMasterIdLst>
    <p:notesMasterId r:id="rId44"/>
  </p:notesMasterIdLst>
  <p:sldIdLst>
    <p:sldId id="256" r:id="rId8"/>
    <p:sldId id="258" r:id="rId9"/>
    <p:sldId id="259" r:id="rId10"/>
    <p:sldId id="260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5" r:id="rId42"/>
    <p:sldId id="296" r:id="rId43"/>
  </p:sldIdLst>
  <p:sldSz cx="13004800" cy="9753600"/>
  <p:notesSz cx="6858000" cy="9144000"/>
  <p:defaultTextStyle>
    <a:defPPr>
      <a:defRPr lang="en-US"/>
    </a:defPPr>
    <a:lvl1pPr algn="l" defTabSz="584200" rtl="0" eaLnBrk="0" fontAlgn="base" hangingPunct="0">
      <a:spcBef>
        <a:spcPct val="0"/>
      </a:spcBef>
      <a:spcAft>
        <a:spcPct val="0"/>
      </a:spcAft>
      <a:defRPr sz="4200" kern="1200">
        <a:solidFill>
          <a:srgbClr val="FFFFFF"/>
        </a:solidFill>
        <a:latin typeface="Helvetica Light" charset="0"/>
        <a:ea typeface="Helvetica Light" charset="0"/>
        <a:cs typeface="Helvetica Light" charset="0"/>
        <a:sym typeface="Helvetica Light" charset="0"/>
      </a:defRPr>
    </a:lvl1pPr>
    <a:lvl2pPr marL="342900" indent="114300" algn="l" defTabSz="584200" rtl="0" eaLnBrk="0" fontAlgn="base" hangingPunct="0">
      <a:spcBef>
        <a:spcPct val="0"/>
      </a:spcBef>
      <a:spcAft>
        <a:spcPct val="0"/>
      </a:spcAft>
      <a:defRPr sz="4200" kern="1200">
        <a:solidFill>
          <a:srgbClr val="FFFFFF"/>
        </a:solidFill>
        <a:latin typeface="Helvetica Light" charset="0"/>
        <a:ea typeface="Helvetica Light" charset="0"/>
        <a:cs typeface="Helvetica Light" charset="0"/>
        <a:sym typeface="Helvetica Light" charset="0"/>
      </a:defRPr>
    </a:lvl2pPr>
    <a:lvl3pPr marL="685800" indent="228600" algn="l" defTabSz="584200" rtl="0" eaLnBrk="0" fontAlgn="base" hangingPunct="0">
      <a:spcBef>
        <a:spcPct val="0"/>
      </a:spcBef>
      <a:spcAft>
        <a:spcPct val="0"/>
      </a:spcAft>
      <a:defRPr sz="4200" kern="1200">
        <a:solidFill>
          <a:srgbClr val="FFFFFF"/>
        </a:solidFill>
        <a:latin typeface="Helvetica Light" charset="0"/>
        <a:ea typeface="Helvetica Light" charset="0"/>
        <a:cs typeface="Helvetica Light" charset="0"/>
        <a:sym typeface="Helvetica Light" charset="0"/>
      </a:defRPr>
    </a:lvl3pPr>
    <a:lvl4pPr marL="1028700" indent="342900" algn="l" defTabSz="584200" rtl="0" eaLnBrk="0" fontAlgn="base" hangingPunct="0">
      <a:spcBef>
        <a:spcPct val="0"/>
      </a:spcBef>
      <a:spcAft>
        <a:spcPct val="0"/>
      </a:spcAft>
      <a:defRPr sz="4200" kern="1200">
        <a:solidFill>
          <a:srgbClr val="FFFFFF"/>
        </a:solidFill>
        <a:latin typeface="Helvetica Light" charset="0"/>
        <a:ea typeface="Helvetica Light" charset="0"/>
        <a:cs typeface="Helvetica Light" charset="0"/>
        <a:sym typeface="Helvetica Light" charset="0"/>
      </a:defRPr>
    </a:lvl4pPr>
    <a:lvl5pPr marL="1371600" indent="457200" algn="l" defTabSz="584200" rtl="0" eaLnBrk="0" fontAlgn="base" hangingPunct="0">
      <a:spcBef>
        <a:spcPct val="0"/>
      </a:spcBef>
      <a:spcAft>
        <a:spcPct val="0"/>
      </a:spcAft>
      <a:defRPr sz="4200" kern="1200">
        <a:solidFill>
          <a:srgbClr val="FFFFFF"/>
        </a:solidFill>
        <a:latin typeface="Helvetica Light" charset="0"/>
        <a:ea typeface="Helvetica Light" charset="0"/>
        <a:cs typeface="Helvetica Light" charset="0"/>
        <a:sym typeface="Helvetica Light" charset="0"/>
      </a:defRPr>
    </a:lvl5pPr>
    <a:lvl6pPr marL="2286000" algn="l" defTabSz="914400" rtl="0" eaLnBrk="1" latinLnBrk="0" hangingPunct="1">
      <a:defRPr sz="4200" kern="1200">
        <a:solidFill>
          <a:srgbClr val="FFFFFF"/>
        </a:solidFill>
        <a:latin typeface="Helvetica Light" charset="0"/>
        <a:ea typeface="Helvetica Light" charset="0"/>
        <a:cs typeface="Helvetica Light" charset="0"/>
        <a:sym typeface="Helvetica Light" charset="0"/>
      </a:defRPr>
    </a:lvl6pPr>
    <a:lvl7pPr marL="2743200" algn="l" defTabSz="914400" rtl="0" eaLnBrk="1" latinLnBrk="0" hangingPunct="1">
      <a:defRPr sz="4200" kern="1200">
        <a:solidFill>
          <a:srgbClr val="FFFFFF"/>
        </a:solidFill>
        <a:latin typeface="Helvetica Light" charset="0"/>
        <a:ea typeface="Helvetica Light" charset="0"/>
        <a:cs typeface="Helvetica Light" charset="0"/>
        <a:sym typeface="Helvetica Light" charset="0"/>
      </a:defRPr>
    </a:lvl7pPr>
    <a:lvl8pPr marL="3200400" algn="l" defTabSz="914400" rtl="0" eaLnBrk="1" latinLnBrk="0" hangingPunct="1">
      <a:defRPr sz="4200" kern="1200">
        <a:solidFill>
          <a:srgbClr val="FFFFFF"/>
        </a:solidFill>
        <a:latin typeface="Helvetica Light" charset="0"/>
        <a:ea typeface="Helvetica Light" charset="0"/>
        <a:cs typeface="Helvetica Light" charset="0"/>
        <a:sym typeface="Helvetica Light" charset="0"/>
      </a:defRPr>
    </a:lvl8pPr>
    <a:lvl9pPr marL="3657600" algn="l" defTabSz="914400" rtl="0" eaLnBrk="1" latinLnBrk="0" hangingPunct="1">
      <a:defRPr sz="4200" kern="1200">
        <a:solidFill>
          <a:srgbClr val="FFFFFF"/>
        </a:solidFill>
        <a:latin typeface="Helvetica Light" charset="0"/>
        <a:ea typeface="Helvetica Light" charset="0"/>
        <a:cs typeface="Helvetica Light" charset="0"/>
        <a:sym typeface="Helvetica Light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98"/>
    <p:restoredTop sz="94694"/>
  </p:normalViewPr>
  <p:slideViewPr>
    <p:cSldViewPr>
      <p:cViewPr varScale="1">
        <p:scale>
          <a:sx n="85" d="100"/>
          <a:sy n="85" d="100"/>
        </p:scale>
        <p:origin x="1664" y="184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theme" Target="theme/theme1.xml"/><Relationship Id="rId7" Type="http://schemas.openxmlformats.org/officeDocument/2006/relationships/slideMaster" Target="slideMasters/slideMaster5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customXml" Target="../customXml/item3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tableStyles" Target="tableStyles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viewProps" Target="view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F3CD590F-0BDF-8345-E50D-D65B60724614}"/>
              </a:ext>
            </a:extLst>
          </p:cNvPr>
          <p:cNvSpPr>
            <a:spLocks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5CFA226-A33B-9680-C2F9-BD89547AD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>
                <a:sym typeface="Noteworthy Bold" panose="02000400000000000000" pitchFamily="2" charset="77"/>
              </a:rPr>
              <a:t>Click to edit Master text styles</a:t>
            </a:r>
          </a:p>
          <a:p>
            <a:pPr lvl="1"/>
            <a:r>
              <a:rPr lang="en-US" altLang="en-US" noProof="0">
                <a:sym typeface="Noteworthy Bold" panose="02000400000000000000" pitchFamily="2" charset="77"/>
              </a:rPr>
              <a:t>Second level</a:t>
            </a:r>
          </a:p>
          <a:p>
            <a:pPr lvl="2"/>
            <a:r>
              <a:rPr lang="en-US" altLang="en-US" noProof="0">
                <a:sym typeface="Noteworthy Bold" panose="02000400000000000000" pitchFamily="2" charset="77"/>
              </a:rPr>
              <a:t>Third level</a:t>
            </a:r>
          </a:p>
          <a:p>
            <a:pPr lvl="3"/>
            <a:r>
              <a:rPr lang="en-US" altLang="en-US" noProof="0">
                <a:sym typeface="Noteworthy Bold" panose="02000400000000000000" pitchFamily="2" charset="77"/>
              </a:rPr>
              <a:t>Fourth level</a:t>
            </a:r>
          </a:p>
          <a:p>
            <a:pPr lvl="4"/>
            <a:r>
              <a:rPr lang="en-US" altLang="en-US" noProof="0">
                <a:sym typeface="Noteworthy Bold" panose="02000400000000000000" pitchFamily="2" charset="77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panose="02000400000000000000" pitchFamily="2" charset="77"/>
        <a:ea typeface="Noteworthy Bold" panose="02000400000000000000" pitchFamily="2" charset="77"/>
        <a:cs typeface="Noteworthy Bold" panose="02000400000000000000" pitchFamily="2" charset="77"/>
        <a:sym typeface="Noteworthy Bold" charset="0"/>
      </a:defRPr>
    </a:lvl1pPr>
    <a:lvl2pPr marL="342900"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panose="02000400000000000000" pitchFamily="2" charset="77"/>
        <a:ea typeface="Noteworthy Bold" panose="02000400000000000000" pitchFamily="2" charset="77"/>
        <a:cs typeface="Noteworthy Bold" panose="02000400000000000000" pitchFamily="2" charset="77"/>
        <a:sym typeface="Noteworthy Bold" charset="0"/>
      </a:defRPr>
    </a:lvl2pPr>
    <a:lvl3pPr marL="685800"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panose="02000400000000000000" pitchFamily="2" charset="77"/>
        <a:ea typeface="Noteworthy Bold" panose="02000400000000000000" pitchFamily="2" charset="77"/>
        <a:cs typeface="Noteworthy Bold" panose="02000400000000000000" pitchFamily="2" charset="77"/>
        <a:sym typeface="Noteworthy Bold" charset="0"/>
      </a:defRPr>
    </a:lvl3pPr>
    <a:lvl4pPr marL="1028700"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panose="02000400000000000000" pitchFamily="2" charset="77"/>
        <a:ea typeface="Noteworthy Bold" panose="02000400000000000000" pitchFamily="2" charset="77"/>
        <a:cs typeface="Noteworthy Bold" panose="02000400000000000000" pitchFamily="2" charset="77"/>
        <a:sym typeface="Noteworthy Bold" charset="0"/>
      </a:defRPr>
    </a:lvl4pPr>
    <a:lvl5pPr marL="1371600"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panose="02000400000000000000" pitchFamily="2" charset="77"/>
        <a:ea typeface="Noteworthy Bold" panose="02000400000000000000" pitchFamily="2" charset="77"/>
        <a:cs typeface="Noteworthy Bold" panose="02000400000000000000" pitchFamily="2" charset="77"/>
        <a:sym typeface="Noteworthy Bold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597025"/>
            <a:ext cx="9753600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63"/>
            <a:ext cx="9753600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68535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86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413" y="2432050"/>
            <a:ext cx="11217275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413" y="6527800"/>
            <a:ext cx="11217275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9109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9328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519113"/>
            <a:ext cx="11217275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350" y="2390775"/>
            <a:ext cx="55022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350" y="3562350"/>
            <a:ext cx="55022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363" y="2390775"/>
            <a:ext cx="5529262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363" y="3562350"/>
            <a:ext cx="5529262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6999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4557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72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9263" y="1404938"/>
            <a:ext cx="6583362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5983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29263" y="1404938"/>
            <a:ext cx="6583362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elvetica Light" panose="020B0403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0322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8962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1852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597025"/>
            <a:ext cx="9753600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63"/>
            <a:ext cx="9753600" cy="23542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787836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763" y="2597150"/>
            <a:ext cx="11217275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36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413" y="2432050"/>
            <a:ext cx="11217275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413" y="6527800"/>
            <a:ext cx="11217275" cy="213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3825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3763" y="2597150"/>
            <a:ext cx="5532437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597150"/>
            <a:ext cx="5532438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9731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519113"/>
            <a:ext cx="11217275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350" y="2390775"/>
            <a:ext cx="5502275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350" y="3562350"/>
            <a:ext cx="5502275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363" y="2390775"/>
            <a:ext cx="5529262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363" y="3562350"/>
            <a:ext cx="5529262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2880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77451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0465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9263" y="1404938"/>
            <a:ext cx="6583362" cy="6931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6197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29263" y="1404938"/>
            <a:ext cx="6583362" cy="693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elvetica Light" panose="020B0403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52089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3763" y="2597150"/>
            <a:ext cx="11217275" cy="6188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18560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7513" y="254000"/>
            <a:ext cx="2803525" cy="8531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3763" y="254000"/>
            <a:ext cx="8261350" cy="85312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11712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597025"/>
            <a:ext cx="9753600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63"/>
            <a:ext cx="9753600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002820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54771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413" y="2432050"/>
            <a:ext cx="11217275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413" y="6527800"/>
            <a:ext cx="11217275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7029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62305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519113"/>
            <a:ext cx="11217275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350" y="2390775"/>
            <a:ext cx="55022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350" y="3562350"/>
            <a:ext cx="55022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363" y="2390775"/>
            <a:ext cx="5529262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363" y="3562350"/>
            <a:ext cx="5529262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89374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214167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9450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9263" y="1404938"/>
            <a:ext cx="6583362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9267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29263" y="1404938"/>
            <a:ext cx="6583362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elvetica Light" panose="020B0403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22320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59240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35028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597025"/>
            <a:ext cx="9753600" cy="3395663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63"/>
            <a:ext cx="9753600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8677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80689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413" y="2432050"/>
            <a:ext cx="11217275" cy="40560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413" y="6527800"/>
            <a:ext cx="11217275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68331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5029200"/>
            <a:ext cx="5156200" cy="113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5029200"/>
            <a:ext cx="5156200" cy="113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269668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519113"/>
            <a:ext cx="11217275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350" y="2390775"/>
            <a:ext cx="55022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350" y="3562350"/>
            <a:ext cx="55022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363" y="2390775"/>
            <a:ext cx="5529262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363" y="3562350"/>
            <a:ext cx="5529262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92597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99880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18236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9263" y="1404938"/>
            <a:ext cx="6583362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17207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29263" y="1404938"/>
            <a:ext cx="6583362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elvetica Light" panose="020B0403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59437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2748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1638300"/>
            <a:ext cx="2616200" cy="452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1638300"/>
            <a:ext cx="7696200" cy="452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70286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597025"/>
            <a:ext cx="9753600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63"/>
            <a:ext cx="9753600" cy="23542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0500797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763" y="2597150"/>
            <a:ext cx="11217275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6034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413" y="2432050"/>
            <a:ext cx="11217275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413" y="6527800"/>
            <a:ext cx="11217275" cy="213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83790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3763" y="2597150"/>
            <a:ext cx="5532437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597150"/>
            <a:ext cx="5532438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97388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519113"/>
            <a:ext cx="11217275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350" y="2390775"/>
            <a:ext cx="5502275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350" y="3562350"/>
            <a:ext cx="5502275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363" y="2390775"/>
            <a:ext cx="5529262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363" y="3562350"/>
            <a:ext cx="5529262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09783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74697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4528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9263" y="1404938"/>
            <a:ext cx="6583362" cy="6931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79010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29263" y="1404938"/>
            <a:ext cx="6583362" cy="693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elvetica Light" panose="020B0403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891290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3763" y="2597150"/>
            <a:ext cx="11217275" cy="6188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31461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7513" y="2597150"/>
            <a:ext cx="2803525" cy="64706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3763" y="2597150"/>
            <a:ext cx="8261350" cy="64706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86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07AA35D3-74CA-8A97-275A-883E46E69C74}"/>
              </a:ext>
            </a:extLst>
          </p:cNvPr>
          <p:cNvSpPr>
            <a:spLocks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Helvetica Light" charset="0"/>
              </a:rPr>
              <a:t>Click to edit Master title style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08552EE9-C80D-B438-F7EF-41460322F0D5}"/>
              </a:ext>
            </a:extLst>
          </p:cNvPr>
          <p:cNvSpPr>
            <a:spLocks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Helvetica Light" charset="0"/>
              </a:rPr>
              <a:t>Click to edit Master text styles</a:t>
            </a:r>
          </a:p>
          <a:p>
            <a:pPr lvl="1"/>
            <a:r>
              <a:rPr lang="en-US" altLang="en-US">
                <a:sym typeface="Helvetica Light" charset="0"/>
              </a:rPr>
              <a:t>Second level</a:t>
            </a:r>
          </a:p>
          <a:p>
            <a:pPr lvl="2"/>
            <a:r>
              <a:rPr lang="en-US" altLang="en-US">
                <a:sym typeface="Helvetica Light" charset="0"/>
              </a:rPr>
              <a:t>Third level</a:t>
            </a:r>
          </a:p>
          <a:p>
            <a:pPr lvl="3"/>
            <a:r>
              <a:rPr lang="en-US" altLang="en-US">
                <a:sym typeface="Helvetica Light" charset="0"/>
              </a:rPr>
              <a:t>Fourth level</a:t>
            </a:r>
          </a:p>
          <a:p>
            <a:pPr lvl="4"/>
            <a:r>
              <a:rPr lang="en-US" altLang="en-US">
                <a:sym typeface="Helvetica Light" charset="0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ctr" defTabSz="584200" rtl="0" eaLnBrk="0" fontAlgn="base" hangingPunct="0">
        <a:spcBef>
          <a:spcPct val="0"/>
        </a:spcBef>
        <a:spcAft>
          <a:spcPct val="0"/>
        </a:spcAft>
        <a:defRPr sz="8000" kern="1200">
          <a:solidFill>
            <a:srgbClr val="FFFFFF"/>
          </a:solidFill>
          <a:latin typeface="+mj-lt"/>
          <a:ea typeface="+mj-ea"/>
          <a:cs typeface="+mj-cs"/>
          <a:sym typeface="Helvetica Light" charset="0"/>
        </a:defRPr>
      </a:lvl1pPr>
      <a:lvl2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2pPr>
      <a:lvl3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3pPr>
      <a:lvl4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4pPr>
      <a:lvl5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9pPr>
    </p:titleStyle>
    <p:bodyStyle>
      <a:lvl1pPr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1pPr>
      <a:lvl2pPr marL="3429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2pPr>
      <a:lvl3pPr marL="6858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3pPr>
      <a:lvl4pPr marL="10287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4pPr>
      <a:lvl5pPr marL="13716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>
            <a:extLst>
              <a:ext uri="{FF2B5EF4-FFF2-40B4-BE49-F238E27FC236}">
                <a16:creationId xmlns:a16="http://schemas.microsoft.com/office/drawing/2014/main" id="{6572CAFE-1841-210D-EC46-DDC5F8CFF074}"/>
              </a:ext>
            </a:extLst>
          </p:cNvPr>
          <p:cNvSpPr>
            <a:spLocks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Helvetica Light" charset="0"/>
              </a:rPr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defTabSz="584200" rtl="0" eaLnBrk="0" fontAlgn="base" hangingPunct="0">
        <a:spcBef>
          <a:spcPct val="0"/>
        </a:spcBef>
        <a:spcAft>
          <a:spcPct val="0"/>
        </a:spcAft>
        <a:defRPr sz="8000" kern="1200">
          <a:solidFill>
            <a:srgbClr val="FFFFFF"/>
          </a:solidFill>
          <a:latin typeface="+mj-lt"/>
          <a:ea typeface="+mj-ea"/>
          <a:cs typeface="+mj-cs"/>
          <a:sym typeface="Helvetica Light" charset="0"/>
        </a:defRPr>
      </a:lvl1pPr>
      <a:lvl2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2pPr>
      <a:lvl3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3pPr>
      <a:lvl4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4pPr>
      <a:lvl5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9pPr>
    </p:titleStyle>
    <p:bodyStyle>
      <a:lvl1pPr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1pPr>
      <a:lvl2pPr marL="3429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2pPr>
      <a:lvl3pPr marL="6858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3pPr>
      <a:lvl4pPr marL="10287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4pPr>
      <a:lvl5pPr marL="13716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4B1D1D3B-F7AC-A668-702A-CF283861842F}"/>
              </a:ext>
            </a:extLst>
          </p:cNvPr>
          <p:cNvSpPr>
            <a:spLocks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Helvetica Light" charset="0"/>
              </a:rPr>
              <a:t>Click to edit Master title style</a:t>
            </a: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CA7378EB-361D-14CF-C2D6-D6C9C317C937}"/>
              </a:ext>
            </a:extLst>
          </p:cNvPr>
          <p:cNvSpPr>
            <a:spLocks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Helvetica Light" charset="0"/>
              </a:rPr>
              <a:t>Click to edit Master text styles</a:t>
            </a:r>
          </a:p>
          <a:p>
            <a:pPr lvl="1"/>
            <a:r>
              <a:rPr lang="en-US" altLang="en-US">
                <a:sym typeface="Helvetica Light" charset="0"/>
              </a:rPr>
              <a:t>Second level</a:t>
            </a:r>
          </a:p>
          <a:p>
            <a:pPr lvl="2"/>
            <a:r>
              <a:rPr lang="en-US" altLang="en-US">
                <a:sym typeface="Helvetica Light" charset="0"/>
              </a:rPr>
              <a:t>Third level</a:t>
            </a:r>
          </a:p>
          <a:p>
            <a:pPr lvl="3"/>
            <a:r>
              <a:rPr lang="en-US" altLang="en-US">
                <a:sym typeface="Helvetica Light" charset="0"/>
              </a:rPr>
              <a:t>Fourth level</a:t>
            </a:r>
          </a:p>
          <a:p>
            <a:pPr lvl="4"/>
            <a:r>
              <a:rPr lang="en-US" altLang="en-US">
                <a:sym typeface="Helvetica Light" charset="0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defTabSz="584200" rtl="0" eaLnBrk="0" fontAlgn="base" hangingPunct="0">
        <a:spcBef>
          <a:spcPct val="0"/>
        </a:spcBef>
        <a:spcAft>
          <a:spcPct val="0"/>
        </a:spcAft>
        <a:defRPr sz="8000" kern="1200">
          <a:solidFill>
            <a:srgbClr val="FFFFFF"/>
          </a:solidFill>
          <a:latin typeface="+mj-lt"/>
          <a:ea typeface="+mj-ea"/>
          <a:cs typeface="+mj-cs"/>
          <a:sym typeface="Helvetica Light" charset="0"/>
        </a:defRPr>
      </a:lvl1pPr>
      <a:lvl2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2pPr>
      <a:lvl3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3pPr>
      <a:lvl4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4pPr>
      <a:lvl5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9pPr>
    </p:titleStyle>
    <p:bodyStyle>
      <a:lvl1pPr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1pPr>
      <a:lvl2pPr marL="3429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2pPr>
      <a:lvl3pPr marL="6858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3pPr>
      <a:lvl4pPr marL="10287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4pPr>
      <a:lvl5pPr marL="13716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5BAC5BD3-2892-CDEF-5A22-FDB3B9BB6CF1}"/>
              </a:ext>
            </a:extLst>
          </p:cNvPr>
          <p:cNvSpPr>
            <a:spLocks/>
          </p:cNvSpPr>
          <p:nvPr>
            <p:ph type="title"/>
          </p:nvPr>
        </p:nvSpPr>
        <p:spPr bwMode="auto"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Helvetica Light" charset="0"/>
              </a:rPr>
              <a:t>Click to edit Master title style</a:t>
            </a: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D23253AE-625B-E09D-112E-8E3A84B2E0CB}"/>
              </a:ext>
            </a:extLst>
          </p:cNvPr>
          <p:cNvSpPr>
            <a:spLocks/>
          </p:cNvSpPr>
          <p:nvPr>
            <p:ph type="body" idx="1"/>
          </p:nvPr>
        </p:nvSpPr>
        <p:spPr bwMode="auto"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Helvetica Light" charset="0"/>
              </a:rPr>
              <a:t>Click to edit Master text styles</a:t>
            </a:r>
          </a:p>
          <a:p>
            <a:pPr lvl="1"/>
            <a:r>
              <a:rPr lang="en-US" altLang="en-US">
                <a:sym typeface="Helvetica Light" charset="0"/>
              </a:rPr>
              <a:t>Second level</a:t>
            </a:r>
          </a:p>
          <a:p>
            <a:pPr lvl="2"/>
            <a:r>
              <a:rPr lang="en-US" altLang="en-US">
                <a:sym typeface="Helvetica Light" charset="0"/>
              </a:rPr>
              <a:t>Third level</a:t>
            </a:r>
          </a:p>
          <a:p>
            <a:pPr lvl="3"/>
            <a:r>
              <a:rPr lang="en-US" altLang="en-US">
                <a:sym typeface="Helvetica Light" charset="0"/>
              </a:rPr>
              <a:t>Fourth level</a:t>
            </a:r>
          </a:p>
          <a:p>
            <a:pPr lvl="4"/>
            <a:r>
              <a:rPr lang="en-US" altLang="en-US">
                <a:sym typeface="Helvetica Light" charset="0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584200" rtl="0" eaLnBrk="0" fontAlgn="base" hangingPunct="0">
        <a:spcBef>
          <a:spcPct val="0"/>
        </a:spcBef>
        <a:spcAft>
          <a:spcPct val="0"/>
        </a:spcAft>
        <a:defRPr sz="8000" kern="1200">
          <a:solidFill>
            <a:srgbClr val="FFFFFF"/>
          </a:solidFill>
          <a:latin typeface="+mj-lt"/>
          <a:ea typeface="+mj-ea"/>
          <a:cs typeface="+mj-cs"/>
          <a:sym typeface="Helvetica Light" charset="0"/>
        </a:defRPr>
      </a:lvl1pPr>
      <a:lvl2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2pPr>
      <a:lvl3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3pPr>
      <a:lvl4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4pPr>
      <a:lvl5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9pPr>
    </p:titleStyle>
    <p:bodyStyle>
      <a:lvl1pPr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1pPr>
      <a:lvl2pPr marL="3429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2pPr>
      <a:lvl3pPr marL="6858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3pPr>
      <a:lvl4pPr marL="10287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4pPr>
      <a:lvl5pPr marL="13716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D8B85396-5B53-C4DC-F61D-509A6003CD4C}"/>
              </a:ext>
            </a:extLst>
          </p:cNvPr>
          <p:cNvSpPr>
            <a:spLocks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Helvetica Light" charset="0"/>
              </a:rPr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584200" rtl="0" eaLnBrk="0" fontAlgn="base" hangingPunct="0">
        <a:spcBef>
          <a:spcPct val="0"/>
        </a:spcBef>
        <a:spcAft>
          <a:spcPct val="0"/>
        </a:spcAft>
        <a:defRPr sz="8000" kern="1200">
          <a:solidFill>
            <a:srgbClr val="FFFFFF"/>
          </a:solidFill>
          <a:latin typeface="+mj-lt"/>
          <a:ea typeface="+mj-ea"/>
          <a:cs typeface="+mj-cs"/>
          <a:sym typeface="Helvetica Light" charset="0"/>
        </a:defRPr>
      </a:lvl1pPr>
      <a:lvl2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2pPr>
      <a:lvl3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3pPr>
      <a:lvl4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4pPr>
      <a:lvl5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9pPr>
    </p:titleStyle>
    <p:bodyStyle>
      <a:lvl1pPr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1pPr>
      <a:lvl2pPr marL="3429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2pPr>
      <a:lvl3pPr marL="6858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3pPr>
      <a:lvl4pPr marL="10287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4pPr>
      <a:lvl5pPr marL="13716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maven.apache.org/POM/4.0.0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Picture 1">
            <a:extLst>
              <a:ext uri="{FF2B5EF4-FFF2-40B4-BE49-F238E27FC236}">
                <a16:creationId xmlns:a16="http://schemas.microsoft.com/office/drawing/2014/main" id="{C2915667-BBD8-FE52-C768-69ED4075DB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6208" b="-76208"/>
          <a:stretch>
            <a:fillRect/>
          </a:stretch>
        </p:blipFill>
        <p:spPr bwMode="auto">
          <a:xfrm>
            <a:off x="3454400" y="1803400"/>
            <a:ext cx="6096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170" name="Rectangle 2">
            <a:extLst>
              <a:ext uri="{FF2B5EF4-FFF2-40B4-BE49-F238E27FC236}">
                <a16:creationId xmlns:a16="http://schemas.microsoft.com/office/drawing/2014/main" id="{C8060548-02BB-D8C8-E31F-B11E17E6E96C}"/>
              </a:ext>
            </a:extLst>
          </p:cNvPr>
          <p:cNvSpPr>
            <a:spLocks/>
          </p:cNvSpPr>
          <p:nvPr>
            <p:ph type="title"/>
          </p:nvPr>
        </p:nvSpPr>
        <p:spPr>
          <a:xfrm>
            <a:off x="1270000" y="5149850"/>
            <a:ext cx="10464800" cy="1701800"/>
          </a:xfrm>
        </p:spPr>
        <p:txBody>
          <a:bodyPr/>
          <a:lstStyle/>
          <a:p>
            <a:pPr eaLnBrk="1"/>
            <a:r>
              <a:rPr lang="en-US" altLang="en-US"/>
              <a:t>Intro to Maven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>
            <a:extLst>
              <a:ext uri="{FF2B5EF4-FFF2-40B4-BE49-F238E27FC236}">
                <a16:creationId xmlns:a16="http://schemas.microsoft.com/office/drawing/2014/main" id="{7C0CACC2-52B8-71BB-66F0-E3155A7A2677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Agenda</a:t>
            </a: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2703F702-367E-820A-DA46-2C41D359A4AD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Why Maven?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The Maven Way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Maven Basics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Multi-Module Projects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Web Projects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Integration Testing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Clean/Advanced Maven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>
            <a:extLst>
              <a:ext uri="{FF2B5EF4-FFF2-40B4-BE49-F238E27FC236}">
                <a16:creationId xmlns:a16="http://schemas.microsoft.com/office/drawing/2014/main" id="{1567151C-E440-5C06-A5CD-5974799BDA7F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What Is Maven?</a:t>
            </a:r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74EE07EF-7176-CA7B-DB78-4BBCA2EAA967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Build tool (focused on JVM)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Convention over configuration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Structured project model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Build code reuse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>
            <a:extLst>
              <a:ext uri="{FF2B5EF4-FFF2-40B4-BE49-F238E27FC236}">
                <a16:creationId xmlns:a16="http://schemas.microsoft.com/office/drawing/2014/main" id="{D320B50E-15BF-6714-2F2C-79C83A669E10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Why Maven?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BB563E7-02D5-E5BB-6002-8615C3703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844800"/>
            <a:ext cx="5080000" cy="406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97477A4A-8987-1BBE-A5C3-32473BEDE7D5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Regular Structure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E2917B35-AF37-4E9D-3258-CF3EA99D320F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Approachable</a:t>
            </a:r>
          </a:p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Machine-readable</a:t>
            </a:r>
          </a:p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Codifies good practice</a:t>
            </a:r>
          </a:p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Supports collective ownership</a:t>
            </a:r>
            <a:endParaRPr lang="en-US" altLang="en-US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>
            <a:extLst>
              <a:ext uri="{FF2B5EF4-FFF2-40B4-BE49-F238E27FC236}">
                <a16:creationId xmlns:a16="http://schemas.microsoft.com/office/drawing/2014/main" id="{965AD7E5-60E2-18EA-4C38-8477C3BCD1E5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Good Practices</a:t>
            </a: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0E978582-B7C2-13D9-F1BF-33BBB28655B9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Separate code, tests, resources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Platform independence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Declarative dependency management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Share resources via dependencies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Predictable directory structure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Test built artifacts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>
            <a:extLst>
              <a:ext uri="{FF2B5EF4-FFF2-40B4-BE49-F238E27FC236}">
                <a16:creationId xmlns:a16="http://schemas.microsoft.com/office/drawing/2014/main" id="{EFA785EB-5BEB-00D6-C998-B85615A8531E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Why Not Maven?</a:t>
            </a: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3CBB102A-DFBF-833E-9E3A-B9C9082BC842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General automation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Legacy code with intricate build incantations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Might be able to bridge with AntRun or custom plugins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>
            <a:extLst>
              <a:ext uri="{FF2B5EF4-FFF2-40B4-BE49-F238E27FC236}">
                <a16:creationId xmlns:a16="http://schemas.microsoft.com/office/drawing/2014/main" id="{4EF76FB4-C95E-0C6C-FA8D-618503A4D11C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The Maven Way</a:t>
            </a: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792D6C52-5035-C2F2-FB51-8354137066D0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Don't fight Maven. You'll lose.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Maven is a box that turns source code into build artifacts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First, try to see how your problem fits into Maven's worldview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Next, you might want to write a plugin or use AntRun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If you're still struggling, you may want to consider another tool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>
            <a:extLst>
              <a:ext uri="{FF2B5EF4-FFF2-40B4-BE49-F238E27FC236}">
                <a16:creationId xmlns:a16="http://schemas.microsoft.com/office/drawing/2014/main" id="{2E0C36E1-6D52-97CD-D45F-58519A2126E4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Maven Basics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5BABB483-61DE-91BF-0CA8-F151B41C3741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algn="ctr" eaLnBrk="1">
              <a:spcBef>
                <a:spcPct val="0"/>
              </a:spcBef>
            </a:pPr>
            <a:endParaRPr lang="en-US" altLang="en-US" sz="320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30E19E03-0381-5C37-6455-31CE45E3ADEB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Creating a New Project</a:t>
            </a:r>
          </a:p>
        </p:txBody>
      </p:sp>
      <p:sp>
        <p:nvSpPr>
          <p:cNvPr id="16386" name="AutoShape 2">
            <a:extLst>
              <a:ext uri="{FF2B5EF4-FFF2-40B4-BE49-F238E27FC236}">
                <a16:creationId xmlns:a16="http://schemas.microsoft.com/office/drawing/2014/main" id="{4B29B061-5768-0BDE-57F7-0175ABFAA8BC}"/>
              </a:ext>
            </a:extLst>
          </p:cNvPr>
          <p:cNvSpPr>
            <a:spLocks/>
          </p:cNvSpPr>
          <p:nvPr/>
        </p:nvSpPr>
        <p:spPr bwMode="auto">
          <a:xfrm>
            <a:off x="728663" y="2995613"/>
            <a:ext cx="11545887" cy="37592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&lt;?xml version="1.0" encoding="UTF-8"?&gt;</a:t>
            </a:r>
          </a:p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&lt;project xmlns="http://maven.apache.org/POM/4.0.0"</a:t>
            </a:r>
          </a:p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         xmlns:xsi="http://www.w3.org/2001/XMLSchema-instance"</a:t>
            </a:r>
          </a:p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         xsi:schemaLocation="</a:t>
            </a:r>
            <a:r>
              <a:rPr lang="en-US" altLang="en-US" sz="2000" u="sng">
                <a:latin typeface="Courier" charset="0"/>
                <a:ea typeface="Courier" charset="0"/>
                <a:cs typeface="Courier" charset="0"/>
                <a:sym typeface="Courier" charset="0"/>
                <a:hlinkClick r:id="rId2"/>
              </a:rPr>
              <a:t>http://maven.apache.org/POM/4.0.0</a:t>
            </a:r>
            <a:endParaRPr lang="en-US" altLang="en-US" sz="2000">
              <a:latin typeface="Courier" charset="0"/>
              <a:ea typeface="Courier" charset="0"/>
              <a:cs typeface="Courier" charset="0"/>
              <a:sym typeface="Courier" charset="0"/>
            </a:endParaRPr>
          </a:p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                             http://maven.apache.org/xsd/maven-4.0.0.xsd"&gt;</a:t>
            </a:r>
          </a:p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  &lt;modelVersion&gt;4.0.0&lt;/modelVersion&gt;</a:t>
            </a:r>
          </a:p>
          <a:p>
            <a:pPr eaLnBrk="1"/>
            <a:endParaRPr lang="en-US" altLang="en-US" sz="2000">
              <a:latin typeface="Courier" charset="0"/>
              <a:ea typeface="Courier" charset="0"/>
              <a:cs typeface="Courier" charset="0"/>
              <a:sym typeface="Courier" charset="0"/>
            </a:endParaRPr>
          </a:p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  &lt;groupId&gt;com.example.maventraining&lt;/groupId&gt;</a:t>
            </a:r>
          </a:p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  &lt;artifactId&gt;simple&lt;/artifactId&gt;</a:t>
            </a:r>
          </a:p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  &lt;version&gt;1.0-SNAPSHOT&lt;/version&gt;</a:t>
            </a:r>
          </a:p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&lt;/project&gt;</a:t>
            </a:r>
          </a:p>
        </p:txBody>
      </p:sp>
      <p:sp>
        <p:nvSpPr>
          <p:cNvPr id="16387" name="TextBox 2">
            <a:extLst>
              <a:ext uri="{FF2B5EF4-FFF2-40B4-BE49-F238E27FC236}">
                <a16:creationId xmlns:a16="http://schemas.microsoft.com/office/drawing/2014/main" id="{A83A3CF5-8812-C62C-2785-7126E3DC7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0" y="7283450"/>
            <a:ext cx="12750800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algn="ctr" eaLnBrk="1"/>
            <a:r>
              <a:rPr lang="en-US" altLang="en-US" sz="3200"/>
              <a:t>mvn archetype:generate -DgroupId=com.mycompany.app -DartifactId=my-app -DarchetypeArtifactId=maven-archetype-quickstart -DarchetypeVersion=1.5 -DinteractiveMode=false</a:t>
            </a:r>
          </a:p>
          <a:p>
            <a:pPr algn="ctr" eaLnBrk="1"/>
            <a:endParaRPr lang="en-US" altLang="en-US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>
            <a:extLst>
              <a:ext uri="{FF2B5EF4-FFF2-40B4-BE49-F238E27FC236}">
                <a16:creationId xmlns:a16="http://schemas.microsoft.com/office/drawing/2014/main" id="{B7E0C77B-5F10-AB66-6CBD-E80D372AEC24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Running Maven</a:t>
            </a: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247FA54B-47F4-9A31-7C96-877AA217746A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eaLnBrk="1">
              <a:spcBef>
                <a:spcPts val="3200"/>
              </a:spcBef>
            </a:pPr>
            <a:r>
              <a:rPr lang="en-US" altLang="en-US" sz="33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mvn &lt;phase or goal&gt; [&lt;phase or goal&gt;...]</a:t>
            </a:r>
            <a:endParaRPr lang="en-US" altLang="en-US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>
            <a:extLst>
              <a:ext uri="{FF2B5EF4-FFF2-40B4-BE49-F238E27FC236}">
                <a16:creationId xmlns:a16="http://schemas.microsoft.com/office/drawing/2014/main" id="{C773F7A7-7F65-5FB0-8604-0BE2E7D9BA6D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Maven Lifecycles</a:t>
            </a: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B3EAE458-3FC7-D9B4-DC60-5336C62AA774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Clean  - handles project cleaning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Default – handles project deployment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Site – handles the creation of the project’s website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>
            <a:extLst>
              <a:ext uri="{FF2B5EF4-FFF2-40B4-BE49-F238E27FC236}">
                <a16:creationId xmlns:a16="http://schemas.microsoft.com/office/drawing/2014/main" id="{773CE7CF-E32F-6E85-AA59-C19F976D2371}"/>
              </a:ext>
            </a:extLst>
          </p:cNvPr>
          <p:cNvSpPr>
            <a:spLocks/>
          </p:cNvSpPr>
          <p:nvPr>
            <p:ph type="title"/>
          </p:nvPr>
        </p:nvSpPr>
        <p:spPr>
          <a:xfrm>
            <a:off x="1284288" y="1588"/>
            <a:ext cx="10464800" cy="1854200"/>
          </a:xfrm>
        </p:spPr>
        <p:txBody>
          <a:bodyPr/>
          <a:lstStyle/>
          <a:p>
            <a:pPr eaLnBrk="1"/>
            <a:r>
              <a:rPr lang="en-US" altLang="en-US" sz="6700"/>
              <a:t>Default Lifecycle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C702B-C2AF-3E64-C7D6-EFF2AE231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1371600"/>
            <a:ext cx="12344400" cy="7848600"/>
          </a:xfrm>
        </p:spPr>
        <p:txBody>
          <a:bodyPr/>
          <a:lstStyle/>
          <a:p>
            <a:pPr>
              <a:defRPr/>
            </a:pPr>
            <a:endParaRPr lang="en-US" sz="2400" dirty="0">
              <a:sym typeface="Helvetica Light" panose="020B0403020202020204" pitchFamily="34" charset="0"/>
            </a:endParaRPr>
          </a:p>
          <a:p>
            <a:pPr>
              <a:defRPr/>
            </a:pPr>
            <a:endParaRPr lang="en-US" sz="2400" dirty="0">
              <a:sym typeface="Helvetica Light" panose="020B0403020202020204" pitchFamily="34" charset="0"/>
            </a:endParaRPr>
          </a:p>
          <a:p>
            <a:pPr>
              <a:defRPr/>
            </a:pPr>
            <a:endParaRPr lang="en-US" sz="2400" dirty="0">
              <a:sym typeface="Helvetica Light" panose="020B04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FF00"/>
                </a:solidFill>
                <a:sym typeface="Helvetica Light" panose="020B0403020202020204" pitchFamily="34" charset="0"/>
              </a:rPr>
              <a:t>Validate</a:t>
            </a:r>
            <a:r>
              <a:rPr lang="en-US" sz="2400" dirty="0">
                <a:sym typeface="Helvetica Light" panose="020B0403020202020204" pitchFamily="34" charset="0"/>
              </a:rPr>
              <a:t> – Checks that the project structure and configuration are correct.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ym typeface="Helvetica Light" panose="020B0403020202020204" pitchFamily="34" charset="0"/>
              </a:rPr>
              <a:t> </a:t>
            </a:r>
            <a:r>
              <a:rPr lang="en-US" sz="2400" b="1" dirty="0">
                <a:solidFill>
                  <a:srgbClr val="FFFF00"/>
                </a:solidFill>
                <a:sym typeface="Helvetica Light" panose="020B0403020202020204" pitchFamily="34" charset="0"/>
              </a:rPr>
              <a:t>Compile</a:t>
            </a:r>
            <a:r>
              <a:rPr lang="en-US" sz="2400" dirty="0">
                <a:sym typeface="Helvetica Light" panose="020B0403020202020204" pitchFamily="34" charset="0"/>
              </a:rPr>
              <a:t> – Compiles the project’s source code.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FF00"/>
                </a:solidFill>
                <a:sym typeface="Helvetica Light" panose="020B0403020202020204" pitchFamily="34" charset="0"/>
              </a:rPr>
              <a:t>Test</a:t>
            </a:r>
            <a:r>
              <a:rPr lang="en-US" sz="2400" dirty="0">
                <a:sym typeface="Helvetica Light" panose="020B0403020202020204" pitchFamily="34" charset="0"/>
              </a:rPr>
              <a:t> – Runs unit tests using a suitable testing framework.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FF00"/>
                </a:solidFill>
                <a:sym typeface="Helvetica Light" panose="020B0403020202020204" pitchFamily="34" charset="0"/>
              </a:rPr>
              <a:t>Package</a:t>
            </a:r>
            <a:r>
              <a:rPr lang="en-US" sz="2400" dirty="0">
                <a:sym typeface="Helvetica Light" panose="020B0403020202020204" pitchFamily="34" charset="0"/>
              </a:rPr>
              <a:t> – Packages the compiled code into its distributable format (e.g., JAR, WAR).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FF00"/>
                </a:solidFill>
                <a:sym typeface="Helvetica Light" panose="020B0403020202020204" pitchFamily="34" charset="0"/>
              </a:rPr>
              <a:t>Integration-test</a:t>
            </a:r>
            <a:r>
              <a:rPr lang="en-US" sz="2400" dirty="0">
                <a:sym typeface="Helvetica Light" panose="020B0403020202020204" pitchFamily="34" charset="0"/>
              </a:rPr>
              <a:t> – Deploys the package to an environment and runs integration tests.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FF00"/>
                </a:solidFill>
                <a:sym typeface="Helvetica Light" panose="020B0403020202020204" pitchFamily="34" charset="0"/>
              </a:rPr>
              <a:t>Verify</a:t>
            </a:r>
            <a:r>
              <a:rPr lang="en-US" sz="2400" dirty="0">
                <a:sym typeface="Helvetica Light" panose="020B0403020202020204" pitchFamily="34" charset="0"/>
              </a:rPr>
              <a:t> – Runs checks to ensure the package meets quality standards and criteria.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ym typeface="Helvetica Light" panose="020B0403020202020204" pitchFamily="34" charset="0"/>
              </a:rPr>
              <a:t> </a:t>
            </a:r>
            <a:r>
              <a:rPr lang="en-US" sz="2400" b="1" dirty="0">
                <a:solidFill>
                  <a:srgbClr val="FFFF00"/>
                </a:solidFill>
                <a:sym typeface="Helvetica Light" panose="020B0403020202020204" pitchFamily="34" charset="0"/>
              </a:rPr>
              <a:t>Install</a:t>
            </a:r>
            <a:r>
              <a:rPr lang="en-US" sz="2400" dirty="0">
                <a:sym typeface="Helvetica Light" panose="020B0403020202020204" pitchFamily="34" charset="0"/>
              </a:rPr>
              <a:t> – Installs the package into the local Maven repository for use in other projects.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FF00"/>
                </a:solidFill>
                <a:sym typeface="Helvetica Light" panose="020B0403020202020204" pitchFamily="34" charset="0"/>
              </a:rPr>
              <a:t>Deploy</a:t>
            </a:r>
            <a:r>
              <a:rPr lang="en-US" sz="2400" dirty="0">
                <a:sym typeface="Helvetica Light" panose="020B0403020202020204" pitchFamily="34" charset="0"/>
              </a:rPr>
              <a:t> – Copies the final package to a remote repository for sharing with others.</a:t>
            </a:r>
          </a:p>
          <a:p>
            <a:pPr>
              <a:defRPr/>
            </a:pPr>
            <a:endParaRPr lang="en-US" sz="2400" dirty="0">
              <a:sym typeface="Helvetica Light" panose="020B0403020202020204" pitchFamily="34" charset="0"/>
            </a:endParaRPr>
          </a:p>
          <a:p>
            <a:pPr>
              <a:defRPr/>
            </a:pPr>
            <a:endParaRPr lang="en-US" sz="2400" dirty="0">
              <a:sym typeface="Helvetica Light" panose="020B0403020202020204" pitchFamily="34" charset="0"/>
            </a:endParaRPr>
          </a:p>
          <a:p>
            <a:pPr>
              <a:defRPr/>
            </a:pPr>
            <a:endParaRPr lang="en-US" sz="2400" dirty="0">
              <a:sym typeface="Helvetica Light" panose="020B0403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>
            <a:extLst>
              <a:ext uri="{FF2B5EF4-FFF2-40B4-BE49-F238E27FC236}">
                <a16:creationId xmlns:a16="http://schemas.microsoft.com/office/drawing/2014/main" id="{781F9C84-3C59-3540-23D5-78B89AB05058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z="6800"/>
              <a:t>Dependency Management</a:t>
            </a:r>
            <a:endParaRPr lang="en-US" altLang="en-US"/>
          </a:p>
        </p:txBody>
      </p:sp>
      <p:sp>
        <p:nvSpPr>
          <p:cNvPr id="20482" name="AutoShape 2">
            <a:extLst>
              <a:ext uri="{FF2B5EF4-FFF2-40B4-BE49-F238E27FC236}">
                <a16:creationId xmlns:a16="http://schemas.microsoft.com/office/drawing/2014/main" id="{4BFD67B0-F1E5-66AA-DF21-2D3770C38F71}"/>
              </a:ext>
            </a:extLst>
          </p:cNvPr>
          <p:cNvSpPr>
            <a:spLocks/>
          </p:cNvSpPr>
          <p:nvPr/>
        </p:nvSpPr>
        <p:spPr bwMode="auto">
          <a:xfrm>
            <a:off x="2671763" y="2768600"/>
            <a:ext cx="8116887" cy="42164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eaLnBrk="1"/>
            <a:r>
              <a:rPr lang="en-US" altLang="en-US" sz="3000">
                <a:latin typeface="Courier" charset="0"/>
                <a:ea typeface="Courier" charset="0"/>
                <a:cs typeface="Courier" charset="0"/>
                <a:sym typeface="Courier" charset="0"/>
              </a:rPr>
              <a:t>&lt;dependencies&gt;</a:t>
            </a:r>
          </a:p>
          <a:p>
            <a:pPr eaLnBrk="1"/>
            <a:r>
              <a:rPr lang="en-US" altLang="en-US" sz="3000">
                <a:latin typeface="Courier" charset="0"/>
                <a:ea typeface="Courier" charset="0"/>
                <a:cs typeface="Courier" charset="0"/>
                <a:sym typeface="Courier" charset="0"/>
              </a:rPr>
              <a:t>  &lt;dependency&gt;</a:t>
            </a:r>
          </a:p>
          <a:p>
            <a:pPr eaLnBrk="1"/>
            <a:r>
              <a:rPr lang="en-US" altLang="en-US" sz="3000">
                <a:latin typeface="Courier" charset="0"/>
                <a:ea typeface="Courier" charset="0"/>
                <a:cs typeface="Courier" charset="0"/>
                <a:sym typeface="Courier" charset="0"/>
              </a:rPr>
              <a:t>    &lt;groupId&gt;junit&lt;/groupId&gt;</a:t>
            </a:r>
          </a:p>
          <a:p>
            <a:pPr eaLnBrk="1"/>
            <a:r>
              <a:rPr lang="en-US" altLang="en-US" sz="3000">
                <a:latin typeface="Courier" charset="0"/>
                <a:ea typeface="Courier" charset="0"/>
                <a:cs typeface="Courier" charset="0"/>
                <a:sym typeface="Courier" charset="0"/>
              </a:rPr>
              <a:t>    &lt;artifactId&gt;junit&lt;/artifactId&gt;</a:t>
            </a:r>
          </a:p>
          <a:p>
            <a:pPr eaLnBrk="1"/>
            <a:r>
              <a:rPr lang="en-US" altLang="en-US" sz="3000">
                <a:latin typeface="Courier" charset="0"/>
                <a:ea typeface="Courier" charset="0"/>
                <a:cs typeface="Courier" charset="0"/>
                <a:sym typeface="Courier" charset="0"/>
              </a:rPr>
              <a:t>    &lt;version&gt;4.11&lt;/version&gt;</a:t>
            </a:r>
          </a:p>
          <a:p>
            <a:pPr eaLnBrk="1"/>
            <a:r>
              <a:rPr lang="en-US" altLang="en-US" sz="3000">
                <a:latin typeface="Courier" charset="0"/>
                <a:ea typeface="Courier" charset="0"/>
                <a:cs typeface="Courier" charset="0"/>
                <a:sym typeface="Courier" charset="0"/>
              </a:rPr>
              <a:t>    &lt;scope&gt;test&lt;/scope&gt;</a:t>
            </a:r>
          </a:p>
          <a:p>
            <a:pPr eaLnBrk="1"/>
            <a:r>
              <a:rPr lang="en-US" altLang="en-US" sz="3000">
                <a:latin typeface="Courier" charset="0"/>
                <a:ea typeface="Courier" charset="0"/>
                <a:cs typeface="Courier" charset="0"/>
                <a:sym typeface="Courier" charset="0"/>
              </a:rPr>
              <a:t>  &lt;/dependency&gt;</a:t>
            </a:r>
          </a:p>
          <a:p>
            <a:pPr eaLnBrk="1"/>
            <a:r>
              <a:rPr lang="en-US" altLang="en-US" sz="3000">
                <a:latin typeface="Courier" charset="0"/>
                <a:ea typeface="Courier" charset="0"/>
                <a:cs typeface="Courier" charset="0"/>
                <a:sym typeface="Courier" charset="0"/>
              </a:rPr>
              <a:t>&lt;/dependencies&gt;</a:t>
            </a:r>
          </a:p>
        </p:txBody>
      </p:sp>
      <p:grpSp>
        <p:nvGrpSpPr>
          <p:cNvPr id="22531" name="Group 3">
            <a:extLst>
              <a:ext uri="{FF2B5EF4-FFF2-40B4-BE49-F238E27FC236}">
                <a16:creationId xmlns:a16="http://schemas.microsoft.com/office/drawing/2014/main" id="{01E33CEF-8263-1B89-311C-14AD47C441E7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7099300"/>
            <a:ext cx="11060113" cy="1447800"/>
            <a:chOff x="0" y="0"/>
            <a:chExt cx="871" cy="114"/>
          </a:xfrm>
        </p:grpSpPr>
        <p:sp>
          <p:nvSpPr>
            <p:cNvPr id="20484" name="AutoShape 4">
              <a:extLst>
                <a:ext uri="{FF2B5EF4-FFF2-40B4-BE49-F238E27FC236}">
                  <a16:creationId xmlns:a16="http://schemas.microsoft.com/office/drawing/2014/main" id="{1B77DA6D-39FF-9C2A-A4B2-3D56217D2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871" cy="114"/>
            </a:xfrm>
            <a:custGeom>
              <a:avLst/>
              <a:gdLst>
                <a:gd name="T0" fmla="*/ 1 w 21600"/>
                <a:gd name="T1" fmla="*/ 0 h 21600"/>
                <a:gd name="T2" fmla="*/ 1 w 21600"/>
                <a:gd name="T3" fmla="*/ 0 h 21600"/>
                <a:gd name="T4" fmla="*/ 1 w 21600"/>
                <a:gd name="T5" fmla="*/ 0 h 21600"/>
                <a:gd name="T6" fmla="*/ 1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46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>
                <a:defRPr sz="4200">
                  <a:solidFill>
                    <a:srgbClr val="FFFFFF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742950" indent="-285750">
                <a:defRPr sz="4200">
                  <a:solidFill>
                    <a:srgbClr val="FFFFFF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1143000" indent="-228600">
                <a:defRPr sz="4200">
                  <a:solidFill>
                    <a:srgbClr val="FFFFFF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1600200" indent="-228600">
                <a:defRPr sz="4200">
                  <a:solidFill>
                    <a:srgbClr val="FFFFFF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2057400" indent="-228600">
                <a:defRPr sz="4200">
                  <a:solidFill>
                    <a:srgbClr val="FFFFFF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514600" indent="-228600" defTabSz="584200" eaLnBrk="0" fontAlgn="base" hangingPunct="0">
                <a:spcBef>
                  <a:spcPct val="0"/>
                </a:spcBef>
                <a:spcAft>
                  <a:spcPct val="0"/>
                </a:spcAft>
                <a:defRPr sz="4200">
                  <a:solidFill>
                    <a:srgbClr val="FFFFFF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971800" indent="-228600" defTabSz="584200" eaLnBrk="0" fontAlgn="base" hangingPunct="0">
                <a:spcBef>
                  <a:spcPct val="0"/>
                </a:spcBef>
                <a:spcAft>
                  <a:spcPct val="0"/>
                </a:spcAft>
                <a:defRPr sz="4200">
                  <a:solidFill>
                    <a:srgbClr val="FFFFFF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429000" indent="-228600" defTabSz="584200" eaLnBrk="0" fontAlgn="base" hangingPunct="0">
                <a:spcBef>
                  <a:spcPct val="0"/>
                </a:spcBef>
                <a:spcAft>
                  <a:spcPct val="0"/>
                </a:spcAft>
                <a:defRPr sz="4200">
                  <a:solidFill>
                    <a:srgbClr val="FFFFFF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886200" indent="-228600" defTabSz="584200" eaLnBrk="0" fontAlgn="base" hangingPunct="0">
                <a:spcBef>
                  <a:spcPct val="0"/>
                </a:spcBef>
                <a:spcAft>
                  <a:spcPct val="0"/>
                </a:spcAft>
                <a:defRPr sz="4200">
                  <a:solidFill>
                    <a:srgbClr val="FFFFFF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ctr" eaLnBrk="1"/>
              <a:r>
                <a:rPr lang="en-US" altLang="en-US"/>
                <a:t>Coordinates: groupId, artifactId, version, and optional scope</a:t>
              </a:r>
            </a:p>
          </p:txBody>
        </p:sp>
        <p:pic>
          <p:nvPicPr>
            <p:cNvPr id="20485" name="Picture 5">
              <a:extLst>
                <a:ext uri="{FF2B5EF4-FFF2-40B4-BE49-F238E27FC236}">
                  <a16:creationId xmlns:a16="http://schemas.microsoft.com/office/drawing/2014/main" id="{6F1E7AE8-86B2-03A2-0A1D-CD57800E3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" y="-3"/>
              <a:ext cx="878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>
            <a:extLst>
              <a:ext uri="{FF2B5EF4-FFF2-40B4-BE49-F238E27FC236}">
                <a16:creationId xmlns:a16="http://schemas.microsoft.com/office/drawing/2014/main" id="{F4AB7B17-9D01-CD4B-440F-9EFDD7FAAC17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Dependency Scopes</a:t>
            </a: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72966566-3763-B653-D4C3-73FEC27787A3}"/>
              </a:ext>
            </a:extLst>
          </p:cNvPr>
          <p:cNvSpPr>
            <a:spLocks/>
          </p:cNvSpPr>
          <p:nvPr>
            <p:ph type="body" idx="1"/>
          </p:nvPr>
        </p:nvSpPr>
        <p:spPr>
          <a:xfrm>
            <a:off x="1270000" y="2057400"/>
            <a:ext cx="10464800" cy="7442200"/>
          </a:xfrm>
        </p:spPr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 sz="2400" b="1">
                <a:solidFill>
                  <a:srgbClr val="FFFF00"/>
                </a:solidFill>
              </a:rPr>
              <a:t>compile (default) </a:t>
            </a:r>
            <a:r>
              <a:rPr lang="en-US" altLang="en-US" sz="2400"/>
              <a:t>– Available in all build phases and included in the final artifact.</a:t>
            </a:r>
          </a:p>
          <a:p>
            <a:pPr marL="571500" indent="-571500" eaLnBrk="1">
              <a:buFontTx/>
              <a:buChar char="•"/>
            </a:pPr>
            <a:r>
              <a:rPr lang="en-US" altLang="en-US" sz="2400" b="1">
                <a:solidFill>
                  <a:srgbClr val="FFFF00"/>
                </a:solidFill>
              </a:rPr>
              <a:t>provided</a:t>
            </a:r>
            <a:r>
              <a:rPr lang="en-US" altLang="en-US" sz="2400"/>
              <a:t> – Needed for compilation but expected to be provided by the runtime environment (e.g., a servlet container (Tomcat, Jetty etc.).</a:t>
            </a:r>
          </a:p>
          <a:p>
            <a:pPr marL="571500" indent="-571500" eaLnBrk="1">
              <a:buFontTx/>
              <a:buChar char="•"/>
            </a:pPr>
            <a:r>
              <a:rPr lang="en-US" altLang="en-US" sz="2400" b="1">
                <a:solidFill>
                  <a:srgbClr val="FFFF00"/>
                </a:solidFill>
              </a:rPr>
              <a:t>runtime</a:t>
            </a:r>
            <a:r>
              <a:rPr lang="en-US" altLang="en-US" sz="2400"/>
              <a:t> – Not required for compilation but needed at runtime execution.</a:t>
            </a:r>
          </a:p>
          <a:p>
            <a:pPr marL="571500" indent="-571500" eaLnBrk="1">
              <a:buFontTx/>
              <a:buChar char="•"/>
            </a:pPr>
            <a:r>
              <a:rPr lang="en-US" altLang="en-US" sz="2400" b="1">
                <a:solidFill>
                  <a:srgbClr val="FFFF00"/>
                </a:solidFill>
              </a:rPr>
              <a:t>test</a:t>
            </a:r>
            <a:r>
              <a:rPr lang="en-US" altLang="en-US" sz="2400"/>
              <a:t> – Available only for test compilation and execution, not in the final artifact.</a:t>
            </a:r>
          </a:p>
          <a:p>
            <a:pPr marL="571500" indent="-571500" eaLnBrk="1">
              <a:buFontTx/>
              <a:buChar char="•"/>
            </a:pPr>
            <a:r>
              <a:rPr lang="en-US" altLang="en-US" sz="2400" b="1">
                <a:solidFill>
                  <a:srgbClr val="FFFF00"/>
                </a:solidFill>
              </a:rPr>
              <a:t>system</a:t>
            </a:r>
            <a:r>
              <a:rPr lang="en-US" altLang="en-US" sz="2400"/>
              <a:t> – Similar to provided, but you must explicitly provide the JAR from the local file system.</a:t>
            </a:r>
          </a:p>
          <a:p>
            <a:pPr marL="571500" indent="-571500" eaLnBrk="1">
              <a:buFontTx/>
              <a:buChar char="•"/>
            </a:pPr>
            <a:r>
              <a:rPr lang="en-US" altLang="en-US" sz="2400" b="1">
                <a:solidFill>
                  <a:srgbClr val="FFFF00"/>
                </a:solidFill>
              </a:rPr>
              <a:t>import</a:t>
            </a:r>
            <a:r>
              <a:rPr lang="en-US" altLang="en-US" sz="2400"/>
              <a:t> – Used only in &lt;dependencyManagement&gt; to import dependencies from another POM.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>
            <a:extLst>
              <a:ext uri="{FF2B5EF4-FFF2-40B4-BE49-F238E27FC236}">
                <a16:creationId xmlns:a16="http://schemas.microsoft.com/office/drawing/2014/main" id="{D1CF5CAC-46B5-3BF5-65AE-156B391B3D3C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Snapshot Versions</a:t>
            </a: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226026A7-C845-308B-25E8-A63BC715ABCA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Good for intra-project dependencies during development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Will check for updates each time you build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Will break your build eventually outside a single source tree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x.x-SNAPSHOT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>
            <a:extLst>
              <a:ext uri="{FF2B5EF4-FFF2-40B4-BE49-F238E27FC236}">
                <a16:creationId xmlns:a16="http://schemas.microsoft.com/office/drawing/2014/main" id="{D2F411C2-CC34-E62D-A344-19A00DF83613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Release versions</a:t>
            </a: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6705C2AB-8466-3687-08B5-9EE08B4E8257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Generated by the release plugin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Assumed immutable (cached aggressively)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>
            <a:extLst>
              <a:ext uri="{FF2B5EF4-FFF2-40B4-BE49-F238E27FC236}">
                <a16:creationId xmlns:a16="http://schemas.microsoft.com/office/drawing/2014/main" id="{0EFE9171-5F0C-F299-4AB1-AB5739905DD1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Directory Layout</a:t>
            </a:r>
          </a:p>
        </p:txBody>
      </p:sp>
      <p:graphicFrame>
        <p:nvGraphicFramePr>
          <p:cNvPr id="26626" name="Group 2">
            <a:extLst>
              <a:ext uri="{FF2B5EF4-FFF2-40B4-BE49-F238E27FC236}">
                <a16:creationId xmlns:a16="http://schemas.microsoft.com/office/drawing/2014/main" id="{3FAD307E-C401-0180-D3B5-709D547FDB95}"/>
              </a:ext>
            </a:extLst>
          </p:cNvPr>
          <p:cNvGraphicFramePr>
            <a:graphicFrameLocks noGrp="1"/>
          </p:cNvGraphicFramePr>
          <p:nvPr/>
        </p:nvGraphicFramePr>
        <p:xfrm>
          <a:off x="1211263" y="2747963"/>
          <a:ext cx="10582275" cy="6181725"/>
        </p:xfrm>
        <a:graphic>
          <a:graphicData uri="http://schemas.openxmlformats.org/drawingml/2006/table">
            <a:tbl>
              <a:tblPr/>
              <a:tblGrid>
                <a:gridCol w="5291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1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30288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src/main/java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Application/Library 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0288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src/main/resources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Application/Library resources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0288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src/main/webapp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Web application 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0288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src/test/java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Test 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0288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src/test/resources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Test resources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0288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target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Build output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C082861C-5F36-378E-BD12-ADF2AB6FFBB4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Super POM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3B5029F3-7393-01A7-1E8C-7DF797DA1D6A}"/>
              </a:ext>
            </a:extLst>
          </p:cNvPr>
          <p:cNvSpPr>
            <a:spLocks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</p:spPr>
        <p:txBody>
          <a:bodyPr/>
          <a:lstStyle/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The POM from which all other POMs inherit</a:t>
            </a:r>
          </a:p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Look here for defaults</a:t>
            </a:r>
          </a:p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http://maven.apache.org/ref/3.0.4/maven-model-builder/super-pom.html</a:t>
            </a:r>
            <a:endParaRPr lang="en-US" altLang="en-US"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>
            <a:extLst>
              <a:ext uri="{FF2B5EF4-FFF2-40B4-BE49-F238E27FC236}">
                <a16:creationId xmlns:a16="http://schemas.microsoft.com/office/drawing/2014/main" id="{9C201A89-D2FF-D677-72AC-8FBE01BB68C3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Exercise</a:t>
            </a: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1052A15F-C2BC-7400-FAF5-0B0C2097584A}"/>
              </a:ext>
            </a:extLst>
          </p:cNvPr>
          <p:cNvSpPr>
            <a:spLocks/>
          </p:cNvSpPr>
          <p:nvPr/>
        </p:nvSpPr>
        <p:spPr bwMode="auto">
          <a:xfrm>
            <a:off x="1270000" y="3749675"/>
            <a:ext cx="10464800" cy="323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9pPr>
          </a:lstStyle>
          <a:p>
            <a:pPr algn="ctr" eaLnBrk="1"/>
            <a:r>
              <a:rPr lang="en-US" altLang="en-US" sz="3200"/>
              <a:t>Build a simple library that outputs "Hello, World!". Write a HelloWorld class that outputs a String and a test that invokes it. Build and test your project with Maven.</a:t>
            </a:r>
            <a:endParaRPr lang="en-US" altLang="en-US" sz="2800"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>
            <a:extLst>
              <a:ext uri="{FF2B5EF4-FFF2-40B4-BE49-F238E27FC236}">
                <a16:creationId xmlns:a16="http://schemas.microsoft.com/office/drawing/2014/main" id="{0AABD9E7-1873-868B-1B11-839D846EB483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More Basics</a:t>
            </a: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5B2B390A-4052-83C1-F9BD-C15C4603A8C4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algn="ctr" eaLnBrk="1">
              <a:spcBef>
                <a:spcPct val="0"/>
              </a:spcBef>
            </a:pPr>
            <a:r>
              <a:rPr lang="en-US" altLang="en-US" sz="6000"/>
              <a:t>Plugins</a:t>
            </a:r>
          </a:p>
          <a:p>
            <a:pPr algn="ctr" eaLnBrk="1">
              <a:spcBef>
                <a:spcPct val="0"/>
              </a:spcBef>
            </a:pPr>
            <a:r>
              <a:rPr lang="en-US" altLang="en-US" sz="6000"/>
              <a:t>Packaging</a:t>
            </a:r>
            <a:endParaRPr lang="en-US" altLang="en-US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>
            <a:extLst>
              <a:ext uri="{FF2B5EF4-FFF2-40B4-BE49-F238E27FC236}">
                <a16:creationId xmlns:a16="http://schemas.microsoft.com/office/drawing/2014/main" id="{42B31F46-A928-426E-B160-8C30005DB223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Plugins</a:t>
            </a: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D41204C5-258F-4019-86A8-A4596AA540C1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Maven's main unit of modularity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How most of Maven's functionality is implemented and configured 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>
            <a:extLst>
              <a:ext uri="{FF2B5EF4-FFF2-40B4-BE49-F238E27FC236}">
                <a16:creationId xmlns:a16="http://schemas.microsoft.com/office/drawing/2014/main" id="{EDF305B3-A199-565C-414D-AFE2BF63CCDC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Plugin Configuration</a:t>
            </a:r>
          </a:p>
        </p:txBody>
      </p:sp>
      <p:sp>
        <p:nvSpPr>
          <p:cNvPr id="29698" name="AutoShape 2">
            <a:extLst>
              <a:ext uri="{FF2B5EF4-FFF2-40B4-BE49-F238E27FC236}">
                <a16:creationId xmlns:a16="http://schemas.microsoft.com/office/drawing/2014/main" id="{6BC4080E-8F9A-B824-1EF6-A88A755A44B2}"/>
              </a:ext>
            </a:extLst>
          </p:cNvPr>
          <p:cNvSpPr>
            <a:spLocks/>
          </p:cNvSpPr>
          <p:nvPr/>
        </p:nvSpPr>
        <p:spPr bwMode="auto">
          <a:xfrm>
            <a:off x="385763" y="2768600"/>
            <a:ext cx="12109450" cy="57150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9pPr>
          </a:lstStyle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&lt;build&gt;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&lt;plugins&gt;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&lt;plugin&gt;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  &lt;artifactId&gt;maven-compiler-plugin&lt;/artifactId&gt;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  &lt;version&gt;3.1&lt;/version&gt;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  &lt;configuration&gt;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    &lt;source&gt;21&lt;/source&gt;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    &lt;target&gt;21&lt;/target&gt;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  &lt;/configuration&gt;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&lt;/plugin&gt;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&lt;/plugins&gt;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&lt;/build&gt;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>
            <a:extLst>
              <a:ext uri="{FF2B5EF4-FFF2-40B4-BE49-F238E27FC236}">
                <a16:creationId xmlns:a16="http://schemas.microsoft.com/office/drawing/2014/main" id="{7CDC4AC0-1239-6B71-0DC7-D071EB9C6DAE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Built-In Plugins</a:t>
            </a: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F571FFCD-FD18-DCF2-C755-C70B33386EA6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maven-compiler-plugin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maven-surefire-plugin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maven-dependency-plugin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maven-release-plugin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>
            <a:extLst>
              <a:ext uri="{FF2B5EF4-FFF2-40B4-BE49-F238E27FC236}">
                <a16:creationId xmlns:a16="http://schemas.microsoft.com/office/drawing/2014/main" id="{81825010-01CD-8DAF-3E23-9A55921A9469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Common Plugins</a:t>
            </a: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7CDFAD94-622F-FFA0-A9BA-317BFDAEF857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AntRun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Cargo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Jasmine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Exec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PMD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Cobertura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Findbugs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>
            <a:extLst>
              <a:ext uri="{FF2B5EF4-FFF2-40B4-BE49-F238E27FC236}">
                <a16:creationId xmlns:a16="http://schemas.microsoft.com/office/drawing/2014/main" id="{ADBD5127-8832-584F-4A67-997A7D532247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Packaging</a:t>
            </a: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D7C69149-8DF4-8856-105F-0BF19C3AAFA7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Defines the artifact type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Binds goals to phases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Core values: pom, jar, maven-plugin, ejb, war, ear, rar, par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Default is jar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>
            <a:extLst>
              <a:ext uri="{FF2B5EF4-FFF2-40B4-BE49-F238E27FC236}">
                <a16:creationId xmlns:a16="http://schemas.microsoft.com/office/drawing/2014/main" id="{DE3D42FE-AB00-E4FB-18BC-C01C30A92BE5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z="5300"/>
              <a:t>Packaging Binds Goals to Phases</a:t>
            </a:r>
            <a:endParaRPr lang="en-US" altLang="en-US"/>
          </a:p>
        </p:txBody>
      </p:sp>
      <p:graphicFrame>
        <p:nvGraphicFramePr>
          <p:cNvPr id="35842" name="Group 2">
            <a:extLst>
              <a:ext uri="{FF2B5EF4-FFF2-40B4-BE49-F238E27FC236}">
                <a16:creationId xmlns:a16="http://schemas.microsoft.com/office/drawing/2014/main" id="{CC591D13-0B40-4A78-5376-1954125EF6B7}"/>
              </a:ext>
            </a:extLst>
          </p:cNvPr>
          <p:cNvGraphicFramePr>
            <a:graphicFrameLocks noGrp="1"/>
          </p:cNvGraphicFramePr>
          <p:nvPr/>
        </p:nvGraphicFramePr>
        <p:xfrm>
          <a:off x="1631950" y="2789238"/>
          <a:ext cx="9740900" cy="5672137"/>
        </p:xfrm>
        <a:graphic>
          <a:graphicData uri="http://schemas.openxmlformats.org/drawingml/2006/table">
            <a:tbl>
              <a:tblPr/>
              <a:tblGrid>
                <a:gridCol w="487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237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Phase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86B0"/>
                    </a:solidFill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Goal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8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37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process-resources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resources:resources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237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compile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compiler:compile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237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process-test-resources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resources:testResources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237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test-compile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compiler:testCompile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237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test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surefire:test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237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package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jar:jar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237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install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install:install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0237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deploy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deploy:deploy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Picture 1">
            <a:extLst>
              <a:ext uri="{FF2B5EF4-FFF2-40B4-BE49-F238E27FC236}">
                <a16:creationId xmlns:a16="http://schemas.microsoft.com/office/drawing/2014/main" id="{0654C45C-37FA-112C-8D17-4CAD47A34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9224" b="-39224"/>
          <a:stretch>
            <a:fillRect/>
          </a:stretch>
        </p:blipFill>
        <p:spPr bwMode="auto">
          <a:xfrm>
            <a:off x="6346825" y="990600"/>
            <a:ext cx="6489700" cy="865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818" name="Rectangle 2">
            <a:extLst>
              <a:ext uri="{FF2B5EF4-FFF2-40B4-BE49-F238E27FC236}">
                <a16:creationId xmlns:a16="http://schemas.microsoft.com/office/drawing/2014/main" id="{B4D880B3-CB12-488F-0BB1-FA5ABD8164F3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Multi-Module Maven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467BC69-80BE-42A0-91B5-07D0E31BA695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Why?</a:t>
            </a:r>
          </a:p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How?</a:t>
            </a:r>
          </a:p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Dependence vs. Inheritance</a:t>
            </a:r>
          </a:p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Naming</a:t>
            </a:r>
            <a:endParaRPr lang="en-US" altLang="en-US"/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>
            <a:extLst>
              <a:ext uri="{FF2B5EF4-FFF2-40B4-BE49-F238E27FC236}">
                <a16:creationId xmlns:a16="http://schemas.microsoft.com/office/drawing/2014/main" id="{1C2EF648-57B7-D30A-62CB-81AF14C122F2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Why Multiple Modules?</a:t>
            </a: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7D21DA8A-EC53-00FB-F25F-452961970BF5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Group related functionality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Isolate unrelated functionality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Organize dependencies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Unit for sharing code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Unit of packaging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>
            <a:extLst>
              <a:ext uri="{FF2B5EF4-FFF2-40B4-BE49-F238E27FC236}">
                <a16:creationId xmlns:a16="http://schemas.microsoft.com/office/drawing/2014/main" id="{1B209B8A-F9A5-FC06-7C0C-7DE196FE3913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Multi-Modules: How</a:t>
            </a: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74C7B7D9-B7F6-B0CC-115F-B8E61BD12790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Top-level pom packaging with modules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Optional parent in sub-modules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>
            <a:extLst>
              <a:ext uri="{FF2B5EF4-FFF2-40B4-BE49-F238E27FC236}">
                <a16:creationId xmlns:a16="http://schemas.microsoft.com/office/drawing/2014/main" id="{14F27F79-87DD-868D-1C3A-48FC93F7A640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Modules</a:t>
            </a:r>
          </a:p>
        </p:txBody>
      </p:sp>
      <p:sp>
        <p:nvSpPr>
          <p:cNvPr id="37890" name="AutoShape 2">
            <a:extLst>
              <a:ext uri="{FF2B5EF4-FFF2-40B4-BE49-F238E27FC236}">
                <a16:creationId xmlns:a16="http://schemas.microsoft.com/office/drawing/2014/main" id="{A7FB9B9D-EF6C-8367-975A-B5CC0B86277F}"/>
              </a:ext>
            </a:extLst>
          </p:cNvPr>
          <p:cNvSpPr>
            <a:spLocks/>
          </p:cNvSpPr>
          <p:nvPr/>
        </p:nvSpPr>
        <p:spPr bwMode="auto">
          <a:xfrm>
            <a:off x="1163638" y="3300413"/>
            <a:ext cx="10504487" cy="31496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9pPr>
          </a:lstStyle>
          <a:p>
            <a:pPr eaLnBrk="1"/>
            <a:r>
              <a:rPr lang="en-US" altLang="en-US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&lt;modules&gt;</a:t>
            </a:r>
          </a:p>
          <a:p>
            <a:pPr eaLnBrk="1"/>
            <a:r>
              <a:rPr lang="en-US" altLang="en-US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&lt;module&gt;hello-util&lt;/module&gt;</a:t>
            </a:r>
          </a:p>
          <a:p>
            <a:pPr eaLnBrk="1"/>
            <a:r>
              <a:rPr lang="en-US" altLang="en-US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&lt;module&gt;hello-service&lt;/module&gt;</a:t>
            </a:r>
          </a:p>
          <a:p>
            <a:pPr eaLnBrk="1"/>
            <a:r>
              <a:rPr lang="en-US" altLang="en-US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&lt;/modules&gt;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>
            <a:extLst>
              <a:ext uri="{FF2B5EF4-FFF2-40B4-BE49-F238E27FC236}">
                <a16:creationId xmlns:a16="http://schemas.microsoft.com/office/drawing/2014/main" id="{EA4DB4DD-F473-E9F7-8E59-0A3C99BC3721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Parent</a:t>
            </a:r>
          </a:p>
        </p:txBody>
      </p:sp>
      <p:sp>
        <p:nvSpPr>
          <p:cNvPr id="38914" name="AutoShape 2">
            <a:extLst>
              <a:ext uri="{FF2B5EF4-FFF2-40B4-BE49-F238E27FC236}">
                <a16:creationId xmlns:a16="http://schemas.microsoft.com/office/drawing/2014/main" id="{0622FC00-8C78-31B2-35B9-4FAC535A9E80}"/>
              </a:ext>
            </a:extLst>
          </p:cNvPr>
          <p:cNvSpPr>
            <a:spLocks/>
          </p:cNvSpPr>
          <p:nvPr/>
        </p:nvSpPr>
        <p:spPr bwMode="auto">
          <a:xfrm>
            <a:off x="1216025" y="3611563"/>
            <a:ext cx="10456863" cy="25273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9pPr>
          </a:lstStyle>
          <a:p>
            <a:pPr eaLnBrk="1"/>
            <a:r>
              <a:rPr lang="en-US" altLang="en-US" sz="28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&lt;parent&gt;</a:t>
            </a:r>
          </a:p>
          <a:p>
            <a:pPr eaLnBrk="1"/>
            <a:r>
              <a:rPr lang="en-US" altLang="en-US" sz="28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&lt;groupId&gt;com.example.maventraining&lt;/groupId&gt;</a:t>
            </a:r>
          </a:p>
          <a:p>
            <a:pPr eaLnBrk="1"/>
            <a:r>
              <a:rPr lang="en-US" altLang="en-US" sz="28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&lt;artifactId&gt;hello&lt;/artifactId&gt;</a:t>
            </a:r>
          </a:p>
          <a:p>
            <a:pPr eaLnBrk="1"/>
            <a:r>
              <a:rPr lang="en-US" altLang="en-US" sz="28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&lt;version&gt;1.0-SNAPSHOT&lt;/version&gt;</a:t>
            </a:r>
          </a:p>
          <a:p>
            <a:pPr eaLnBrk="1"/>
            <a:r>
              <a:rPr lang="en-US" altLang="en-US" sz="28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&lt;/parent&gt;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>
            <a:extLst>
              <a:ext uri="{FF2B5EF4-FFF2-40B4-BE49-F238E27FC236}">
                <a16:creationId xmlns:a16="http://schemas.microsoft.com/office/drawing/2014/main" id="{3016FEE2-2259-3EB1-51C1-F10E981B097A}"/>
              </a:ext>
            </a:extLst>
          </p:cNvPr>
          <p:cNvSpPr>
            <a:spLocks/>
          </p:cNvSpPr>
          <p:nvPr>
            <p:ph type="title"/>
          </p:nvPr>
        </p:nvSpPr>
        <p:spPr>
          <a:xfrm>
            <a:off x="1270000" y="0"/>
            <a:ext cx="10464800" cy="2438400"/>
          </a:xfrm>
        </p:spPr>
        <p:txBody>
          <a:bodyPr/>
          <a:lstStyle/>
          <a:p>
            <a:pPr eaLnBrk="1"/>
            <a:r>
              <a:rPr lang="en-US" altLang="en-US"/>
              <a:t>Dependence vs. Inheritance</a:t>
            </a: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B6AB8F30-4B22-A215-43DC-530294043B0F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Use dependencies to share code, resources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Use inheritance to aggregate common settings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>
            <a:extLst>
              <a:ext uri="{FF2B5EF4-FFF2-40B4-BE49-F238E27FC236}">
                <a16:creationId xmlns:a16="http://schemas.microsoft.com/office/drawing/2014/main" id="{D41B9DA5-5732-9F3F-281C-CA6F5C44DC0A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Naming</a:t>
            </a: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E4AFA27C-1943-5CF6-215F-BFD485E85E77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"There are only two hard things in Computer Science: naming, cache invalidation, and off-by-one errors." - almost Phil Karlton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All modules are top-level, referenced by groupId-artifactId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http://maven.apache.org/guides/mini/guide-naming-conventions.html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>
            <a:extLst>
              <a:ext uri="{FF2B5EF4-FFF2-40B4-BE49-F238E27FC236}">
                <a16:creationId xmlns:a16="http://schemas.microsoft.com/office/drawing/2014/main" id="{50B4F719-F5D9-04AE-2088-3A60EB147A8C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Web Modules</a:t>
            </a: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395112EC-0F48-78D5-EAF7-CC51B261AD2B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war packaging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Static resources in </a:t>
            </a:r>
            <a:r>
              <a:rPr lang="en-US" altLang="en-US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src/main/webapp</a:t>
            </a:r>
          </a:p>
          <a:p>
            <a:pPr marL="571500" indent="-571500" eaLnBrk="1">
              <a:buFontTx/>
              <a:buChar char="•"/>
            </a:pPr>
            <a:r>
              <a:rPr lang="en-US" altLang="en-US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web.xml </a:t>
            </a:r>
            <a:r>
              <a:rPr lang="en-US" altLang="en-US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rPr>
              <a:t>in</a:t>
            </a:r>
            <a:r>
              <a:rPr lang="en-US" altLang="en-US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src/main/webapp/WEB-INF</a:t>
            </a:r>
            <a:endParaRPr lang="en-US" altLang="en-US"/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41C59575-0B2A-81C7-B3BC-2A6BC2443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rgbClr val="42464D"/>
      </a:dk1>
      <a:lt1>
        <a:srgbClr val="FFFFFF"/>
      </a:lt1>
      <a:dk2>
        <a:srgbClr val="000000"/>
      </a:dk2>
      <a:lt2>
        <a:srgbClr val="D4D6D9"/>
      </a:lt2>
      <a:accent1>
        <a:srgbClr val="094EB3"/>
      </a:accent1>
      <a:accent2>
        <a:srgbClr val="1B8D14"/>
      </a:accent2>
      <a:accent3>
        <a:srgbClr val="AAAAAA"/>
      </a:accent3>
      <a:accent4>
        <a:srgbClr val="DADADA"/>
      </a:accent4>
      <a:accent5>
        <a:srgbClr val="AAB2D6"/>
      </a:accent5>
      <a:accent6>
        <a:srgbClr val="177F11"/>
      </a:accent6>
      <a:hlink>
        <a:srgbClr val="0000FF"/>
      </a:hlink>
      <a:folHlink>
        <a:srgbClr val="FF00FF"/>
      </a:folHlink>
    </a:clrScheme>
    <a:fontScheme name="Office Them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42464D"/>
      </a:dk1>
      <a:lt1>
        <a:srgbClr val="FFFFFF"/>
      </a:lt1>
      <a:dk2>
        <a:srgbClr val="000000"/>
      </a:dk2>
      <a:lt2>
        <a:srgbClr val="D4D6D9"/>
      </a:lt2>
      <a:accent1>
        <a:srgbClr val="094EB3"/>
      </a:accent1>
      <a:accent2>
        <a:srgbClr val="1B8D14"/>
      </a:accent2>
      <a:accent3>
        <a:srgbClr val="AAAAAA"/>
      </a:accent3>
      <a:accent4>
        <a:srgbClr val="DADADA"/>
      </a:accent4>
      <a:accent5>
        <a:srgbClr val="AAB2D6"/>
      </a:accent5>
      <a:accent6>
        <a:srgbClr val="177F11"/>
      </a:accent6>
      <a:hlink>
        <a:srgbClr val="0000FF"/>
      </a:hlink>
      <a:folHlink>
        <a:srgbClr val="FF00FF"/>
      </a:folHlink>
    </a:clrScheme>
    <a:fontScheme name="Office Them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42464D"/>
      </a:dk1>
      <a:lt1>
        <a:srgbClr val="FFFFFF"/>
      </a:lt1>
      <a:dk2>
        <a:srgbClr val="000000"/>
      </a:dk2>
      <a:lt2>
        <a:srgbClr val="D4D6D9"/>
      </a:lt2>
      <a:accent1>
        <a:srgbClr val="094EB3"/>
      </a:accent1>
      <a:accent2>
        <a:srgbClr val="1B8D14"/>
      </a:accent2>
      <a:accent3>
        <a:srgbClr val="AAAAAA"/>
      </a:accent3>
      <a:accent4>
        <a:srgbClr val="DADADA"/>
      </a:accent4>
      <a:accent5>
        <a:srgbClr val="AAB2D6"/>
      </a:accent5>
      <a:accent6>
        <a:srgbClr val="177F11"/>
      </a:accent6>
      <a:hlink>
        <a:srgbClr val="0000FF"/>
      </a:hlink>
      <a:folHlink>
        <a:srgbClr val="FF00FF"/>
      </a:folHlink>
    </a:clrScheme>
    <a:fontScheme name="Office Them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42464D"/>
      </a:dk1>
      <a:lt1>
        <a:srgbClr val="FFFFFF"/>
      </a:lt1>
      <a:dk2>
        <a:srgbClr val="000000"/>
      </a:dk2>
      <a:lt2>
        <a:srgbClr val="D4D6D9"/>
      </a:lt2>
      <a:accent1>
        <a:srgbClr val="094EB3"/>
      </a:accent1>
      <a:accent2>
        <a:srgbClr val="1B8D14"/>
      </a:accent2>
      <a:accent3>
        <a:srgbClr val="AAAAAA"/>
      </a:accent3>
      <a:accent4>
        <a:srgbClr val="DADADA"/>
      </a:accent4>
      <a:accent5>
        <a:srgbClr val="AAB2D6"/>
      </a:accent5>
      <a:accent6>
        <a:srgbClr val="177F11"/>
      </a:accent6>
      <a:hlink>
        <a:srgbClr val="0000FF"/>
      </a:hlink>
      <a:folHlink>
        <a:srgbClr val="FF00FF"/>
      </a:folHlink>
    </a:clrScheme>
    <a:fontScheme name="Office Them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42464D"/>
      </a:dk1>
      <a:lt1>
        <a:srgbClr val="FFFFFF"/>
      </a:lt1>
      <a:dk2>
        <a:srgbClr val="000000"/>
      </a:dk2>
      <a:lt2>
        <a:srgbClr val="D4D6D9"/>
      </a:lt2>
      <a:accent1>
        <a:srgbClr val="094EB3"/>
      </a:accent1>
      <a:accent2>
        <a:srgbClr val="1B8D14"/>
      </a:accent2>
      <a:accent3>
        <a:srgbClr val="AAAAAA"/>
      </a:accent3>
      <a:accent4>
        <a:srgbClr val="DADADA"/>
      </a:accent4>
      <a:accent5>
        <a:srgbClr val="AAB2D6"/>
      </a:accent5>
      <a:accent6>
        <a:srgbClr val="177F11"/>
      </a:accent6>
      <a:hlink>
        <a:srgbClr val="0000FF"/>
      </a:hlink>
      <a:folHlink>
        <a:srgbClr val="FF00FF"/>
      </a:folHlink>
    </a:clrScheme>
    <a:fontScheme name="Office Them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">
      <a:dk1>
        <a:srgbClr val="572E2D"/>
      </a:dk1>
      <a:lt1>
        <a:srgbClr val="2A5657"/>
      </a:lt1>
      <a:dk2>
        <a:srgbClr val="42464D"/>
      </a:dk2>
      <a:lt2>
        <a:srgbClr val="D4D6D9"/>
      </a:lt2>
      <a:accent1>
        <a:srgbClr val="094EB3"/>
      </a:accent1>
      <a:accent2>
        <a:srgbClr val="1B8D14"/>
      </a:accent2>
      <a:accent3>
        <a:srgbClr val="ACB4B4"/>
      </a:accent3>
      <a:accent4>
        <a:srgbClr val="492625"/>
      </a:accent4>
      <a:accent5>
        <a:srgbClr val="AAB2D6"/>
      </a:accent5>
      <a:accent6>
        <a:srgbClr val="177F11"/>
      </a:accent6>
      <a:hlink>
        <a:srgbClr val="0000FF"/>
      </a:hlink>
      <a:folHlink>
        <a:srgbClr val="FF0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10" ma:contentTypeDescription="Create a new document." ma:contentTypeScope="" ma:versionID="dbc7724bece657e3dac172e2cd787ffe">
  <xsd:schema xmlns:xsd="http://www.w3.org/2001/XMLSchema" xmlns:xs="http://www.w3.org/2001/XMLSchema" xmlns:p="http://schemas.microsoft.com/office/2006/metadata/properties" xmlns:ns2="fa0e77c9-1a0d-4ee8-b1f5-4ac48c790630" xmlns:ns3="db97ba85-579e-411b-948c-311c2e42328f" targetNamespace="http://schemas.microsoft.com/office/2006/metadata/properties" ma:root="true" ma:fieldsID="bf2fa36b7386756a3798963ea62f5279" ns2:_="" ns3:_="">
    <xsd:import namespace="fa0e77c9-1a0d-4ee8-b1f5-4ac48c790630"/>
    <xsd:import namespace="db97ba85-579e-411b-948c-311c2e423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97ba85-579e-411b-948c-311c2e42328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1560ba9-541b-4abe-8009-15c2be7e61e6}" ma:internalName="TaxCatchAll" ma:showField="CatchAllData" ma:web="db97ba85-579e-411b-948c-311c2e4232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97ba85-579e-411b-948c-311c2e42328f" xsi:nil="true"/>
    <lcf76f155ced4ddcb4097134ff3c332f xmlns="fa0e77c9-1a0d-4ee8-b1f5-4ac48c79063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59334BE-3614-4B2D-BF5E-D32D4BEF1C65}"/>
</file>

<file path=customXml/itemProps2.xml><?xml version="1.0" encoding="utf-8"?>
<ds:datastoreItem xmlns:ds="http://schemas.openxmlformats.org/officeDocument/2006/customXml" ds:itemID="{A79BB711-2956-43BF-987D-8A1573E815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42FE94-C927-4DA5-8677-0FF5299645FD}"/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1129</Words>
  <Application>Microsoft Office PowerPoint</Application>
  <PresentationFormat>Custom</PresentationFormat>
  <Paragraphs>207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Office Theme</vt:lpstr>
      <vt:lpstr>Office Theme</vt:lpstr>
      <vt:lpstr>Office Theme</vt:lpstr>
      <vt:lpstr>Office Theme</vt:lpstr>
      <vt:lpstr>Office Theme</vt:lpstr>
      <vt:lpstr>Intro to Maven</vt:lpstr>
      <vt:lpstr>Agenda</vt:lpstr>
      <vt:lpstr>What Is Maven?</vt:lpstr>
      <vt:lpstr>Why Maven?</vt:lpstr>
      <vt:lpstr>Regular Structure</vt:lpstr>
      <vt:lpstr>Good Practices</vt:lpstr>
      <vt:lpstr>Why Not Maven?</vt:lpstr>
      <vt:lpstr>The Maven Way</vt:lpstr>
      <vt:lpstr>Maven Basics</vt:lpstr>
      <vt:lpstr>Creating a New Project</vt:lpstr>
      <vt:lpstr>Running Maven</vt:lpstr>
      <vt:lpstr>Maven Lifecycles</vt:lpstr>
      <vt:lpstr>Default Lifecycle</vt:lpstr>
      <vt:lpstr>Dependency Management</vt:lpstr>
      <vt:lpstr>Dependency Scopes</vt:lpstr>
      <vt:lpstr>Snapshot Versions</vt:lpstr>
      <vt:lpstr>Release versions</vt:lpstr>
      <vt:lpstr>Directory Layout</vt:lpstr>
      <vt:lpstr>Super POM</vt:lpstr>
      <vt:lpstr>Exercise</vt:lpstr>
      <vt:lpstr>More Basics</vt:lpstr>
      <vt:lpstr>Plugins</vt:lpstr>
      <vt:lpstr>Plugin Configuration</vt:lpstr>
      <vt:lpstr>Built-In Plugins</vt:lpstr>
      <vt:lpstr>Common Plugins</vt:lpstr>
      <vt:lpstr>Packaging</vt:lpstr>
      <vt:lpstr>Packaging Binds Goals to Phases</vt:lpstr>
      <vt:lpstr>Multi-Module Maven</vt:lpstr>
      <vt:lpstr>Why Multiple Modules?</vt:lpstr>
      <vt:lpstr>Multi-Modules: How</vt:lpstr>
      <vt:lpstr>Modules</vt:lpstr>
      <vt:lpstr>Parent</vt:lpstr>
      <vt:lpstr>Dependence vs. Inheritance</vt:lpstr>
      <vt:lpstr>Naming</vt:lpstr>
      <vt:lpstr>Web Modules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Ioan Bădărînză</cp:lastModifiedBy>
  <cp:revision>13</cp:revision>
  <dcterms:modified xsi:type="dcterms:W3CDTF">2025-10-14T18:19:10Z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</Properties>
</file>