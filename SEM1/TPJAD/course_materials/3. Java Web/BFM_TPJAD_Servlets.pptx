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0"/>
  </p:notesMasterIdLst>
  <p:handoutMasterIdLst>
    <p:handoutMasterId r:id="rId51"/>
  </p:handoutMasterIdLst>
  <p:sldIdLst>
    <p:sldId id="439" r:id="rId5"/>
    <p:sldId id="440" r:id="rId6"/>
    <p:sldId id="433" r:id="rId7"/>
    <p:sldId id="436" r:id="rId8"/>
    <p:sldId id="394" r:id="rId9"/>
    <p:sldId id="395" r:id="rId10"/>
    <p:sldId id="393" r:id="rId11"/>
    <p:sldId id="386" r:id="rId12"/>
    <p:sldId id="387" r:id="rId13"/>
    <p:sldId id="388" r:id="rId14"/>
    <p:sldId id="389" r:id="rId15"/>
    <p:sldId id="390" r:id="rId16"/>
    <p:sldId id="391" r:id="rId17"/>
    <p:sldId id="392" r:id="rId18"/>
    <p:sldId id="396" r:id="rId19"/>
    <p:sldId id="400" r:id="rId20"/>
    <p:sldId id="398" r:id="rId21"/>
    <p:sldId id="431" r:id="rId22"/>
    <p:sldId id="397" r:id="rId23"/>
    <p:sldId id="402" r:id="rId24"/>
    <p:sldId id="438" r:id="rId25"/>
    <p:sldId id="401" r:id="rId26"/>
    <p:sldId id="380" r:id="rId27"/>
    <p:sldId id="381" r:id="rId28"/>
    <p:sldId id="426" r:id="rId29"/>
    <p:sldId id="404" r:id="rId30"/>
    <p:sldId id="405" r:id="rId31"/>
    <p:sldId id="419" r:id="rId32"/>
    <p:sldId id="406" r:id="rId33"/>
    <p:sldId id="407" r:id="rId34"/>
    <p:sldId id="408" r:id="rId35"/>
    <p:sldId id="409" r:id="rId36"/>
    <p:sldId id="420" r:id="rId37"/>
    <p:sldId id="424" r:id="rId38"/>
    <p:sldId id="425" r:id="rId39"/>
    <p:sldId id="437" r:id="rId40"/>
    <p:sldId id="410" r:id="rId41"/>
    <p:sldId id="412" r:id="rId42"/>
    <p:sldId id="413" r:id="rId43"/>
    <p:sldId id="411" r:id="rId44"/>
    <p:sldId id="421" r:id="rId45"/>
    <p:sldId id="422" r:id="rId46"/>
    <p:sldId id="423" r:id="rId47"/>
    <p:sldId id="375" r:id="rId48"/>
    <p:sldId id="376" r:id="rId4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588" autoAdjust="0"/>
    <p:restoredTop sz="94662" autoAdjust="0"/>
  </p:normalViewPr>
  <p:slideViewPr>
    <p:cSldViewPr>
      <p:cViewPr>
        <p:scale>
          <a:sx n="70" d="100"/>
          <a:sy n="70" d="100"/>
        </p:scale>
        <p:origin x="-8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8" Type="http://schemas.openxmlformats.org/officeDocument/2006/relationships/slide" Target="slides/slide4.xml"/><Relationship Id="rId51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C446B50-EBCC-4549-B913-78C31A5715D4}" type="datetimeFigureOut">
              <a:rPr lang="en-US"/>
              <a:pPr>
                <a:defRPr/>
              </a:pPr>
              <a:t>10/26/2025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B44EF314-D17D-42F0-A4EA-2B5F4C42C4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35158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514D0E8A-F903-4BFC-AAE4-071EBECB2044}" type="datetimeFigureOut">
              <a:rPr lang="en-US"/>
              <a:pPr>
                <a:defRPr/>
              </a:pPr>
              <a:t>10/26/2025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5BF1447-E096-4932-96A5-57CCAFD729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67634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A75E47-11DF-41CD-B4DC-1E2CC3B1BAC3}" type="datetime1">
              <a:rPr lang="ro-RO"/>
              <a:pPr>
                <a:defRPr/>
              </a:pPr>
              <a:t>26.10.2025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54D20E-36F9-4F27-B041-4D28D47D87B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951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170C99-798F-4B77-8525-B6B1A68C542F}" type="datetime1">
              <a:rPr lang="ro-RO"/>
              <a:pPr>
                <a:defRPr/>
              </a:pPr>
              <a:t>26.10.2025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EEC160-630B-43EC-9EBD-26D39DBB31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444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32EA27-4E63-4B72-A22C-4A41B554A709}" type="datetime1">
              <a:rPr lang="ro-RO"/>
              <a:pPr>
                <a:defRPr/>
              </a:pPr>
              <a:t>26.10.2025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1C9EEC-B89F-4F8E-980B-CC1F477092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967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C02068-6A82-465E-9AA1-37F23B374125}" type="datetime1">
              <a:rPr lang="ro-RO"/>
              <a:pPr>
                <a:defRPr/>
              </a:pPr>
              <a:t>26.10.2025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AA941E-C710-4599-A526-A0D1465B02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970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1FBCDC-DD36-4C9B-9459-7594B816EA70}" type="datetime1">
              <a:rPr lang="ro-RO"/>
              <a:pPr>
                <a:defRPr/>
              </a:pPr>
              <a:t>26.10.2025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FE29FF-8F5F-4A5B-9DCB-A5593FF608A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312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664E29-04AA-42F6-82BD-B739C63AA4C7}" type="datetime1">
              <a:rPr lang="ro-RO"/>
              <a:pPr>
                <a:defRPr/>
              </a:pPr>
              <a:t>26.10.2025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B1F437-345C-473B-872F-2EE25B976E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923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9534AB-BFF8-4218-BBBB-983CAE0B0C6C}" type="datetime1">
              <a:rPr lang="ro-RO"/>
              <a:pPr>
                <a:defRPr/>
              </a:pPr>
              <a:t>26.10.2025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1092BF-3E6B-4DF9-BB30-4F6CEC4F74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975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5A4BAC-04EA-4A36-8BBD-A7524A61B525}" type="datetime1">
              <a:rPr lang="ro-RO"/>
              <a:pPr>
                <a:defRPr/>
              </a:pPr>
              <a:t>26.10.2025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187381-B7F6-431C-A51A-F2F0205118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828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E25F6B-7528-402F-AD9F-BAB886339EE5}" type="datetime1">
              <a:rPr lang="ro-RO"/>
              <a:pPr>
                <a:defRPr/>
              </a:pPr>
              <a:t>26.10.2025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ADE576-5DEB-47C2-8D44-98945CBD5F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542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74CFCB-691A-4A3C-921B-9FFF6B0B59C0}" type="datetime1">
              <a:rPr lang="ro-RO"/>
              <a:pPr>
                <a:defRPr/>
              </a:pPr>
              <a:t>26.10.2025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BF83E8-4ADD-4B1D-B7EA-F2A47D9E09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057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19A652-83DF-4311-B4A1-900FE9437C69}" type="datetime1">
              <a:rPr lang="ro-RO"/>
              <a:pPr>
                <a:defRPr/>
              </a:pPr>
              <a:t>26.10.2025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B9FF3F-B42D-4A27-94EB-0B0BE2060E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659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409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17141E8-33FF-45C2-819B-9E7015E51387}" type="datetime1">
              <a:rPr lang="ro-RO"/>
              <a:pPr>
                <a:defRPr/>
              </a:pPr>
              <a:t>26.10.2025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2F29C45-B3A1-4D71-9EF3-A524C24DD4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080/Add?unu=5&amp;doi=7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localhost:8080/client.html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file:///C:\jdk1.6.0_31\docs\JavaEEapi\javax\servlet\http\HttpSession.html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hyperlink" Target="file:///C:\jdk1.6.0_31\docs\JavaEEapi\javax\servlet\ServletContext.html" TargetMode="Externa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file:///C:\jdk1.6.0_31\docs\JavaEEapi\javax\servlet\http\HttpSession.html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26.10.2025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BFM_Servlets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1</a:t>
            </a:fld>
            <a:r>
              <a:rPr lang="en-US" dirty="0"/>
              <a:t>_/_44_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Ce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este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un CGI?</a:t>
            </a:r>
          </a:p>
        </p:txBody>
      </p:sp>
      <p:sp>
        <p:nvSpPr>
          <p:cNvPr id="2" name="Rectangle 1"/>
          <p:cNvSpPr/>
          <p:nvPr/>
        </p:nvSpPr>
        <p:spPr>
          <a:xfrm>
            <a:off x="13138" y="366713"/>
            <a:ext cx="9130862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b="1" dirty="0"/>
              <a:t>CGI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un program </a:t>
            </a:r>
            <a:r>
              <a:rPr lang="en-US" dirty="0" err="1"/>
              <a:t>executabil</a:t>
            </a:r>
            <a:r>
              <a:rPr lang="en-US" dirty="0"/>
              <a:t> (</a:t>
            </a:r>
            <a:r>
              <a:rPr lang="en-US" i="1" dirty="0" err="1"/>
              <a:t>elaborat</a:t>
            </a:r>
            <a:r>
              <a:rPr lang="en-US" i="1" dirty="0"/>
              <a:t> in </a:t>
            </a:r>
            <a:r>
              <a:rPr lang="en-US" i="1" dirty="0" err="1"/>
              <a:t>orice</a:t>
            </a:r>
            <a:r>
              <a:rPr lang="en-US" i="1" dirty="0"/>
              <a:t> </a:t>
            </a:r>
            <a:r>
              <a:rPr lang="en-US" i="1" dirty="0" err="1"/>
              <a:t>limbaj</a:t>
            </a:r>
            <a:r>
              <a:rPr lang="en-US" dirty="0"/>
              <a:t>) care are </a:t>
            </a:r>
            <a:r>
              <a:rPr lang="en-US" dirty="0" err="1"/>
              <a:t>urmatoarele</a:t>
            </a:r>
            <a:r>
              <a:rPr lang="en-US" dirty="0"/>
              <a:t> </a:t>
            </a:r>
            <a:r>
              <a:rPr lang="en-US" dirty="0" err="1"/>
              <a:t>caracteristici</a:t>
            </a:r>
            <a:r>
              <a:rPr lang="en-US" dirty="0"/>
              <a:t>: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ro-RO" dirty="0"/>
              <a:t>S</a:t>
            </a:r>
            <a:r>
              <a:rPr lang="en-US" dirty="0"/>
              <a:t>a </a:t>
            </a:r>
            <a:r>
              <a:rPr lang="en-US" dirty="0" err="1"/>
              <a:t>aiba</a:t>
            </a:r>
            <a:r>
              <a:rPr lang="en-US" dirty="0"/>
              <a:t> </a:t>
            </a:r>
            <a:r>
              <a:rPr lang="en-US" dirty="0" err="1"/>
              <a:t>setat</a:t>
            </a:r>
            <a:r>
              <a:rPr lang="en-US" dirty="0"/>
              <a:t> </a:t>
            </a:r>
            <a:r>
              <a:rPr lang="en-US" b="1" dirty="0" err="1"/>
              <a:t>dreptul</a:t>
            </a:r>
            <a:r>
              <a:rPr lang="en-US" b="1" dirty="0"/>
              <a:t> de run</a:t>
            </a:r>
            <a:r>
              <a:rPr lang="en-US" dirty="0"/>
              <a:t> </a:t>
            </a:r>
            <a:r>
              <a:rPr lang="en-US" dirty="0" err="1"/>
              <a:t>asa</a:t>
            </a:r>
            <a:r>
              <a:rPr lang="en-US" dirty="0"/>
              <a:t> </a:t>
            </a:r>
            <a:r>
              <a:rPr lang="en-US" dirty="0" err="1"/>
              <a:t>incat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poata</a:t>
            </a:r>
            <a:r>
              <a:rPr lang="en-US" dirty="0"/>
              <a:t> fi </a:t>
            </a:r>
            <a:r>
              <a:rPr lang="en-US" dirty="0" err="1"/>
              <a:t>lansat</a:t>
            </a:r>
            <a:r>
              <a:rPr lang="en-US" dirty="0"/>
              <a:t> in </a:t>
            </a:r>
            <a:r>
              <a:rPr lang="en-US" dirty="0" err="1"/>
              <a:t>executie</a:t>
            </a:r>
            <a:r>
              <a:rPr lang="en-US" dirty="0"/>
              <a:t> de </a:t>
            </a:r>
            <a:r>
              <a:rPr lang="en-US" dirty="0" err="1"/>
              <a:t>catre</a:t>
            </a:r>
            <a:r>
              <a:rPr lang="en-US" dirty="0"/>
              <a:t> </a:t>
            </a:r>
            <a:r>
              <a:rPr lang="en-US" dirty="0" err="1"/>
              <a:t>programul</a:t>
            </a:r>
            <a:r>
              <a:rPr lang="en-US" dirty="0"/>
              <a:t> server web</a:t>
            </a:r>
            <a:r>
              <a:rPr lang="ro-RO" dirty="0"/>
              <a:t>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/>
              <a:t>Sa </a:t>
            </a:r>
            <a:r>
              <a:rPr lang="en-US" dirty="0" err="1"/>
              <a:t>poata</a:t>
            </a:r>
            <a:r>
              <a:rPr lang="en-US" dirty="0"/>
              <a:t> </a:t>
            </a:r>
            <a:r>
              <a:rPr lang="en-US" dirty="0" err="1"/>
              <a:t>citi</a:t>
            </a:r>
            <a:r>
              <a:rPr lang="en-US" dirty="0"/>
              <a:t> </a:t>
            </a:r>
            <a:r>
              <a:rPr lang="en-US" b="1" dirty="0" err="1"/>
              <a:t>variabilele</a:t>
            </a:r>
            <a:r>
              <a:rPr lang="en-US" b="1" dirty="0"/>
              <a:t> de </a:t>
            </a:r>
            <a:r>
              <a:rPr lang="en-US" b="1" dirty="0" err="1"/>
              <a:t>mediu</a:t>
            </a:r>
            <a:r>
              <a:rPr lang="ro-RO" dirty="0"/>
              <a:t> </a:t>
            </a:r>
            <a:r>
              <a:rPr lang="en-US" dirty="0" err="1"/>
              <a:t>folosind</a:t>
            </a:r>
            <a:r>
              <a:rPr lang="en-US" dirty="0"/>
              <a:t> </a:t>
            </a:r>
            <a:r>
              <a:rPr lang="en-US" dirty="0" err="1"/>
              <a:t>apeluri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de tip </a:t>
            </a:r>
            <a:r>
              <a:rPr lang="ro-RO" b="1" dirty="0"/>
              <a:t>getenv</a:t>
            </a:r>
            <a:r>
              <a:rPr lang="ro-RO" dirty="0"/>
              <a:t>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 err="1"/>
              <a:t>Daca</a:t>
            </a:r>
            <a:r>
              <a:rPr lang="en-US" dirty="0"/>
              <a:t> </a:t>
            </a:r>
            <a:r>
              <a:rPr lang="en-US" dirty="0" err="1"/>
              <a:t>metoda</a:t>
            </a:r>
            <a:r>
              <a:rPr lang="en-US" dirty="0"/>
              <a:t> HTTP </a:t>
            </a:r>
            <a:r>
              <a:rPr lang="en-US" b="1" dirty="0"/>
              <a:t>nu </a:t>
            </a:r>
            <a:r>
              <a:rPr lang="en-US" b="1" dirty="0" err="1"/>
              <a:t>este</a:t>
            </a:r>
            <a:r>
              <a:rPr lang="en-US" dirty="0"/>
              <a:t> </a:t>
            </a:r>
            <a:r>
              <a:rPr lang="ro-RO" b="1" dirty="0"/>
              <a:t>GET</a:t>
            </a:r>
            <a:r>
              <a:rPr lang="ro-RO" dirty="0"/>
              <a:t>, </a:t>
            </a:r>
            <a:r>
              <a:rPr lang="en-US" dirty="0" err="1"/>
              <a:t>atunci</a:t>
            </a:r>
            <a:r>
              <a:rPr lang="en-US" dirty="0"/>
              <a:t>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poata</a:t>
            </a:r>
            <a:r>
              <a:rPr lang="en-US" dirty="0"/>
              <a:t> </a:t>
            </a:r>
            <a:r>
              <a:rPr lang="en-US" dirty="0" err="1"/>
              <a:t>citi</a:t>
            </a:r>
            <a:r>
              <a:rPr lang="en-US" dirty="0"/>
              <a:t> </a:t>
            </a:r>
            <a:r>
              <a:rPr lang="en-US" dirty="0" err="1"/>
              <a:t>fisierul</a:t>
            </a:r>
            <a:r>
              <a:rPr lang="en-US" dirty="0"/>
              <a:t> standard </a:t>
            </a:r>
            <a:r>
              <a:rPr lang="en-US" b="1" dirty="0" err="1"/>
              <a:t>stdin</a:t>
            </a:r>
            <a:r>
              <a:rPr lang="ro-RO" dirty="0"/>
              <a:t>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poata</a:t>
            </a:r>
            <a:r>
              <a:rPr lang="en-US" dirty="0"/>
              <a:t> </a:t>
            </a:r>
            <a:r>
              <a:rPr lang="en-US" dirty="0" err="1"/>
              <a:t>scrie</a:t>
            </a:r>
            <a:r>
              <a:rPr lang="en-US" dirty="0"/>
              <a:t> in </a:t>
            </a:r>
            <a:r>
              <a:rPr lang="en-US" dirty="0" err="1"/>
              <a:t>fisierul</a:t>
            </a:r>
            <a:r>
              <a:rPr lang="en-US" dirty="0"/>
              <a:t> standard </a:t>
            </a:r>
            <a:r>
              <a:rPr lang="en-US" b="1" dirty="0" err="1"/>
              <a:t>stdout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 err="1"/>
              <a:t>Fisierul</a:t>
            </a:r>
            <a:r>
              <a:rPr lang="en-US" dirty="0"/>
              <a:t> </a:t>
            </a:r>
            <a:r>
              <a:rPr lang="en-US" dirty="0" err="1"/>
              <a:t>executabil</a:t>
            </a:r>
            <a:r>
              <a:rPr lang="en-US" dirty="0"/>
              <a:t> CGI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fie </a:t>
            </a:r>
            <a:r>
              <a:rPr lang="en-US" dirty="0" err="1"/>
              <a:t>plasat</a:t>
            </a:r>
            <a:r>
              <a:rPr lang="en-US" dirty="0"/>
              <a:t> </a:t>
            </a:r>
            <a:r>
              <a:rPr lang="en-US" dirty="0" err="1"/>
              <a:t>intr</a:t>
            </a:r>
            <a:r>
              <a:rPr lang="en-US" dirty="0"/>
              <a:t>-un </a:t>
            </a:r>
            <a:r>
              <a:rPr lang="en-US" dirty="0" err="1"/>
              <a:t>anumit</a:t>
            </a:r>
            <a:r>
              <a:rPr lang="en-US" dirty="0"/>
              <a:t> director </a:t>
            </a:r>
            <a:r>
              <a:rPr lang="en-US" dirty="0" err="1"/>
              <a:t>stabilit</a:t>
            </a:r>
            <a:r>
              <a:rPr lang="en-US" dirty="0"/>
              <a:t> de </a:t>
            </a:r>
            <a:r>
              <a:rPr lang="en-US" dirty="0" err="1"/>
              <a:t>catre</a:t>
            </a:r>
            <a:r>
              <a:rPr lang="en-US" dirty="0"/>
              <a:t> </a:t>
            </a:r>
            <a:r>
              <a:rPr lang="en-US" dirty="0" err="1"/>
              <a:t>administratorul</a:t>
            </a:r>
            <a:r>
              <a:rPr lang="en-US" dirty="0"/>
              <a:t> </a:t>
            </a:r>
            <a:r>
              <a:rPr lang="en-US" dirty="0" err="1"/>
              <a:t>serverului</a:t>
            </a:r>
            <a:r>
              <a:rPr lang="en-US" dirty="0"/>
              <a:t> web.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 err="1"/>
              <a:t>Uneori</a:t>
            </a:r>
            <a:r>
              <a:rPr lang="en-US" dirty="0"/>
              <a:t> (</a:t>
            </a:r>
            <a:r>
              <a:rPr lang="en-US" dirty="0" err="1"/>
              <a:t>administratorul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impune</a:t>
            </a:r>
            <a:r>
              <a:rPr lang="en-US" dirty="0"/>
              <a:t> ca) </a:t>
            </a:r>
            <a:r>
              <a:rPr lang="en-US" dirty="0" err="1"/>
              <a:t>numele</a:t>
            </a:r>
            <a:r>
              <a:rPr lang="en-US" dirty="0"/>
              <a:t> </a:t>
            </a:r>
            <a:r>
              <a:rPr lang="en-US" dirty="0" err="1"/>
              <a:t>fisierului</a:t>
            </a:r>
            <a:r>
              <a:rPr lang="en-US" dirty="0"/>
              <a:t> </a:t>
            </a:r>
            <a:r>
              <a:rPr lang="en-US" dirty="0" err="1"/>
              <a:t>executabil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respecte</a:t>
            </a:r>
            <a:r>
              <a:rPr lang="en-US" dirty="0"/>
              <a:t> o </a:t>
            </a:r>
            <a:r>
              <a:rPr lang="en-US" dirty="0" err="1"/>
              <a:t>anumita</a:t>
            </a:r>
            <a:r>
              <a:rPr lang="en-US" dirty="0"/>
              <a:t> </a:t>
            </a:r>
            <a:r>
              <a:rPr lang="en-US" dirty="0" err="1"/>
              <a:t>sintaxa</a:t>
            </a:r>
            <a:r>
              <a:rPr lang="en-US" dirty="0"/>
              <a:t> (de </a:t>
            </a:r>
            <a:r>
              <a:rPr lang="en-US" dirty="0" err="1"/>
              <a:t>exemplu</a:t>
            </a:r>
            <a:r>
              <a:rPr lang="en-US" dirty="0"/>
              <a:t> </a:t>
            </a:r>
            <a:r>
              <a:rPr lang="en-US" dirty="0" err="1"/>
              <a:t>terminarea</a:t>
            </a:r>
            <a:r>
              <a:rPr lang="en-US" dirty="0"/>
              <a:t> cu </a:t>
            </a:r>
            <a:r>
              <a:rPr lang="en-US" b="1" dirty="0"/>
              <a:t>.</a:t>
            </a:r>
            <a:r>
              <a:rPr lang="en-US" b="1" dirty="0" err="1"/>
              <a:t>cgi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alte</a:t>
            </a:r>
            <a:r>
              <a:rPr lang="en-US" dirty="0"/>
              <a:t> </a:t>
            </a:r>
            <a:r>
              <a:rPr lang="en-US" dirty="0" err="1"/>
              <a:t>restrictii</a:t>
            </a:r>
            <a:r>
              <a:rPr lang="en-US" dirty="0"/>
              <a:t>)</a:t>
            </a:r>
            <a:r>
              <a:rPr lang="ro-RO" dirty="0"/>
              <a:t>.</a:t>
            </a:r>
            <a:endParaRPr lang="en-US" dirty="0"/>
          </a:p>
          <a:p>
            <a:pPr>
              <a:defRPr/>
            </a:pPr>
            <a:r>
              <a:rPr lang="en-US" dirty="0" err="1">
                <a:cs typeface="Aharoni" pitchFamily="2" charset="-79"/>
              </a:rPr>
              <a:t>Daca</a:t>
            </a:r>
            <a:r>
              <a:rPr lang="en-US" dirty="0">
                <a:cs typeface="Aharoni" pitchFamily="2" charset="-79"/>
              </a:rPr>
              <a:t> </a:t>
            </a:r>
            <a:r>
              <a:rPr lang="en-US" dirty="0" err="1">
                <a:cs typeface="Aharoni" pitchFamily="2" charset="-79"/>
              </a:rPr>
              <a:t>cererea</a:t>
            </a:r>
            <a:r>
              <a:rPr lang="en-US" dirty="0">
                <a:cs typeface="Aharoni" pitchFamily="2" charset="-79"/>
              </a:rPr>
              <a:t> HTTP </a:t>
            </a:r>
            <a:r>
              <a:rPr lang="en-US" dirty="0" err="1">
                <a:cs typeface="Aharoni" pitchFamily="2" charset="-79"/>
              </a:rPr>
              <a:t>este</a:t>
            </a:r>
            <a:r>
              <a:rPr lang="en-US" dirty="0">
                <a:cs typeface="Aharoni" pitchFamily="2" charset="-79"/>
              </a:rPr>
              <a:t> GET, </a:t>
            </a:r>
            <a:r>
              <a:rPr lang="en-US" dirty="0" err="1">
                <a:cs typeface="Aharoni" pitchFamily="2" charset="-79"/>
              </a:rPr>
              <a:t>atunci</a:t>
            </a:r>
            <a:r>
              <a:rPr lang="en-US" dirty="0">
                <a:cs typeface="Aharoni" pitchFamily="2" charset="-79"/>
              </a:rPr>
              <a:t> CGI </a:t>
            </a:r>
            <a:r>
              <a:rPr lang="en-US" dirty="0" err="1">
                <a:cs typeface="Aharoni" pitchFamily="2" charset="-79"/>
              </a:rPr>
              <a:t>obtine</a:t>
            </a:r>
            <a:r>
              <a:rPr lang="en-US" dirty="0">
                <a:cs typeface="Aharoni" pitchFamily="2" charset="-79"/>
              </a:rPr>
              <a:t> </a:t>
            </a:r>
            <a:r>
              <a:rPr lang="en-US" dirty="0" err="1">
                <a:cs typeface="Aharoni" pitchFamily="2" charset="-79"/>
              </a:rPr>
              <a:t>stringul</a:t>
            </a:r>
            <a:r>
              <a:rPr lang="en-US" dirty="0">
                <a:cs typeface="Aharoni" pitchFamily="2" charset="-79"/>
              </a:rPr>
              <a:t> de </a:t>
            </a:r>
            <a:r>
              <a:rPr lang="en-US" dirty="0" err="1">
                <a:cs typeface="Aharoni" pitchFamily="2" charset="-79"/>
              </a:rPr>
              <a:t>cerere</a:t>
            </a:r>
            <a:r>
              <a:rPr lang="en-US" dirty="0">
                <a:cs typeface="Aharoni" pitchFamily="2" charset="-79"/>
              </a:rPr>
              <a:t> ca </a:t>
            </a:r>
            <a:r>
              <a:rPr lang="en-US" dirty="0" err="1">
                <a:cs typeface="Aharoni" pitchFamily="2" charset="-79"/>
              </a:rPr>
              <a:t>valoare</a:t>
            </a:r>
            <a:r>
              <a:rPr lang="en-US" dirty="0">
                <a:cs typeface="Aharoni" pitchFamily="2" charset="-79"/>
              </a:rPr>
              <a:t> a </a:t>
            </a:r>
            <a:r>
              <a:rPr lang="en-US" dirty="0" err="1">
                <a:cs typeface="Aharoni" pitchFamily="2" charset="-79"/>
              </a:rPr>
              <a:t>variabilei</a:t>
            </a:r>
            <a:r>
              <a:rPr lang="en-US" dirty="0">
                <a:cs typeface="Aharoni" pitchFamily="2" charset="-79"/>
              </a:rPr>
              <a:t> de </a:t>
            </a:r>
            <a:r>
              <a:rPr lang="en-US" dirty="0" err="1">
                <a:cs typeface="Aharoni" pitchFamily="2" charset="-79"/>
              </a:rPr>
              <a:t>mediu</a:t>
            </a:r>
            <a:r>
              <a:rPr lang="en-US" dirty="0">
                <a:cs typeface="Aharoni" pitchFamily="2" charset="-79"/>
              </a:rPr>
              <a:t> </a:t>
            </a:r>
            <a:r>
              <a:rPr lang="en-US" b="1" dirty="0" err="1">
                <a:cs typeface="Aharoni" pitchFamily="2" charset="-79"/>
              </a:rPr>
              <a:t>QUERY_STRING</a:t>
            </a:r>
            <a:r>
              <a:rPr lang="en-US" dirty="0">
                <a:cs typeface="Aharoni" pitchFamily="2" charset="-79"/>
              </a:rPr>
              <a:t> </a:t>
            </a:r>
          </a:p>
          <a:p>
            <a:pPr>
              <a:defRPr/>
            </a:pPr>
            <a:r>
              <a:rPr lang="en-US" dirty="0" err="1">
                <a:cs typeface="Aharoni" pitchFamily="2" charset="-79"/>
              </a:rPr>
              <a:t>Daca</a:t>
            </a:r>
            <a:r>
              <a:rPr lang="en-US" dirty="0">
                <a:cs typeface="Aharoni" pitchFamily="2" charset="-79"/>
              </a:rPr>
              <a:t> </a:t>
            </a:r>
            <a:r>
              <a:rPr lang="en-US" dirty="0" err="1">
                <a:cs typeface="Aharoni" pitchFamily="2" charset="-79"/>
              </a:rPr>
              <a:t>cererea</a:t>
            </a:r>
            <a:r>
              <a:rPr lang="en-US" dirty="0">
                <a:cs typeface="Aharoni" pitchFamily="2" charset="-79"/>
              </a:rPr>
              <a:t> HTTP </a:t>
            </a:r>
            <a:r>
              <a:rPr lang="en-US" dirty="0" err="1">
                <a:cs typeface="Aharoni" pitchFamily="2" charset="-79"/>
              </a:rPr>
              <a:t>este</a:t>
            </a:r>
            <a:r>
              <a:rPr lang="en-US" dirty="0">
                <a:cs typeface="Aharoni" pitchFamily="2" charset="-79"/>
              </a:rPr>
              <a:t> POST, PUT, DELETE etc. </a:t>
            </a:r>
            <a:r>
              <a:rPr lang="en-US" dirty="0" err="1">
                <a:cs typeface="Aharoni" pitchFamily="2" charset="-79"/>
              </a:rPr>
              <a:t>atunci</a:t>
            </a:r>
            <a:r>
              <a:rPr lang="en-US" dirty="0">
                <a:cs typeface="Aharoni" pitchFamily="2" charset="-79"/>
              </a:rPr>
              <a:t> </a:t>
            </a:r>
            <a:r>
              <a:rPr lang="en-US" dirty="0" err="1">
                <a:cs typeface="Aharoni" pitchFamily="2" charset="-79"/>
              </a:rPr>
              <a:t>stringul</a:t>
            </a:r>
            <a:r>
              <a:rPr lang="en-US" dirty="0">
                <a:cs typeface="Aharoni" pitchFamily="2" charset="-79"/>
              </a:rPr>
              <a:t> de </a:t>
            </a:r>
            <a:r>
              <a:rPr lang="en-US" dirty="0" err="1">
                <a:cs typeface="Aharoni" pitchFamily="2" charset="-79"/>
              </a:rPr>
              <a:t>cerere</a:t>
            </a:r>
            <a:r>
              <a:rPr lang="en-US" dirty="0">
                <a:cs typeface="Aharoni" pitchFamily="2" charset="-79"/>
              </a:rPr>
              <a:t> se </a:t>
            </a:r>
            <a:r>
              <a:rPr lang="en-US" dirty="0" err="1">
                <a:cs typeface="Aharoni" pitchFamily="2" charset="-79"/>
              </a:rPr>
              <a:t>obtine</a:t>
            </a:r>
            <a:r>
              <a:rPr lang="en-US" dirty="0">
                <a:cs typeface="Aharoni" pitchFamily="2" charset="-79"/>
              </a:rPr>
              <a:t> de la </a:t>
            </a:r>
            <a:r>
              <a:rPr lang="en-US" dirty="0" err="1">
                <a:cs typeface="Aharoni" pitchFamily="2" charset="-79"/>
              </a:rPr>
              <a:t>fisierul</a:t>
            </a:r>
            <a:r>
              <a:rPr lang="en-US" dirty="0">
                <a:cs typeface="Aharoni" pitchFamily="2" charset="-79"/>
              </a:rPr>
              <a:t> de </a:t>
            </a:r>
            <a:r>
              <a:rPr lang="en-US" dirty="0" err="1">
                <a:cs typeface="Aharoni" pitchFamily="2" charset="-79"/>
              </a:rPr>
              <a:t>intrare</a:t>
            </a:r>
            <a:r>
              <a:rPr lang="en-US" dirty="0">
                <a:cs typeface="Aharoni" pitchFamily="2" charset="-79"/>
              </a:rPr>
              <a:t> </a:t>
            </a:r>
            <a:r>
              <a:rPr lang="en-US" b="1" dirty="0" err="1">
                <a:cs typeface="Aharoni" pitchFamily="2" charset="-79"/>
              </a:rPr>
              <a:t>stdin</a:t>
            </a:r>
            <a:endParaRPr lang="en-US" b="1" dirty="0">
              <a:cs typeface="Aharoni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405608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26.10.2025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BFM_Servlets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2</a:t>
            </a:fld>
            <a:r>
              <a:rPr lang="en-US" dirty="0"/>
              <a:t>_/_44_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Ce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este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un servlet? 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381000"/>
            <a:ext cx="91440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/>
              <a:t>Servlet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o </a:t>
            </a:r>
            <a:r>
              <a:rPr lang="en-US" dirty="0" err="1"/>
              <a:t>componenta</a:t>
            </a:r>
            <a:r>
              <a:rPr lang="en-US" dirty="0"/>
              <a:t> Java care: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err="1"/>
              <a:t>Genereaza</a:t>
            </a:r>
            <a:r>
              <a:rPr lang="en-US" dirty="0"/>
              <a:t> </a:t>
            </a:r>
            <a:r>
              <a:rPr lang="en-US" dirty="0" err="1"/>
              <a:t>continut</a:t>
            </a:r>
            <a:r>
              <a:rPr lang="en-US" dirty="0"/>
              <a:t> web </a:t>
            </a:r>
            <a:r>
              <a:rPr lang="en-US" dirty="0" err="1"/>
              <a:t>dinamic</a:t>
            </a:r>
            <a:r>
              <a:rPr lang="en-US" dirty="0"/>
              <a:t>. 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err="1"/>
              <a:t>Clientii</a:t>
            </a:r>
            <a:r>
              <a:rPr lang="en-US" dirty="0"/>
              <a:t> web </a:t>
            </a:r>
            <a:r>
              <a:rPr lang="en-US" dirty="0" err="1"/>
              <a:t>interactioneaza</a:t>
            </a:r>
            <a:r>
              <a:rPr lang="en-US" dirty="0"/>
              <a:t> cu </a:t>
            </a:r>
            <a:r>
              <a:rPr lang="en-US" dirty="0" err="1"/>
              <a:t>servletul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cereri</a:t>
            </a:r>
            <a:r>
              <a:rPr lang="en-US" dirty="0"/>
              <a:t> / </a:t>
            </a:r>
            <a:r>
              <a:rPr lang="en-US" dirty="0" err="1"/>
              <a:t>raspunsuri</a:t>
            </a:r>
            <a:r>
              <a:rPr lang="en-US" dirty="0"/>
              <a:t> HTTP. 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/>
              <a:t>Este </a:t>
            </a:r>
            <a:r>
              <a:rPr lang="en-US" dirty="0" err="1"/>
              <a:t>gazduit</a:t>
            </a:r>
            <a:r>
              <a:rPr lang="en-US" dirty="0"/>
              <a:t> </a:t>
            </a:r>
            <a:r>
              <a:rPr lang="en-US" dirty="0" err="1"/>
              <a:t>intr</a:t>
            </a:r>
            <a:r>
              <a:rPr lang="en-US" dirty="0"/>
              <a:t>-un </a:t>
            </a:r>
            <a:r>
              <a:rPr lang="en-US" b="1" dirty="0"/>
              <a:t>container de </a:t>
            </a:r>
            <a:r>
              <a:rPr lang="en-US" b="1" dirty="0" err="1"/>
              <a:t>servleturi</a:t>
            </a:r>
            <a:r>
              <a:rPr lang="en-US" dirty="0"/>
              <a:t> </a:t>
            </a:r>
            <a:r>
              <a:rPr lang="en-US" dirty="0" err="1"/>
              <a:t>responsabil</a:t>
            </a:r>
            <a:r>
              <a:rPr lang="en-US" dirty="0"/>
              <a:t> cu </a:t>
            </a:r>
            <a:r>
              <a:rPr lang="en-US" dirty="0" err="1"/>
              <a:t>ciclul</a:t>
            </a:r>
            <a:r>
              <a:rPr lang="en-US" dirty="0"/>
              <a:t> de </a:t>
            </a:r>
            <a:r>
              <a:rPr lang="en-US" dirty="0" err="1"/>
              <a:t>viata</a:t>
            </a:r>
            <a:r>
              <a:rPr lang="en-US" dirty="0"/>
              <a:t> al </a:t>
            </a:r>
            <a:r>
              <a:rPr lang="en-US" dirty="0" err="1"/>
              <a:t>servletului</a:t>
            </a:r>
            <a:r>
              <a:rPr lang="en-US" dirty="0"/>
              <a:t>, cu </a:t>
            </a:r>
            <a:r>
              <a:rPr lang="en-US" dirty="0" err="1"/>
              <a:t>preluarea</a:t>
            </a:r>
            <a:r>
              <a:rPr lang="en-US" dirty="0"/>
              <a:t> </a:t>
            </a:r>
            <a:r>
              <a:rPr lang="en-US" dirty="0" err="1"/>
              <a:t>cererilor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trimiterea</a:t>
            </a:r>
            <a:r>
              <a:rPr lang="en-US" dirty="0"/>
              <a:t> </a:t>
            </a:r>
            <a:r>
              <a:rPr lang="en-US" dirty="0" err="1"/>
              <a:t>raspunsurilor</a:t>
            </a:r>
            <a:r>
              <a:rPr lang="en-US" dirty="0"/>
              <a:t>, cu </a:t>
            </a:r>
            <a:r>
              <a:rPr lang="en-US" dirty="0" err="1"/>
              <a:t>encodarile</a:t>
            </a:r>
            <a:r>
              <a:rPr lang="en-US" dirty="0"/>
              <a:t> / </a:t>
            </a:r>
            <a:r>
              <a:rPr lang="en-US" dirty="0" err="1"/>
              <a:t>decodarile</a:t>
            </a:r>
            <a:r>
              <a:rPr lang="en-US" dirty="0"/>
              <a:t> </a:t>
            </a:r>
            <a:r>
              <a:rPr lang="en-US" dirty="0" err="1"/>
              <a:t>impuse</a:t>
            </a:r>
            <a:r>
              <a:rPr lang="en-US" dirty="0"/>
              <a:t> de </a:t>
            </a:r>
            <a:r>
              <a:rPr lang="en-US" dirty="0" err="1"/>
              <a:t>cereri</a:t>
            </a:r>
            <a:r>
              <a:rPr lang="en-US" dirty="0"/>
              <a:t>/ </a:t>
            </a:r>
            <a:r>
              <a:rPr lang="en-US" dirty="0" err="1"/>
              <a:t>raspunsuri</a:t>
            </a:r>
            <a:r>
              <a:rPr lang="en-US" dirty="0"/>
              <a:t> etc. 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/>
              <a:t>Vis a </a:t>
            </a:r>
            <a:r>
              <a:rPr lang="en-US" dirty="0" err="1"/>
              <a:t>vis</a:t>
            </a:r>
            <a:r>
              <a:rPr lang="en-US" dirty="0"/>
              <a:t> de </a:t>
            </a:r>
            <a:r>
              <a:rPr lang="en-US" dirty="0" err="1"/>
              <a:t>clienti</a:t>
            </a:r>
            <a:r>
              <a:rPr lang="en-US" dirty="0"/>
              <a:t>, </a:t>
            </a:r>
            <a:r>
              <a:rPr lang="en-US" dirty="0" err="1"/>
              <a:t>containerul</a:t>
            </a:r>
            <a:r>
              <a:rPr lang="en-US" dirty="0"/>
              <a:t> se </a:t>
            </a:r>
            <a:r>
              <a:rPr lang="en-US" dirty="0" err="1"/>
              <a:t>comporta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un (mini) server web.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Din </a:t>
            </a:r>
            <a:r>
              <a:rPr lang="en-US" dirty="0" err="1"/>
              <a:t>p.d.v</a:t>
            </a:r>
            <a:r>
              <a:rPr lang="en-US" dirty="0"/>
              <a:t>. functional,  un servlet </a:t>
            </a:r>
            <a:r>
              <a:rPr lang="en-US" dirty="0" err="1"/>
              <a:t>joaca</a:t>
            </a:r>
            <a:r>
              <a:rPr lang="en-US" dirty="0"/>
              <a:t> </a:t>
            </a:r>
            <a:r>
              <a:rPr lang="en-US" dirty="0" err="1"/>
              <a:t>acelasi</a:t>
            </a:r>
            <a:r>
              <a:rPr lang="en-US" dirty="0"/>
              <a:t> </a:t>
            </a:r>
            <a:r>
              <a:rPr lang="en-US" dirty="0" err="1"/>
              <a:t>rol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un CGI. </a:t>
            </a:r>
            <a:r>
              <a:rPr lang="en-US" dirty="0" err="1"/>
              <a:t>Diferentele</a:t>
            </a:r>
            <a:r>
              <a:rPr lang="en-US" dirty="0"/>
              <a:t> </a:t>
            </a:r>
            <a:r>
              <a:rPr lang="en-US" dirty="0" err="1"/>
              <a:t>formale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 </a:t>
            </a:r>
            <a:r>
              <a:rPr lang="en-US" dirty="0" err="1"/>
              <a:t>acestea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: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/>
              <a:t>La </a:t>
            </a:r>
            <a:r>
              <a:rPr lang="en-US" dirty="0" err="1"/>
              <a:t>apelul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b="1" dirty="0"/>
              <a:t>client</a:t>
            </a:r>
            <a:r>
              <a:rPr lang="en-US" dirty="0"/>
              <a:t>, CGI </a:t>
            </a:r>
            <a:r>
              <a:rPr lang="en-US" dirty="0" err="1"/>
              <a:t>creeaza</a:t>
            </a:r>
            <a:r>
              <a:rPr lang="en-US" dirty="0"/>
              <a:t> un </a:t>
            </a:r>
            <a:r>
              <a:rPr lang="en-US" dirty="0" err="1"/>
              <a:t>nou</a:t>
            </a:r>
            <a:r>
              <a:rPr lang="en-US" dirty="0"/>
              <a:t> </a:t>
            </a:r>
            <a:r>
              <a:rPr lang="en-US" b="1" dirty="0" err="1"/>
              <a:t>proces</a:t>
            </a:r>
            <a:r>
              <a:rPr lang="en-US" dirty="0"/>
              <a:t>, </a:t>
            </a:r>
            <a:r>
              <a:rPr lang="en-US" dirty="0" err="1"/>
              <a:t>iar</a:t>
            </a:r>
            <a:r>
              <a:rPr lang="en-US" dirty="0"/>
              <a:t> </a:t>
            </a:r>
            <a:r>
              <a:rPr lang="en-US" b="1" dirty="0" err="1"/>
              <a:t>servletul</a:t>
            </a:r>
            <a:r>
              <a:rPr lang="en-US" dirty="0"/>
              <a:t> un </a:t>
            </a:r>
            <a:r>
              <a:rPr lang="en-US" dirty="0" err="1"/>
              <a:t>nou</a:t>
            </a:r>
            <a:r>
              <a:rPr lang="en-US" dirty="0"/>
              <a:t> </a:t>
            </a:r>
            <a:r>
              <a:rPr lang="en-US" b="1" dirty="0"/>
              <a:t>thread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err="1"/>
              <a:t>Servletul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scris</a:t>
            </a:r>
            <a:r>
              <a:rPr lang="en-US" dirty="0"/>
              <a:t> </a:t>
            </a:r>
            <a:r>
              <a:rPr lang="en-US" dirty="0" err="1"/>
              <a:t>numai</a:t>
            </a:r>
            <a:r>
              <a:rPr lang="en-US" dirty="0"/>
              <a:t> in Java, CGI nu se </a:t>
            </a:r>
            <a:r>
              <a:rPr lang="en-US" dirty="0" err="1"/>
              <a:t>poate</a:t>
            </a:r>
            <a:r>
              <a:rPr lang="en-US" dirty="0"/>
              <a:t> (</a:t>
            </a:r>
            <a:r>
              <a:rPr lang="en-US" dirty="0" err="1"/>
              <a:t>simplu</a:t>
            </a:r>
            <a:r>
              <a:rPr lang="en-US" dirty="0"/>
              <a:t>) </a:t>
            </a:r>
            <a:r>
              <a:rPr lang="en-US" dirty="0" err="1"/>
              <a:t>scrie</a:t>
            </a:r>
            <a:r>
              <a:rPr lang="en-US" dirty="0"/>
              <a:t> in Java.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/>
              <a:t>CGI </a:t>
            </a:r>
            <a:r>
              <a:rPr lang="en-US" dirty="0" err="1"/>
              <a:t>preia</a:t>
            </a:r>
            <a:r>
              <a:rPr lang="en-US" dirty="0"/>
              <a:t> </a:t>
            </a:r>
            <a:r>
              <a:rPr lang="en-US" dirty="0" err="1"/>
              <a:t>cererea</a:t>
            </a:r>
            <a:r>
              <a:rPr lang="en-US" dirty="0"/>
              <a:t> HTTP din </a:t>
            </a:r>
            <a:r>
              <a:rPr lang="en-US" dirty="0" err="1"/>
              <a:t>variabila</a:t>
            </a:r>
            <a:r>
              <a:rPr lang="en-US" dirty="0"/>
              <a:t> de </a:t>
            </a:r>
            <a:r>
              <a:rPr lang="en-US" dirty="0" err="1"/>
              <a:t>mediu</a:t>
            </a:r>
            <a:r>
              <a:rPr lang="en-US" dirty="0"/>
              <a:t> </a:t>
            </a:r>
            <a:r>
              <a:rPr lang="en-US" dirty="0" err="1"/>
              <a:t>QUERY_STRING</a:t>
            </a:r>
            <a:r>
              <a:rPr lang="en-US" dirty="0"/>
              <a:t> (</a:t>
            </a:r>
            <a:r>
              <a:rPr lang="en-US" dirty="0" err="1"/>
              <a:t>daca</a:t>
            </a:r>
            <a:r>
              <a:rPr lang="en-US" dirty="0"/>
              <a:t> </a:t>
            </a:r>
            <a:r>
              <a:rPr lang="en-US" dirty="0" err="1"/>
              <a:t>metoda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GET) </a:t>
            </a:r>
            <a:r>
              <a:rPr lang="en-US" dirty="0" err="1"/>
              <a:t>sau</a:t>
            </a:r>
            <a:r>
              <a:rPr lang="en-US" dirty="0"/>
              <a:t> de la </a:t>
            </a:r>
            <a:r>
              <a:rPr lang="en-US" dirty="0" err="1"/>
              <a:t>intrarea</a:t>
            </a:r>
            <a:r>
              <a:rPr lang="en-US" dirty="0"/>
              <a:t> standard (dace </a:t>
            </a:r>
            <a:r>
              <a:rPr lang="en-US" dirty="0" err="1"/>
              <a:t>metoda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POST, PUT, DELETE). </a:t>
            </a:r>
            <a:r>
              <a:rPr lang="en-US" dirty="0" err="1"/>
              <a:t>Pentru</a:t>
            </a:r>
            <a:r>
              <a:rPr lang="en-US" dirty="0"/>
              <a:t> servlet, </a:t>
            </a:r>
            <a:r>
              <a:rPr lang="en-US" dirty="0" err="1"/>
              <a:t>cererea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incapsulata</a:t>
            </a:r>
            <a:r>
              <a:rPr lang="en-US" dirty="0"/>
              <a:t> de container </a:t>
            </a:r>
            <a:r>
              <a:rPr lang="en-US" dirty="0" err="1"/>
              <a:t>intr</a:t>
            </a:r>
            <a:r>
              <a:rPr lang="en-US" dirty="0"/>
              <a:t>-un </a:t>
            </a:r>
            <a:r>
              <a:rPr lang="en-US" dirty="0" err="1"/>
              <a:t>obiect</a:t>
            </a:r>
            <a:r>
              <a:rPr lang="en-US" dirty="0"/>
              <a:t> </a:t>
            </a:r>
            <a:r>
              <a:rPr lang="en-US" dirty="0" err="1"/>
              <a:t>specializat</a:t>
            </a:r>
            <a:r>
              <a:rPr lang="en-US" dirty="0"/>
              <a:t> </a:t>
            </a:r>
            <a:r>
              <a:rPr lang="en-US" b="1" dirty="0"/>
              <a:t>request</a:t>
            </a:r>
            <a:r>
              <a:rPr lang="en-US" dirty="0"/>
              <a:t>, din care </a:t>
            </a:r>
            <a:r>
              <a:rPr lang="en-US" dirty="0" err="1"/>
              <a:t>servletul</a:t>
            </a:r>
            <a:r>
              <a:rPr lang="en-US" dirty="0"/>
              <a:t> </a:t>
            </a:r>
            <a:r>
              <a:rPr lang="en-US" dirty="0" err="1"/>
              <a:t>isi</a:t>
            </a:r>
            <a:r>
              <a:rPr lang="en-US" dirty="0"/>
              <a:t> </a:t>
            </a:r>
            <a:r>
              <a:rPr lang="en-US" dirty="0" err="1"/>
              <a:t>extrage</a:t>
            </a:r>
            <a:r>
              <a:rPr lang="en-US" dirty="0"/>
              <a:t> </a:t>
            </a:r>
            <a:r>
              <a:rPr lang="en-US" dirty="0" err="1"/>
              <a:t>parametrii</a:t>
            </a:r>
            <a:r>
              <a:rPr lang="en-US" dirty="0"/>
              <a:t> de </a:t>
            </a:r>
            <a:r>
              <a:rPr lang="en-US" dirty="0" err="1"/>
              <a:t>intrare</a:t>
            </a:r>
            <a:r>
              <a:rPr lang="en-US" dirty="0"/>
              <a:t>.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/>
              <a:t>CGI </a:t>
            </a:r>
            <a:r>
              <a:rPr lang="en-US" dirty="0" err="1"/>
              <a:t>tipareste</a:t>
            </a:r>
            <a:r>
              <a:rPr lang="en-US" dirty="0"/>
              <a:t> </a:t>
            </a:r>
            <a:r>
              <a:rPr lang="en-US" dirty="0" err="1"/>
              <a:t>raspunsul</a:t>
            </a:r>
            <a:r>
              <a:rPr lang="en-US" dirty="0"/>
              <a:t> la </a:t>
            </a:r>
            <a:r>
              <a:rPr lang="en-US" dirty="0" err="1"/>
              <a:t>iesirea</a:t>
            </a:r>
            <a:r>
              <a:rPr lang="en-US" dirty="0"/>
              <a:t> standard. </a:t>
            </a:r>
            <a:r>
              <a:rPr lang="en-US" dirty="0" err="1"/>
              <a:t>Servletul</a:t>
            </a:r>
            <a:r>
              <a:rPr lang="en-US" dirty="0"/>
              <a:t> </a:t>
            </a:r>
            <a:r>
              <a:rPr lang="en-US" dirty="0" err="1"/>
              <a:t>depune</a:t>
            </a:r>
            <a:r>
              <a:rPr lang="en-US" dirty="0"/>
              <a:t> </a:t>
            </a:r>
            <a:r>
              <a:rPr lang="en-US" dirty="0" err="1"/>
              <a:t>elementele</a:t>
            </a:r>
            <a:r>
              <a:rPr lang="en-US" dirty="0"/>
              <a:t> </a:t>
            </a:r>
            <a:r>
              <a:rPr lang="en-US" dirty="0" err="1"/>
              <a:t>raspunsului</a:t>
            </a:r>
            <a:r>
              <a:rPr lang="en-US" dirty="0"/>
              <a:t> </a:t>
            </a:r>
            <a:r>
              <a:rPr lang="en-US" dirty="0" err="1"/>
              <a:t>folosind</a:t>
            </a:r>
            <a:r>
              <a:rPr lang="en-US" dirty="0"/>
              <a:t> un </a:t>
            </a:r>
            <a:r>
              <a:rPr lang="en-US" dirty="0" err="1"/>
              <a:t>obiect</a:t>
            </a:r>
            <a:r>
              <a:rPr lang="en-US" dirty="0"/>
              <a:t> </a:t>
            </a:r>
            <a:r>
              <a:rPr lang="en-US" dirty="0" err="1"/>
              <a:t>specializat</a:t>
            </a:r>
            <a:r>
              <a:rPr lang="en-US" dirty="0"/>
              <a:t> </a:t>
            </a:r>
            <a:r>
              <a:rPr lang="en-US" b="1" dirty="0"/>
              <a:t>response</a:t>
            </a:r>
            <a:r>
              <a:rPr lang="en-US" dirty="0"/>
              <a:t>, </a:t>
            </a:r>
            <a:r>
              <a:rPr lang="en-US" dirty="0" err="1"/>
              <a:t>pe</a:t>
            </a:r>
            <a:r>
              <a:rPr lang="en-US" dirty="0"/>
              <a:t> care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preia</a:t>
            </a:r>
            <a:r>
              <a:rPr lang="en-US" dirty="0"/>
              <a:t> </a:t>
            </a:r>
            <a:r>
              <a:rPr lang="en-US" dirty="0" err="1"/>
              <a:t>containerul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da </a:t>
            </a:r>
            <a:r>
              <a:rPr lang="en-US" dirty="0" err="1"/>
              <a:t>raspunsul</a:t>
            </a:r>
            <a:r>
              <a:rPr lang="en-US" dirty="0"/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Ca </a:t>
            </a:r>
            <a:r>
              <a:rPr lang="en-US" dirty="0" err="1"/>
              <a:t>exemple</a:t>
            </a:r>
            <a:r>
              <a:rPr lang="en-US" dirty="0"/>
              <a:t> comparative,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implementam</a:t>
            </a:r>
            <a:r>
              <a:rPr lang="en-US" dirty="0"/>
              <a:t> </a:t>
            </a:r>
            <a:r>
              <a:rPr lang="en-US" dirty="0" err="1"/>
              <a:t>maximul</a:t>
            </a:r>
            <a:r>
              <a:rPr lang="en-US" dirty="0"/>
              <a:t> a </a:t>
            </a:r>
            <a:r>
              <a:rPr lang="en-US" dirty="0" err="1"/>
              <a:t>doua</a:t>
            </a:r>
            <a:r>
              <a:rPr lang="en-US" dirty="0"/>
              <a:t> </a:t>
            </a:r>
            <a:r>
              <a:rPr lang="en-US" dirty="0" err="1"/>
              <a:t>numere</a:t>
            </a:r>
            <a:r>
              <a:rPr lang="en-US" dirty="0"/>
              <a:t>,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intai</a:t>
            </a:r>
            <a:r>
              <a:rPr lang="en-US" dirty="0"/>
              <a:t> ca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b="1" dirty="0"/>
              <a:t>CGI </a:t>
            </a:r>
            <a:r>
              <a:rPr lang="en-US" b="1" dirty="0" err="1"/>
              <a:t>max.exe</a:t>
            </a:r>
            <a:r>
              <a:rPr lang="en-US" dirty="0"/>
              <a:t>, </a:t>
            </a:r>
            <a:r>
              <a:rPr lang="en-US" dirty="0" err="1"/>
              <a:t>apoi</a:t>
            </a:r>
            <a:r>
              <a:rPr lang="en-US" dirty="0"/>
              <a:t> ca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b="1" dirty="0"/>
              <a:t>servlet Max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4383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26.10.2025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BFM_Servlets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3</a:t>
            </a:fld>
            <a:r>
              <a:rPr lang="en-US" dirty="0"/>
              <a:t>_/_44_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Exemple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de CGI, Servlet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si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clienti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pentru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ele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" y="366713"/>
            <a:ext cx="91440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</a:t>
            </a:r>
            <a:r>
              <a:rPr lang="en-US" b="1" dirty="0" err="1"/>
              <a:t>0ServletVsCGI</a:t>
            </a:r>
            <a:r>
              <a:rPr lang="en-US" dirty="0"/>
              <a:t>/ </a:t>
            </a:r>
            <a:r>
              <a:rPr lang="en-US" dirty="0" err="1"/>
              <a:t>fara</a:t>
            </a:r>
            <a:r>
              <a:rPr lang="en-US" dirty="0"/>
              <a:t> </a:t>
            </a:r>
            <a:r>
              <a:rPr lang="en-US" dirty="0" err="1"/>
              <a:t>prea</a:t>
            </a:r>
            <a:r>
              <a:rPr lang="en-US" dirty="0"/>
              <a:t>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detalii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prezentate</a:t>
            </a:r>
            <a:r>
              <a:rPr lang="en-US" dirty="0"/>
              <a:t> </a:t>
            </a:r>
            <a:r>
              <a:rPr lang="en-US" dirty="0" err="1"/>
              <a:t>sursele</a:t>
            </a:r>
            <a:r>
              <a:rPr lang="en-US" dirty="0"/>
              <a:t> a </a:t>
            </a:r>
            <a:r>
              <a:rPr lang="en-US" dirty="0" err="1"/>
              <a:t>trei</a:t>
            </a:r>
            <a:r>
              <a:rPr lang="en-US" dirty="0"/>
              <a:t> CGI-</a:t>
            </a:r>
            <a:r>
              <a:rPr lang="en-US" dirty="0" err="1"/>
              <a:t>uri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a </a:t>
            </a:r>
            <a:r>
              <a:rPr lang="en-US" dirty="0" err="1"/>
              <a:t>unui</a:t>
            </a:r>
            <a:r>
              <a:rPr lang="en-US" dirty="0"/>
              <a:t> servlet: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b="1" dirty="0" err="1"/>
              <a:t>max.c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b="1" dirty="0" err="1"/>
              <a:t>max.exe</a:t>
            </a:r>
            <a:r>
              <a:rPr lang="en-US" b="1" dirty="0"/>
              <a:t> </a:t>
            </a:r>
            <a:r>
              <a:rPr lang="en-US" dirty="0" err="1"/>
              <a:t>rezultat</a:t>
            </a:r>
            <a:r>
              <a:rPr lang="en-US" dirty="0"/>
              <a:t> din </a:t>
            </a:r>
            <a:r>
              <a:rPr lang="en-US" dirty="0" err="1"/>
              <a:t>compilare</a:t>
            </a:r>
            <a:r>
              <a:rPr lang="en-US" dirty="0"/>
              <a:t>) </a:t>
            </a:r>
            <a:r>
              <a:rPr lang="en-US" b="1" dirty="0" err="1"/>
              <a:t>max.py</a:t>
            </a:r>
            <a:r>
              <a:rPr lang="en-US" b="1" dirty="0"/>
              <a:t> </a:t>
            </a:r>
            <a:r>
              <a:rPr lang="en-US" b="1" dirty="0" err="1"/>
              <a:t>max.js</a:t>
            </a:r>
            <a:r>
              <a:rPr lang="en-US" b="1" dirty="0"/>
              <a:t>, </a:t>
            </a:r>
            <a:r>
              <a:rPr lang="en-US" b="1" dirty="0" err="1"/>
              <a:t>Max.java</a:t>
            </a:r>
            <a:r>
              <a:rPr lang="en-US" dirty="0"/>
              <a:t>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Executabilele</a:t>
            </a:r>
            <a:r>
              <a:rPr lang="en-US" dirty="0"/>
              <a:t> </a:t>
            </a:r>
            <a:r>
              <a:rPr lang="en-US" b="1" dirty="0" err="1"/>
              <a:t>max.exe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b="1" dirty="0" err="1"/>
              <a:t>max.py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depuse</a:t>
            </a:r>
            <a:r>
              <a:rPr lang="en-US" dirty="0"/>
              <a:t> in </a:t>
            </a:r>
            <a:r>
              <a:rPr lang="en-US" b="1" dirty="0" err="1"/>
              <a:t>cgi</a:t>
            </a:r>
            <a:r>
              <a:rPr lang="en-US" b="1" dirty="0"/>
              <a:t>-bin/</a:t>
            </a:r>
            <a:r>
              <a:rPr lang="en-US" dirty="0"/>
              <a:t> al </a:t>
            </a:r>
            <a:r>
              <a:rPr lang="en-US" dirty="0" err="1"/>
              <a:t>unui</a:t>
            </a:r>
            <a:r>
              <a:rPr lang="en-US" dirty="0"/>
              <a:t> server web.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b="1" dirty="0" err="1"/>
              <a:t>max.js</a:t>
            </a:r>
            <a:r>
              <a:rPr lang="en-US" dirty="0"/>
              <a:t> se </a:t>
            </a:r>
            <a:r>
              <a:rPr lang="en-US" dirty="0" err="1"/>
              <a:t>creaza</a:t>
            </a:r>
            <a:r>
              <a:rPr lang="en-US" dirty="0"/>
              <a:t> un server web </a:t>
            </a:r>
            <a:r>
              <a:rPr lang="en-US" dirty="0" err="1"/>
              <a:t>dedicat</a:t>
            </a:r>
            <a:r>
              <a:rPr lang="en-US" dirty="0"/>
              <a:t> la </a:t>
            </a:r>
            <a:r>
              <a:rPr lang="en-US" dirty="0" err="1"/>
              <a:t>portul</a:t>
            </a:r>
            <a:r>
              <a:rPr lang="en-US" dirty="0"/>
              <a:t> </a:t>
            </a:r>
            <a:r>
              <a:rPr lang="en-US" b="1" dirty="0"/>
              <a:t>9999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b="1" dirty="0" err="1"/>
              <a:t>Max.java</a:t>
            </a:r>
            <a:r>
              <a:rPr lang="en-US" dirty="0"/>
              <a:t> se </a:t>
            </a:r>
            <a:r>
              <a:rPr lang="en-US" dirty="0" err="1"/>
              <a:t>construieste</a:t>
            </a:r>
            <a:r>
              <a:rPr lang="en-US" dirty="0"/>
              <a:t> cu </a:t>
            </a:r>
            <a:r>
              <a:rPr lang="en-US" dirty="0" err="1"/>
              <a:t>gradle</a:t>
            </a:r>
            <a:r>
              <a:rPr lang="en-US" dirty="0"/>
              <a:t> </a:t>
            </a:r>
            <a:r>
              <a:rPr lang="en-US" dirty="0" err="1"/>
              <a:t>aplicatia</a:t>
            </a:r>
            <a:r>
              <a:rPr lang="en-US" dirty="0"/>
              <a:t> </a:t>
            </a:r>
            <a:r>
              <a:rPr lang="en-US" b="1" dirty="0" err="1"/>
              <a:t>Max.war</a:t>
            </a:r>
            <a:r>
              <a:rPr lang="en-US" dirty="0"/>
              <a:t> cu un servlet </a:t>
            </a:r>
            <a:r>
              <a:rPr lang="en-US" dirty="0" err="1"/>
              <a:t>accesibil</a:t>
            </a:r>
            <a:r>
              <a:rPr lang="en-US" dirty="0"/>
              <a:t> cu </a:t>
            </a:r>
            <a:r>
              <a:rPr lang="en-US" dirty="0" err="1"/>
              <a:t>maparea</a:t>
            </a:r>
            <a:r>
              <a:rPr lang="en-US" dirty="0"/>
              <a:t> </a:t>
            </a:r>
            <a:r>
              <a:rPr lang="en-US" b="1" dirty="0"/>
              <a:t>Servlet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Cele</a:t>
            </a:r>
            <a:r>
              <a:rPr lang="en-US" dirty="0"/>
              <a:t> </a:t>
            </a:r>
            <a:r>
              <a:rPr lang="en-US" dirty="0" err="1"/>
              <a:t>patru</a:t>
            </a:r>
            <a:r>
              <a:rPr lang="en-US" dirty="0"/>
              <a:t> </a:t>
            </a:r>
            <a:r>
              <a:rPr lang="en-US" dirty="0" err="1"/>
              <a:t>componente</a:t>
            </a:r>
            <a:r>
              <a:rPr lang="en-US" dirty="0"/>
              <a:t> pot fi </a:t>
            </a:r>
            <a:r>
              <a:rPr lang="en-US" dirty="0" err="1"/>
              <a:t>accesate</a:t>
            </a:r>
            <a:r>
              <a:rPr lang="en-US" dirty="0"/>
              <a:t> (</a:t>
            </a:r>
            <a:r>
              <a:rPr lang="en-US" dirty="0" err="1"/>
              <a:t>vezi</a:t>
            </a:r>
            <a:r>
              <a:rPr lang="en-US" dirty="0"/>
              <a:t> </a:t>
            </a:r>
            <a:r>
              <a:rPr lang="en-US" b="1" dirty="0" err="1"/>
              <a:t>ReadMe.txt</a:t>
            </a:r>
            <a:r>
              <a:rPr lang="en-US" dirty="0"/>
              <a:t>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/>
              <a:t>Apeluri</a:t>
            </a:r>
            <a:r>
              <a:rPr lang="en-GB" dirty="0"/>
              <a:t> GET direct din browser.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Apeluri</a:t>
            </a:r>
            <a:r>
              <a:rPr lang="en-US" dirty="0"/>
              <a:t> GET, POST (eventual PUT, DELETE) </a:t>
            </a:r>
            <a:r>
              <a:rPr lang="en-US" dirty="0" err="1"/>
              <a:t>dintr</a:t>
            </a:r>
            <a:r>
              <a:rPr lang="en-US" dirty="0"/>
              <a:t>-un document HTML (</a:t>
            </a:r>
            <a:r>
              <a:rPr lang="en-US" dirty="0" err="1"/>
              <a:t>vezi</a:t>
            </a:r>
            <a:r>
              <a:rPr lang="en-US" dirty="0"/>
              <a:t> </a:t>
            </a:r>
            <a:r>
              <a:rPr lang="en-US" b="1" dirty="0" err="1"/>
              <a:t>Client.html</a:t>
            </a:r>
            <a:r>
              <a:rPr lang="en-US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fr-FR" dirty="0" err="1"/>
              <a:t>Apeluri</a:t>
            </a:r>
            <a:r>
              <a:rPr lang="fr-FR" dirty="0"/>
              <a:t> </a:t>
            </a:r>
            <a:r>
              <a:rPr lang="fr-FR" dirty="0" err="1"/>
              <a:t>GET</a:t>
            </a:r>
            <a:r>
              <a:rPr lang="fr-FR" dirty="0"/>
              <a:t> </a:t>
            </a:r>
            <a:r>
              <a:rPr lang="fr-FR" dirty="0" err="1"/>
              <a:t>sau</a:t>
            </a:r>
            <a:r>
              <a:rPr lang="fr-FR" dirty="0"/>
              <a:t> POST </a:t>
            </a:r>
            <a:r>
              <a:rPr lang="fr-FR" dirty="0" err="1"/>
              <a:t>cerute</a:t>
            </a:r>
            <a:r>
              <a:rPr lang="fr-FR" dirty="0"/>
              <a:t> de </a:t>
            </a:r>
            <a:r>
              <a:rPr lang="fr-FR" dirty="0" err="1"/>
              <a:t>programe</a:t>
            </a:r>
            <a:r>
              <a:rPr lang="fr-FR" dirty="0"/>
              <a:t> </a:t>
            </a:r>
            <a:r>
              <a:rPr lang="fr-FR" dirty="0" err="1"/>
              <a:t>standalone</a:t>
            </a:r>
            <a:r>
              <a:rPr lang="fr-FR" dirty="0"/>
              <a:t>, </a:t>
            </a:r>
            <a:r>
              <a:rPr lang="fr-FR" dirty="0" err="1"/>
              <a:t>scrise</a:t>
            </a:r>
            <a:r>
              <a:rPr lang="fr-FR" dirty="0"/>
              <a:t> in </a:t>
            </a:r>
            <a:r>
              <a:rPr lang="fr-FR" dirty="0" err="1"/>
              <a:t>orice</a:t>
            </a:r>
            <a:r>
              <a:rPr lang="fr-FR" dirty="0"/>
              <a:t> </a:t>
            </a:r>
            <a:r>
              <a:rPr lang="fr-FR" dirty="0" err="1"/>
              <a:t>limbaj</a:t>
            </a:r>
            <a:r>
              <a:rPr lang="fr-FR" dirty="0"/>
              <a:t> si pot </a:t>
            </a:r>
            <a:r>
              <a:rPr lang="fr-FR" dirty="0" err="1"/>
              <a:t>apela</a:t>
            </a:r>
            <a:r>
              <a:rPr lang="fr-FR" dirty="0"/>
              <a:t> </a:t>
            </a:r>
            <a:r>
              <a:rPr lang="fr-FR" dirty="0" err="1"/>
              <a:t>oricare</a:t>
            </a:r>
            <a:r>
              <a:rPr lang="fr-FR" dirty="0"/>
              <a:t> </a:t>
            </a:r>
            <a:r>
              <a:rPr lang="fr-FR" dirty="0" err="1"/>
              <a:t>dintre</a:t>
            </a:r>
            <a:r>
              <a:rPr lang="fr-FR" dirty="0"/>
              <a:t> </a:t>
            </a:r>
            <a:r>
              <a:rPr lang="fr-FR" dirty="0" err="1"/>
              <a:t>componente</a:t>
            </a:r>
            <a:r>
              <a:rPr lang="fr-FR" dirty="0"/>
              <a:t> (</a:t>
            </a:r>
            <a:r>
              <a:rPr lang="fr-FR" dirty="0" err="1"/>
              <a:t>vezi</a:t>
            </a:r>
            <a:r>
              <a:rPr lang="fr-FR" dirty="0"/>
              <a:t> </a:t>
            </a:r>
            <a:r>
              <a:rPr lang="fr-FR" b="1" dirty="0" err="1"/>
              <a:t>Client.java</a:t>
            </a:r>
            <a:r>
              <a:rPr lang="fr-FR" b="1" dirty="0"/>
              <a:t>, </a:t>
            </a:r>
            <a:r>
              <a:rPr lang="fr-FR" b="1" dirty="0" err="1"/>
              <a:t>Client.py</a:t>
            </a:r>
            <a:r>
              <a:rPr lang="fr-FR" b="1" dirty="0"/>
              <a:t>, </a:t>
            </a:r>
            <a:r>
              <a:rPr lang="fr-FR" b="1" dirty="0" err="1"/>
              <a:t>Client.js</a:t>
            </a:r>
            <a:r>
              <a:rPr lang="fr-FR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In </a:t>
            </a:r>
            <a:r>
              <a:rPr lang="en-US" b="1" dirty="0" err="1"/>
              <a:t>0ServletVsCGI</a:t>
            </a:r>
            <a:r>
              <a:rPr lang="en-US" dirty="0"/>
              <a:t>/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prezente</a:t>
            </a:r>
            <a:r>
              <a:rPr lang="en-US" dirty="0"/>
              <a:t> </a:t>
            </a:r>
            <a:r>
              <a:rPr lang="en-US" dirty="0" err="1"/>
              <a:t>cateva</a:t>
            </a:r>
            <a:r>
              <a:rPr lang="en-US" dirty="0"/>
              <a:t> </a:t>
            </a:r>
            <a:r>
              <a:rPr lang="en-US" dirty="0" err="1"/>
              <a:t>scripturi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ajuta</a:t>
            </a:r>
            <a:r>
              <a:rPr lang="en-US" dirty="0"/>
              <a:t> la </a:t>
            </a:r>
            <a:r>
              <a:rPr lang="en-US" dirty="0" err="1"/>
              <a:t>compilari</a:t>
            </a:r>
            <a:r>
              <a:rPr lang="en-US" dirty="0"/>
              <a:t>, deploy-</a:t>
            </a:r>
            <a:r>
              <a:rPr lang="en-US" dirty="0" err="1"/>
              <a:t>uri</a:t>
            </a:r>
            <a:r>
              <a:rPr lang="en-US" dirty="0"/>
              <a:t>, </a:t>
            </a:r>
            <a:r>
              <a:rPr lang="en-US" dirty="0" err="1"/>
              <a:t>apeluri</a:t>
            </a:r>
            <a:r>
              <a:rPr lang="en-US" dirty="0"/>
              <a:t> ale </a:t>
            </a:r>
            <a:r>
              <a:rPr lang="en-US" dirty="0" err="1"/>
              <a:t>clientilor</a:t>
            </a:r>
            <a:r>
              <a:rPr lang="en-US" dirty="0"/>
              <a:t> etc.</a:t>
            </a:r>
          </a:p>
        </p:txBody>
      </p:sp>
    </p:spTree>
    <p:extLst>
      <p:ext uri="{BB962C8B-B14F-4D97-AF65-F5344CB8AC3E}">
        <p14:creationId xmlns:p14="http://schemas.microsoft.com/office/powerpoint/2010/main" val="877072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26.10.2025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BFM_Servlets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4</a:t>
            </a:fld>
            <a:r>
              <a:rPr lang="en-US" dirty="0"/>
              <a:t>_/_44_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Configurare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 </a:t>
            </a:r>
            <a:r>
              <a:rPr lang="en-US" altLang="en-US" b="1" dirty="0">
                <a:solidFill>
                  <a:srgbClr val="FF0000"/>
                </a:solidFill>
                <a:latin typeface="Calibri" pitchFamily="34" charset="0"/>
              </a:rPr>
              <a:t>Max/Servlet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</a:p>
        </p:txBody>
      </p:sp>
      <p:sp>
        <p:nvSpPr>
          <p:cNvPr id="2" name="Rectangle 1"/>
          <p:cNvSpPr/>
          <p:nvPr/>
        </p:nvSpPr>
        <p:spPr>
          <a:xfrm>
            <a:off x="29106" y="2154049"/>
            <a:ext cx="91440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&lt;?xml version="1.0" encoding="UTF-8"?&gt;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&lt;web-app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xmlns:xsi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="http://www.w3.org/2001/XMLSchema-instance"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xmlns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="http://java.sun.com/xml/ns/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javaee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"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xsi:schemaLocation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="http://java.sun.com/xml/ns/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javaee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http://java.sun.com/xml/ns/javaee/web-app_3_1_0.xsd"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version="3.1.0"&gt;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&lt;servlet&gt;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&lt;servlet-name&gt;maxim&lt;/servlet-name&gt;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&lt;servlet-class&gt;Max&lt;/servlet-class&gt;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&lt;/servlet&gt;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&lt;servlet-mapping&gt;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&lt;servlet-name&gt;maxim&lt;/servlet-name&gt;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&lt;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url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-pattern&gt;/Servlet&lt;/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url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-pattern&gt;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&lt;/servlet-mapping&gt;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&lt;/web-app&gt;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200" y="6488668"/>
            <a:ext cx="6553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 err="1">
                <a:solidFill>
                  <a:srgbClr val="FF3300"/>
                </a:solidFill>
              </a:rPr>
              <a:t>Depunerea</a:t>
            </a:r>
            <a:r>
              <a:rPr lang="en-US" dirty="0">
                <a:solidFill>
                  <a:srgbClr val="FF3300"/>
                </a:solidFill>
              </a:rPr>
              <a:t> in container – deploy – </a:t>
            </a:r>
            <a:r>
              <a:rPr lang="en-US" dirty="0" err="1">
                <a:solidFill>
                  <a:srgbClr val="FF3300"/>
                </a:solidFill>
              </a:rPr>
              <a:t>ul</a:t>
            </a:r>
            <a:r>
              <a:rPr lang="en-US" dirty="0">
                <a:solidFill>
                  <a:srgbClr val="FF3300"/>
                </a:solidFill>
              </a:rPr>
              <a:t>  </a:t>
            </a:r>
            <a:r>
              <a:rPr lang="en-US" dirty="0" err="1">
                <a:solidFill>
                  <a:srgbClr val="FF3300"/>
                </a:solidFill>
              </a:rPr>
              <a:t>vom</a:t>
            </a:r>
            <a:r>
              <a:rPr lang="en-US" dirty="0">
                <a:solidFill>
                  <a:srgbClr val="FF3300"/>
                </a:solidFill>
              </a:rPr>
              <a:t> </a:t>
            </a:r>
            <a:r>
              <a:rPr lang="en-US" dirty="0" err="1">
                <a:solidFill>
                  <a:srgbClr val="FF3300"/>
                </a:solidFill>
              </a:rPr>
              <a:t>reveni</a:t>
            </a:r>
            <a:r>
              <a:rPr lang="en-US" dirty="0">
                <a:solidFill>
                  <a:srgbClr val="FF3300"/>
                </a:solidFill>
              </a:rPr>
              <a:t> </a:t>
            </a:r>
            <a:r>
              <a:rPr lang="en-US" dirty="0" err="1">
                <a:solidFill>
                  <a:srgbClr val="FF3300"/>
                </a:solidFill>
              </a:rPr>
              <a:t>mai</a:t>
            </a:r>
            <a:r>
              <a:rPr lang="en-US" dirty="0">
                <a:solidFill>
                  <a:srgbClr val="FF3300"/>
                </a:solidFill>
              </a:rPr>
              <a:t> </a:t>
            </a:r>
            <a:r>
              <a:rPr lang="en-US" dirty="0" err="1">
                <a:solidFill>
                  <a:srgbClr val="FF3300"/>
                </a:solidFill>
              </a:rPr>
              <a:t>tarziu</a:t>
            </a:r>
            <a:r>
              <a:rPr lang="en-US" dirty="0">
                <a:solidFill>
                  <a:srgbClr val="FF3300"/>
                </a:solidFill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-28871" y="366713"/>
            <a:ext cx="9144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In forma </a:t>
            </a:r>
            <a:r>
              <a:rPr lang="en-US" dirty="0" err="1"/>
              <a:t>cea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simpla</a:t>
            </a:r>
            <a:r>
              <a:rPr lang="en-US" dirty="0"/>
              <a:t>, </a:t>
            </a:r>
            <a:r>
              <a:rPr lang="en-US" dirty="0" err="1"/>
              <a:t>configurarea</a:t>
            </a:r>
            <a:r>
              <a:rPr lang="en-US" dirty="0"/>
              <a:t> </a:t>
            </a:r>
            <a:r>
              <a:rPr lang="en-US" dirty="0" err="1"/>
              <a:t>inseamna</a:t>
            </a:r>
            <a:r>
              <a:rPr lang="en-US" dirty="0"/>
              <a:t> </a:t>
            </a:r>
            <a:r>
              <a:rPr lang="en-US" dirty="0" err="1"/>
              <a:t>atribuirea</a:t>
            </a:r>
            <a:r>
              <a:rPr lang="en-US" dirty="0"/>
              <a:t> (</a:t>
            </a:r>
            <a:r>
              <a:rPr lang="en-US" dirty="0" err="1"/>
              <a:t>maparea</a:t>
            </a:r>
            <a:r>
              <a:rPr lang="en-US" dirty="0"/>
              <a:t>) </a:t>
            </a:r>
            <a:r>
              <a:rPr lang="en-US" dirty="0" err="1"/>
              <a:t>pentru</a:t>
            </a:r>
            <a:r>
              <a:rPr lang="en-US" dirty="0"/>
              <a:t> servlet a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nume</a:t>
            </a:r>
            <a:r>
              <a:rPr lang="en-US" dirty="0"/>
              <a:t> (</a:t>
            </a:r>
            <a:r>
              <a:rPr lang="en-US" dirty="0" err="1"/>
              <a:t>aici</a:t>
            </a:r>
            <a:r>
              <a:rPr lang="en-US" dirty="0"/>
              <a:t> </a:t>
            </a:r>
            <a:r>
              <a:rPr lang="en-US" b="1" dirty="0"/>
              <a:t>Servlet</a:t>
            </a:r>
            <a:r>
              <a:rPr lang="en-US" dirty="0"/>
              <a:t>) sub care </a:t>
            </a:r>
            <a:r>
              <a:rPr lang="en-US" dirty="0" err="1"/>
              <a:t>clientii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pot </a:t>
            </a:r>
            <a:r>
              <a:rPr lang="en-US" dirty="0" err="1"/>
              <a:t>invoca</a:t>
            </a:r>
            <a:r>
              <a:rPr lang="en-US" dirty="0"/>
              <a:t>. </a:t>
            </a:r>
            <a:r>
              <a:rPr lang="en-US" dirty="0" err="1"/>
              <a:t>Maparea</a:t>
            </a:r>
            <a:r>
              <a:rPr lang="en-US" dirty="0"/>
              <a:t> se </a:t>
            </a:r>
            <a:r>
              <a:rPr lang="en-US" dirty="0" err="1"/>
              <a:t>poate</a:t>
            </a:r>
            <a:r>
              <a:rPr lang="en-US" dirty="0"/>
              <a:t> face:</a:t>
            </a:r>
          </a:p>
          <a:p>
            <a:pPr>
              <a:spcBef>
                <a:spcPct val="50000"/>
              </a:spcBef>
            </a:pPr>
            <a:r>
              <a:rPr lang="en-US" dirty="0">
                <a:solidFill>
                  <a:srgbClr val="FF3300"/>
                </a:solidFill>
              </a:rPr>
              <a:t>1. In </a:t>
            </a:r>
            <a:r>
              <a:rPr lang="en-US" dirty="0" err="1">
                <a:solidFill>
                  <a:srgbClr val="FF3300"/>
                </a:solidFill>
              </a:rPr>
              <a:t>sursa</a:t>
            </a:r>
            <a:r>
              <a:rPr lang="en-US" dirty="0">
                <a:solidFill>
                  <a:srgbClr val="FF3300"/>
                </a:solidFill>
              </a:rPr>
              <a:t> java de </a:t>
            </a:r>
            <a:r>
              <a:rPr lang="en-US" dirty="0" err="1">
                <a:solidFill>
                  <a:srgbClr val="FF3300"/>
                </a:solidFill>
              </a:rPr>
              <a:t>mai</a:t>
            </a:r>
            <a:r>
              <a:rPr lang="en-US" dirty="0">
                <a:solidFill>
                  <a:srgbClr val="FF3300"/>
                </a:solidFill>
              </a:rPr>
              <a:t> </a:t>
            </a:r>
            <a:r>
              <a:rPr lang="en-US" dirty="0" err="1">
                <a:solidFill>
                  <a:srgbClr val="FF3300"/>
                </a:solidFill>
              </a:rPr>
              <a:t>sus</a:t>
            </a:r>
            <a:r>
              <a:rPr lang="en-US" dirty="0">
                <a:solidFill>
                  <a:srgbClr val="FF3300"/>
                </a:solidFill>
              </a:rPr>
              <a:t>, </a:t>
            </a:r>
            <a:r>
              <a:rPr lang="en-US" dirty="0" err="1">
                <a:solidFill>
                  <a:srgbClr val="FF3300"/>
                </a:solidFill>
              </a:rPr>
              <a:t>inaintea</a:t>
            </a:r>
            <a:r>
              <a:rPr lang="en-US" dirty="0">
                <a:solidFill>
                  <a:srgbClr val="FF3300"/>
                </a:solidFill>
              </a:rPr>
              <a:t> </a:t>
            </a:r>
            <a:r>
              <a:rPr lang="en-US" dirty="0" err="1">
                <a:solidFill>
                  <a:srgbClr val="FF3300"/>
                </a:solidFill>
              </a:rPr>
              <a:t>liniei</a:t>
            </a:r>
            <a:r>
              <a:rPr lang="en-US" dirty="0">
                <a:solidFill>
                  <a:srgbClr val="FF3300"/>
                </a:solidFill>
              </a:rPr>
              <a:t> de </a:t>
            </a:r>
            <a:r>
              <a:rPr lang="en-US" dirty="0" err="1">
                <a:solidFill>
                  <a:srgbClr val="FF3300"/>
                </a:solidFill>
              </a:rPr>
              <a:t>definire</a:t>
            </a:r>
            <a:r>
              <a:rPr lang="en-US" dirty="0">
                <a:solidFill>
                  <a:srgbClr val="FF3300"/>
                </a:solidFill>
              </a:rPr>
              <a:t> a </a:t>
            </a:r>
            <a:r>
              <a:rPr lang="en-US" dirty="0" err="1">
                <a:solidFill>
                  <a:srgbClr val="FF3300"/>
                </a:solidFill>
              </a:rPr>
              <a:t>clasei</a:t>
            </a:r>
            <a:r>
              <a:rPr lang="en-US" dirty="0">
                <a:solidFill>
                  <a:srgbClr val="FF3300"/>
                </a:solidFill>
              </a:rPr>
              <a:t> se </a:t>
            </a:r>
            <a:r>
              <a:rPr lang="en-US" dirty="0" err="1">
                <a:solidFill>
                  <a:srgbClr val="FF3300"/>
                </a:solidFill>
              </a:rPr>
              <a:t>poate</a:t>
            </a:r>
            <a:r>
              <a:rPr lang="en-US" dirty="0">
                <a:solidFill>
                  <a:srgbClr val="FF3300"/>
                </a:solidFill>
              </a:rPr>
              <a:t> </a:t>
            </a:r>
            <a:r>
              <a:rPr lang="en-US" dirty="0" err="1">
                <a:solidFill>
                  <a:srgbClr val="FF3300"/>
                </a:solidFill>
              </a:rPr>
              <a:t>plasea</a:t>
            </a:r>
            <a:r>
              <a:rPr lang="en-US" dirty="0">
                <a:solidFill>
                  <a:srgbClr val="FF3300"/>
                </a:solidFill>
              </a:rPr>
              <a:t> </a:t>
            </a:r>
            <a:r>
              <a:rPr lang="en-US" dirty="0" err="1">
                <a:solidFill>
                  <a:srgbClr val="FF3300"/>
                </a:solidFill>
              </a:rPr>
              <a:t>linia</a:t>
            </a:r>
            <a:r>
              <a:rPr lang="en-US" dirty="0">
                <a:solidFill>
                  <a:srgbClr val="FF3300"/>
                </a:solidFill>
              </a:rPr>
              <a:t>:  </a:t>
            </a:r>
            <a:r>
              <a:rPr lang="en-US" b="1" dirty="0">
                <a:solidFill>
                  <a:srgbClr val="002060"/>
                </a:solidFill>
              </a:rPr>
              <a:t>@</a:t>
            </a:r>
            <a:r>
              <a:rPr lang="en-US" b="1" dirty="0" err="1">
                <a:solidFill>
                  <a:srgbClr val="002060"/>
                </a:solidFill>
              </a:rPr>
              <a:t>WebServlet</a:t>
            </a:r>
            <a:r>
              <a:rPr lang="en-US" b="1" dirty="0">
                <a:solidFill>
                  <a:srgbClr val="002060"/>
                </a:solidFill>
              </a:rPr>
              <a:t>("/Servlet")</a:t>
            </a:r>
          </a:p>
          <a:p>
            <a:pPr>
              <a:spcBef>
                <a:spcPct val="50000"/>
              </a:spcBef>
            </a:pPr>
            <a:r>
              <a:rPr lang="en-US" dirty="0">
                <a:solidFill>
                  <a:srgbClr val="FF3300"/>
                </a:solidFill>
              </a:rPr>
              <a:t>2. </a:t>
            </a:r>
            <a:r>
              <a:rPr lang="en-US" dirty="0" err="1">
                <a:solidFill>
                  <a:srgbClr val="FF3300"/>
                </a:solidFill>
              </a:rPr>
              <a:t>Daca</a:t>
            </a:r>
            <a:r>
              <a:rPr lang="en-US" dirty="0">
                <a:solidFill>
                  <a:srgbClr val="FF3300"/>
                </a:solidFill>
              </a:rPr>
              <a:t> nu se </a:t>
            </a:r>
            <a:r>
              <a:rPr lang="en-US" dirty="0" err="1">
                <a:solidFill>
                  <a:srgbClr val="FF3300"/>
                </a:solidFill>
              </a:rPr>
              <a:t>plaseaza</a:t>
            </a:r>
            <a:r>
              <a:rPr lang="en-US" dirty="0">
                <a:solidFill>
                  <a:srgbClr val="FF3300"/>
                </a:solidFill>
              </a:rPr>
              <a:t> </a:t>
            </a:r>
            <a:r>
              <a:rPr lang="en-US" dirty="0" err="1">
                <a:solidFill>
                  <a:srgbClr val="FF3300"/>
                </a:solidFill>
              </a:rPr>
              <a:t>adnotarea</a:t>
            </a:r>
            <a:r>
              <a:rPr lang="en-US" dirty="0">
                <a:solidFill>
                  <a:srgbClr val="FF3300"/>
                </a:solidFill>
              </a:rPr>
              <a:t>, se </a:t>
            </a:r>
            <a:r>
              <a:rPr lang="en-US" dirty="0" err="1">
                <a:solidFill>
                  <a:srgbClr val="FF3300"/>
                </a:solidFill>
              </a:rPr>
              <a:t>va</a:t>
            </a:r>
            <a:r>
              <a:rPr lang="en-US" dirty="0">
                <a:solidFill>
                  <a:srgbClr val="FF3300"/>
                </a:solidFill>
              </a:rPr>
              <a:t> </a:t>
            </a:r>
            <a:r>
              <a:rPr lang="en-US" dirty="0" err="1">
                <a:solidFill>
                  <a:srgbClr val="FF3300"/>
                </a:solidFill>
              </a:rPr>
              <a:t>adauga</a:t>
            </a:r>
            <a:r>
              <a:rPr lang="en-US" dirty="0">
                <a:solidFill>
                  <a:srgbClr val="FF3300"/>
                </a:solidFill>
              </a:rPr>
              <a:t> </a:t>
            </a:r>
            <a:r>
              <a:rPr lang="en-US" dirty="0" err="1">
                <a:solidFill>
                  <a:srgbClr val="FF3300"/>
                </a:solidFill>
              </a:rPr>
              <a:t>urmatorul</a:t>
            </a:r>
            <a:r>
              <a:rPr lang="en-US" dirty="0">
                <a:solidFill>
                  <a:srgbClr val="FF3300"/>
                </a:solidFill>
              </a:rPr>
              <a:t> </a:t>
            </a:r>
            <a:r>
              <a:rPr lang="en-US" dirty="0" err="1">
                <a:solidFill>
                  <a:srgbClr val="FF3300"/>
                </a:solidFill>
              </a:rPr>
              <a:t>fisier</a:t>
            </a:r>
            <a:r>
              <a:rPr lang="en-US" dirty="0">
                <a:solidFill>
                  <a:srgbClr val="FF3300"/>
                </a:solidFill>
              </a:rPr>
              <a:t> descriptor </a:t>
            </a:r>
            <a:r>
              <a:rPr lang="en-US" b="1" dirty="0">
                <a:solidFill>
                  <a:srgbClr val="002060"/>
                </a:solidFill>
              </a:rPr>
              <a:t>web.xml</a:t>
            </a:r>
            <a:r>
              <a:rPr lang="en-US" dirty="0">
                <a:solidFill>
                  <a:srgbClr val="FF3300"/>
                </a:solidFill>
              </a:rPr>
              <a:t>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106" y="5939701"/>
            <a:ext cx="90860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 </a:t>
            </a:r>
            <a:r>
              <a:rPr lang="en-US" dirty="0" err="1"/>
              <a:t>compileaza</a:t>
            </a:r>
            <a:r>
              <a:rPr lang="en-US" dirty="0"/>
              <a:t> </a:t>
            </a:r>
            <a:r>
              <a:rPr lang="en-US" dirty="0" err="1"/>
              <a:t>sursa</a:t>
            </a:r>
            <a:r>
              <a:rPr lang="en-US" dirty="0"/>
              <a:t> Java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impreuna</a:t>
            </a:r>
            <a:r>
              <a:rPr lang="en-US" dirty="0"/>
              <a:t> cu </a:t>
            </a:r>
            <a:r>
              <a:rPr lang="en-US" dirty="0" err="1"/>
              <a:t>configurarea</a:t>
            </a:r>
            <a:r>
              <a:rPr lang="en-US" dirty="0"/>
              <a:t> se </a:t>
            </a:r>
            <a:r>
              <a:rPr lang="en-US" dirty="0" err="1"/>
              <a:t>creaza</a:t>
            </a:r>
            <a:r>
              <a:rPr lang="en-US" dirty="0"/>
              <a:t> o </a:t>
            </a:r>
            <a:r>
              <a:rPr lang="en-US" dirty="0" err="1"/>
              <a:t>arhiva</a:t>
            </a:r>
            <a:r>
              <a:rPr lang="en-US" dirty="0"/>
              <a:t> war </a:t>
            </a:r>
            <a:r>
              <a:rPr lang="en-US" b="1" dirty="0" err="1"/>
              <a:t>Max.war</a:t>
            </a:r>
            <a:r>
              <a:rPr lang="en-US" dirty="0"/>
              <a:t> care se </a:t>
            </a:r>
            <a:r>
              <a:rPr lang="en-US" dirty="0" err="1"/>
              <a:t>depune</a:t>
            </a:r>
            <a:r>
              <a:rPr lang="en-US" dirty="0"/>
              <a:t> in </a:t>
            </a:r>
            <a:r>
              <a:rPr lang="en-US" dirty="0" err="1"/>
              <a:t>containerul</a:t>
            </a:r>
            <a:r>
              <a:rPr lang="en-US" dirty="0"/>
              <a:t> de servlet.</a:t>
            </a:r>
          </a:p>
        </p:txBody>
      </p:sp>
    </p:spTree>
    <p:extLst>
      <p:ext uri="{BB962C8B-B14F-4D97-AF65-F5344CB8AC3E}">
        <p14:creationId xmlns:p14="http://schemas.microsoft.com/office/powerpoint/2010/main" val="2132639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26.10.2025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BFM_Servlets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5</a:t>
            </a:fld>
            <a:r>
              <a:rPr lang="en-US" dirty="0"/>
              <a:t>_/_44_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Variabile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de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mediu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CGI: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echivalente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servlet 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303077"/>
              </p:ext>
            </p:extLst>
          </p:nvPr>
        </p:nvGraphicFramePr>
        <p:xfrm>
          <a:off x="38100" y="450793"/>
          <a:ext cx="9067800" cy="6110291"/>
        </p:xfrm>
        <a:graphic>
          <a:graphicData uri="http://schemas.openxmlformats.org/drawingml/2006/table">
            <a:tbl>
              <a:tblPr/>
              <a:tblGrid>
                <a:gridCol w="156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79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Variabilă CGI</a:t>
                      </a:r>
                      <a:endParaRPr kumimoji="0" lang="ro-RO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Semnificaţie</a:t>
                      </a:r>
                      <a:endParaRPr kumimoji="0" lang="ro-RO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Acces</a:t>
                      </a:r>
                      <a:r>
                        <a:rPr kumimoji="0" 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are </a:t>
                      </a: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din servlet</a:t>
                      </a:r>
                      <a:endParaRPr kumimoji="0" lang="ro-RO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249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Arial Unicode MS" pitchFamily="34" charset="-128"/>
                          <a:cs typeface="Courier New" pitchFamily="49" charset="0"/>
                        </a:rPr>
                        <a:t>AUTH_TYPE</a:t>
                      </a: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Times New Roman" pitchFamily="18" charset="0"/>
                          <a:cs typeface="Courier New" pitchFamily="49" charset="0"/>
                        </a:rPr>
                        <a:t> </a:t>
                      </a:r>
                      <a:endParaRPr kumimoji="0" lang="ro-RO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Furnizează tipul de autorizare, dacă există </a:t>
                      </a:r>
                      <a:endParaRPr kumimoji="0" lang="ro-RO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Arial Unicode MS" pitchFamily="34" charset="-128"/>
                          <a:cs typeface="Courier New" pitchFamily="49" charset="0"/>
                        </a:rPr>
                        <a:t>request.getAuthType()</a:t>
                      </a: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Times New Roman" pitchFamily="18" charset="0"/>
                          <a:cs typeface="Courier New" pitchFamily="49" charset="0"/>
                        </a:rPr>
                        <a:t> </a:t>
                      </a:r>
                      <a:endParaRPr kumimoji="0" lang="ro-RO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902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Arial Unicode MS" pitchFamily="34" charset="-128"/>
                          <a:cs typeface="Courier New" pitchFamily="49" charset="0"/>
                        </a:rPr>
                        <a:t>CONTENT_LENGTH</a:t>
                      </a: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Times New Roman" pitchFamily="18" charset="0"/>
                          <a:cs typeface="Courier New" pitchFamily="49" charset="0"/>
                        </a:rPr>
                        <a:t> </a:t>
                      </a:r>
                      <a:endParaRPr kumimoji="0" lang="ro-RO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Numai pentru cereri </a:t>
                      </a:r>
                      <a:r>
                        <a:rPr kumimoji="0" lang="ro-RO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POST, dă</a:t>
                      </a:r>
                      <a:r>
                        <a:rPr kumimoji="0" lang="ro-RO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numărul de octeţi trimişi</a:t>
                      </a:r>
                      <a:endParaRPr kumimoji="0" lang="ro-RO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Arial Unicode MS" pitchFamily="34" charset="-128"/>
                          <a:cs typeface="Courier New" pitchFamily="49" charset="0"/>
                        </a:rPr>
                        <a:t>request.getContentLength()</a:t>
                      </a:r>
                      <a:endParaRPr kumimoji="0" lang="ro-RO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Arial Unicode MS" pitchFamily="34" charset="-128"/>
                        <a:cs typeface="Courier New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902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Arial Unicode MS" pitchFamily="34" charset="-128"/>
                          <a:cs typeface="Courier New" pitchFamily="49" charset="0"/>
                        </a:rPr>
                        <a:t>CONTENT_TYPE</a:t>
                      </a: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Times New Roman" pitchFamily="18" charset="0"/>
                          <a:cs typeface="Courier New" pitchFamily="49" charset="0"/>
                        </a:rPr>
                        <a:t> </a:t>
                      </a:r>
                      <a:endParaRPr kumimoji="0" lang="ro-RO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Tipul MIME ataşat datelor </a:t>
                      </a:r>
                      <a:endParaRPr kumimoji="0" lang="ro-RO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Arial Unicode MS" pitchFamily="34" charset="-128"/>
                          <a:cs typeface="Courier New" pitchFamily="49" charset="0"/>
                        </a:rPr>
                        <a:t>request.getContentType()</a:t>
                      </a: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Times New Roman" pitchFamily="18" charset="0"/>
                          <a:cs typeface="Courier New" pitchFamily="49" charset="0"/>
                        </a:rPr>
                        <a:t> </a:t>
                      </a:r>
                      <a:endParaRPr kumimoji="0" lang="ro-RO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50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Arial Unicode MS" pitchFamily="34" charset="-128"/>
                          <a:cs typeface="Courier New" pitchFamily="49" charset="0"/>
                        </a:rPr>
                        <a:t>DOCUMENT_ROOT</a:t>
                      </a: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Times New Roman" pitchFamily="18" charset="0"/>
                          <a:cs typeface="Courier New" pitchFamily="49" charset="0"/>
                        </a:rPr>
                        <a:t> </a:t>
                      </a:r>
                      <a:endParaRPr kumimoji="0" lang="ro-RO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Calea spre director, cores</a:t>
                      </a: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­</a:t>
                      </a: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pun­zătoare lui </a:t>
                      </a: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Times New Roman" pitchFamily="18" charset="0"/>
                          <a:cs typeface="Courier New" pitchFamily="49" charset="0"/>
                        </a:rPr>
                        <a:t>http://host/</a:t>
                      </a: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kumimoji="0" lang="ro-RO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Arial Unicode MS" pitchFamily="34" charset="-128"/>
                          <a:cs typeface="Courier New" pitchFamily="49" charset="0"/>
                        </a:rPr>
                        <a:t>getServletContext().getRealPath("/")</a:t>
                      </a:r>
                      <a:r>
                        <a:rPr kumimoji="0" lang="ro-RO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Times New Roman" pitchFamily="18" charset="0"/>
                          <a:cs typeface="Courier New" pitchFamily="49" charset="0"/>
                        </a:rPr>
                        <a:t> </a:t>
                      </a:r>
                      <a:endParaRPr kumimoji="0" lang="ro-RO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50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Arial Unicode MS" pitchFamily="34" charset="-128"/>
                          <a:cs typeface="Courier New" pitchFamily="49" charset="0"/>
                        </a:rPr>
                        <a:t>HTTP_XXX_YYY</a:t>
                      </a: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Times New Roman" pitchFamily="18" charset="0"/>
                          <a:cs typeface="Courier New" pitchFamily="49" charset="0"/>
                        </a:rPr>
                        <a:t> </a:t>
                      </a:r>
                      <a:endParaRPr kumimoji="0" lang="ro-RO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Acces la un antet oarecare HTTP </a:t>
                      </a:r>
                      <a:endParaRPr kumimoji="0" lang="ro-RO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Arial Unicode MS" pitchFamily="34" charset="-128"/>
                          <a:cs typeface="Courier New" pitchFamily="49" charset="0"/>
                        </a:rPr>
                        <a:t>request.getHeader("Xxx-Yyy")</a:t>
                      </a:r>
                      <a:r>
                        <a:rPr kumimoji="0" lang="ro-RO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Times New Roman" pitchFamily="18" charset="0"/>
                          <a:cs typeface="Courier New" pitchFamily="49" charset="0"/>
                        </a:rPr>
                        <a:t> </a:t>
                      </a:r>
                      <a:endParaRPr kumimoji="0" lang="ro-RO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2174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Arial Unicode MS" pitchFamily="34" charset="-128"/>
                          <a:cs typeface="Courier New" pitchFamily="49" charset="0"/>
                        </a:rPr>
                        <a:t>PATH_INFO</a:t>
                      </a: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Times New Roman" pitchFamily="18" charset="0"/>
                          <a:cs typeface="Courier New" pitchFamily="49" charset="0"/>
                        </a:rPr>
                        <a:t> </a:t>
                      </a:r>
                      <a:endParaRPr kumimoji="0" lang="ro-RO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Informaţia </a:t>
                      </a:r>
                      <a:r>
                        <a:rPr kumimoji="0" lang="ro-RO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Times New Roman" pitchFamily="18" charset="0"/>
                          <a:cs typeface="Courier New" pitchFamily="49" charset="0"/>
                        </a:rPr>
                        <a:t>path</a:t>
                      </a:r>
                      <a:r>
                        <a:rPr kumimoji="0" lang="ro-RO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ataşată unui URL. Deoarece servlet-ul, spre deosebire de CGI, poate discuta cu server-ul web, nu este nece­sară tratarea separată a acestei informaţii </a:t>
                      </a:r>
                      <a:endParaRPr kumimoji="0" lang="ro-RO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Arial Unicode MS" pitchFamily="34" charset="-128"/>
                          <a:cs typeface="Courier New" pitchFamily="49" charset="0"/>
                        </a:rPr>
                        <a:t>request.getPathInfo()</a:t>
                      </a:r>
                      <a:r>
                        <a:rPr kumimoji="0" lang="ro-RO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Times New Roman" pitchFamily="18" charset="0"/>
                          <a:cs typeface="Courier New" pitchFamily="49" charset="0"/>
                        </a:rPr>
                        <a:t> </a:t>
                      </a:r>
                      <a:endParaRPr kumimoji="0" lang="ro-RO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50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Arial Unicode MS" pitchFamily="34" charset="-128"/>
                          <a:cs typeface="Courier New" pitchFamily="49" charset="0"/>
                        </a:rPr>
                        <a:t>PATH_TRANSLATED</a:t>
                      </a: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Times New Roman" pitchFamily="18" charset="0"/>
                          <a:cs typeface="Courier New" pitchFamily="49" charset="0"/>
                        </a:rPr>
                        <a:t> </a:t>
                      </a:r>
                      <a:endParaRPr kumimoji="0" lang="ro-RO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Map-area reală a unei informaţii </a:t>
                      </a: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Times New Roman" pitchFamily="18" charset="0"/>
                          <a:cs typeface="Courier New" pitchFamily="49" charset="0"/>
                        </a:rPr>
                        <a:t>path</a:t>
                      </a: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. Ca mai sus, nu este necesară la servlet </a:t>
                      </a:r>
                      <a:endParaRPr kumimoji="0" lang="ro-RO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Arial Unicode MS" pitchFamily="34" charset="-128"/>
                          <a:cs typeface="Courier New" pitchFamily="49" charset="0"/>
                        </a:rPr>
                        <a:t>request.getPathTranslated()</a:t>
                      </a: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Times New Roman" pitchFamily="18" charset="0"/>
                          <a:cs typeface="Courier New" pitchFamily="49" charset="0"/>
                        </a:rPr>
                        <a:t> </a:t>
                      </a:r>
                      <a:endParaRPr kumimoji="0" lang="ro-RO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382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Arial Unicode MS" pitchFamily="34" charset="-128"/>
                          <a:cs typeface="Courier New" pitchFamily="49" charset="0"/>
                        </a:rPr>
                        <a:t>QUERY_STRING</a:t>
                      </a: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Times New Roman" pitchFamily="18" charset="0"/>
                          <a:cs typeface="Courier New" pitchFamily="49" charset="0"/>
                        </a:rPr>
                        <a:t> </a:t>
                      </a:r>
                      <a:endParaRPr kumimoji="0" lang="ro-RO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Pentru cereri GET, întoarce şirul cerere codificat de client. Rar este necesară parsarea şirului, deoarece cererea are metoda request.getParameter </a:t>
                      </a:r>
                      <a:endParaRPr kumimoji="0" lang="ro-RO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Arial Unicode MS" pitchFamily="34" charset="-128"/>
                          <a:cs typeface="Courier New" pitchFamily="49" charset="0"/>
                        </a:rPr>
                        <a:t>request.getQueryString()</a:t>
                      </a: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Times New Roman" pitchFamily="18" charset="0"/>
                          <a:cs typeface="Courier New" pitchFamily="49" charset="0"/>
                        </a:rPr>
                        <a:t> </a:t>
                      </a:r>
                      <a:endParaRPr kumimoji="0" lang="ro-RO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7902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Arial Unicode MS" pitchFamily="34" charset="-128"/>
                          <a:cs typeface="Courier New" pitchFamily="49" charset="0"/>
                        </a:rPr>
                        <a:t>REMOTE_ADDR</a:t>
                      </a: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Times New Roman" pitchFamily="18" charset="0"/>
                          <a:cs typeface="Courier New" pitchFamily="49" charset="0"/>
                        </a:rPr>
                        <a:t> </a:t>
                      </a:r>
                      <a:endParaRPr kumimoji="0" lang="ro-RO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Adresa IP a clientului </a:t>
                      </a:r>
                      <a:endParaRPr kumimoji="0" lang="ro-RO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Arial Unicode MS" pitchFamily="34" charset="-128"/>
                          <a:cs typeface="Courier New" pitchFamily="49" charset="0"/>
                        </a:rPr>
                        <a:t>request.getRemoteAddr()</a:t>
                      </a: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Times New Roman" pitchFamily="18" charset="0"/>
                          <a:cs typeface="Courier New" pitchFamily="49" charset="0"/>
                        </a:rPr>
                        <a:t> </a:t>
                      </a:r>
                      <a:endParaRPr kumimoji="0" lang="ro-RO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249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Arial Unicode MS" pitchFamily="34" charset="-128"/>
                          <a:cs typeface="Courier New" pitchFamily="49" charset="0"/>
                        </a:rPr>
                        <a:t>REMOTE_HOST</a:t>
                      </a: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Times New Roman" pitchFamily="18" charset="0"/>
                          <a:cs typeface="Courier New" pitchFamily="49" charset="0"/>
                        </a:rPr>
                        <a:t> </a:t>
                      </a:r>
                      <a:endParaRPr kumimoji="0" lang="ro-RO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Adresa Internet a clientului </a:t>
                      </a:r>
                      <a:endParaRPr kumimoji="0" lang="ro-RO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Arial Unicode MS" pitchFamily="34" charset="-128"/>
                          <a:cs typeface="Courier New" pitchFamily="49" charset="0"/>
                        </a:rPr>
                        <a:t>request.getRemoteHost()</a:t>
                      </a: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Times New Roman" pitchFamily="18" charset="0"/>
                          <a:cs typeface="Courier New" pitchFamily="49" charset="0"/>
                        </a:rPr>
                        <a:t> </a:t>
                      </a:r>
                      <a:endParaRPr kumimoji="0" lang="ro-RO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7902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Arial Unicode MS" pitchFamily="34" charset="-128"/>
                          <a:cs typeface="Courier New" pitchFamily="49" charset="0"/>
                        </a:rPr>
                        <a:t>REMOTE_USER</a:t>
                      </a: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Times New Roman" pitchFamily="18" charset="0"/>
                          <a:cs typeface="Courier New" pitchFamily="49" charset="0"/>
                        </a:rPr>
                        <a:t> </a:t>
                      </a:r>
                      <a:endParaRPr kumimoji="0" lang="ro-RO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Partea user, dacă se foloseşte autorizarea </a:t>
                      </a:r>
                      <a:endParaRPr kumimoji="0" lang="ro-RO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Arial Unicode MS" pitchFamily="34" charset="-128"/>
                          <a:cs typeface="Courier New" pitchFamily="49" charset="0"/>
                        </a:rPr>
                        <a:t>request.getRemoteUser()</a:t>
                      </a: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Times New Roman" pitchFamily="18" charset="0"/>
                          <a:cs typeface="Courier New" pitchFamily="49" charset="0"/>
                        </a:rPr>
                        <a:t> </a:t>
                      </a:r>
                      <a:endParaRPr kumimoji="0" lang="ro-RO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050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Arial Unicode MS" pitchFamily="34" charset="-128"/>
                          <a:cs typeface="Courier New" pitchFamily="49" charset="0"/>
                        </a:rPr>
                        <a:t>REQUEST_METHOD</a:t>
                      </a: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Times New Roman" pitchFamily="18" charset="0"/>
                          <a:cs typeface="Courier New" pitchFamily="49" charset="0"/>
                        </a:rPr>
                        <a:t> </a:t>
                      </a:r>
                      <a:endParaRPr kumimoji="0" lang="ro-RO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Intoarce metoda de cerere; uzual </a:t>
                      </a: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GET</a:t>
                      </a: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sau </a:t>
                      </a: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POST</a:t>
                      </a: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dar ocazional </a:t>
                      </a: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HEAD</a:t>
                      </a: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</a:t>
                      </a: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PUT</a:t>
                      </a: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</a:t>
                      </a: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DELETE</a:t>
                      </a: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</a:t>
                      </a: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OPTIONS</a:t>
                      </a: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</a:t>
                      </a: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TRACE</a:t>
                      </a: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. </a:t>
                      </a:r>
                      <a:endParaRPr kumimoji="0" lang="ro-RO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Arial Unicode MS" pitchFamily="34" charset="-128"/>
                          <a:cs typeface="Courier New" pitchFamily="49" charset="0"/>
                        </a:rPr>
                        <a:t>request.getMethod()</a:t>
                      </a: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Times New Roman" pitchFamily="18" charset="0"/>
                          <a:cs typeface="Courier New" pitchFamily="49" charset="0"/>
                        </a:rPr>
                        <a:t> </a:t>
                      </a:r>
                      <a:endParaRPr kumimoji="0" lang="ro-RO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7902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Arial Unicode MS" pitchFamily="34" charset="-128"/>
                          <a:cs typeface="Courier New" pitchFamily="49" charset="0"/>
                        </a:rPr>
                        <a:t>SCRIPT_NAME</a:t>
                      </a: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Times New Roman" pitchFamily="18" charset="0"/>
                          <a:cs typeface="Courier New" pitchFamily="49" charset="0"/>
                        </a:rPr>
                        <a:t> </a:t>
                      </a:r>
                      <a:endParaRPr kumimoji="0" lang="ro-RO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Calea spre servlet </a:t>
                      </a:r>
                      <a:endParaRPr kumimoji="0" lang="ro-RO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Arial Unicode MS" pitchFamily="34" charset="-128"/>
                          <a:cs typeface="Courier New" pitchFamily="49" charset="0"/>
                        </a:rPr>
                        <a:t>request.getServletPath()</a:t>
                      </a: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Times New Roman" pitchFamily="18" charset="0"/>
                          <a:cs typeface="Courier New" pitchFamily="49" charset="0"/>
                        </a:rPr>
                        <a:t> </a:t>
                      </a:r>
                      <a:endParaRPr kumimoji="0" lang="ro-RO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6249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Arial Unicode MS" pitchFamily="34" charset="-128"/>
                          <a:cs typeface="Courier New" pitchFamily="49" charset="0"/>
                        </a:rPr>
                        <a:t>SERVER_NAME</a:t>
                      </a: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Times New Roman" pitchFamily="18" charset="0"/>
                          <a:cs typeface="Courier New" pitchFamily="49" charset="0"/>
                        </a:rPr>
                        <a:t> </a:t>
                      </a:r>
                      <a:endParaRPr kumimoji="0" lang="ro-RO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Numele server-ului Web</a:t>
                      </a:r>
                      <a:endParaRPr kumimoji="0" lang="ro-RO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Arial Unicode MS" pitchFamily="34" charset="-128"/>
                          <a:cs typeface="Courier New" pitchFamily="49" charset="0"/>
                        </a:rPr>
                        <a:t>request.getServerName()</a:t>
                      </a: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Times New Roman" pitchFamily="18" charset="0"/>
                          <a:cs typeface="Courier New" pitchFamily="49" charset="0"/>
                        </a:rPr>
                        <a:t> </a:t>
                      </a:r>
                      <a:endParaRPr kumimoji="0" lang="ro-RO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7902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Arial Unicode MS" pitchFamily="34" charset="-128"/>
                          <a:cs typeface="Courier New" pitchFamily="49" charset="0"/>
                        </a:rPr>
                        <a:t>SERVER_PORT</a:t>
                      </a: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Times New Roman" pitchFamily="18" charset="0"/>
                          <a:cs typeface="Courier New" pitchFamily="49" charset="0"/>
                        </a:rPr>
                        <a:t> </a:t>
                      </a:r>
                      <a:endParaRPr kumimoji="0" lang="ro-RO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Portul la care aşteaptă server-ul </a:t>
                      </a:r>
                      <a:endParaRPr kumimoji="0" lang="ro-RO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Arial Unicode MS" pitchFamily="34" charset="-128"/>
                          <a:cs typeface="Courier New" pitchFamily="49" charset="0"/>
                        </a:rPr>
                        <a:t>request.getServerPort()</a:t>
                      </a:r>
                      <a:endParaRPr kumimoji="0" lang="ro-RO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Arial Unicode MS" pitchFamily="34" charset="-128"/>
                        <a:cs typeface="Courier New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4050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Arial Unicode MS" pitchFamily="34" charset="-128"/>
                          <a:cs typeface="Courier New" pitchFamily="49" charset="0"/>
                        </a:rPr>
                        <a:t>SERVER_PROTOCOL</a:t>
                      </a: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Times New Roman" pitchFamily="18" charset="0"/>
                          <a:cs typeface="Courier New" pitchFamily="49" charset="0"/>
                        </a:rPr>
                        <a:t> </a:t>
                      </a:r>
                      <a:endParaRPr kumimoji="0" lang="ro-RO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Name şi versiunea protocolului de cerere</a:t>
                      </a: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( </a:t>
                      </a: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HTTP/1.0</a:t>
                      </a: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sau </a:t>
                      </a: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HTTP/1.1</a:t>
                      </a: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). </a:t>
                      </a:r>
                      <a:endParaRPr kumimoji="0" lang="ro-RO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Arial Unicode MS" pitchFamily="34" charset="-128"/>
                          <a:cs typeface="Courier New" pitchFamily="49" charset="0"/>
                        </a:rPr>
                        <a:t>request.getProtocol()</a:t>
                      </a: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Times New Roman" pitchFamily="18" charset="0"/>
                          <a:cs typeface="Courier New" pitchFamily="49" charset="0"/>
                        </a:rPr>
                        <a:t> </a:t>
                      </a:r>
                      <a:endParaRPr kumimoji="0" lang="ro-RO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4050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Arial Unicode MS" pitchFamily="34" charset="-128"/>
                          <a:cs typeface="Courier New" pitchFamily="49" charset="0"/>
                        </a:rPr>
                        <a:t>SERVER_SOFTWARE</a:t>
                      </a: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Times New Roman" pitchFamily="18" charset="0"/>
                          <a:cs typeface="Courier New" pitchFamily="49" charset="0"/>
                        </a:rPr>
                        <a:t> </a:t>
                      </a:r>
                      <a:endParaRPr kumimoji="0" lang="ro-RO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Informaţii despre server-ul Web </a:t>
                      </a:r>
                      <a:endParaRPr kumimoji="0" lang="ro-RO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Arial Unicode MS" pitchFamily="34" charset="-128"/>
                          <a:cs typeface="Courier New" pitchFamily="49" charset="0"/>
                        </a:rPr>
                        <a:t>getServletContext().getServerInfo()</a:t>
                      </a:r>
                      <a:r>
                        <a:rPr kumimoji="0" lang="ro-RO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Times New Roman" pitchFamily="18" charset="0"/>
                          <a:cs typeface="Courier New" pitchFamily="49" charset="0"/>
                        </a:rPr>
                        <a:t> </a:t>
                      </a:r>
                      <a:endParaRPr kumimoji="0" lang="ro-RO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8712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26.10.2025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BFM_Servlets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6</a:t>
            </a:fld>
            <a:r>
              <a:rPr lang="en-US" dirty="0"/>
              <a:t>_/_44_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Containerul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de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servleturi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16330" y="366713"/>
            <a:ext cx="9160329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 container de </a:t>
            </a:r>
            <a:r>
              <a:rPr lang="en-US" dirty="0" err="1"/>
              <a:t>servleturi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un </a:t>
            </a:r>
            <a:r>
              <a:rPr lang="en-US" dirty="0" err="1"/>
              <a:t>serviciu</a:t>
            </a:r>
            <a:r>
              <a:rPr lang="en-US" dirty="0"/>
              <a:t> / framework care </a:t>
            </a:r>
            <a:r>
              <a:rPr lang="en-US" dirty="0" err="1"/>
              <a:t>gazduieste</a:t>
            </a:r>
            <a:r>
              <a:rPr lang="en-US" dirty="0"/>
              <a:t> </a:t>
            </a:r>
            <a:r>
              <a:rPr lang="en-US" b="1" dirty="0"/>
              <a:t>module web</a:t>
            </a:r>
            <a:r>
              <a:rPr lang="en-US" dirty="0"/>
              <a:t> (</a:t>
            </a:r>
            <a:r>
              <a:rPr lang="en-US" dirty="0" err="1"/>
              <a:t>vezi</a:t>
            </a:r>
            <a:r>
              <a:rPr lang="en-US" dirty="0"/>
              <a:t> cap. 1 </a:t>
            </a:r>
            <a:r>
              <a:rPr lang="en-US" dirty="0" err="1"/>
              <a:t>JavaEE7</a:t>
            </a:r>
            <a:r>
              <a:rPr lang="en-US" dirty="0"/>
              <a:t>), </a:t>
            </a:r>
            <a:r>
              <a:rPr lang="en-US" dirty="0" err="1"/>
              <a:t>numite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b="1" dirty="0" err="1"/>
              <a:t>aplicatii</a:t>
            </a:r>
            <a:r>
              <a:rPr lang="en-US" b="1" dirty="0"/>
              <a:t> web,</a:t>
            </a:r>
            <a:r>
              <a:rPr lang="en-US" dirty="0"/>
              <a:t> </a:t>
            </a:r>
            <a:r>
              <a:rPr lang="en-US" dirty="0" err="1"/>
              <a:t>bazate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servleturi</a:t>
            </a:r>
            <a:r>
              <a:rPr lang="en-US" dirty="0"/>
              <a:t>. </a:t>
            </a:r>
            <a:r>
              <a:rPr lang="en-US" dirty="0" err="1"/>
              <a:t>Structura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astfel</a:t>
            </a:r>
            <a:r>
              <a:rPr lang="en-US" dirty="0"/>
              <a:t> de </a:t>
            </a:r>
            <a:r>
              <a:rPr lang="en-US" dirty="0" err="1"/>
              <a:t>modul</a:t>
            </a:r>
            <a:r>
              <a:rPr lang="en-US" dirty="0"/>
              <a:t> / </a:t>
            </a:r>
            <a:r>
              <a:rPr lang="en-US" dirty="0" err="1"/>
              <a:t>aplicatie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cea</a:t>
            </a:r>
            <a:r>
              <a:rPr lang="en-US" dirty="0"/>
              <a:t> a </a:t>
            </a:r>
            <a:r>
              <a:rPr lang="en-US" dirty="0" err="1"/>
              <a:t>arhivei</a:t>
            </a:r>
            <a:r>
              <a:rPr lang="en-US" dirty="0"/>
              <a:t> war (</a:t>
            </a:r>
            <a:r>
              <a:rPr lang="en-US" dirty="0" err="1"/>
              <a:t>impachetata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nu).</a:t>
            </a:r>
          </a:p>
          <a:p>
            <a:endParaRPr lang="en-US" dirty="0"/>
          </a:p>
          <a:p>
            <a:r>
              <a:rPr lang="en-US" dirty="0"/>
              <a:t>Un container de </a:t>
            </a:r>
            <a:r>
              <a:rPr lang="en-US" dirty="0" err="1"/>
              <a:t>servleturi</a:t>
            </a:r>
            <a:r>
              <a:rPr lang="en-US" dirty="0"/>
              <a:t> </a:t>
            </a:r>
            <a:r>
              <a:rPr lang="en-US" dirty="0" err="1"/>
              <a:t>gestioneaza</a:t>
            </a:r>
            <a:r>
              <a:rPr lang="en-US" dirty="0"/>
              <a:t> </a:t>
            </a:r>
            <a:r>
              <a:rPr lang="en-US" dirty="0" err="1"/>
              <a:t>aplicatii</a:t>
            </a:r>
            <a:r>
              <a:rPr lang="en-US" dirty="0"/>
              <a:t> web (module web) </a:t>
            </a:r>
            <a:r>
              <a:rPr lang="en-US" dirty="0" err="1"/>
              <a:t>formate</a:t>
            </a:r>
            <a:r>
              <a:rPr lang="en-US" dirty="0"/>
              <a:t> din </a:t>
            </a:r>
            <a:r>
              <a:rPr lang="en-US" dirty="0" err="1"/>
              <a:t>componente</a:t>
            </a:r>
            <a:r>
              <a:rPr lang="en-US" dirty="0"/>
              <a:t> de </a:t>
            </a:r>
            <a:r>
              <a:rPr lang="en-US" dirty="0" err="1"/>
              <a:t>trei</a:t>
            </a:r>
            <a:r>
              <a:rPr lang="en-US" dirty="0"/>
              <a:t> </a:t>
            </a:r>
            <a:r>
              <a:rPr lang="en-US" dirty="0" err="1"/>
              <a:t>tipuri</a:t>
            </a:r>
            <a:r>
              <a:rPr lang="en-US" dirty="0"/>
              <a:t>: </a:t>
            </a:r>
            <a:r>
              <a:rPr lang="en-US" b="1" dirty="0" err="1"/>
              <a:t>servleturi</a:t>
            </a:r>
            <a:r>
              <a:rPr lang="en-US" b="1" dirty="0"/>
              <a:t>, </a:t>
            </a:r>
            <a:r>
              <a:rPr lang="en-US" b="1" dirty="0" err="1"/>
              <a:t>filtre</a:t>
            </a:r>
            <a:r>
              <a:rPr lang="en-US" b="1" dirty="0"/>
              <a:t>, </a:t>
            </a:r>
            <a:r>
              <a:rPr lang="en-US" b="1" dirty="0" err="1"/>
              <a:t>listeneri</a:t>
            </a:r>
            <a:r>
              <a:rPr lang="en-US" dirty="0"/>
              <a:t>, </a:t>
            </a:r>
            <a:r>
              <a:rPr lang="en-US" dirty="0" err="1"/>
              <a:t>vizibile</a:t>
            </a:r>
            <a:r>
              <a:rPr lang="en-US" dirty="0"/>
              <a:t> </a:t>
            </a:r>
            <a:r>
              <a:rPr lang="en-US" dirty="0" err="1"/>
              <a:t>doar</a:t>
            </a:r>
            <a:r>
              <a:rPr lang="en-US" dirty="0"/>
              <a:t> in container. </a:t>
            </a:r>
          </a:p>
          <a:p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partea</a:t>
            </a:r>
            <a:r>
              <a:rPr lang="en-US" dirty="0"/>
              <a:t> </a:t>
            </a:r>
            <a:r>
              <a:rPr lang="en-US" dirty="0" err="1"/>
              <a:t>publica</a:t>
            </a:r>
            <a:r>
              <a:rPr lang="en-US" dirty="0"/>
              <a:t>, </a:t>
            </a:r>
            <a:r>
              <a:rPr lang="en-US" dirty="0" err="1"/>
              <a:t>vizibila</a:t>
            </a:r>
            <a:r>
              <a:rPr lang="en-US" dirty="0"/>
              <a:t> de </a:t>
            </a:r>
            <a:r>
              <a:rPr lang="en-US" dirty="0" err="1"/>
              <a:t>clienti</a:t>
            </a:r>
            <a:r>
              <a:rPr lang="en-US" dirty="0"/>
              <a:t>, in </a:t>
            </a:r>
            <a:r>
              <a:rPr lang="en-US" dirty="0" err="1"/>
              <a:t>aceste</a:t>
            </a:r>
            <a:r>
              <a:rPr lang="en-US" dirty="0"/>
              <a:t> </a:t>
            </a:r>
            <a:r>
              <a:rPr lang="en-US" dirty="0" err="1"/>
              <a:t>aplicatii</a:t>
            </a:r>
            <a:r>
              <a:rPr lang="en-US" dirty="0"/>
              <a:t> </a:t>
            </a:r>
            <a:r>
              <a:rPr lang="en-US" dirty="0" err="1"/>
              <a:t>apar</a:t>
            </a:r>
            <a:r>
              <a:rPr lang="en-US" dirty="0"/>
              <a:t> 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pagini</a:t>
            </a:r>
            <a:r>
              <a:rPr lang="en-US" dirty="0"/>
              <a:t> </a:t>
            </a:r>
            <a:r>
              <a:rPr lang="en-US" dirty="0" err="1"/>
              <a:t>statice</a:t>
            </a:r>
            <a:r>
              <a:rPr lang="en-US" dirty="0"/>
              <a:t> web (html, </a:t>
            </a:r>
            <a:r>
              <a:rPr lang="en-US" dirty="0" err="1"/>
              <a:t>js</a:t>
            </a:r>
            <a:r>
              <a:rPr lang="en-US" dirty="0"/>
              <a:t>, </a:t>
            </a:r>
            <a:r>
              <a:rPr lang="en-US" dirty="0" err="1"/>
              <a:t>css</a:t>
            </a:r>
            <a:r>
              <a:rPr lang="en-US" dirty="0"/>
              <a:t>, images etc. </a:t>
            </a:r>
          </a:p>
          <a:p>
            <a:r>
              <a:rPr lang="en-US" dirty="0"/>
              <a:t>In </a:t>
            </a:r>
            <a:r>
              <a:rPr lang="en-US" dirty="0" err="1"/>
              <a:t>sfarsit</a:t>
            </a:r>
            <a:r>
              <a:rPr lang="en-US" dirty="0"/>
              <a:t>, </a:t>
            </a:r>
            <a:r>
              <a:rPr lang="en-US" dirty="0" err="1"/>
              <a:t>apar</a:t>
            </a:r>
            <a:r>
              <a:rPr lang="en-US" dirty="0"/>
              <a:t> </a:t>
            </a:r>
            <a:r>
              <a:rPr lang="en-US" dirty="0" err="1"/>
              <a:t>pagini</a:t>
            </a:r>
            <a:r>
              <a:rPr lang="en-US" dirty="0"/>
              <a:t> / </a:t>
            </a:r>
            <a:r>
              <a:rPr lang="en-US" dirty="0" err="1"/>
              <a:t>scripturi</a:t>
            </a:r>
            <a:r>
              <a:rPr lang="en-US" dirty="0"/>
              <a:t> </a:t>
            </a:r>
            <a:r>
              <a:rPr lang="en-US" dirty="0" err="1"/>
              <a:t>JSP</a:t>
            </a:r>
            <a:r>
              <a:rPr lang="en-US" dirty="0"/>
              <a:t>, </a:t>
            </a:r>
            <a:r>
              <a:rPr lang="en-US" dirty="0" err="1"/>
              <a:t>JSF</a:t>
            </a:r>
            <a:r>
              <a:rPr lang="en-US" dirty="0"/>
              <a:t>, </a:t>
            </a:r>
            <a:r>
              <a:rPr lang="en-US" dirty="0" err="1"/>
              <a:t>XHML</a:t>
            </a:r>
            <a:r>
              <a:rPr lang="en-US" dirty="0"/>
              <a:t> </a:t>
            </a:r>
            <a:r>
              <a:rPr lang="en-US" dirty="0" err="1"/>
              <a:t>s.a</a:t>
            </a:r>
            <a:r>
              <a:rPr lang="en-US" dirty="0"/>
              <a:t>  care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transformate</a:t>
            </a:r>
            <a:r>
              <a:rPr lang="en-US" dirty="0"/>
              <a:t> </a:t>
            </a:r>
            <a:r>
              <a:rPr lang="en-US" dirty="0" err="1"/>
              <a:t>dinamic</a:t>
            </a:r>
            <a:r>
              <a:rPr lang="en-US" dirty="0"/>
              <a:t> de container in </a:t>
            </a:r>
            <a:r>
              <a:rPr lang="en-US" dirty="0" err="1"/>
              <a:t>servleturi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participa</a:t>
            </a:r>
            <a:r>
              <a:rPr lang="en-US" dirty="0"/>
              <a:t> la </a:t>
            </a:r>
            <a:r>
              <a:rPr lang="en-US" dirty="0" err="1"/>
              <a:t>businessul</a:t>
            </a:r>
            <a:r>
              <a:rPr lang="en-US" dirty="0"/>
              <a:t> </a:t>
            </a:r>
            <a:r>
              <a:rPr lang="en-US" dirty="0" err="1"/>
              <a:t>aplicatiei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 err="1"/>
              <a:t>Ce</a:t>
            </a:r>
            <a:r>
              <a:rPr lang="en-US" b="1" dirty="0"/>
              <a:t> </a:t>
            </a:r>
            <a:r>
              <a:rPr lang="en-US" b="1" dirty="0" err="1"/>
              <a:t>este</a:t>
            </a:r>
            <a:r>
              <a:rPr lang="en-US" b="1" dirty="0"/>
              <a:t> un </a:t>
            </a:r>
            <a:r>
              <a:rPr lang="en-US" b="1" dirty="0" err="1"/>
              <a:t>filtru</a:t>
            </a:r>
            <a:r>
              <a:rPr lang="en-US" b="1" dirty="0"/>
              <a:t>?</a:t>
            </a:r>
            <a:r>
              <a:rPr lang="en-US" dirty="0"/>
              <a:t>  Este o </a:t>
            </a:r>
            <a:r>
              <a:rPr lang="en-US" dirty="0" err="1"/>
              <a:t>componenta</a:t>
            </a:r>
            <a:r>
              <a:rPr lang="en-US" dirty="0"/>
              <a:t> cu un </a:t>
            </a:r>
            <a:r>
              <a:rPr lang="en-US" dirty="0" err="1"/>
              <a:t>dublu</a:t>
            </a:r>
            <a:r>
              <a:rPr lang="en-US" dirty="0"/>
              <a:t> </a:t>
            </a:r>
            <a:r>
              <a:rPr lang="en-US" dirty="0" err="1"/>
              <a:t>rol</a:t>
            </a:r>
            <a:r>
              <a:rPr lang="en-US" dirty="0"/>
              <a:t>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err="1"/>
              <a:t>Preia</a:t>
            </a:r>
            <a:r>
              <a:rPr lang="en-US" dirty="0"/>
              <a:t> de la container, </a:t>
            </a:r>
            <a:r>
              <a:rPr lang="en-US" dirty="0" err="1"/>
              <a:t>sau</a:t>
            </a:r>
            <a:r>
              <a:rPr lang="en-US" dirty="0"/>
              <a:t> de la un alt </a:t>
            </a:r>
            <a:r>
              <a:rPr lang="en-US" dirty="0" err="1"/>
              <a:t>filtru</a:t>
            </a:r>
            <a:r>
              <a:rPr lang="en-US" dirty="0"/>
              <a:t>, un </a:t>
            </a:r>
            <a:r>
              <a:rPr lang="en-US" dirty="0" err="1"/>
              <a:t>obiect</a:t>
            </a:r>
            <a:r>
              <a:rPr lang="en-US" dirty="0"/>
              <a:t> </a:t>
            </a:r>
            <a:r>
              <a:rPr lang="en-US" b="1" dirty="0"/>
              <a:t>request</a:t>
            </a:r>
            <a:r>
              <a:rPr lang="en-US" dirty="0"/>
              <a:t>, eventual ii </a:t>
            </a:r>
            <a:r>
              <a:rPr lang="en-US" dirty="0" err="1"/>
              <a:t>modifica</a:t>
            </a:r>
            <a:r>
              <a:rPr lang="en-US" dirty="0"/>
              <a:t> </a:t>
            </a:r>
            <a:r>
              <a:rPr lang="en-US" dirty="0" err="1"/>
              <a:t>continutul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trimite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departe</a:t>
            </a:r>
            <a:r>
              <a:rPr lang="en-US" dirty="0"/>
              <a:t> la un servlet, </a:t>
            </a:r>
            <a:r>
              <a:rPr lang="en-US" dirty="0" err="1"/>
              <a:t>sau</a:t>
            </a:r>
            <a:r>
              <a:rPr lang="en-US" dirty="0"/>
              <a:t> la un alt </a:t>
            </a:r>
            <a:r>
              <a:rPr lang="en-US" dirty="0" err="1"/>
              <a:t>filtru</a:t>
            </a:r>
            <a:r>
              <a:rPr lang="en-US" dirty="0"/>
              <a:t>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err="1"/>
              <a:t>Preia</a:t>
            </a:r>
            <a:r>
              <a:rPr lang="en-US" dirty="0"/>
              <a:t> de la un servlet, </a:t>
            </a:r>
            <a:r>
              <a:rPr lang="en-US" dirty="0" err="1"/>
              <a:t>sau</a:t>
            </a:r>
            <a:r>
              <a:rPr lang="en-US" dirty="0"/>
              <a:t> de la un alt </a:t>
            </a:r>
            <a:r>
              <a:rPr lang="en-US" dirty="0" err="1"/>
              <a:t>filtru</a:t>
            </a:r>
            <a:r>
              <a:rPr lang="en-US" dirty="0"/>
              <a:t>, un </a:t>
            </a:r>
            <a:r>
              <a:rPr lang="en-US" dirty="0" err="1"/>
              <a:t>obiect</a:t>
            </a:r>
            <a:r>
              <a:rPr lang="en-US" dirty="0"/>
              <a:t> </a:t>
            </a:r>
            <a:r>
              <a:rPr lang="en-US" b="1" dirty="0"/>
              <a:t>response</a:t>
            </a:r>
            <a:r>
              <a:rPr lang="en-US" dirty="0"/>
              <a:t>, eventual ii </a:t>
            </a:r>
            <a:r>
              <a:rPr lang="en-US" dirty="0" err="1"/>
              <a:t>modifica</a:t>
            </a:r>
            <a:r>
              <a:rPr lang="en-US" dirty="0"/>
              <a:t> </a:t>
            </a:r>
            <a:r>
              <a:rPr lang="en-US" dirty="0" err="1"/>
              <a:t>continutul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trimite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departe</a:t>
            </a:r>
            <a:r>
              <a:rPr lang="en-US" dirty="0"/>
              <a:t> la container, </a:t>
            </a:r>
            <a:r>
              <a:rPr lang="en-US" dirty="0" err="1"/>
              <a:t>sau</a:t>
            </a:r>
            <a:r>
              <a:rPr lang="en-US" dirty="0"/>
              <a:t> la un alt </a:t>
            </a:r>
            <a:r>
              <a:rPr lang="en-US" dirty="0" err="1"/>
              <a:t>filtru</a:t>
            </a:r>
            <a:r>
              <a:rPr lang="en-US" dirty="0"/>
              <a:t>.</a:t>
            </a:r>
          </a:p>
          <a:p>
            <a:r>
              <a:rPr lang="en-US" dirty="0"/>
              <a:t>Se </a:t>
            </a:r>
            <a:r>
              <a:rPr lang="en-US" dirty="0" err="1"/>
              <a:t>vede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</a:t>
            </a:r>
            <a:r>
              <a:rPr lang="en-US" dirty="0" err="1"/>
              <a:t>intr</a:t>
            </a:r>
            <a:r>
              <a:rPr lang="en-US" dirty="0"/>
              <a:t>-o </a:t>
            </a:r>
            <a:r>
              <a:rPr lang="en-US" dirty="0" err="1"/>
              <a:t>aplicatie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apara</a:t>
            </a:r>
            <a:r>
              <a:rPr lang="en-US" dirty="0"/>
              <a:t> </a:t>
            </a:r>
            <a:r>
              <a:rPr lang="en-US" b="1" dirty="0"/>
              <a:t>un </a:t>
            </a:r>
            <a:r>
              <a:rPr lang="en-US" b="1" dirty="0" err="1"/>
              <a:t>lant</a:t>
            </a:r>
            <a:r>
              <a:rPr lang="en-US" b="1" dirty="0"/>
              <a:t> (chain)</a:t>
            </a:r>
            <a:r>
              <a:rPr lang="en-US" dirty="0"/>
              <a:t> de </a:t>
            </a:r>
            <a:r>
              <a:rPr lang="en-US" dirty="0" err="1"/>
              <a:t>filtre</a:t>
            </a:r>
            <a:r>
              <a:rPr lang="en-US" dirty="0"/>
              <a:t>, </a:t>
            </a:r>
            <a:r>
              <a:rPr lang="en-US" dirty="0" err="1"/>
              <a:t>plasate</a:t>
            </a:r>
            <a:r>
              <a:rPr lang="en-US" dirty="0"/>
              <a:t> in </a:t>
            </a:r>
            <a:r>
              <a:rPr lang="en-US" dirty="0" err="1"/>
              <a:t>cascada</a:t>
            </a:r>
            <a:r>
              <a:rPr lang="en-US" dirty="0"/>
              <a:t>: </a:t>
            </a:r>
            <a:r>
              <a:rPr lang="en-US" dirty="0" err="1"/>
              <a:t>primul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filtreaza</a:t>
            </a:r>
            <a:r>
              <a:rPr lang="en-US" dirty="0"/>
              <a:t> </a:t>
            </a:r>
            <a:r>
              <a:rPr lang="en-US" b="1" dirty="0"/>
              <a:t>request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ultimul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filtreaza</a:t>
            </a:r>
            <a:r>
              <a:rPr lang="en-US" dirty="0"/>
              <a:t> </a:t>
            </a:r>
            <a:r>
              <a:rPr lang="en-US" b="1" dirty="0"/>
              <a:t>response</a:t>
            </a:r>
            <a:r>
              <a:rPr lang="en-US" dirty="0"/>
              <a:t>, al </a:t>
            </a:r>
            <a:r>
              <a:rPr lang="en-US" dirty="0" err="1"/>
              <a:t>doilea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penultimul</a:t>
            </a:r>
            <a:r>
              <a:rPr lang="en-US" dirty="0"/>
              <a:t> </a:t>
            </a:r>
            <a:r>
              <a:rPr lang="en-US" dirty="0" err="1"/>
              <a:t>s.a.m.d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 err="1"/>
              <a:t>Ce</a:t>
            </a:r>
            <a:r>
              <a:rPr lang="en-US" b="1" dirty="0"/>
              <a:t> </a:t>
            </a:r>
            <a:r>
              <a:rPr lang="en-US" b="1" dirty="0" err="1"/>
              <a:t>este</a:t>
            </a:r>
            <a:r>
              <a:rPr lang="en-US" b="1" dirty="0"/>
              <a:t> un listener?</a:t>
            </a:r>
            <a:r>
              <a:rPr lang="en-US" dirty="0"/>
              <a:t> Este o </a:t>
            </a:r>
            <a:r>
              <a:rPr lang="en-US" dirty="0" err="1"/>
              <a:t>componenta</a:t>
            </a:r>
            <a:r>
              <a:rPr lang="en-US" dirty="0"/>
              <a:t> care </a:t>
            </a:r>
            <a:r>
              <a:rPr lang="en-US" dirty="0" err="1"/>
              <a:t>asteapta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trateaza</a:t>
            </a:r>
            <a:r>
              <a:rPr lang="en-US" dirty="0"/>
              <a:t> </a:t>
            </a:r>
            <a:r>
              <a:rPr lang="en-US" b="1" dirty="0" err="1"/>
              <a:t>evenimente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pot </a:t>
            </a:r>
            <a:r>
              <a:rPr lang="en-US" dirty="0" err="1"/>
              <a:t>apare</a:t>
            </a:r>
            <a:r>
              <a:rPr lang="en-US" dirty="0"/>
              <a:t> in container, in </a:t>
            </a:r>
            <a:r>
              <a:rPr lang="en-US" dirty="0" err="1"/>
              <a:t>contextul</a:t>
            </a:r>
            <a:r>
              <a:rPr lang="en-US" dirty="0"/>
              <a:t> </a:t>
            </a:r>
            <a:r>
              <a:rPr lang="en-US" dirty="0" err="1"/>
              <a:t>acestuia</a:t>
            </a:r>
            <a:r>
              <a:rPr lang="en-US" dirty="0"/>
              <a:t>, in </a:t>
            </a:r>
            <a:r>
              <a:rPr lang="en-US" dirty="0" err="1"/>
              <a:t>aplicatia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o </a:t>
            </a:r>
            <a:r>
              <a:rPr lang="en-US" dirty="0" err="1"/>
              <a:t>deserveste</a:t>
            </a:r>
            <a:r>
              <a:rPr lang="en-US" dirty="0"/>
              <a:t>, in </a:t>
            </a:r>
            <a:r>
              <a:rPr lang="en-US" dirty="0" err="1"/>
              <a:t>servleturile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filtrele</a:t>
            </a:r>
            <a:r>
              <a:rPr lang="en-US" dirty="0"/>
              <a:t> </a:t>
            </a:r>
            <a:r>
              <a:rPr lang="en-US" dirty="0" err="1"/>
              <a:t>acesteia</a:t>
            </a:r>
            <a:r>
              <a:rPr lang="en-US" dirty="0"/>
              <a:t>,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 </a:t>
            </a:r>
            <a:r>
              <a:rPr lang="en-US" dirty="0" err="1"/>
              <a:t>oricare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acesti</a:t>
            </a:r>
            <a:r>
              <a:rPr lang="en-US" dirty="0"/>
              <a:t> </a:t>
            </a:r>
            <a:r>
              <a:rPr lang="en-US" dirty="0" err="1"/>
              <a:t>protagonisti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41626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26.10.2025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BFM_Servlets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7</a:t>
            </a:fld>
            <a:r>
              <a:rPr lang="en-US" dirty="0"/>
              <a:t>_/_44_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Componente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specifice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: Servlet, Filter, Listener </a:t>
            </a:r>
          </a:p>
        </p:txBody>
      </p:sp>
      <p:pic>
        <p:nvPicPr>
          <p:cNvPr id="11" name="Picture 2" descr="D:\Florin\Didactic\20132014\TPJAD\ExempleSurseDocumentatii\Servlet\ComponenteServletFilterListener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581" y="351610"/>
            <a:ext cx="6040438" cy="6506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52643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26.10.2025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BFM_Servlets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8</a:t>
            </a:fld>
            <a:r>
              <a:rPr lang="en-US" dirty="0"/>
              <a:t>_/_44_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Fragmentele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esentiale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de cod servlet  </a:t>
            </a:r>
          </a:p>
        </p:txBody>
      </p:sp>
      <p:sp>
        <p:nvSpPr>
          <p:cNvPr id="2" name="Rectangle 1"/>
          <p:cNvSpPr/>
          <p:nvPr/>
        </p:nvSpPr>
        <p:spPr>
          <a:xfrm>
            <a:off x="304800" y="410256"/>
            <a:ext cx="883920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hangingPunct="0"/>
            <a:r>
              <a:rPr lang="en-US" sz="1600" dirty="0">
                <a:latin typeface="Courier New" pitchFamily="49" charset="0"/>
                <a:cs typeface="Courier New" pitchFamily="49" charset="0"/>
              </a:rPr>
              <a:t>- - -</a:t>
            </a:r>
          </a:p>
          <a:p>
            <a:pPr eaLnBrk="0" hangingPunct="0"/>
            <a:r>
              <a:rPr lang="ro-RO" sz="1600" dirty="0">
                <a:latin typeface="Courier New" pitchFamily="49" charset="0"/>
                <a:cs typeface="Courier New" pitchFamily="49" charset="0"/>
              </a:rPr>
              <a:t> public class 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Un</a:t>
            </a:r>
            <a:r>
              <a:rPr lang="ro-RO" sz="1600" dirty="0">
                <a:latin typeface="Courier New" pitchFamily="49" charset="0"/>
                <a:cs typeface="Courier New" pitchFamily="49" charset="0"/>
              </a:rPr>
              <a:t>Servlet extends HttpServlet {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 eaLnBrk="0" hangingPunct="0"/>
            <a:r>
              <a:rPr lang="en-US" sz="1600" dirty="0">
                <a:latin typeface="Courier New" pitchFamily="49" charset="0"/>
                <a:cs typeface="Courier New" pitchFamily="49" charset="0"/>
              </a:rPr>
              <a:t>   public void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init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ServletConfig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config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) { </a:t>
            </a:r>
          </a:p>
          <a:p>
            <a:pPr eaLnBrk="0" hangingPunct="0"/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    // </a:t>
            </a:r>
            <a:r>
              <a:rPr 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Initializari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la </a:t>
            </a:r>
            <a:r>
              <a:rPr 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crearea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servletului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 - - - }</a:t>
            </a:r>
          </a:p>
          <a:p>
            <a:pPr eaLnBrk="0" hangingPunct="0"/>
            <a:r>
              <a:rPr lang="en-US" sz="1600" dirty="0">
                <a:latin typeface="Courier New" pitchFamily="49" charset="0"/>
                <a:cs typeface="Courier New" pitchFamily="49" charset="0"/>
              </a:rPr>
              <a:t>   public void destroy() { </a:t>
            </a:r>
          </a:p>
          <a:p>
            <a:pPr eaLnBrk="0" hangingPunct="0"/>
            <a:r>
              <a:rPr lang="en-US" sz="1600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// </a:t>
            </a:r>
            <a:r>
              <a:rPr 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Actiuni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inainte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de </a:t>
            </a:r>
            <a:r>
              <a:rPr 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distrugerea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servletului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mai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rar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) }</a:t>
            </a:r>
            <a:endParaRPr lang="ro-RO" sz="1600" dirty="0">
              <a:solidFill>
                <a:srgbClr val="00B0F0"/>
              </a:solidFill>
              <a:latin typeface="Courier New" pitchFamily="49" charset="0"/>
              <a:cs typeface="Times New Roman" pitchFamily="18" charset="0"/>
            </a:endParaRPr>
          </a:p>
          <a:p>
            <a:pPr eaLnBrk="0" hangingPunct="0"/>
            <a:r>
              <a:rPr lang="ro-RO" sz="1600" dirty="0">
                <a:latin typeface="Courier New" pitchFamily="49" charset="0"/>
                <a:cs typeface="Courier New" pitchFamily="49" charset="0"/>
              </a:rPr>
              <a:t>   public void doGet (                           </a:t>
            </a:r>
            <a:r>
              <a:rPr lang="ro-RO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// GET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method</a:t>
            </a:r>
            <a:endParaRPr lang="ro-RO" sz="1600" dirty="0">
              <a:solidFill>
                <a:srgbClr val="00B0F0"/>
              </a:solidFill>
              <a:latin typeface="Courier New" pitchFamily="49" charset="0"/>
              <a:cs typeface="Times New Roman" pitchFamily="18" charset="0"/>
            </a:endParaRPr>
          </a:p>
          <a:p>
            <a:pPr eaLnBrk="0" hangingPunct="0"/>
            <a:r>
              <a:rPr lang="ro-RO" sz="1600" dirty="0">
                <a:latin typeface="Courier New" pitchFamily="49" charset="0"/>
                <a:cs typeface="Courier New" pitchFamily="49" charset="0"/>
              </a:rPr>
              <a:t>// public void doPost(                           </a:t>
            </a:r>
            <a:r>
              <a:rPr lang="ro-RO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// POST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method</a:t>
            </a:r>
            <a:endParaRPr lang="ro-RO" sz="1600" dirty="0">
              <a:solidFill>
                <a:srgbClr val="00B0F0"/>
              </a:solidFill>
              <a:latin typeface="Courier New" pitchFamily="49" charset="0"/>
              <a:cs typeface="Times New Roman" pitchFamily="18" charset="0"/>
            </a:endParaRPr>
          </a:p>
          <a:p>
            <a:pPr eaLnBrk="0" hangingPunct="0"/>
            <a:r>
              <a:rPr lang="ro-RO" sz="1600" dirty="0">
                <a:latin typeface="Courier New" pitchFamily="49" charset="0"/>
                <a:cs typeface="Courier New" pitchFamily="49" charset="0"/>
              </a:rPr>
              <a:t>                      HttpServletRequest 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request</a:t>
            </a:r>
            <a:r>
              <a:rPr lang="ro-RO" sz="1600" dirty="0">
                <a:latin typeface="Courier New" pitchFamily="49" charset="0"/>
                <a:cs typeface="Courier New" pitchFamily="49" charset="0"/>
              </a:rPr>
              <a:t>,</a:t>
            </a:r>
            <a:endParaRPr lang="ro-RO" sz="1600" dirty="0">
              <a:latin typeface="Courier New" pitchFamily="49" charset="0"/>
              <a:cs typeface="Times New Roman" pitchFamily="18" charset="0"/>
            </a:endParaRPr>
          </a:p>
          <a:p>
            <a:pPr eaLnBrk="0" hangingPunct="0"/>
            <a:r>
              <a:rPr lang="ro-RO" sz="1600" dirty="0">
                <a:latin typeface="Courier New" pitchFamily="49" charset="0"/>
                <a:cs typeface="Courier New" pitchFamily="49" charset="0"/>
              </a:rPr>
              <a:t>                      HttpServletResponse r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e</a:t>
            </a:r>
            <a:r>
              <a:rPr lang="ro-RO" sz="1600" dirty="0">
                <a:latin typeface="Courier New" pitchFamily="49" charset="0"/>
                <a:cs typeface="Courier New" pitchFamily="49" charset="0"/>
              </a:rPr>
              <a:t>sp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o</a:t>
            </a:r>
            <a:r>
              <a:rPr lang="ro-RO" sz="1600" dirty="0">
                <a:latin typeface="Courier New" pitchFamily="49" charset="0"/>
                <a:cs typeface="Courier New" pitchFamily="49" charset="0"/>
              </a:rPr>
              <a:t>ns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e</a:t>
            </a:r>
            <a:r>
              <a:rPr lang="ro-RO" sz="1600" dirty="0">
                <a:latin typeface="Courier New" pitchFamily="49" charset="0"/>
                <a:cs typeface="Courier New" pitchFamily="49" charset="0"/>
              </a:rPr>
              <a:t>)</a:t>
            </a:r>
            <a:endParaRPr lang="ro-RO" sz="1600" dirty="0">
              <a:latin typeface="Courier New" pitchFamily="49" charset="0"/>
              <a:cs typeface="Times New Roman" pitchFamily="18" charset="0"/>
            </a:endParaRPr>
          </a:p>
          <a:p>
            <a:pPr eaLnBrk="0" hangingPunct="0"/>
            <a:r>
              <a:rPr lang="ro-RO" sz="1600" dirty="0">
                <a:latin typeface="Courier New" pitchFamily="49" charset="0"/>
                <a:cs typeface="Courier New" pitchFamily="49" charset="0"/>
              </a:rPr>
              <a:t>- - - </a:t>
            </a:r>
            <a:endParaRPr lang="ro-RO" sz="1600" dirty="0">
              <a:latin typeface="Courier New" pitchFamily="49" charset="0"/>
              <a:cs typeface="Times New Roman" pitchFamily="18" charset="0"/>
            </a:endParaRPr>
          </a:p>
          <a:p>
            <a:pPr eaLnBrk="0" hangingPunct="0"/>
            <a:r>
              <a:rPr lang="ro-RO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request</a:t>
            </a:r>
            <a:r>
              <a:rPr lang="ro-RO" sz="1600" dirty="0">
                <a:latin typeface="Courier New" pitchFamily="49" charset="0"/>
                <a:cs typeface="Courier New" pitchFamily="49" charset="0"/>
              </a:rPr>
              <a:t>.getParameter(...)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// </a:t>
            </a:r>
            <a:r>
              <a:rPr 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pentru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preluare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cerere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text</a:t>
            </a:r>
            <a:endParaRPr lang="ro-RO" sz="1600" dirty="0">
              <a:solidFill>
                <a:srgbClr val="00B0F0"/>
              </a:solidFill>
              <a:latin typeface="Courier New" pitchFamily="49" charset="0"/>
              <a:cs typeface="Times New Roman" pitchFamily="18" charset="0"/>
            </a:endParaRPr>
          </a:p>
          <a:p>
            <a:pPr eaLnBrk="0" hangingPunct="0"/>
            <a:r>
              <a:rPr lang="ro-RO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request</a:t>
            </a:r>
            <a:r>
              <a:rPr lang="ro-RO" sz="1600" dirty="0">
                <a:latin typeface="Courier New" pitchFamily="49" charset="0"/>
                <a:cs typeface="Courier New" pitchFamily="49" charset="0"/>
              </a:rPr>
              <a:t>.getInputStream() 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// </a:t>
            </a:r>
            <a:r>
              <a:rPr 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pentru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preluare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cerere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binara</a:t>
            </a:r>
            <a:endParaRPr lang="ro-RO" sz="1600" dirty="0">
              <a:solidFill>
                <a:srgbClr val="00B0F0"/>
              </a:solidFill>
              <a:latin typeface="Courier New" pitchFamily="49" charset="0"/>
              <a:cs typeface="Times New Roman" pitchFamily="18" charset="0"/>
            </a:endParaRPr>
          </a:p>
          <a:p>
            <a:pPr eaLnBrk="0" hangingPunct="0"/>
            <a:r>
              <a:rPr lang="ro-RO" sz="1600" dirty="0">
                <a:latin typeface="Courier New" pitchFamily="49" charset="0"/>
                <a:cs typeface="Courier New" pitchFamily="49" charset="0"/>
              </a:rPr>
              <a:t>- - - 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 eaLnBrk="0" hangingPunct="0"/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Times New Roman" pitchFamily="18" charset="0"/>
              </a:rPr>
              <a:t>// </a:t>
            </a:r>
            <a:r>
              <a:rPr lang="en-US" sz="1600" dirty="0" err="1">
                <a:solidFill>
                  <a:srgbClr val="00B0F0"/>
                </a:solidFill>
                <a:latin typeface="Courier New" pitchFamily="49" charset="0"/>
                <a:cs typeface="Times New Roman" pitchFamily="18" charset="0"/>
              </a:rPr>
              <a:t>Proceseaza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00B0F0"/>
                </a:solidFill>
                <a:latin typeface="Courier New" pitchFamily="49" charset="0"/>
                <a:cs typeface="Times New Roman" pitchFamily="18" charset="0"/>
              </a:rPr>
              <a:t>cererea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00B0F0"/>
                </a:solidFill>
                <a:latin typeface="Courier New" pitchFamily="49" charset="0"/>
                <a:cs typeface="Times New Roman" pitchFamily="18" charset="0"/>
              </a:rPr>
              <a:t>si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00B0F0"/>
                </a:solidFill>
                <a:latin typeface="Courier New" pitchFamily="49" charset="0"/>
                <a:cs typeface="Times New Roman" pitchFamily="18" charset="0"/>
              </a:rPr>
              <a:t>prepara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00B0F0"/>
                </a:solidFill>
                <a:latin typeface="Courier New" pitchFamily="49" charset="0"/>
                <a:cs typeface="Times New Roman" pitchFamily="18" charset="0"/>
              </a:rPr>
              <a:t>raspunsu</a:t>
            </a:r>
            <a:r>
              <a:rPr lang="en-US" sz="1600" dirty="0" err="1">
                <a:latin typeface="Courier New" pitchFamily="49" charset="0"/>
                <a:cs typeface="Times New Roman" pitchFamily="18" charset="0"/>
              </a:rPr>
              <a:t>l</a:t>
            </a:r>
            <a:endParaRPr lang="ro-RO" sz="1600" dirty="0">
              <a:latin typeface="Courier New" pitchFamily="49" charset="0"/>
              <a:cs typeface="Times New Roman" pitchFamily="18" charset="0"/>
            </a:endParaRPr>
          </a:p>
          <a:p>
            <a:pPr eaLnBrk="0" hangingPunct="0"/>
            <a:r>
              <a:rPr lang="en-US" sz="1600" dirty="0">
                <a:latin typeface="Courier New" pitchFamily="49" charset="0"/>
                <a:cs typeface="Courier New" pitchFamily="49" charset="0"/>
              </a:rPr>
              <a:t>- - -</a:t>
            </a:r>
          </a:p>
          <a:p>
            <a:pPr eaLnBrk="0" hangingPunct="0"/>
            <a:r>
              <a:rPr lang="ro-RO" sz="1600" dirty="0">
                <a:latin typeface="Courier New" pitchFamily="49" charset="0"/>
                <a:cs typeface="Courier New" pitchFamily="49" charset="0"/>
              </a:rPr>
              <a:t>    r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e</a:t>
            </a:r>
            <a:r>
              <a:rPr lang="ro-RO" sz="1600" dirty="0">
                <a:latin typeface="Courier New" pitchFamily="49" charset="0"/>
                <a:cs typeface="Courier New" pitchFamily="49" charset="0"/>
              </a:rPr>
              <a:t>sp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o</a:t>
            </a:r>
            <a:r>
              <a:rPr lang="ro-RO" sz="1600" dirty="0">
                <a:latin typeface="Courier New" pitchFamily="49" charset="0"/>
                <a:cs typeface="Courier New" pitchFamily="49" charset="0"/>
              </a:rPr>
              <a:t>ns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e</a:t>
            </a:r>
            <a:r>
              <a:rPr lang="ro-RO" sz="1600" dirty="0">
                <a:latin typeface="Courier New" pitchFamily="49" charset="0"/>
                <a:cs typeface="Courier New" pitchFamily="49" charset="0"/>
              </a:rPr>
              <a:t>.getWriter() 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      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// </a:t>
            </a:r>
            <a:r>
              <a:rPr 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pentru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raspuns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text</a:t>
            </a:r>
            <a:endParaRPr lang="ro-RO" sz="1600" dirty="0">
              <a:solidFill>
                <a:srgbClr val="00B0F0"/>
              </a:solidFill>
              <a:latin typeface="Courier New" pitchFamily="49" charset="0"/>
              <a:cs typeface="Times New Roman" pitchFamily="18" charset="0"/>
            </a:endParaRPr>
          </a:p>
          <a:p>
            <a:pPr eaLnBrk="0" hangingPunct="0"/>
            <a:r>
              <a:rPr lang="ro-RO" sz="1600" dirty="0">
                <a:latin typeface="Courier New" pitchFamily="49" charset="0"/>
                <a:cs typeface="Courier New" pitchFamily="49" charset="0"/>
              </a:rPr>
              <a:t>    r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e</a:t>
            </a:r>
            <a:r>
              <a:rPr lang="ro-RO" sz="1600" dirty="0">
                <a:latin typeface="Courier New" pitchFamily="49" charset="0"/>
                <a:cs typeface="Courier New" pitchFamily="49" charset="0"/>
              </a:rPr>
              <a:t>sp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o</a:t>
            </a:r>
            <a:r>
              <a:rPr lang="ro-RO" sz="1600" dirty="0">
                <a:latin typeface="Courier New" pitchFamily="49" charset="0"/>
                <a:cs typeface="Courier New" pitchFamily="49" charset="0"/>
              </a:rPr>
              <a:t>ns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e</a:t>
            </a:r>
            <a:r>
              <a:rPr lang="ro-RO" sz="1600" dirty="0">
                <a:latin typeface="Courier New" pitchFamily="49" charset="0"/>
                <a:cs typeface="Courier New" pitchFamily="49" charset="0"/>
              </a:rPr>
              <a:t>.getOutputStream() 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// </a:t>
            </a:r>
            <a:r>
              <a:rPr 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pentru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raspuns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binar</a:t>
            </a:r>
            <a:endParaRPr lang="ro-RO" sz="1600" dirty="0">
              <a:solidFill>
                <a:srgbClr val="00B0F0"/>
              </a:solidFill>
              <a:latin typeface="Courier New" pitchFamily="49" charset="0"/>
              <a:cs typeface="Times New Roman" pitchFamily="18" charset="0"/>
            </a:endParaRPr>
          </a:p>
          <a:p>
            <a:pPr eaLnBrk="0" hangingPunct="0"/>
            <a:r>
              <a:rPr lang="en-US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response.setContentType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(…); 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// MIME (text/html, text/plain, . . . </a:t>
            </a:r>
          </a:p>
          <a:p>
            <a:pPr eaLnBrk="0" hangingPunct="0"/>
            <a:r>
              <a:rPr lang="ro-RO" sz="1600" dirty="0">
                <a:latin typeface="Courier New" pitchFamily="49" charset="0"/>
                <a:cs typeface="Courier New" pitchFamily="49" charset="0"/>
              </a:rPr>
              <a:t>- - -</a:t>
            </a:r>
            <a:endParaRPr lang="en-US" sz="1600" dirty="0">
              <a:latin typeface="Courier New" pitchFamily="49" charset="0"/>
              <a:cs typeface="Times New Roman" pitchFamily="18" charset="0"/>
            </a:endParaRPr>
          </a:p>
          <a:p>
            <a:pPr eaLnBrk="0" hangingPunct="0"/>
            <a:r>
              <a:rPr lang="ro-RO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o-RO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// </a:t>
            </a:r>
            <a:r>
              <a:rPr 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Trimite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raspunsul</a:t>
            </a:r>
            <a:endParaRPr lang="en-US" sz="1600" dirty="0">
              <a:solidFill>
                <a:srgbClr val="00B0F0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/>
            <a:r>
              <a:rPr lang="ro-RO" sz="1600" dirty="0">
                <a:latin typeface="Courier New" pitchFamily="49" charset="0"/>
                <a:cs typeface="Courier New" pitchFamily="49" charset="0"/>
              </a:rPr>
              <a:t>- - -</a:t>
            </a:r>
            <a:endParaRPr lang="ro-RO" sz="1600" dirty="0">
              <a:latin typeface="Courier New" pitchFamily="49" charset="0"/>
              <a:cs typeface="Times New Roman" pitchFamily="18" charset="0"/>
            </a:endParaRPr>
          </a:p>
          <a:p>
            <a:pPr eaLnBrk="0" hangingPunct="0"/>
            <a:r>
              <a:rPr lang="ro-RO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o-RO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// </a:t>
            </a:r>
            <a:r>
              <a:rPr 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Inchide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obiectele</a:t>
            </a:r>
            <a:endParaRPr lang="en-US" sz="1600" dirty="0">
              <a:solidFill>
                <a:srgbClr val="00B0F0"/>
              </a:solidFill>
              <a:latin typeface="Courier New" pitchFamily="49" charset="0"/>
              <a:cs typeface="Times New Roman" pitchFamily="18" charset="0"/>
            </a:endParaRPr>
          </a:p>
          <a:p>
            <a:pPr marL="285750" indent="-285750" eaLnBrk="0" hangingPunct="0">
              <a:buFontTx/>
              <a:buChar char="-"/>
            </a:pPr>
            <a:r>
              <a:rPr lang="en-US" sz="1600" dirty="0">
                <a:latin typeface="Courier New" pitchFamily="49" charset="0"/>
                <a:cs typeface="Times New Roman" pitchFamily="18" charset="0"/>
              </a:rPr>
              <a:t>- - </a:t>
            </a:r>
            <a:endParaRPr lang="ro-RO" sz="1600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73324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26.10.2025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BFM_Servlets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9</a:t>
            </a:fld>
            <a:r>
              <a:rPr lang="en-US" dirty="0"/>
              <a:t>_/_44_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Fragmentele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esentiale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de cod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filtru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</a:p>
        </p:txBody>
      </p:sp>
      <p:sp>
        <p:nvSpPr>
          <p:cNvPr id="2" name="Rectangle 1"/>
          <p:cNvSpPr/>
          <p:nvPr/>
        </p:nvSpPr>
        <p:spPr>
          <a:xfrm>
            <a:off x="114300" y="990600"/>
            <a:ext cx="876300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hangingPunct="0"/>
            <a:r>
              <a:rPr lang="en-US" sz="1600" dirty="0">
                <a:latin typeface="Courier New" pitchFamily="49" charset="0"/>
                <a:cs typeface="Courier New" pitchFamily="49" charset="0"/>
              </a:rPr>
              <a:t>- - -</a:t>
            </a:r>
          </a:p>
          <a:p>
            <a:pPr eaLnBrk="0" hangingPunct="0"/>
            <a:r>
              <a:rPr lang="ro-RO" sz="1600" dirty="0">
                <a:latin typeface="Courier New" pitchFamily="49" charset="0"/>
                <a:cs typeface="Courier New" pitchFamily="49" charset="0"/>
              </a:rPr>
              <a:t> public class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UnFiltru</a:t>
            </a:r>
            <a:r>
              <a:rPr lang="ro-RO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implements</a:t>
            </a:r>
            <a:r>
              <a:rPr lang="ro-RO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Filter</a:t>
            </a:r>
            <a:r>
              <a:rPr lang="ro-RO" sz="1600" dirty="0">
                <a:latin typeface="Courier New" pitchFamily="49" charset="0"/>
                <a:cs typeface="Courier New" pitchFamily="49" charset="0"/>
              </a:rPr>
              <a:t> {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 eaLnBrk="0" hangingPunct="0"/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 eaLnBrk="0" hangingPunct="0"/>
            <a:r>
              <a:rPr lang="en-US" sz="1600" dirty="0">
                <a:latin typeface="Courier New" pitchFamily="49" charset="0"/>
                <a:cs typeface="Courier New" pitchFamily="49" charset="0"/>
              </a:rPr>
              <a:t>    public void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init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FilterConfig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config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) { </a:t>
            </a:r>
          </a:p>
          <a:p>
            <a:pPr eaLnBrk="0" hangingPunct="0"/>
            <a:r>
              <a:rPr lang="en-US" sz="1600" dirty="0">
                <a:latin typeface="Courier New" pitchFamily="49" charset="0"/>
                <a:cs typeface="Courier New" pitchFamily="49" charset="0"/>
              </a:rPr>
              <a:t>       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// </a:t>
            </a:r>
            <a:r>
              <a:rPr 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Initializari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la </a:t>
            </a:r>
            <a:r>
              <a:rPr 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crearea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filtrului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 - - - }</a:t>
            </a:r>
          </a:p>
          <a:p>
            <a:pPr eaLnBrk="0" hangingPunct="0"/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 eaLnBrk="0" hangingPunct="0"/>
            <a:r>
              <a:rPr lang="en-US" sz="1600" dirty="0">
                <a:latin typeface="Courier New" pitchFamily="49" charset="0"/>
                <a:cs typeface="Courier New" pitchFamily="49" charset="0"/>
              </a:rPr>
              <a:t>    public void destroy() { </a:t>
            </a:r>
          </a:p>
          <a:p>
            <a:pPr eaLnBrk="0" hangingPunct="0"/>
            <a:r>
              <a:rPr lang="en-US" sz="1600" dirty="0">
                <a:latin typeface="Courier New" pitchFamily="49" charset="0"/>
                <a:cs typeface="Courier New" pitchFamily="49" charset="0"/>
              </a:rPr>
              <a:t>       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// </a:t>
            </a:r>
            <a:r>
              <a:rPr 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Actiuni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inainte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de </a:t>
            </a:r>
            <a:r>
              <a:rPr 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distrugerea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filtrului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mai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rar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) 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eaLnBrk="0" hangingPunct="0"/>
            <a:endParaRPr lang="ro-RO" sz="1600" dirty="0">
              <a:latin typeface="Courier New" pitchFamily="49" charset="0"/>
              <a:cs typeface="Times New Roman" pitchFamily="18" charset="0"/>
            </a:endParaRPr>
          </a:p>
          <a:p>
            <a:pPr eaLnBrk="0" hangingPunct="0"/>
            <a:r>
              <a:rPr lang="ro-RO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ro-RO" sz="1600" dirty="0">
                <a:latin typeface="Courier New" pitchFamily="49" charset="0"/>
                <a:cs typeface="Courier New" pitchFamily="49" charset="0"/>
              </a:rPr>
              <a:t>public void do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Filter</a:t>
            </a:r>
            <a:r>
              <a:rPr lang="ro-RO" sz="1600" dirty="0">
                <a:latin typeface="Courier New" pitchFamily="49" charset="0"/>
                <a:cs typeface="Courier New" pitchFamily="49" charset="0"/>
              </a:rPr>
              <a:t> (ServletRequest 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request</a:t>
            </a:r>
            <a:r>
              <a:rPr lang="ro-RO" sz="1600" dirty="0">
                <a:latin typeface="Courier New" pitchFamily="49" charset="0"/>
                <a:cs typeface="Courier New" pitchFamily="49" charset="0"/>
              </a:rPr>
              <a:t>,</a:t>
            </a:r>
            <a:r>
              <a:rPr lang="ro-RO" sz="1600" dirty="0">
                <a:latin typeface="Courier New" pitchFamily="49" charset="0"/>
                <a:cs typeface="Times New Roman" pitchFamily="18" charset="0"/>
              </a:rPr>
              <a:t> </a:t>
            </a:r>
            <a:endParaRPr lang="en-US" sz="1600" dirty="0">
              <a:latin typeface="Courier New" pitchFamily="49" charset="0"/>
              <a:cs typeface="Times New Roman" pitchFamily="18" charset="0"/>
            </a:endParaRPr>
          </a:p>
          <a:p>
            <a:pPr eaLnBrk="0" hangingPunct="0"/>
            <a:r>
              <a:rPr lang="en-US" sz="1600" dirty="0">
                <a:latin typeface="Courier New" pitchFamily="49" charset="0"/>
                <a:cs typeface="Times New Roman" pitchFamily="18" charset="0"/>
              </a:rPr>
              <a:t>                          </a:t>
            </a:r>
            <a:r>
              <a:rPr lang="ro-RO" sz="1600" dirty="0">
                <a:latin typeface="Courier New" pitchFamily="49" charset="0"/>
                <a:cs typeface="Courier New" pitchFamily="49" charset="0"/>
              </a:rPr>
              <a:t>ServletResponse r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e</a:t>
            </a:r>
            <a:r>
              <a:rPr lang="ro-RO" sz="1600" dirty="0">
                <a:latin typeface="Courier New" pitchFamily="49" charset="0"/>
                <a:cs typeface="Courier New" pitchFamily="49" charset="0"/>
              </a:rPr>
              <a:t>sp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o</a:t>
            </a:r>
            <a:r>
              <a:rPr lang="ro-RO" sz="1600" dirty="0">
                <a:latin typeface="Courier New" pitchFamily="49" charset="0"/>
                <a:cs typeface="Courier New" pitchFamily="49" charset="0"/>
              </a:rPr>
              <a:t>ns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e,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FilterChain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chain</a:t>
            </a:r>
            <a:r>
              <a:rPr lang="ro-RO" sz="1600" dirty="0">
                <a:latin typeface="Courier New" pitchFamily="49" charset="0"/>
                <a:cs typeface="Courier New" pitchFamily="49" charset="0"/>
              </a:rPr>
              <a:t>)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 eaLnBrk="0" hangingPunct="0"/>
            <a:endParaRPr lang="ro-RO" sz="1600" dirty="0">
              <a:latin typeface="Courier New" pitchFamily="49" charset="0"/>
              <a:cs typeface="Times New Roman" pitchFamily="18" charset="0"/>
            </a:endParaRPr>
          </a:p>
          <a:p>
            <a:pPr eaLnBrk="0" hangingPunct="0"/>
            <a:r>
              <a:rPr lang="ro-RO" sz="1600" dirty="0">
                <a:latin typeface="Courier New" pitchFamily="49" charset="0"/>
                <a:cs typeface="Courier New" pitchFamily="49" charset="0"/>
              </a:rPr>
              <a:t>- - - 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interceptare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filtrare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) request  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- - -</a:t>
            </a:r>
          </a:p>
          <a:p>
            <a:pPr eaLnBrk="0" hangingPunct="0"/>
            <a:endParaRPr lang="en-US" sz="1600" dirty="0">
              <a:latin typeface="Courier New" pitchFamily="49" charset="0"/>
              <a:cs typeface="Times New Roman" pitchFamily="18" charset="0"/>
            </a:endParaRPr>
          </a:p>
          <a:p>
            <a:pPr eaLnBrk="0" hangingPunct="0"/>
            <a:r>
              <a:rPr lang="en-US" sz="1600" dirty="0">
                <a:latin typeface="Courier New" pitchFamily="49" charset="0"/>
                <a:cs typeface="Times New Roman" pitchFamily="18" charset="0"/>
              </a:rPr>
              <a:t>    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// Control la </a:t>
            </a:r>
            <a:r>
              <a:rPr 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urmatorul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filtru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sau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la servlet</a:t>
            </a:r>
            <a:endParaRPr lang="ro-RO" sz="1600" dirty="0">
              <a:solidFill>
                <a:srgbClr val="00B0F0"/>
              </a:solidFill>
              <a:latin typeface="Courier New" pitchFamily="49" charset="0"/>
              <a:cs typeface="Times New Roman" pitchFamily="18" charset="0"/>
            </a:endParaRPr>
          </a:p>
          <a:p>
            <a:pPr eaLnBrk="0" hangingPunct="0"/>
            <a:r>
              <a:rPr lang="ro-RO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   chain</a:t>
            </a:r>
            <a:r>
              <a:rPr lang="ro-RO" sz="1600" dirty="0">
                <a:latin typeface="Courier New" pitchFamily="49" charset="0"/>
                <a:cs typeface="Courier New" pitchFamily="49" charset="0"/>
              </a:rPr>
              <a:t>.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doFilter</a:t>
            </a:r>
            <a:r>
              <a:rPr lang="ro-RO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request, response</a:t>
            </a:r>
            <a:r>
              <a:rPr lang="ro-RO" sz="1600" dirty="0">
                <a:latin typeface="Courier New" pitchFamily="49" charset="0"/>
                <a:cs typeface="Courier New" pitchFamily="49" charset="0"/>
              </a:rPr>
              <a:t>)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 eaLnBrk="0" hangingPunct="0"/>
            <a:endParaRPr lang="ro-RO" sz="1600" dirty="0">
              <a:latin typeface="Courier New" pitchFamily="49" charset="0"/>
              <a:cs typeface="Times New Roman" pitchFamily="18" charset="0"/>
            </a:endParaRPr>
          </a:p>
          <a:p>
            <a:pPr eaLnBrk="0" hangingPunct="0"/>
            <a:r>
              <a:rPr lang="ro-RO" sz="1600" dirty="0">
                <a:latin typeface="Courier New" pitchFamily="49" charset="0"/>
                <a:cs typeface="Courier New" pitchFamily="49" charset="0"/>
              </a:rPr>
              <a:t>- - - 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// </a:t>
            </a:r>
            <a:r>
              <a:rPr 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interceptare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filtrare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) response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- - -</a:t>
            </a:r>
          </a:p>
          <a:p>
            <a:pPr eaLnBrk="0" hangingPunct="0"/>
            <a:r>
              <a:rPr lang="en-US" sz="1600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 eaLnBrk="0" hangingPunct="0"/>
            <a:r>
              <a:rPr lang="en-US" sz="16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77332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26.10.2025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BFM_Servlets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10</a:t>
            </a:fld>
            <a:r>
              <a:rPr lang="en-US" dirty="0"/>
              <a:t>_/_44_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Fragmentele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esentiale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de cod listener 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863003"/>
            <a:ext cx="9144000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hangingPunct="0"/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//         Este o </a:t>
            </a:r>
            <a:r>
              <a:rPr 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clasa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simpla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care </a:t>
            </a:r>
            <a:r>
              <a:rPr 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implementeaza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una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sau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mai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multe</a:t>
            </a:r>
            <a:endParaRPr lang="en-US" sz="1600" dirty="0">
              <a:solidFill>
                <a:srgbClr val="00B0F0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/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//         </a:t>
            </a:r>
            <a:r>
              <a:rPr 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dintre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urmatoarele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opt </a:t>
            </a:r>
            <a:r>
              <a:rPr 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interfete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listener:</a:t>
            </a:r>
          </a:p>
          <a:p>
            <a:pPr eaLnBrk="0" hangingPunct="0"/>
            <a:endParaRPr lang="en-US" sz="1600" dirty="0">
              <a:solidFill>
                <a:srgbClr val="00B0F0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/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// </a:t>
            </a:r>
            <a:r>
              <a:rPr 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ServletContextListener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,        </a:t>
            </a:r>
            <a:r>
              <a:rPr 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ServletContextAttributeListener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, </a:t>
            </a:r>
          </a:p>
          <a:p>
            <a:pPr eaLnBrk="0" hangingPunct="0"/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// </a:t>
            </a:r>
            <a:r>
              <a:rPr 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HttpSessionListener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,           </a:t>
            </a:r>
            <a:r>
              <a:rPr 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HttpSessionAttributeListener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,  </a:t>
            </a:r>
          </a:p>
          <a:p>
            <a:pPr eaLnBrk="0" hangingPunct="0"/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// </a:t>
            </a:r>
            <a:r>
              <a:rPr 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HttpSessionActivationListener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HttpSessionBindingListener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, </a:t>
            </a:r>
          </a:p>
          <a:p>
            <a:pPr eaLnBrk="0" hangingPunct="0"/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// </a:t>
            </a:r>
            <a:r>
              <a:rPr 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ServletRequestListener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,        </a:t>
            </a:r>
            <a:r>
              <a:rPr 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ServletRequestAttributeListener</a:t>
            </a:r>
            <a:endParaRPr lang="en-US" sz="1600" dirty="0">
              <a:solidFill>
                <a:srgbClr val="00B0F0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/>
            <a:r>
              <a:rPr lang="en-US" sz="1600" dirty="0">
                <a:latin typeface="Courier New" pitchFamily="49" charset="0"/>
                <a:cs typeface="Courier New" pitchFamily="49" charset="0"/>
              </a:rPr>
              <a:t> - - -</a:t>
            </a:r>
            <a:r>
              <a:rPr lang="ro-RO" sz="1600" dirty="0">
                <a:latin typeface="Courier New" pitchFamily="49" charset="0"/>
                <a:cs typeface="Courier New" pitchFamily="49" charset="0"/>
              </a:rPr>
              <a:t> 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 eaLnBrk="0" hangingPunct="0"/>
            <a:r>
              <a:rPr lang="ro-RO" sz="1600" dirty="0">
                <a:latin typeface="Courier New" pitchFamily="49" charset="0"/>
                <a:cs typeface="Courier New" pitchFamily="49" charset="0"/>
              </a:rPr>
              <a:t>public class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UnListener</a:t>
            </a:r>
            <a:r>
              <a:rPr lang="ro-RO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implements</a:t>
            </a:r>
            <a:r>
              <a:rPr lang="ro-RO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Lista_De_Interfete</a:t>
            </a:r>
            <a:r>
              <a:rPr lang="ro-RO" sz="1600" dirty="0">
                <a:latin typeface="Courier New" pitchFamily="49" charset="0"/>
                <a:cs typeface="Courier New" pitchFamily="49" charset="0"/>
              </a:rPr>
              <a:t> {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 eaLnBrk="0" hangingPunct="0"/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 eaLnBrk="0" hangingPunct="0"/>
            <a:r>
              <a:rPr lang="en-US" sz="1600" dirty="0">
                <a:latin typeface="Courier New" pitchFamily="49" charset="0"/>
                <a:cs typeface="Courier New" pitchFamily="49" charset="0"/>
              </a:rPr>
              <a:t>    public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UnListener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() { 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// </a:t>
            </a:r>
            <a:r>
              <a:rPr 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daca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se </a:t>
            </a:r>
            <a:r>
              <a:rPr 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doreste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acest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constructor 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- - - }</a:t>
            </a:r>
          </a:p>
          <a:p>
            <a:pPr eaLnBrk="0" hangingPunct="0"/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 eaLnBrk="0" hangingPunct="0"/>
            <a:r>
              <a:rPr lang="en-US" sz="1600" dirty="0">
                <a:latin typeface="Courier New" pitchFamily="49" charset="0"/>
                <a:cs typeface="Courier New" pitchFamily="49" charset="0"/>
              </a:rPr>
              <a:t>    - - - </a:t>
            </a:r>
          </a:p>
          <a:p>
            <a:pPr eaLnBrk="0" hangingPunct="0"/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// </a:t>
            </a:r>
            <a:r>
              <a:rPr 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Implementarile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metodelor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pentru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interfetele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specificate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in</a:t>
            </a:r>
          </a:p>
          <a:p>
            <a:pPr eaLnBrk="0" hangingPunct="0"/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       // </a:t>
            </a:r>
            <a:r>
              <a:rPr 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lista</a:t>
            </a:r>
            <a:r>
              <a:rPr 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de </a:t>
            </a:r>
            <a:r>
              <a:rPr 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interfete</a:t>
            </a:r>
            <a:endParaRPr lang="en-US" sz="1600" dirty="0">
              <a:solidFill>
                <a:srgbClr val="00B0F0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/>
            <a:r>
              <a:rPr lang="en-US" sz="16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5811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26.10.2025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BFM_Servlets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11</a:t>
            </a:fld>
            <a:r>
              <a:rPr lang="en-US" dirty="0"/>
              <a:t>_/_44_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Deployment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descriptorul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unei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aplicatii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web: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fisierul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b="1" dirty="0" err="1">
                <a:solidFill>
                  <a:srgbClr val="FF0000"/>
                </a:solidFill>
                <a:latin typeface="Calibri" pitchFamily="34" charset="0"/>
              </a:rPr>
              <a:t>web.xml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366713"/>
            <a:ext cx="9144000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Fisierul</a:t>
            </a:r>
            <a:r>
              <a:rPr lang="en-US" dirty="0"/>
              <a:t> </a:t>
            </a:r>
            <a:r>
              <a:rPr lang="en-US" b="1" dirty="0"/>
              <a:t>web.xml</a:t>
            </a:r>
            <a:r>
              <a:rPr lang="en-US" dirty="0"/>
              <a:t> </a:t>
            </a:r>
            <a:r>
              <a:rPr lang="en-US" dirty="0" err="1"/>
              <a:t>contine</a:t>
            </a:r>
            <a:r>
              <a:rPr lang="en-US" dirty="0"/>
              <a:t> </a:t>
            </a:r>
            <a:r>
              <a:rPr lang="en-US" dirty="0" err="1"/>
              <a:t>elementele</a:t>
            </a:r>
            <a:r>
              <a:rPr lang="en-US" dirty="0"/>
              <a:t> de </a:t>
            </a:r>
            <a:r>
              <a:rPr lang="en-US" dirty="0" err="1"/>
              <a:t>descriere</a:t>
            </a:r>
            <a:r>
              <a:rPr lang="en-US" dirty="0"/>
              <a:t> ale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aplicatii</a:t>
            </a:r>
            <a:r>
              <a:rPr lang="en-US" dirty="0"/>
              <a:t> web. In </a:t>
            </a:r>
            <a:r>
              <a:rPr lang="en-US" dirty="0" err="1"/>
              <a:t>versiunile</a:t>
            </a:r>
            <a:r>
              <a:rPr lang="en-US" dirty="0"/>
              <a:t> </a:t>
            </a:r>
            <a:r>
              <a:rPr lang="en-US" dirty="0" err="1"/>
              <a:t>recente</a:t>
            </a:r>
            <a:r>
              <a:rPr lang="en-US" dirty="0"/>
              <a:t>, </a:t>
            </a:r>
            <a:r>
              <a:rPr lang="en-US" dirty="0" err="1"/>
              <a:t>unele</a:t>
            </a:r>
            <a:r>
              <a:rPr lang="en-US" dirty="0"/>
              <a:t> </a:t>
            </a:r>
            <a:r>
              <a:rPr lang="en-US" dirty="0" err="1"/>
              <a:t>elemente</a:t>
            </a:r>
            <a:r>
              <a:rPr lang="en-US" dirty="0"/>
              <a:t> se pot </a:t>
            </a:r>
            <a:r>
              <a:rPr lang="en-US" dirty="0" err="1"/>
              <a:t>descrie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adnotari</a:t>
            </a:r>
            <a:r>
              <a:rPr lang="en-US" dirty="0"/>
              <a:t>, </a:t>
            </a:r>
            <a:r>
              <a:rPr lang="en-US" dirty="0" err="1"/>
              <a:t>asa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, </a:t>
            </a:r>
            <a:r>
              <a:rPr lang="en-US" dirty="0" err="1"/>
              <a:t>uneori</a:t>
            </a:r>
            <a:r>
              <a:rPr lang="en-US" dirty="0"/>
              <a:t>, </a:t>
            </a:r>
            <a:r>
              <a:rPr lang="en-US" dirty="0" err="1"/>
              <a:t>acest</a:t>
            </a:r>
            <a:r>
              <a:rPr lang="en-US" dirty="0"/>
              <a:t> </a:t>
            </a:r>
            <a:r>
              <a:rPr lang="en-US" dirty="0" err="1"/>
              <a:t>fisier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lipsi</a:t>
            </a:r>
            <a:r>
              <a:rPr lang="en-US" dirty="0"/>
              <a:t> din </a:t>
            </a:r>
            <a:r>
              <a:rPr lang="en-US" dirty="0" err="1"/>
              <a:t>aplicatie</a:t>
            </a:r>
            <a:r>
              <a:rPr lang="en-US" dirty="0"/>
              <a:t>. In </a:t>
            </a:r>
            <a:r>
              <a:rPr lang="en-US" dirty="0" err="1"/>
              <a:t>exemplul</a:t>
            </a:r>
            <a:r>
              <a:rPr lang="en-US" dirty="0"/>
              <a:t> </a:t>
            </a:r>
            <a:r>
              <a:rPr lang="en-US" b="1" dirty="0"/>
              <a:t>max</a:t>
            </a:r>
            <a:r>
              <a:rPr lang="en-US" dirty="0"/>
              <a:t> de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sus</a:t>
            </a:r>
            <a:r>
              <a:rPr lang="en-US" dirty="0"/>
              <a:t> am </a:t>
            </a:r>
            <a:r>
              <a:rPr lang="en-US" dirty="0" err="1"/>
              <a:t>aratat</a:t>
            </a:r>
            <a:r>
              <a:rPr lang="en-US" dirty="0"/>
              <a:t> </a:t>
            </a:r>
            <a:r>
              <a:rPr lang="en-US" dirty="0" err="1"/>
              <a:t>cateva</a:t>
            </a:r>
            <a:r>
              <a:rPr lang="en-US" dirty="0"/>
              <a:t> </a:t>
            </a:r>
            <a:r>
              <a:rPr lang="en-US" dirty="0" err="1"/>
              <a:t>elemente</a:t>
            </a:r>
            <a:r>
              <a:rPr lang="en-US" dirty="0"/>
              <a:t> de </a:t>
            </a:r>
            <a:r>
              <a:rPr lang="en-US" dirty="0" err="1"/>
              <a:t>configurare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acest</a:t>
            </a:r>
            <a:r>
              <a:rPr lang="en-US" dirty="0"/>
              <a:t> </a:t>
            </a:r>
            <a:r>
              <a:rPr lang="en-US" dirty="0" err="1"/>
              <a:t>fisier</a:t>
            </a:r>
            <a:r>
              <a:rPr lang="en-US" dirty="0"/>
              <a:t>.  In </a:t>
            </a:r>
            <a:r>
              <a:rPr lang="en-US" dirty="0" err="1"/>
              <a:t>cele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urmeaza</a:t>
            </a:r>
            <a:r>
              <a:rPr lang="en-US" dirty="0"/>
              <a:t>, </a:t>
            </a:r>
            <a:r>
              <a:rPr lang="en-US" dirty="0" err="1"/>
              <a:t>vom</a:t>
            </a:r>
            <a:r>
              <a:rPr lang="en-US" dirty="0"/>
              <a:t> nota generic </a:t>
            </a:r>
            <a:r>
              <a:rPr lang="en-US" b="1" dirty="0"/>
              <a:t>MAPSER</a:t>
            </a:r>
            <a:r>
              <a:rPr lang="en-US" dirty="0"/>
              <a:t> </a:t>
            </a:r>
            <a:r>
              <a:rPr lang="en-US" dirty="0" err="1"/>
              <a:t>maparea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servlet (in </a:t>
            </a:r>
            <a:r>
              <a:rPr lang="en-US" b="1" dirty="0"/>
              <a:t>max</a:t>
            </a:r>
            <a:r>
              <a:rPr lang="en-US" dirty="0"/>
              <a:t> </a:t>
            </a:r>
            <a:r>
              <a:rPr lang="en-US" dirty="0" err="1"/>
              <a:t>maparea</a:t>
            </a:r>
            <a:r>
              <a:rPr lang="en-US" dirty="0"/>
              <a:t> s-a </a:t>
            </a:r>
            <a:r>
              <a:rPr lang="en-US" dirty="0" err="1"/>
              <a:t>facut</a:t>
            </a:r>
            <a:r>
              <a:rPr lang="en-US" dirty="0"/>
              <a:t> cu </a:t>
            </a:r>
            <a:r>
              <a:rPr lang="en-US" dirty="0" err="1"/>
              <a:t>numele</a:t>
            </a:r>
            <a:r>
              <a:rPr lang="en-US" dirty="0"/>
              <a:t> </a:t>
            </a:r>
            <a:r>
              <a:rPr lang="en-US" b="1" dirty="0"/>
              <a:t>Servlet</a:t>
            </a:r>
            <a:r>
              <a:rPr lang="en-US" dirty="0"/>
              <a:t>). </a:t>
            </a:r>
          </a:p>
          <a:p>
            <a:endParaRPr lang="en-US" dirty="0"/>
          </a:p>
          <a:p>
            <a:r>
              <a:rPr lang="en-US" dirty="0" err="1"/>
              <a:t>Primele</a:t>
            </a:r>
            <a:r>
              <a:rPr lang="en-US" dirty="0"/>
              <a:t> </a:t>
            </a:r>
            <a:r>
              <a:rPr lang="en-US" dirty="0" err="1"/>
              <a:t>doua</a:t>
            </a:r>
            <a:r>
              <a:rPr lang="en-US" dirty="0"/>
              <a:t> </a:t>
            </a:r>
            <a:r>
              <a:rPr lang="en-US" dirty="0" err="1"/>
              <a:t>nivele</a:t>
            </a:r>
            <a:r>
              <a:rPr lang="en-US" dirty="0"/>
              <a:t> din </a:t>
            </a:r>
            <a:r>
              <a:rPr lang="en-US" dirty="0" err="1"/>
              <a:t>structura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b="1" dirty="0" err="1"/>
              <a:t>web.xml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(in </a:t>
            </a:r>
            <a:r>
              <a:rPr lang="en-US" dirty="0" err="1"/>
              <a:t>conventii</a:t>
            </a:r>
            <a:r>
              <a:rPr lang="en-US" dirty="0"/>
              <a:t> XML):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web-app (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 icon?, display-name?, description?, distributable?,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 context-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param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*, 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 filter*, 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 filter-mapping*, 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 listener*, 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 servlet*, 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 servlet-mapping*, 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 session-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config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?, 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 mime-mapping*, 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 welcome-file-list?, 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 error-page*, 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taglib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*, 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 resource-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env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-ref*, resource-ref*, 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 security-constraint*, login-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config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?, security-role*,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env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-entry*,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ejb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-ref*,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ejb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-local-ref*    )</a:t>
            </a:r>
          </a:p>
        </p:txBody>
      </p:sp>
    </p:spTree>
    <p:extLst>
      <p:ext uri="{BB962C8B-B14F-4D97-AF65-F5344CB8AC3E}">
        <p14:creationId xmlns:p14="http://schemas.microsoft.com/office/powerpoint/2010/main" val="2558112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26.10.2025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BFM_Servlets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12</a:t>
            </a:fld>
            <a:r>
              <a:rPr lang="en-US" dirty="0"/>
              <a:t>_/_44_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Configurare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prin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web-fragment </a:t>
            </a:r>
          </a:p>
        </p:txBody>
      </p:sp>
      <p:sp>
        <p:nvSpPr>
          <p:cNvPr id="2" name="Rectangle 1"/>
          <p:cNvSpPr/>
          <p:nvPr/>
        </p:nvSpPr>
        <p:spPr>
          <a:xfrm>
            <a:off x="5443" y="377599"/>
            <a:ext cx="9144000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Un </a:t>
            </a:r>
            <a:r>
              <a:rPr lang="en-US" dirty="0" err="1"/>
              <a:t>fisier</a:t>
            </a:r>
            <a:r>
              <a:rPr lang="en-US" dirty="0"/>
              <a:t> </a:t>
            </a:r>
            <a:r>
              <a:rPr lang="en-US" b="1" dirty="0"/>
              <a:t>web-</a:t>
            </a:r>
            <a:r>
              <a:rPr lang="en-US" b="1" dirty="0" err="1"/>
              <a:t>fragment.xml</a:t>
            </a:r>
            <a:r>
              <a:rPr lang="en-US" dirty="0"/>
              <a:t> </a:t>
            </a:r>
            <a:r>
              <a:rPr lang="en-US" dirty="0" err="1"/>
              <a:t>contine</a:t>
            </a:r>
            <a:r>
              <a:rPr lang="en-US" dirty="0"/>
              <a:t> </a:t>
            </a:r>
            <a:r>
              <a:rPr lang="en-US" dirty="0" err="1"/>
              <a:t>elemente</a:t>
            </a:r>
            <a:r>
              <a:rPr lang="en-US" dirty="0"/>
              <a:t> XML </a:t>
            </a:r>
            <a:r>
              <a:rPr lang="en-US" dirty="0" err="1"/>
              <a:t>aflate</a:t>
            </a:r>
            <a:r>
              <a:rPr lang="en-US" dirty="0"/>
              <a:t> de </a:t>
            </a:r>
            <a:r>
              <a:rPr lang="en-US" dirty="0" err="1"/>
              <a:t>regula</a:t>
            </a:r>
            <a:r>
              <a:rPr lang="en-US" dirty="0"/>
              <a:t> in </a:t>
            </a:r>
            <a:r>
              <a:rPr lang="en-US" dirty="0" err="1"/>
              <a:t>fisierul</a:t>
            </a:r>
            <a:r>
              <a:rPr lang="en-US" dirty="0"/>
              <a:t> </a:t>
            </a:r>
            <a:r>
              <a:rPr lang="en-US" b="1" dirty="0" err="1"/>
              <a:t>web.xml</a:t>
            </a:r>
            <a:r>
              <a:rPr lang="en-US" b="1" dirty="0"/>
              <a:t>. </a:t>
            </a:r>
            <a:r>
              <a:rPr lang="en-US" dirty="0" err="1"/>
              <a:t>Astfel</a:t>
            </a:r>
            <a:r>
              <a:rPr lang="en-US" dirty="0"/>
              <a:t>, o parte din </a:t>
            </a:r>
            <a:r>
              <a:rPr lang="en-US" dirty="0" err="1"/>
              <a:t>descrierea</a:t>
            </a:r>
            <a:r>
              <a:rPr lang="en-US" dirty="0"/>
              <a:t> din </a:t>
            </a:r>
            <a:r>
              <a:rPr lang="en-US" dirty="0" err="1"/>
              <a:t>web.xml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inlocuita</a:t>
            </a:r>
            <a:r>
              <a:rPr lang="en-US" dirty="0"/>
              <a:t> de </a:t>
            </a:r>
            <a:r>
              <a:rPr lang="en-US" dirty="0" err="1"/>
              <a:t>acest</a:t>
            </a:r>
            <a:r>
              <a:rPr lang="en-US" dirty="0"/>
              <a:t> </a:t>
            </a:r>
            <a:r>
              <a:rPr lang="en-US" dirty="0" err="1"/>
              <a:t>fisier</a:t>
            </a:r>
            <a:r>
              <a:rPr lang="en-US" dirty="0"/>
              <a:t>. </a:t>
            </a:r>
          </a:p>
          <a:p>
            <a:r>
              <a:rPr lang="en-US" dirty="0"/>
              <a:t>Un </a:t>
            </a:r>
            <a:r>
              <a:rPr lang="en-US" dirty="0" err="1"/>
              <a:t>fisier</a:t>
            </a:r>
            <a:r>
              <a:rPr lang="en-US" dirty="0"/>
              <a:t> web-</a:t>
            </a:r>
            <a:r>
              <a:rPr lang="en-US" dirty="0" err="1"/>
              <a:t>fragment.xml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livrat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intermediul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arhive</a:t>
            </a:r>
            <a:r>
              <a:rPr lang="en-US" dirty="0"/>
              <a:t> jar (</a:t>
            </a:r>
            <a:r>
              <a:rPr lang="en-US" dirty="0" err="1"/>
              <a:t>accesibila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classpath</a:t>
            </a:r>
            <a:r>
              <a:rPr lang="en-US" dirty="0"/>
              <a:t>) </a:t>
            </a:r>
            <a:r>
              <a:rPr lang="en-US" dirty="0" err="1"/>
              <a:t>folosita</a:t>
            </a:r>
            <a:r>
              <a:rPr lang="en-US" dirty="0"/>
              <a:t> in </a:t>
            </a:r>
            <a:r>
              <a:rPr lang="en-US" dirty="0" err="1"/>
              <a:t>aplicatie</a:t>
            </a:r>
            <a:r>
              <a:rPr lang="en-US" dirty="0"/>
              <a:t>. </a:t>
            </a:r>
            <a:r>
              <a:rPr lang="en-US" dirty="0" err="1"/>
              <a:t>Fisierul</a:t>
            </a:r>
            <a:r>
              <a:rPr lang="en-US" dirty="0"/>
              <a:t> se </a:t>
            </a:r>
            <a:r>
              <a:rPr lang="en-US" dirty="0" err="1"/>
              <a:t>afla</a:t>
            </a:r>
            <a:r>
              <a:rPr lang="en-US" dirty="0"/>
              <a:t> in </a:t>
            </a:r>
            <a:r>
              <a:rPr lang="en-US" dirty="0" err="1"/>
              <a:t>subdirectorul</a:t>
            </a:r>
            <a:r>
              <a:rPr lang="en-US" dirty="0"/>
              <a:t> </a:t>
            </a:r>
            <a:r>
              <a:rPr lang="en-US" b="1" dirty="0"/>
              <a:t>META-INF</a:t>
            </a:r>
            <a:r>
              <a:rPr lang="en-US" dirty="0"/>
              <a:t> al </a:t>
            </a:r>
            <a:r>
              <a:rPr lang="en-US" dirty="0" err="1"/>
              <a:t>arhivei</a:t>
            </a:r>
            <a:r>
              <a:rPr lang="en-US" dirty="0"/>
              <a:t> jar. </a:t>
            </a:r>
          </a:p>
          <a:p>
            <a:endParaRPr lang="en-US" dirty="0"/>
          </a:p>
          <a:p>
            <a:r>
              <a:rPr lang="en-US" dirty="0" err="1"/>
              <a:t>Continutul</a:t>
            </a:r>
            <a:r>
              <a:rPr lang="en-US" dirty="0"/>
              <a:t> </a:t>
            </a:r>
            <a:r>
              <a:rPr lang="en-US" dirty="0" err="1"/>
              <a:t>lui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&lt;web-fragment - - - &gt;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- - - 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element(e): &lt;servlet&gt;, &lt;filter&gt;, &lt;listener&gt;, &lt;servlet-mapping&gt;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s.a.m.d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.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- - -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&lt;/web-fragment&gt; </a:t>
            </a:r>
          </a:p>
          <a:p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r>
              <a:rPr lang="en-US" dirty="0" err="1">
                <a:solidFill>
                  <a:srgbClr val="002060"/>
                </a:solidFill>
              </a:rPr>
              <a:t>Daca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informatiile</a:t>
            </a:r>
            <a:r>
              <a:rPr lang="en-US" dirty="0">
                <a:solidFill>
                  <a:srgbClr val="002060"/>
                </a:solidFill>
              </a:rPr>
              <a:t> din </a:t>
            </a:r>
            <a:r>
              <a:rPr lang="en-US" dirty="0" err="1">
                <a:solidFill>
                  <a:srgbClr val="002060"/>
                </a:solidFill>
              </a:rPr>
              <a:t>diversele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descrieri</a:t>
            </a:r>
            <a:r>
              <a:rPr lang="en-US" dirty="0">
                <a:solidFill>
                  <a:srgbClr val="002060"/>
                </a:solidFill>
              </a:rPr>
              <a:t> (</a:t>
            </a:r>
            <a:r>
              <a:rPr lang="en-US" dirty="0" err="1">
                <a:solidFill>
                  <a:srgbClr val="002060"/>
                </a:solidFill>
              </a:rPr>
              <a:t>web.xml</a:t>
            </a:r>
            <a:r>
              <a:rPr lang="en-US" dirty="0">
                <a:solidFill>
                  <a:srgbClr val="002060"/>
                </a:solidFill>
              </a:rPr>
              <a:t>, diverse web-</a:t>
            </a:r>
            <a:r>
              <a:rPr lang="en-US" dirty="0" err="1">
                <a:solidFill>
                  <a:srgbClr val="002060"/>
                </a:solidFill>
              </a:rPr>
              <a:t>fragment.xml</a:t>
            </a:r>
            <a:r>
              <a:rPr lang="en-US" dirty="0">
                <a:solidFill>
                  <a:srgbClr val="002060"/>
                </a:solidFill>
              </a:rPr>
              <a:t> etc.) se </a:t>
            </a:r>
            <a:r>
              <a:rPr lang="en-US" dirty="0" err="1">
                <a:solidFill>
                  <a:srgbClr val="002060"/>
                </a:solidFill>
              </a:rPr>
              <a:t>suprapun</a:t>
            </a:r>
            <a:r>
              <a:rPr lang="en-US" dirty="0">
                <a:solidFill>
                  <a:srgbClr val="002060"/>
                </a:solidFill>
              </a:rPr>
              <a:t>,  </a:t>
            </a:r>
            <a:r>
              <a:rPr lang="en-US" dirty="0" err="1">
                <a:solidFill>
                  <a:srgbClr val="002060"/>
                </a:solidFill>
              </a:rPr>
              <a:t>exista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posibilitatea</a:t>
            </a:r>
            <a:r>
              <a:rPr lang="en-US" dirty="0">
                <a:solidFill>
                  <a:srgbClr val="002060"/>
                </a:solidFill>
              </a:rPr>
              <a:t>, </a:t>
            </a:r>
            <a:r>
              <a:rPr lang="en-US" dirty="0" err="1">
                <a:solidFill>
                  <a:srgbClr val="002060"/>
                </a:solidFill>
              </a:rPr>
              <a:t>prin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b="1" dirty="0">
                <a:solidFill>
                  <a:srgbClr val="002060"/>
                </a:solidFill>
              </a:rPr>
              <a:t>&lt;absolute-ordering&gt;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si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b="1" dirty="0">
                <a:solidFill>
                  <a:srgbClr val="002060"/>
                </a:solidFill>
              </a:rPr>
              <a:t>&lt;relative-ordering&gt;, </a:t>
            </a:r>
            <a:r>
              <a:rPr lang="en-US" dirty="0">
                <a:solidFill>
                  <a:srgbClr val="002060"/>
                </a:solidFill>
              </a:rPr>
              <a:t>de a </a:t>
            </a:r>
            <a:r>
              <a:rPr lang="en-US" dirty="0" err="1">
                <a:solidFill>
                  <a:srgbClr val="002060"/>
                </a:solidFill>
              </a:rPr>
              <a:t>organiza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ordinea</a:t>
            </a:r>
            <a:r>
              <a:rPr lang="en-US" dirty="0">
                <a:solidFill>
                  <a:srgbClr val="002060"/>
                </a:solidFill>
              </a:rPr>
              <a:t> de </a:t>
            </a:r>
            <a:r>
              <a:rPr lang="en-US" dirty="0" err="1">
                <a:solidFill>
                  <a:srgbClr val="002060"/>
                </a:solidFill>
              </a:rPr>
              <a:t>evaluare</a:t>
            </a:r>
            <a:r>
              <a:rPr lang="en-US" dirty="0">
                <a:solidFill>
                  <a:srgbClr val="002060"/>
                </a:solidFill>
              </a:rPr>
              <a:t>.</a:t>
            </a:r>
            <a:endParaRPr lang="en-US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8112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26.10.2025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BFM_Servlets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13</a:t>
            </a:fld>
            <a:r>
              <a:rPr lang="en-US" dirty="0"/>
              <a:t>_/_44_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Elemente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de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configurare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/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descriere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filtru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366713"/>
            <a:ext cx="9144000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FF3300"/>
                </a:solidFill>
              </a:rPr>
              <a:t>1. </a:t>
            </a:r>
            <a:r>
              <a:rPr lang="en-US" dirty="0" err="1">
                <a:solidFill>
                  <a:srgbClr val="FF3300"/>
                </a:solidFill>
              </a:rPr>
              <a:t>Inaintea</a:t>
            </a:r>
            <a:r>
              <a:rPr lang="en-US" dirty="0">
                <a:solidFill>
                  <a:srgbClr val="FF3300"/>
                </a:solidFill>
              </a:rPr>
              <a:t> </a:t>
            </a:r>
            <a:r>
              <a:rPr lang="en-US" dirty="0" err="1">
                <a:solidFill>
                  <a:srgbClr val="FF3300"/>
                </a:solidFill>
              </a:rPr>
              <a:t>liniei</a:t>
            </a:r>
            <a:r>
              <a:rPr lang="en-US" dirty="0">
                <a:solidFill>
                  <a:srgbClr val="FF3300"/>
                </a:solidFill>
              </a:rPr>
              <a:t> de </a:t>
            </a:r>
            <a:r>
              <a:rPr lang="en-US" dirty="0" err="1">
                <a:solidFill>
                  <a:srgbClr val="FF3300"/>
                </a:solidFill>
              </a:rPr>
              <a:t>definire</a:t>
            </a:r>
            <a:r>
              <a:rPr lang="en-US" dirty="0">
                <a:solidFill>
                  <a:srgbClr val="FF3300"/>
                </a:solidFill>
              </a:rPr>
              <a:t> a </a:t>
            </a:r>
            <a:r>
              <a:rPr lang="en-US" dirty="0" err="1">
                <a:solidFill>
                  <a:srgbClr val="FF3300"/>
                </a:solidFill>
              </a:rPr>
              <a:t>clasei</a:t>
            </a:r>
            <a:r>
              <a:rPr lang="en-US" dirty="0">
                <a:solidFill>
                  <a:srgbClr val="FF3300"/>
                </a:solidFill>
              </a:rPr>
              <a:t> se </a:t>
            </a:r>
            <a:r>
              <a:rPr lang="en-US" dirty="0" err="1">
                <a:solidFill>
                  <a:srgbClr val="FF3300"/>
                </a:solidFill>
              </a:rPr>
              <a:t>plaseaza</a:t>
            </a:r>
            <a:r>
              <a:rPr lang="en-US" dirty="0">
                <a:solidFill>
                  <a:srgbClr val="FF3300"/>
                </a:solidFill>
              </a:rPr>
              <a:t> </a:t>
            </a:r>
            <a:r>
              <a:rPr lang="en-US" dirty="0" err="1">
                <a:solidFill>
                  <a:srgbClr val="FF3300"/>
                </a:solidFill>
              </a:rPr>
              <a:t>linia</a:t>
            </a:r>
            <a:r>
              <a:rPr lang="en-US" dirty="0">
                <a:solidFill>
                  <a:srgbClr val="FF3300"/>
                </a:solidFill>
              </a:rPr>
              <a:t>:  </a:t>
            </a:r>
            <a:r>
              <a:rPr lang="en-US" b="1" dirty="0">
                <a:solidFill>
                  <a:srgbClr val="002060"/>
                </a:solidFill>
              </a:rPr>
              <a:t>@</a:t>
            </a:r>
            <a:r>
              <a:rPr lang="en-US" b="1" dirty="0" err="1">
                <a:solidFill>
                  <a:srgbClr val="002060"/>
                </a:solidFill>
              </a:rPr>
              <a:t>WebFilter</a:t>
            </a:r>
            <a:r>
              <a:rPr lang="en-US" b="1" dirty="0">
                <a:solidFill>
                  <a:srgbClr val="002060"/>
                </a:solidFill>
              </a:rPr>
              <a:t>("/</a:t>
            </a:r>
            <a:r>
              <a:rPr lang="en-US" b="1" dirty="0" err="1">
                <a:solidFill>
                  <a:srgbClr val="002060"/>
                </a:solidFill>
              </a:rPr>
              <a:t>MAPFIL</a:t>
            </a:r>
            <a:r>
              <a:rPr lang="en-US" b="1" dirty="0">
                <a:solidFill>
                  <a:srgbClr val="002060"/>
                </a:solidFill>
              </a:rPr>
              <a:t>")</a:t>
            </a:r>
          </a:p>
          <a:p>
            <a:pPr>
              <a:spcBef>
                <a:spcPct val="50000"/>
              </a:spcBef>
            </a:pPr>
            <a:r>
              <a:rPr lang="en-US" dirty="0">
                <a:solidFill>
                  <a:srgbClr val="FF3300"/>
                </a:solidFill>
              </a:rPr>
              <a:t>2. Se </a:t>
            </a:r>
            <a:r>
              <a:rPr lang="en-US" dirty="0" err="1">
                <a:solidFill>
                  <a:srgbClr val="FF3300"/>
                </a:solidFill>
              </a:rPr>
              <a:t>adauga</a:t>
            </a:r>
            <a:r>
              <a:rPr lang="en-US" dirty="0">
                <a:solidFill>
                  <a:srgbClr val="FF3300"/>
                </a:solidFill>
              </a:rPr>
              <a:t> in </a:t>
            </a:r>
            <a:r>
              <a:rPr lang="en-US" dirty="0" err="1">
                <a:solidFill>
                  <a:srgbClr val="FF3300"/>
                </a:solidFill>
              </a:rPr>
              <a:t>descriptorul</a:t>
            </a:r>
            <a:r>
              <a:rPr lang="en-US" dirty="0">
                <a:solidFill>
                  <a:srgbClr val="FF3300"/>
                </a:solidFill>
              </a:rPr>
              <a:t> </a:t>
            </a:r>
            <a:r>
              <a:rPr lang="en-US" b="1" dirty="0" err="1">
                <a:solidFill>
                  <a:srgbClr val="002060"/>
                </a:solidFill>
              </a:rPr>
              <a:t>web.xml</a:t>
            </a:r>
            <a:r>
              <a:rPr lang="en-US" dirty="0">
                <a:solidFill>
                  <a:srgbClr val="FF3300"/>
                </a:solidFill>
              </a:rPr>
              <a:t>: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86" y="1151543"/>
            <a:ext cx="91440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- - -</a:t>
            </a:r>
          </a:p>
          <a:p>
            <a:r>
              <a:rPr lang="en-US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&lt;web-app&gt;</a:t>
            </a:r>
          </a:p>
          <a:p>
            <a:r>
              <a:rPr lang="en-US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    - - -</a:t>
            </a:r>
          </a:p>
          <a:p>
            <a:r>
              <a:rPr lang="en-US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    &lt;filter&gt;</a:t>
            </a:r>
          </a:p>
          <a:p>
            <a:r>
              <a:rPr lang="en-US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        &lt;filter-name&gt;</a:t>
            </a:r>
            <a:r>
              <a:rPr lang="en-US" dirty="0" err="1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NumeLocal</a:t>
            </a:r>
            <a:r>
              <a:rPr lang="en-US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&lt;/filter-name&gt;</a:t>
            </a:r>
          </a:p>
          <a:p>
            <a:r>
              <a:rPr lang="en-US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        &lt;filter-class&gt;</a:t>
            </a:r>
            <a:r>
              <a:rPr lang="en-US" dirty="0" err="1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FullClassNameFiltru</a:t>
            </a:r>
            <a:r>
              <a:rPr lang="en-US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&lt;/filter-class&gt;</a:t>
            </a:r>
          </a:p>
          <a:p>
            <a:r>
              <a:rPr lang="en-US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    &lt;/filter&gt;</a:t>
            </a:r>
          </a:p>
          <a:p>
            <a:r>
              <a:rPr lang="en-US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    - - -</a:t>
            </a:r>
          </a:p>
          <a:p>
            <a:r>
              <a:rPr lang="en-US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    &lt;filter-mapping&gt;</a:t>
            </a:r>
          </a:p>
          <a:p>
            <a:r>
              <a:rPr lang="en-US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        &lt;filter-name&gt;</a:t>
            </a:r>
            <a:r>
              <a:rPr lang="en-US" dirty="0" err="1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NumeLocal</a:t>
            </a:r>
            <a:r>
              <a:rPr lang="en-US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&lt;/filter-name&gt;</a:t>
            </a:r>
          </a:p>
          <a:p>
            <a:r>
              <a:rPr lang="en-US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        &lt;</a:t>
            </a:r>
            <a:r>
              <a:rPr lang="en-US" dirty="0" err="1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url</a:t>
            </a:r>
            <a:r>
              <a:rPr lang="en-US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-pattern&gt;/</a:t>
            </a:r>
            <a:r>
              <a:rPr lang="en-US" dirty="0" err="1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MAPFIL</a:t>
            </a:r>
            <a:r>
              <a:rPr lang="en-US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&lt;/</a:t>
            </a:r>
            <a:r>
              <a:rPr lang="en-US" dirty="0" err="1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url</a:t>
            </a:r>
            <a:r>
              <a:rPr lang="en-US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-pattern&gt;</a:t>
            </a:r>
          </a:p>
          <a:p>
            <a:r>
              <a:rPr lang="en-US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    &lt;/filter-mapping&gt;</a:t>
            </a:r>
          </a:p>
          <a:p>
            <a:r>
              <a:rPr lang="en-US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    - - -</a:t>
            </a:r>
          </a:p>
          <a:p>
            <a:r>
              <a:rPr lang="en-US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&lt;/web-app&gt;</a:t>
            </a:r>
            <a:endParaRPr lang="en-US" b="1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6329" y="5176290"/>
            <a:ext cx="9133114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FF3300"/>
                </a:solidFill>
              </a:rPr>
              <a:t>In </a:t>
            </a:r>
            <a:r>
              <a:rPr lang="en-US" dirty="0" err="1">
                <a:solidFill>
                  <a:srgbClr val="FF3300"/>
                </a:solidFill>
              </a:rPr>
              <a:t>web.xml</a:t>
            </a:r>
            <a:r>
              <a:rPr lang="en-US" dirty="0">
                <a:solidFill>
                  <a:srgbClr val="FF3300"/>
                </a:solidFill>
              </a:rPr>
              <a:t> (</a:t>
            </a:r>
            <a:r>
              <a:rPr lang="en-US" dirty="0" err="1">
                <a:solidFill>
                  <a:srgbClr val="FF3300"/>
                </a:solidFill>
              </a:rPr>
              <a:t>sau</a:t>
            </a:r>
            <a:r>
              <a:rPr lang="en-US" dirty="0">
                <a:solidFill>
                  <a:srgbClr val="FF3300"/>
                </a:solidFill>
              </a:rPr>
              <a:t> </a:t>
            </a:r>
            <a:r>
              <a:rPr lang="en-US" dirty="0" err="1">
                <a:solidFill>
                  <a:srgbClr val="FF3300"/>
                </a:solidFill>
              </a:rPr>
              <a:t>adnotari</a:t>
            </a:r>
            <a:r>
              <a:rPr lang="en-US" dirty="0">
                <a:solidFill>
                  <a:srgbClr val="FF3300"/>
                </a:solidFill>
              </a:rPr>
              <a:t>) pot </a:t>
            </a:r>
            <a:r>
              <a:rPr lang="en-US" dirty="0" err="1">
                <a:solidFill>
                  <a:srgbClr val="FF3300"/>
                </a:solidFill>
              </a:rPr>
              <a:t>sa</a:t>
            </a:r>
            <a:r>
              <a:rPr lang="en-US" dirty="0">
                <a:solidFill>
                  <a:srgbClr val="FF3300"/>
                </a:solidFill>
              </a:rPr>
              <a:t> </a:t>
            </a:r>
            <a:r>
              <a:rPr lang="en-US" dirty="0" err="1">
                <a:solidFill>
                  <a:srgbClr val="FF3300"/>
                </a:solidFill>
              </a:rPr>
              <a:t>apara</a:t>
            </a:r>
            <a:r>
              <a:rPr lang="en-US" dirty="0">
                <a:solidFill>
                  <a:srgbClr val="FF3300"/>
                </a:solidFill>
              </a:rPr>
              <a:t> </a:t>
            </a:r>
            <a:r>
              <a:rPr lang="en-US" dirty="0" err="1">
                <a:solidFill>
                  <a:srgbClr val="FF3300"/>
                </a:solidFill>
              </a:rPr>
              <a:t>mai</a:t>
            </a:r>
            <a:r>
              <a:rPr lang="en-US" dirty="0">
                <a:solidFill>
                  <a:srgbClr val="FF3300"/>
                </a:solidFill>
              </a:rPr>
              <a:t> </a:t>
            </a:r>
            <a:r>
              <a:rPr lang="en-US" dirty="0" err="1">
                <a:solidFill>
                  <a:srgbClr val="FF3300"/>
                </a:solidFill>
              </a:rPr>
              <a:t>multe</a:t>
            </a:r>
            <a:r>
              <a:rPr lang="en-US" dirty="0">
                <a:solidFill>
                  <a:srgbClr val="FF3300"/>
                </a:solidFill>
              </a:rPr>
              <a:t> </a:t>
            </a:r>
            <a:r>
              <a:rPr lang="en-US" dirty="0" err="1">
                <a:solidFill>
                  <a:srgbClr val="FF3300"/>
                </a:solidFill>
              </a:rPr>
              <a:t>filtre</a:t>
            </a:r>
            <a:r>
              <a:rPr lang="en-US" dirty="0">
                <a:solidFill>
                  <a:srgbClr val="FF3300"/>
                </a:solidFill>
              </a:rPr>
              <a:t>. </a:t>
            </a:r>
            <a:r>
              <a:rPr lang="en-US" dirty="0" err="1">
                <a:solidFill>
                  <a:srgbClr val="FF3300"/>
                </a:solidFill>
              </a:rPr>
              <a:t>Ordinea</a:t>
            </a:r>
            <a:r>
              <a:rPr lang="en-US" dirty="0">
                <a:solidFill>
                  <a:srgbClr val="FF3300"/>
                </a:solidFill>
              </a:rPr>
              <a:t> de </a:t>
            </a:r>
            <a:r>
              <a:rPr lang="en-US" dirty="0" err="1">
                <a:solidFill>
                  <a:srgbClr val="FF3300"/>
                </a:solidFill>
              </a:rPr>
              <a:t>interceptare</a:t>
            </a:r>
            <a:r>
              <a:rPr lang="en-US" dirty="0">
                <a:solidFill>
                  <a:srgbClr val="FF3300"/>
                </a:solidFill>
              </a:rPr>
              <a:t> </a:t>
            </a:r>
            <a:r>
              <a:rPr lang="en-US" dirty="0" err="1">
                <a:solidFill>
                  <a:srgbClr val="FF3300"/>
                </a:solidFill>
              </a:rPr>
              <a:t>pentru</a:t>
            </a:r>
            <a:r>
              <a:rPr lang="en-US" dirty="0">
                <a:solidFill>
                  <a:srgbClr val="FF3300"/>
                </a:solidFill>
              </a:rPr>
              <a:t> </a:t>
            </a:r>
            <a:r>
              <a:rPr lang="en-US" b="1" dirty="0">
                <a:solidFill>
                  <a:srgbClr val="FF3300"/>
                </a:solidFill>
              </a:rPr>
              <a:t>request</a:t>
            </a:r>
            <a:r>
              <a:rPr lang="en-US" dirty="0">
                <a:solidFill>
                  <a:srgbClr val="FF3300"/>
                </a:solidFill>
              </a:rPr>
              <a:t> </a:t>
            </a:r>
            <a:r>
              <a:rPr lang="en-US" dirty="0" err="1">
                <a:solidFill>
                  <a:srgbClr val="FF3300"/>
                </a:solidFill>
              </a:rPr>
              <a:t>este</a:t>
            </a:r>
            <a:r>
              <a:rPr lang="en-US" dirty="0">
                <a:solidFill>
                  <a:srgbClr val="FF3300"/>
                </a:solidFill>
              </a:rPr>
              <a:t> </a:t>
            </a:r>
            <a:r>
              <a:rPr lang="en-US" dirty="0" err="1">
                <a:solidFill>
                  <a:srgbClr val="FF3300"/>
                </a:solidFill>
              </a:rPr>
              <a:t>ordinea</a:t>
            </a:r>
            <a:r>
              <a:rPr lang="en-US" dirty="0">
                <a:solidFill>
                  <a:srgbClr val="FF3300"/>
                </a:solidFill>
              </a:rPr>
              <a:t> de </a:t>
            </a:r>
            <a:r>
              <a:rPr lang="en-US" dirty="0" err="1">
                <a:solidFill>
                  <a:srgbClr val="FF3300"/>
                </a:solidFill>
              </a:rPr>
              <a:t>aparitie</a:t>
            </a:r>
            <a:r>
              <a:rPr lang="en-US" dirty="0">
                <a:solidFill>
                  <a:srgbClr val="FF3300"/>
                </a:solidFill>
              </a:rPr>
              <a:t> a </a:t>
            </a:r>
            <a:r>
              <a:rPr lang="en-US" dirty="0" err="1">
                <a:solidFill>
                  <a:srgbClr val="FF3300"/>
                </a:solidFill>
              </a:rPr>
              <a:t>lor</a:t>
            </a:r>
            <a:r>
              <a:rPr lang="en-US" dirty="0">
                <a:solidFill>
                  <a:srgbClr val="FF3300"/>
                </a:solidFill>
              </a:rPr>
              <a:t> (FIFO), </a:t>
            </a:r>
            <a:r>
              <a:rPr lang="en-US" dirty="0" err="1">
                <a:solidFill>
                  <a:srgbClr val="FF3300"/>
                </a:solidFill>
              </a:rPr>
              <a:t>iar</a:t>
            </a:r>
            <a:r>
              <a:rPr lang="en-US" dirty="0">
                <a:solidFill>
                  <a:srgbClr val="FF3300"/>
                </a:solidFill>
              </a:rPr>
              <a:t> </a:t>
            </a:r>
            <a:r>
              <a:rPr lang="en-US" dirty="0" err="1">
                <a:solidFill>
                  <a:srgbClr val="FF3300"/>
                </a:solidFill>
              </a:rPr>
              <a:t>pentru</a:t>
            </a:r>
            <a:r>
              <a:rPr lang="en-US" dirty="0">
                <a:solidFill>
                  <a:srgbClr val="FF3300"/>
                </a:solidFill>
              </a:rPr>
              <a:t> </a:t>
            </a:r>
            <a:r>
              <a:rPr lang="en-US" b="1" dirty="0">
                <a:solidFill>
                  <a:srgbClr val="FF3300"/>
                </a:solidFill>
              </a:rPr>
              <a:t>response</a:t>
            </a:r>
            <a:r>
              <a:rPr lang="en-US" dirty="0">
                <a:solidFill>
                  <a:srgbClr val="FF3300"/>
                </a:solidFill>
              </a:rPr>
              <a:t> </a:t>
            </a:r>
            <a:r>
              <a:rPr lang="en-US" dirty="0" err="1">
                <a:solidFill>
                  <a:srgbClr val="FF3300"/>
                </a:solidFill>
              </a:rPr>
              <a:t>este</a:t>
            </a:r>
            <a:r>
              <a:rPr lang="en-US" dirty="0">
                <a:solidFill>
                  <a:srgbClr val="FF3300"/>
                </a:solidFill>
              </a:rPr>
              <a:t> </a:t>
            </a:r>
            <a:r>
              <a:rPr lang="en-US" dirty="0" err="1">
                <a:solidFill>
                  <a:srgbClr val="FF3300"/>
                </a:solidFill>
              </a:rPr>
              <a:t>ordinea</a:t>
            </a:r>
            <a:r>
              <a:rPr lang="en-US" dirty="0">
                <a:solidFill>
                  <a:srgbClr val="FF3300"/>
                </a:solidFill>
              </a:rPr>
              <a:t> </a:t>
            </a:r>
            <a:r>
              <a:rPr lang="en-US" dirty="0" err="1">
                <a:solidFill>
                  <a:srgbClr val="FF3300"/>
                </a:solidFill>
              </a:rPr>
              <a:t>inversa</a:t>
            </a:r>
            <a:r>
              <a:rPr lang="en-US" dirty="0">
                <a:solidFill>
                  <a:srgbClr val="FF3300"/>
                </a:solidFill>
              </a:rPr>
              <a:t> a </a:t>
            </a:r>
            <a:r>
              <a:rPr lang="en-US" dirty="0" err="1">
                <a:solidFill>
                  <a:srgbClr val="FF3300"/>
                </a:solidFill>
              </a:rPr>
              <a:t>aparitiilor</a:t>
            </a:r>
            <a:r>
              <a:rPr lang="en-US" dirty="0">
                <a:solidFill>
                  <a:srgbClr val="FF3300"/>
                </a:solidFill>
              </a:rPr>
              <a:t> (LIFO).</a:t>
            </a:r>
          </a:p>
          <a:p>
            <a:pPr>
              <a:spcBef>
                <a:spcPct val="50000"/>
              </a:spcBef>
            </a:pPr>
            <a:r>
              <a:rPr lang="en-US" dirty="0" err="1">
                <a:solidFill>
                  <a:srgbClr val="FF3300"/>
                </a:solidFill>
              </a:rPr>
              <a:t>Definirea</a:t>
            </a:r>
            <a:r>
              <a:rPr lang="en-US" dirty="0">
                <a:solidFill>
                  <a:srgbClr val="FF3300"/>
                </a:solidFill>
              </a:rPr>
              <a:t> de diverse </a:t>
            </a:r>
            <a:r>
              <a:rPr lang="en-US" dirty="0" err="1">
                <a:solidFill>
                  <a:srgbClr val="FF3300"/>
                </a:solidFill>
              </a:rPr>
              <a:t>MAPFIL</a:t>
            </a:r>
            <a:r>
              <a:rPr lang="en-US" dirty="0">
                <a:solidFill>
                  <a:srgbClr val="FF3300"/>
                </a:solidFill>
              </a:rPr>
              <a:t> </a:t>
            </a:r>
            <a:r>
              <a:rPr lang="en-US" dirty="0" err="1">
                <a:solidFill>
                  <a:srgbClr val="FF3300"/>
                </a:solidFill>
              </a:rPr>
              <a:t>permite</a:t>
            </a:r>
            <a:r>
              <a:rPr lang="en-US" dirty="0">
                <a:solidFill>
                  <a:srgbClr val="FF3300"/>
                </a:solidFill>
              </a:rPr>
              <a:t> </a:t>
            </a:r>
            <a:r>
              <a:rPr lang="en-US" dirty="0" err="1">
                <a:solidFill>
                  <a:srgbClr val="FF3300"/>
                </a:solidFill>
              </a:rPr>
              <a:t>selectarea</a:t>
            </a:r>
            <a:r>
              <a:rPr lang="en-US" dirty="0">
                <a:solidFill>
                  <a:srgbClr val="FF3300"/>
                </a:solidFill>
              </a:rPr>
              <a:t> </a:t>
            </a:r>
            <a:r>
              <a:rPr lang="en-US" dirty="0" err="1">
                <a:solidFill>
                  <a:srgbClr val="FF3300"/>
                </a:solidFill>
              </a:rPr>
              <a:t>filtrelor</a:t>
            </a:r>
            <a:r>
              <a:rPr lang="en-US" dirty="0">
                <a:solidFill>
                  <a:srgbClr val="FF3300"/>
                </a:solidFill>
              </a:rPr>
              <a:t> </a:t>
            </a:r>
            <a:r>
              <a:rPr lang="en-US" dirty="0" err="1">
                <a:solidFill>
                  <a:srgbClr val="FF3300"/>
                </a:solidFill>
              </a:rPr>
              <a:t>pentru</a:t>
            </a:r>
            <a:r>
              <a:rPr lang="en-US" dirty="0">
                <a:solidFill>
                  <a:srgbClr val="FF3300"/>
                </a:solidFill>
              </a:rPr>
              <a:t> diverse </a:t>
            </a:r>
            <a:r>
              <a:rPr lang="en-US" dirty="0" err="1">
                <a:solidFill>
                  <a:srgbClr val="FF3300"/>
                </a:solidFill>
              </a:rPr>
              <a:t>servleturi</a:t>
            </a:r>
            <a:r>
              <a:rPr lang="en-US" dirty="0">
                <a:solidFill>
                  <a:srgbClr val="FF33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58112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26.10.2025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BFM_Servlets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14</a:t>
            </a:fld>
            <a:r>
              <a:rPr lang="en-US" dirty="0"/>
              <a:t>_/_44_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Configurare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listener 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374642"/>
            <a:ext cx="9144000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FF3300"/>
                </a:solidFill>
              </a:rPr>
              <a:t>1. </a:t>
            </a:r>
            <a:r>
              <a:rPr lang="en-US" dirty="0" err="1">
                <a:solidFill>
                  <a:srgbClr val="FF3300"/>
                </a:solidFill>
              </a:rPr>
              <a:t>Inaintea</a:t>
            </a:r>
            <a:r>
              <a:rPr lang="en-US" dirty="0">
                <a:solidFill>
                  <a:srgbClr val="FF3300"/>
                </a:solidFill>
              </a:rPr>
              <a:t> </a:t>
            </a:r>
            <a:r>
              <a:rPr lang="en-US" dirty="0" err="1">
                <a:solidFill>
                  <a:srgbClr val="FF3300"/>
                </a:solidFill>
              </a:rPr>
              <a:t>liniei</a:t>
            </a:r>
            <a:r>
              <a:rPr lang="en-US" dirty="0">
                <a:solidFill>
                  <a:srgbClr val="FF3300"/>
                </a:solidFill>
              </a:rPr>
              <a:t> de </a:t>
            </a:r>
            <a:r>
              <a:rPr lang="en-US" dirty="0" err="1">
                <a:solidFill>
                  <a:srgbClr val="FF3300"/>
                </a:solidFill>
              </a:rPr>
              <a:t>definire</a:t>
            </a:r>
            <a:r>
              <a:rPr lang="en-US" dirty="0">
                <a:solidFill>
                  <a:srgbClr val="FF3300"/>
                </a:solidFill>
              </a:rPr>
              <a:t> a </a:t>
            </a:r>
            <a:r>
              <a:rPr lang="en-US" dirty="0" err="1">
                <a:solidFill>
                  <a:srgbClr val="FF3300"/>
                </a:solidFill>
              </a:rPr>
              <a:t>clasei</a:t>
            </a:r>
            <a:r>
              <a:rPr lang="en-US" dirty="0">
                <a:solidFill>
                  <a:srgbClr val="FF3300"/>
                </a:solidFill>
              </a:rPr>
              <a:t> se </a:t>
            </a:r>
            <a:r>
              <a:rPr lang="en-US" dirty="0" err="1">
                <a:solidFill>
                  <a:srgbClr val="FF3300"/>
                </a:solidFill>
              </a:rPr>
              <a:t>plaseaza</a:t>
            </a:r>
            <a:r>
              <a:rPr lang="en-US" dirty="0">
                <a:solidFill>
                  <a:srgbClr val="FF3300"/>
                </a:solidFill>
              </a:rPr>
              <a:t> </a:t>
            </a:r>
            <a:r>
              <a:rPr lang="en-US" dirty="0" err="1">
                <a:solidFill>
                  <a:srgbClr val="FF3300"/>
                </a:solidFill>
              </a:rPr>
              <a:t>linia</a:t>
            </a:r>
            <a:r>
              <a:rPr lang="en-US" dirty="0">
                <a:solidFill>
                  <a:srgbClr val="FF3300"/>
                </a:solidFill>
              </a:rPr>
              <a:t>:  </a:t>
            </a:r>
            <a:r>
              <a:rPr lang="en-US" b="1" dirty="0">
                <a:solidFill>
                  <a:srgbClr val="002060"/>
                </a:solidFill>
              </a:rPr>
              <a:t>@</a:t>
            </a:r>
            <a:r>
              <a:rPr lang="en-US" b="1" dirty="0" err="1">
                <a:solidFill>
                  <a:srgbClr val="002060"/>
                </a:solidFill>
              </a:rPr>
              <a:t>WebListener</a:t>
            </a:r>
            <a:endParaRPr lang="en-US" b="1" dirty="0">
              <a:solidFill>
                <a:srgbClr val="002060"/>
              </a:solidFill>
            </a:endParaRPr>
          </a:p>
          <a:p>
            <a:pPr>
              <a:spcBef>
                <a:spcPct val="50000"/>
              </a:spcBef>
            </a:pPr>
            <a:r>
              <a:rPr lang="en-US" dirty="0">
                <a:solidFill>
                  <a:srgbClr val="FF3300"/>
                </a:solidFill>
              </a:rPr>
              <a:t>2. Se </a:t>
            </a:r>
            <a:r>
              <a:rPr lang="en-US" dirty="0" err="1">
                <a:solidFill>
                  <a:srgbClr val="FF3300"/>
                </a:solidFill>
              </a:rPr>
              <a:t>adauga</a:t>
            </a:r>
            <a:r>
              <a:rPr lang="en-US" dirty="0">
                <a:solidFill>
                  <a:srgbClr val="FF3300"/>
                </a:solidFill>
              </a:rPr>
              <a:t> in </a:t>
            </a:r>
            <a:r>
              <a:rPr lang="en-US" dirty="0" err="1">
                <a:solidFill>
                  <a:srgbClr val="FF3300"/>
                </a:solidFill>
              </a:rPr>
              <a:t>descriptorul</a:t>
            </a:r>
            <a:r>
              <a:rPr lang="en-US" dirty="0">
                <a:solidFill>
                  <a:srgbClr val="FF3300"/>
                </a:solidFill>
              </a:rPr>
              <a:t> </a:t>
            </a:r>
            <a:r>
              <a:rPr lang="en-US" b="1" dirty="0" err="1">
                <a:solidFill>
                  <a:srgbClr val="002060"/>
                </a:solidFill>
              </a:rPr>
              <a:t>web.xml</a:t>
            </a:r>
            <a:r>
              <a:rPr lang="en-US" dirty="0">
                <a:solidFill>
                  <a:srgbClr val="FF3300"/>
                </a:solidFill>
              </a:rPr>
              <a:t>: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" y="1371600"/>
            <a:ext cx="8915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- - -</a:t>
            </a:r>
          </a:p>
          <a:p>
            <a:r>
              <a:rPr lang="en-US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&lt;web-app&gt;</a:t>
            </a:r>
          </a:p>
          <a:p>
            <a:r>
              <a:rPr lang="en-US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   - - -</a:t>
            </a:r>
          </a:p>
          <a:p>
            <a:r>
              <a:rPr lang="en-US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   &lt;listener&gt;</a:t>
            </a:r>
          </a:p>
          <a:p>
            <a:r>
              <a:rPr lang="en-US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       &lt;listener-class&gt;</a:t>
            </a:r>
            <a:r>
              <a:rPr lang="en-US" dirty="0" err="1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FullClassNameListener</a:t>
            </a:r>
            <a:r>
              <a:rPr lang="en-US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&lt;/listener-class&gt;</a:t>
            </a:r>
          </a:p>
          <a:p>
            <a:r>
              <a:rPr lang="en-US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   &lt;/listener&gt;</a:t>
            </a:r>
          </a:p>
          <a:p>
            <a:r>
              <a:rPr lang="en-US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   - - -</a:t>
            </a:r>
          </a:p>
          <a:p>
            <a:r>
              <a:rPr lang="en-US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&lt;/web-app&gt;</a:t>
            </a:r>
            <a:endParaRPr lang="en-US" b="1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8112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26.10.2025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BFM_Servlets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15</a:t>
            </a:fld>
            <a:r>
              <a:rPr lang="en-US" dirty="0"/>
              <a:t>_/_44_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Initializarea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unui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servlet 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8337944"/>
              </p:ext>
            </p:extLst>
          </p:nvPr>
        </p:nvGraphicFramePr>
        <p:xfrm>
          <a:off x="152400" y="685800"/>
          <a:ext cx="8839200" cy="5578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1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5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/>
                        <a:t>Folosind</a:t>
                      </a:r>
                      <a:r>
                        <a:rPr lang="en-US" sz="1800" dirty="0"/>
                        <a:t>  @</a:t>
                      </a:r>
                      <a:r>
                        <a:rPr lang="en-US" sz="1800" dirty="0" err="1"/>
                        <a:t>WebInitParam</a:t>
                      </a:r>
                      <a:endParaRPr lang="en-US" sz="18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/>
                        <a:t>Folosind init si web.xml</a:t>
                      </a:r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686">
                <a:tc>
                  <a:txBody>
                    <a:bodyPr/>
                    <a:lstStyle/>
                    <a:p>
                      <a:r>
                        <a:rPr kumimoji="0" lang="en-US" sz="1600" kern="1200" baseline="0" dirty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@</a:t>
                      </a:r>
                      <a:r>
                        <a:rPr kumimoji="0" lang="en-US" sz="1600" kern="1200" baseline="0" dirty="0" err="1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WebServlet</a:t>
                      </a:r>
                      <a:r>
                        <a:rPr kumimoji="0" lang="en-US" sz="1600" kern="1200" baseline="0" dirty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(</a:t>
                      </a:r>
                      <a:r>
                        <a:rPr kumimoji="0" lang="en-US" sz="1600" kern="1200" baseline="0" dirty="0" err="1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urlPatterns</a:t>
                      </a:r>
                      <a:r>
                        <a:rPr kumimoji="0" lang="en-US" sz="1600" kern="1200" baseline="0" dirty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="/- - -",</a:t>
                      </a:r>
                    </a:p>
                    <a:p>
                      <a:r>
                        <a:rPr kumimoji="0" lang="en-US" sz="1600" kern="1200" baseline="0" dirty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   </a:t>
                      </a:r>
                      <a:r>
                        <a:rPr kumimoji="0" lang="en-US" sz="1600" kern="1200" baseline="0" dirty="0" err="1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initParams</a:t>
                      </a:r>
                      <a:r>
                        <a:rPr kumimoji="0" lang="en-US" sz="1600" kern="1200" baseline="0" dirty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=</a:t>
                      </a:r>
                    </a:p>
                    <a:p>
                      <a:r>
                        <a:rPr kumimoji="0" lang="en-US" sz="1600" kern="1200" baseline="0" dirty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       @</a:t>
                      </a:r>
                      <a:r>
                        <a:rPr kumimoji="0" lang="en-US" sz="1600" kern="1200" baseline="0" dirty="0" err="1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WebInitParam</a:t>
                      </a:r>
                      <a:r>
                        <a:rPr kumimoji="0" lang="en-US" sz="1600" kern="1200" baseline="0" dirty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(</a:t>
                      </a:r>
                    </a:p>
                    <a:p>
                      <a:r>
                        <a:rPr kumimoji="0" lang="en-US" sz="1600" kern="1200" baseline="0" dirty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           name=“MAXIM",</a:t>
                      </a:r>
                    </a:p>
                    <a:p>
                      <a:r>
                        <a:rPr kumimoji="0" lang="en-US" sz="1600" kern="1200" baseline="0" dirty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           value="100"</a:t>
                      </a:r>
                    </a:p>
                    <a:p>
                      <a:r>
                        <a:rPr kumimoji="0" lang="en-US" sz="1600" kern="1200" baseline="0" dirty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   )</a:t>
                      </a:r>
                    </a:p>
                    <a:p>
                      <a:r>
                        <a:rPr kumimoji="0" lang="en-US" sz="1600" kern="1200" baseline="0" dirty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)</a:t>
                      </a:r>
                    </a:p>
                    <a:p>
                      <a:endParaRPr kumimoji="0" lang="en-US" sz="1600" kern="1200" baseline="0" dirty="0">
                        <a:solidFill>
                          <a:schemeClr val="dk1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  <a:p>
                      <a:endParaRPr kumimoji="0" lang="en-US" sz="1600" kern="1200" baseline="0" dirty="0">
                        <a:solidFill>
                          <a:schemeClr val="dk1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  <a:p>
                      <a:endParaRPr kumimoji="0" lang="en-US" sz="1600" kern="1200" baseline="0" dirty="0">
                        <a:solidFill>
                          <a:schemeClr val="dk1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  <a:p>
                      <a:r>
                        <a:rPr kumimoji="0" lang="en-US" sz="1600" kern="1200" baseline="0" dirty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public class </a:t>
                      </a:r>
                      <a:r>
                        <a:rPr kumimoji="0" lang="en-US" sz="1600" kern="1200" baseline="0" dirty="0" err="1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UnServlet</a:t>
                      </a:r>
                      <a:r>
                        <a:rPr kumimoji="0" lang="en-US" sz="1600" kern="1200" baseline="0" dirty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- - - {</a:t>
                      </a:r>
                      <a:endParaRPr lang="en-US" sz="16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r>
                        <a:rPr lang="en-US" sz="1800" b="1" dirty="0" err="1">
                          <a:solidFill>
                            <a:srgbClr val="C00000"/>
                          </a:solidFill>
                        </a:rPr>
                        <a:t>web.xml</a:t>
                      </a:r>
                      <a:r>
                        <a:rPr lang="en-US" sz="1800" b="1" dirty="0">
                          <a:solidFill>
                            <a:srgbClr val="C00000"/>
                          </a:solidFill>
                        </a:rPr>
                        <a:t>:</a:t>
                      </a:r>
                    </a:p>
                    <a:p>
                      <a:r>
                        <a:rPr lang="ro-RO" sz="1600" dirty="0">
                          <a:latin typeface="Courier New" pitchFamily="49" charset="0"/>
                          <a:cs typeface="Courier New" pitchFamily="49" charset="0"/>
                        </a:rPr>
                        <a:t>&lt;web-app&gt;</a:t>
                      </a:r>
                      <a:r>
                        <a:rPr lang="en-US" sz="1600" dirty="0">
                          <a:latin typeface="Courier New" pitchFamily="49" charset="0"/>
                          <a:cs typeface="Courier New" pitchFamily="49" charset="0"/>
                        </a:rPr>
                        <a:t> - - - </a:t>
                      </a:r>
                      <a:r>
                        <a:rPr lang="ro-RO" sz="1600" dirty="0">
                          <a:latin typeface="Courier New" pitchFamily="49" charset="0"/>
                          <a:cs typeface="Courier New" pitchFamily="49" charset="0"/>
                        </a:rPr>
                        <a:t>&lt;servlet&gt;</a:t>
                      </a:r>
                    </a:p>
                    <a:p>
                      <a:r>
                        <a:rPr lang="ro-RO" sz="1600" dirty="0">
                          <a:latin typeface="Courier New" pitchFamily="49" charset="0"/>
                          <a:cs typeface="Courier New" pitchFamily="49" charset="0"/>
                        </a:rPr>
                        <a:t>&lt;servlet-name&gt;</a:t>
                      </a:r>
                      <a:r>
                        <a:rPr lang="en-US" sz="1600" dirty="0">
                          <a:latin typeface="Courier New" pitchFamily="49" charset="0"/>
                          <a:cs typeface="Courier New" pitchFamily="49" charset="0"/>
                        </a:rPr>
                        <a:t>---</a:t>
                      </a:r>
                      <a:r>
                        <a:rPr lang="ro-RO" sz="1600" dirty="0">
                          <a:latin typeface="Courier New" pitchFamily="49" charset="0"/>
                          <a:cs typeface="Courier New" pitchFamily="49" charset="0"/>
                        </a:rPr>
                        <a:t>&lt;/servlet-name&gt;</a:t>
                      </a:r>
                    </a:p>
                    <a:p>
                      <a:r>
                        <a:rPr lang="ro-RO" sz="1600" dirty="0">
                          <a:latin typeface="Courier New" pitchFamily="49" charset="0"/>
                          <a:cs typeface="Courier New" pitchFamily="49" charset="0"/>
                        </a:rPr>
                        <a:t>&lt;servlet-class&gt;</a:t>
                      </a:r>
                      <a:r>
                        <a:rPr lang="en-US" sz="1600" dirty="0">
                          <a:latin typeface="Courier New" pitchFamily="49" charset="0"/>
                          <a:cs typeface="Courier New" pitchFamily="49" charset="0"/>
                        </a:rPr>
                        <a:t>---</a:t>
                      </a:r>
                      <a:r>
                        <a:rPr lang="ro-RO" sz="1600" dirty="0">
                          <a:latin typeface="Courier New" pitchFamily="49" charset="0"/>
                          <a:cs typeface="Courier New" pitchFamily="49" charset="0"/>
                        </a:rPr>
                        <a:t>&lt;/servlet-class&gt;</a:t>
                      </a:r>
                      <a:endParaRPr lang="en-US" sz="1600" dirty="0"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r>
                        <a:rPr lang="ro-RO" sz="1600" dirty="0">
                          <a:latin typeface="Courier New" pitchFamily="49" charset="0"/>
                          <a:cs typeface="Courier New" pitchFamily="49" charset="0"/>
                        </a:rPr>
                        <a:t>&lt;init-param&gt;</a:t>
                      </a:r>
                    </a:p>
                    <a:p>
                      <a:r>
                        <a:rPr lang="en-US" sz="1600" dirty="0">
                          <a:latin typeface="Courier New" pitchFamily="49" charset="0"/>
                          <a:cs typeface="Courier New" pitchFamily="49" charset="0"/>
                        </a:rPr>
                        <a:t>    </a:t>
                      </a:r>
                      <a:r>
                        <a:rPr lang="ro-RO" sz="1600" dirty="0">
                          <a:latin typeface="Courier New" pitchFamily="49" charset="0"/>
                          <a:cs typeface="Courier New" pitchFamily="49" charset="0"/>
                        </a:rPr>
                        <a:t>&lt;param-name&gt;MAXIM&lt;/param-name&gt;</a:t>
                      </a:r>
                    </a:p>
                    <a:p>
                      <a:r>
                        <a:rPr lang="ro-RO" sz="1600" dirty="0">
                          <a:latin typeface="Courier New" pitchFamily="49" charset="0"/>
                          <a:cs typeface="Courier New" pitchFamily="49" charset="0"/>
                        </a:rPr>
                        <a:t>    &lt;param-value&gt;1</a:t>
                      </a:r>
                      <a:r>
                        <a:rPr lang="en-US" sz="1600" dirty="0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r>
                        <a:rPr lang="ro-RO" sz="1600" dirty="0">
                          <a:latin typeface="Courier New" pitchFamily="49" charset="0"/>
                          <a:cs typeface="Courier New" pitchFamily="49" charset="0"/>
                        </a:rPr>
                        <a:t>&lt;/param-value&gt;</a:t>
                      </a:r>
                    </a:p>
                    <a:p>
                      <a:r>
                        <a:rPr lang="ro-RO" sz="1600" dirty="0">
                          <a:latin typeface="Courier New" pitchFamily="49" charset="0"/>
                          <a:cs typeface="Courier New" pitchFamily="49" charset="0"/>
                        </a:rPr>
                        <a:t>&lt;/init-param&gt;</a:t>
                      </a:r>
                      <a:r>
                        <a:rPr lang="en-US" sz="1600" dirty="0">
                          <a:latin typeface="Courier New" pitchFamily="49" charset="0"/>
                          <a:cs typeface="Courier New" pitchFamily="49" charset="0"/>
                        </a:rPr>
                        <a:t> - - -</a:t>
                      </a:r>
                      <a:r>
                        <a:rPr lang="ro-RO" sz="1600" dirty="0">
                          <a:latin typeface="Courier New" pitchFamily="49" charset="0"/>
                          <a:cs typeface="Courier New" pitchFamily="49" charset="0"/>
                        </a:rPr>
                        <a:t> &lt;/servlet&gt;</a:t>
                      </a:r>
                      <a:endParaRPr lang="en-US" sz="1600" dirty="0"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>
                        <a:buFontTx/>
                        <a:buChar char="-"/>
                      </a:pPr>
                      <a:r>
                        <a:rPr lang="en-US" sz="1600" dirty="0">
                          <a:latin typeface="Courier New" pitchFamily="49" charset="0"/>
                          <a:cs typeface="Courier New" pitchFamily="49" charset="0"/>
                        </a:rPr>
                        <a:t>- - </a:t>
                      </a:r>
                      <a:r>
                        <a:rPr lang="ro-RO" sz="1600" dirty="0">
                          <a:latin typeface="Courier New" pitchFamily="49" charset="0"/>
                          <a:cs typeface="Courier New" pitchFamily="49" charset="0"/>
                        </a:rPr>
                        <a:t>&lt;/web-app&gt;</a:t>
                      </a:r>
                      <a:endParaRPr lang="en-US" sz="1800" dirty="0">
                        <a:latin typeface="+mn-lt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</a:rPr>
                        <a:t>Clasa</a:t>
                      </a:r>
                      <a:r>
                        <a:rPr lang="en-US" sz="1600" b="1" baseline="0" dirty="0">
                          <a:solidFill>
                            <a:srgbClr val="C00000"/>
                          </a:solidFill>
                        </a:rPr>
                        <a:t> servlet</a:t>
                      </a:r>
                      <a:r>
                        <a:rPr lang="en-US" sz="1600" b="1" dirty="0">
                          <a:solidFill>
                            <a:srgbClr val="C00000"/>
                          </a:solidFill>
                        </a:rPr>
                        <a:t>: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kern="1200" baseline="0" dirty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public class </a:t>
                      </a:r>
                      <a:r>
                        <a:rPr kumimoji="0" lang="en-US" sz="1600" kern="1200" baseline="0" dirty="0" err="1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UnServlet</a:t>
                      </a:r>
                      <a:r>
                        <a:rPr kumimoji="0" lang="en-US" sz="1600" kern="1200" baseline="0" dirty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- - - {</a:t>
                      </a:r>
                      <a:endParaRPr lang="en-US" sz="1600" dirty="0"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>
                        <a:tabLst>
                          <a:tab pos="457200" algn="r"/>
                          <a:tab pos="2743200" algn="ctr"/>
                          <a:tab pos="5486400" algn="r"/>
                        </a:tabLst>
                      </a:pPr>
                      <a:r>
                        <a:rPr lang="ro-RO" sz="1600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sz="1600" dirty="0">
                          <a:latin typeface="Courier New" pitchFamily="49" charset="0"/>
                          <a:cs typeface="Courier New" pitchFamily="49" charset="0"/>
                        </a:rPr>
                        <a:t>  </a:t>
                      </a:r>
                      <a:r>
                        <a:rPr lang="ro-RO" sz="1600" dirty="0">
                          <a:latin typeface="Courier New" pitchFamily="49" charset="0"/>
                          <a:cs typeface="Courier New" pitchFamily="49" charset="0"/>
                        </a:rPr>
                        <a:t>int n</a:t>
                      </a:r>
                      <a:r>
                        <a:rPr lang="en-US" sz="1600" dirty="0" err="1">
                          <a:latin typeface="Courier New" pitchFamily="49" charset="0"/>
                          <a:cs typeface="Courier New" pitchFamily="49" charset="0"/>
                        </a:rPr>
                        <a:t>rmax</a:t>
                      </a:r>
                      <a:r>
                        <a:rPr lang="ro-RO" sz="1600" dirty="0">
                          <a:latin typeface="Courier New" pitchFamily="49" charset="0"/>
                          <a:cs typeface="Courier New" pitchFamily="49" charset="0"/>
                        </a:rPr>
                        <a:t>;</a:t>
                      </a:r>
                      <a:endParaRPr lang="en-US" sz="1600" dirty="0"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>
                        <a:tabLst>
                          <a:tab pos="457200" algn="r"/>
                          <a:tab pos="2743200" algn="ctr"/>
                          <a:tab pos="5486400" algn="r"/>
                        </a:tabLst>
                      </a:pPr>
                      <a:r>
                        <a:rPr lang="ro-RO" sz="1600" dirty="0">
                          <a:latin typeface="Courier New" pitchFamily="49" charset="0"/>
                          <a:cs typeface="Courier New" pitchFamily="49" charset="0"/>
                        </a:rPr>
                        <a:t>   public void init(</a:t>
                      </a:r>
                      <a:endParaRPr lang="en-US" sz="1600" dirty="0"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>
                        <a:tabLst>
                          <a:tab pos="457200" algn="r"/>
                          <a:tab pos="2743200" algn="ctr"/>
                          <a:tab pos="5486400" algn="r"/>
                        </a:tabLst>
                      </a:pPr>
                      <a:r>
                        <a:rPr lang="en-US" sz="1600" dirty="0">
                          <a:latin typeface="Courier New" pitchFamily="49" charset="0"/>
                          <a:cs typeface="Courier New" pitchFamily="49" charset="0"/>
                        </a:rPr>
                        <a:t>           </a:t>
                      </a:r>
                      <a:r>
                        <a:rPr lang="ro-RO" sz="1600" dirty="0">
                          <a:latin typeface="Courier New" pitchFamily="49" charset="0"/>
                          <a:cs typeface="Courier New" pitchFamily="49" charset="0"/>
                        </a:rPr>
                        <a:t>ServletConfig config) {</a:t>
                      </a:r>
                      <a:endParaRPr lang="en-US" sz="1600" dirty="0"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>
                        <a:tabLst>
                          <a:tab pos="457200" algn="r"/>
                          <a:tab pos="2743200" algn="ctr"/>
                          <a:tab pos="5486400" algn="r"/>
                        </a:tabLst>
                      </a:pPr>
                      <a:r>
                        <a:rPr lang="ro-RO" sz="1600" dirty="0">
                          <a:latin typeface="Courier New" pitchFamily="49" charset="0"/>
                          <a:cs typeface="Courier New" pitchFamily="49" charset="0"/>
                        </a:rPr>
                        <a:t>    </a:t>
                      </a:r>
                      <a:r>
                        <a:rPr lang="en-US" sz="1600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o-RO" sz="1600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sz="1600" dirty="0" err="1">
                          <a:latin typeface="Courier New" pitchFamily="49" charset="0"/>
                          <a:cs typeface="Courier New" pitchFamily="49" charset="0"/>
                        </a:rPr>
                        <a:t>nrmax</a:t>
                      </a:r>
                      <a:r>
                        <a:rPr lang="ro-RO" sz="1600" dirty="0">
                          <a:latin typeface="Courier New" pitchFamily="49" charset="0"/>
                          <a:cs typeface="Courier New" pitchFamily="49" charset="0"/>
                        </a:rPr>
                        <a:t> =</a:t>
                      </a:r>
                      <a:r>
                        <a:rPr lang="en-US" sz="1600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o-RO" sz="1600" dirty="0">
                          <a:latin typeface="Courier New" pitchFamily="49" charset="0"/>
                          <a:cs typeface="Courier New" pitchFamily="49" charset="0"/>
                        </a:rPr>
                        <a:t>Integer.parseInt(</a:t>
                      </a:r>
                      <a:endParaRPr lang="en-US" sz="1600" dirty="0"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>
                        <a:tabLst>
                          <a:tab pos="457200" algn="r"/>
                          <a:tab pos="2743200" algn="ctr"/>
                          <a:tab pos="5486400" algn="r"/>
                        </a:tabLst>
                      </a:pPr>
                      <a:r>
                        <a:rPr lang="ro-RO" sz="1600" dirty="0">
                          <a:latin typeface="Courier New" pitchFamily="49" charset="0"/>
                          <a:cs typeface="Courier New" pitchFamily="49" charset="0"/>
                        </a:rPr>
                        <a:t>config.getInitParameter("MAXIM"));</a:t>
                      </a:r>
                      <a:endParaRPr lang="en-US" sz="1600" dirty="0"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>
                        <a:tabLst>
                          <a:tab pos="457200" algn="r"/>
                          <a:tab pos="2743200" algn="ctr"/>
                          <a:tab pos="5486400" algn="r"/>
                        </a:tabLst>
                      </a:pPr>
                      <a:r>
                        <a:rPr lang="ro-RO" sz="1600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sz="1600" dirty="0">
                          <a:latin typeface="Courier New" pitchFamily="49" charset="0"/>
                          <a:cs typeface="Courier New" pitchFamily="49" charset="0"/>
                        </a:rPr>
                        <a:t>- - - </a:t>
                      </a:r>
                      <a:r>
                        <a:rPr lang="en-US" sz="1600" dirty="0" err="1">
                          <a:latin typeface="Courier New" pitchFamily="49" charset="0"/>
                          <a:cs typeface="Courier New" pitchFamily="49" charset="0"/>
                        </a:rPr>
                        <a:t>alte</a:t>
                      </a:r>
                      <a:r>
                        <a:rPr lang="en-US" sz="1600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sz="1600" baseline="0" dirty="0" err="1">
                          <a:latin typeface="Courier New" pitchFamily="49" charset="0"/>
                          <a:cs typeface="Courier New" pitchFamily="49" charset="0"/>
                        </a:rPr>
                        <a:t>initializari</a:t>
                      </a:r>
                      <a:r>
                        <a:rPr lang="en-US" sz="1600" baseline="0" dirty="0">
                          <a:latin typeface="Courier New" pitchFamily="49" charset="0"/>
                          <a:cs typeface="Courier New" pitchFamily="49" charset="0"/>
                        </a:rPr>
                        <a:t> - - -</a:t>
                      </a:r>
                      <a:r>
                        <a:rPr lang="ro-RO" sz="1600" dirty="0">
                          <a:latin typeface="Courier New" pitchFamily="49" charset="0"/>
                          <a:cs typeface="Courier New" pitchFamily="49" charset="0"/>
                        </a:rPr>
                        <a:t> }</a:t>
                      </a:r>
                      <a:endParaRPr lang="en-US" sz="16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3537">
                <a:tc gridSpan="2">
                  <a:txBody>
                    <a:bodyPr/>
                    <a:lstStyle/>
                    <a:p>
                      <a:r>
                        <a:rPr lang="ro-RO" sz="1800" dirty="0"/>
                        <a:t> </a:t>
                      </a:r>
                      <a:r>
                        <a:rPr lang="en-US" sz="1800" dirty="0"/>
                        <a:t>                      </a:t>
                      </a:r>
                      <a:r>
                        <a:rPr lang="ro-RO" sz="1600" dirty="0">
                          <a:latin typeface="Courier New" pitchFamily="49" charset="0"/>
                          <a:cs typeface="Courier New" pitchFamily="49" charset="0"/>
                        </a:rPr>
                        <a:t>public void doGet</a:t>
                      </a:r>
                      <a:r>
                        <a:rPr lang="en-US" sz="1600" dirty="0">
                          <a:latin typeface="Courier New" pitchFamily="49" charset="0"/>
                          <a:cs typeface="Courier New" pitchFamily="49" charset="0"/>
                        </a:rPr>
                        <a:t>  / </a:t>
                      </a:r>
                      <a:r>
                        <a:rPr lang="en-US" sz="1600" dirty="0" err="1">
                          <a:latin typeface="Courier New" pitchFamily="49" charset="0"/>
                          <a:cs typeface="Courier New" pitchFamily="49" charset="0"/>
                        </a:rPr>
                        <a:t>doPost</a:t>
                      </a:r>
                      <a:r>
                        <a:rPr lang="en-US" sz="1600" dirty="0">
                          <a:latin typeface="Courier New" pitchFamily="49" charset="0"/>
                          <a:cs typeface="Courier New" pitchFamily="49" charset="0"/>
                        </a:rPr>
                        <a:t>  </a:t>
                      </a:r>
                      <a:r>
                        <a:rPr lang="ro-RO" sz="1600" dirty="0">
                          <a:latin typeface="Courier New" pitchFamily="49" charset="0"/>
                          <a:cs typeface="Courier New" pitchFamily="49" charset="0"/>
                        </a:rPr>
                        <a:t>(</a:t>
                      </a:r>
                      <a:r>
                        <a:rPr lang="en-US" sz="1600" dirty="0">
                          <a:latin typeface="Courier New" pitchFamily="49" charset="0"/>
                          <a:cs typeface="Courier New" pitchFamily="49" charset="0"/>
                        </a:rPr>
                        <a:t>- - - ) </a:t>
                      </a:r>
                    </a:p>
                    <a:p>
                      <a:r>
                        <a:rPr lang="en-US" sz="1600" dirty="0">
                          <a:latin typeface="Courier New" pitchFamily="49" charset="0"/>
                          <a:cs typeface="Courier New" pitchFamily="49" charset="0"/>
                        </a:rPr>
                        <a:t>                {  - - - </a:t>
                      </a:r>
                      <a:r>
                        <a:rPr lang="en-US" sz="1600" dirty="0" err="1">
                          <a:latin typeface="Courier New" pitchFamily="49" charset="0"/>
                          <a:cs typeface="Courier New" pitchFamily="49" charset="0"/>
                        </a:rPr>
                        <a:t>utilizare</a:t>
                      </a:r>
                      <a:r>
                        <a:rPr lang="en-US" sz="1600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sz="1600" dirty="0" err="1">
                          <a:latin typeface="Courier New" pitchFamily="49" charset="0"/>
                          <a:cs typeface="Courier New" pitchFamily="49" charset="0"/>
                        </a:rPr>
                        <a:t>nrmax</a:t>
                      </a:r>
                      <a:r>
                        <a:rPr lang="en-US" sz="1600" dirty="0">
                          <a:latin typeface="Courier New" pitchFamily="49" charset="0"/>
                          <a:cs typeface="Courier New" pitchFamily="49" charset="0"/>
                        </a:rPr>
                        <a:t> - - -  }</a:t>
                      </a:r>
                    </a:p>
                    <a:p>
                      <a:r>
                        <a:rPr lang="en-US" sz="1600" dirty="0">
                          <a:latin typeface="Courier New" pitchFamily="49" charset="0"/>
                          <a:cs typeface="Courier New" pitchFamily="49" charset="0"/>
                        </a:rPr>
                        <a:t>}</a:t>
                      </a:r>
                    </a:p>
                  </a:txBody>
                  <a:tcPr marT="45725" marB="457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5393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26.10.2025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BFM_Servlets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16</a:t>
            </a:fld>
            <a:r>
              <a:rPr lang="en-US" dirty="0"/>
              <a:t>_/_44_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Initializarea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unui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filtru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7482561"/>
              </p:ext>
            </p:extLst>
          </p:nvPr>
        </p:nvGraphicFramePr>
        <p:xfrm>
          <a:off x="152400" y="685800"/>
          <a:ext cx="8839200" cy="5578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1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5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/>
                        <a:t>Folosind</a:t>
                      </a:r>
                      <a:r>
                        <a:rPr lang="en-US" sz="1800" dirty="0"/>
                        <a:t>  @</a:t>
                      </a:r>
                      <a:r>
                        <a:rPr lang="en-US" sz="1800" dirty="0" err="1"/>
                        <a:t>WebInitParam</a:t>
                      </a:r>
                      <a:endParaRPr lang="en-US" sz="18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/>
                        <a:t>Folosind init si web.xml</a:t>
                      </a:r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686">
                <a:tc>
                  <a:txBody>
                    <a:bodyPr/>
                    <a:lstStyle/>
                    <a:p>
                      <a:r>
                        <a:rPr kumimoji="0" lang="en-US" sz="1600" kern="1200" baseline="0" dirty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@</a:t>
                      </a:r>
                      <a:r>
                        <a:rPr kumimoji="0" lang="en-US" sz="1600" kern="1200" baseline="0" dirty="0" err="1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WebFilter</a:t>
                      </a:r>
                      <a:r>
                        <a:rPr kumimoji="0" lang="en-US" sz="1600" kern="1200" baseline="0" dirty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(</a:t>
                      </a:r>
                      <a:r>
                        <a:rPr kumimoji="0" lang="en-US" sz="1600" kern="1200" baseline="0" dirty="0" err="1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urlPatterns</a:t>
                      </a:r>
                      <a:r>
                        <a:rPr kumimoji="0" lang="en-US" sz="1600" kern="1200" baseline="0" dirty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="/- - -",</a:t>
                      </a:r>
                    </a:p>
                    <a:p>
                      <a:r>
                        <a:rPr kumimoji="0" lang="en-US" sz="1600" kern="1200" baseline="0" dirty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   </a:t>
                      </a:r>
                      <a:r>
                        <a:rPr kumimoji="0" lang="en-US" sz="1600" kern="1200" baseline="0" dirty="0" err="1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initParams</a:t>
                      </a:r>
                      <a:r>
                        <a:rPr kumimoji="0" lang="en-US" sz="1600" kern="1200" baseline="0" dirty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= </a:t>
                      </a:r>
                    </a:p>
                    <a:p>
                      <a:r>
                        <a:rPr kumimoji="0" lang="en-US" sz="1600" kern="1200" baseline="0" dirty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       @</a:t>
                      </a:r>
                      <a:r>
                        <a:rPr kumimoji="0" lang="en-US" sz="1600" kern="1200" baseline="0" dirty="0" err="1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WebInitParam</a:t>
                      </a:r>
                      <a:r>
                        <a:rPr kumimoji="0" lang="en-US" sz="1600" kern="1200" baseline="0" dirty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(</a:t>
                      </a:r>
                    </a:p>
                    <a:p>
                      <a:r>
                        <a:rPr kumimoji="0" lang="en-US" sz="1600" kern="1200" baseline="0" dirty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           name=“MAXIM",</a:t>
                      </a:r>
                    </a:p>
                    <a:p>
                      <a:r>
                        <a:rPr kumimoji="0" lang="en-US" sz="1600" kern="1200" baseline="0" dirty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           value="100"</a:t>
                      </a:r>
                    </a:p>
                    <a:p>
                      <a:r>
                        <a:rPr kumimoji="0" lang="en-US" sz="1600" kern="1200" baseline="0" dirty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   )</a:t>
                      </a:r>
                    </a:p>
                    <a:p>
                      <a:r>
                        <a:rPr kumimoji="0" lang="en-US" sz="1600" kern="1200" baseline="0" dirty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)</a:t>
                      </a:r>
                    </a:p>
                    <a:p>
                      <a:endParaRPr kumimoji="0" lang="en-US" sz="1600" kern="1200" baseline="0" dirty="0">
                        <a:solidFill>
                          <a:schemeClr val="dk1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  <a:p>
                      <a:endParaRPr kumimoji="0" lang="en-US" sz="1600" kern="1200" baseline="0" dirty="0">
                        <a:solidFill>
                          <a:schemeClr val="dk1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  <a:p>
                      <a:r>
                        <a:rPr kumimoji="0" lang="en-US" sz="1600" kern="1200" baseline="0" dirty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public class </a:t>
                      </a:r>
                      <a:r>
                        <a:rPr kumimoji="0" lang="en-US" sz="1600" kern="1200" baseline="0" dirty="0" err="1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UnFiltru</a:t>
                      </a:r>
                      <a:r>
                        <a:rPr kumimoji="0" lang="en-US" sz="1600" kern="1200" baseline="0" dirty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- - - {</a:t>
                      </a:r>
                    </a:p>
                    <a:p>
                      <a:endParaRPr kumimoji="0" lang="en-US" sz="1600" kern="1200" baseline="0" dirty="0">
                        <a:solidFill>
                          <a:schemeClr val="dk1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  <a:p>
                      <a:r>
                        <a:rPr kumimoji="0" lang="en-US" sz="1600" kern="1200" baseline="0" dirty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// </a:t>
                      </a:r>
                      <a:r>
                        <a:rPr kumimoji="0" lang="en-US" sz="1600" kern="1200" baseline="0" dirty="0" err="1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Vezi</a:t>
                      </a:r>
                      <a:r>
                        <a:rPr kumimoji="0" lang="en-US" sz="1600" kern="1200" baseline="0" dirty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</a:t>
                      </a:r>
                      <a:r>
                        <a:rPr kumimoji="0" lang="en-US" sz="1600" kern="1200" baseline="0" dirty="0" err="1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si</a:t>
                      </a:r>
                      <a:r>
                        <a:rPr kumimoji="0" lang="en-US" sz="1600" kern="1200" baseline="0" dirty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</a:t>
                      </a:r>
                      <a:r>
                        <a:rPr kumimoji="0" lang="en-US" sz="1600" kern="1200" baseline="0" dirty="0" err="1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server2AnnFilterListen</a:t>
                      </a:r>
                      <a:endParaRPr kumimoji="0" lang="en-US" sz="1600" kern="1200" baseline="0" dirty="0">
                        <a:solidFill>
                          <a:schemeClr val="dk1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  <a:p>
                      <a:r>
                        <a:rPr kumimoji="0" lang="en-US" sz="1600" kern="1200" baseline="0" dirty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// in </a:t>
                      </a:r>
                      <a:r>
                        <a:rPr kumimoji="0" lang="en-US" sz="1600" kern="1200" baseline="0" dirty="0" err="1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Aduna</a:t>
                      </a:r>
                      <a:r>
                        <a:rPr kumimoji="0" lang="en-US" sz="1600" kern="1200" baseline="0" dirty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e un </a:t>
                      </a:r>
                      <a:r>
                        <a:rPr kumimoji="0" lang="en-US" sz="1600" kern="1200" baseline="0" dirty="0" err="1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exemplu</a:t>
                      </a:r>
                      <a:endParaRPr kumimoji="0" lang="en-US" sz="1600" kern="1200" baseline="0" dirty="0">
                        <a:solidFill>
                          <a:schemeClr val="dk1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  <a:p>
                      <a:r>
                        <a:rPr kumimoji="0" lang="en-US" sz="1600" kern="1200" baseline="0" dirty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// de </a:t>
                      </a:r>
                      <a:r>
                        <a:rPr kumimoji="0" lang="en-US" sz="1600" kern="1200" baseline="0" dirty="0" err="1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initializare</a:t>
                      </a:r>
                      <a:endParaRPr lang="en-US" sz="16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C00000"/>
                          </a:solidFill>
                        </a:rPr>
                        <a:t>web.xml:</a:t>
                      </a:r>
                    </a:p>
                    <a:p>
                      <a:r>
                        <a:rPr lang="ro-RO" sz="1600">
                          <a:latin typeface="Courier New" pitchFamily="49" charset="0"/>
                          <a:cs typeface="Courier New" pitchFamily="49" charset="0"/>
                        </a:rPr>
                        <a:t>&lt;web-app&gt;</a:t>
                      </a:r>
                      <a:r>
                        <a:rPr lang="en-US" sz="1600">
                          <a:latin typeface="Courier New" pitchFamily="49" charset="0"/>
                          <a:cs typeface="Courier New" pitchFamily="49" charset="0"/>
                        </a:rPr>
                        <a:t> - - - </a:t>
                      </a:r>
                      <a:r>
                        <a:rPr lang="ro-RO" sz="1600">
                          <a:latin typeface="Courier New" pitchFamily="49" charset="0"/>
                          <a:cs typeface="Courier New" pitchFamily="49" charset="0"/>
                        </a:rPr>
                        <a:t>&lt;</a:t>
                      </a:r>
                      <a:r>
                        <a:rPr lang="en-US" sz="1600">
                          <a:latin typeface="Courier New" pitchFamily="49" charset="0"/>
                          <a:cs typeface="Courier New" pitchFamily="49" charset="0"/>
                        </a:rPr>
                        <a:t>filter</a:t>
                      </a:r>
                      <a:r>
                        <a:rPr lang="ro-RO" sz="1600">
                          <a:latin typeface="Courier New" pitchFamily="49" charset="0"/>
                          <a:cs typeface="Courier New" pitchFamily="49" charset="0"/>
                        </a:rPr>
                        <a:t>&gt;</a:t>
                      </a:r>
                    </a:p>
                    <a:p>
                      <a:r>
                        <a:rPr lang="ro-RO" sz="1600">
                          <a:latin typeface="Courier New" pitchFamily="49" charset="0"/>
                          <a:cs typeface="Courier New" pitchFamily="49" charset="0"/>
                        </a:rPr>
                        <a:t>&lt;</a:t>
                      </a:r>
                      <a:r>
                        <a:rPr lang="en-US" sz="1600">
                          <a:latin typeface="Courier New" pitchFamily="49" charset="0"/>
                          <a:cs typeface="Courier New" pitchFamily="49" charset="0"/>
                        </a:rPr>
                        <a:t>filter</a:t>
                      </a:r>
                      <a:r>
                        <a:rPr lang="ro-RO" sz="1600">
                          <a:latin typeface="Courier New" pitchFamily="49" charset="0"/>
                          <a:cs typeface="Courier New" pitchFamily="49" charset="0"/>
                        </a:rPr>
                        <a:t>-name&gt;</a:t>
                      </a:r>
                      <a:r>
                        <a:rPr lang="en-US" sz="1600">
                          <a:latin typeface="Courier New" pitchFamily="49" charset="0"/>
                          <a:cs typeface="Courier New" pitchFamily="49" charset="0"/>
                        </a:rPr>
                        <a:t>---</a:t>
                      </a:r>
                      <a:r>
                        <a:rPr lang="ro-RO" sz="1600">
                          <a:latin typeface="Courier New" pitchFamily="49" charset="0"/>
                          <a:cs typeface="Courier New" pitchFamily="49" charset="0"/>
                        </a:rPr>
                        <a:t>&lt;/</a:t>
                      </a:r>
                      <a:r>
                        <a:rPr lang="en-US" sz="1600">
                          <a:latin typeface="Courier New" pitchFamily="49" charset="0"/>
                          <a:cs typeface="Courier New" pitchFamily="49" charset="0"/>
                        </a:rPr>
                        <a:t>filter</a:t>
                      </a:r>
                      <a:r>
                        <a:rPr lang="ro-RO" sz="1600">
                          <a:latin typeface="Courier New" pitchFamily="49" charset="0"/>
                          <a:cs typeface="Courier New" pitchFamily="49" charset="0"/>
                        </a:rPr>
                        <a:t>-name&gt;</a:t>
                      </a:r>
                    </a:p>
                    <a:p>
                      <a:r>
                        <a:rPr lang="ro-RO" sz="1600">
                          <a:latin typeface="Courier New" pitchFamily="49" charset="0"/>
                          <a:cs typeface="Courier New" pitchFamily="49" charset="0"/>
                        </a:rPr>
                        <a:t>&lt;</a:t>
                      </a:r>
                      <a:r>
                        <a:rPr lang="en-US" sz="1600">
                          <a:latin typeface="Courier New" pitchFamily="49" charset="0"/>
                          <a:cs typeface="Courier New" pitchFamily="49" charset="0"/>
                        </a:rPr>
                        <a:t>filter</a:t>
                      </a:r>
                      <a:r>
                        <a:rPr lang="ro-RO" sz="1600">
                          <a:latin typeface="Courier New" pitchFamily="49" charset="0"/>
                          <a:cs typeface="Courier New" pitchFamily="49" charset="0"/>
                        </a:rPr>
                        <a:t>-class&gt;</a:t>
                      </a:r>
                      <a:r>
                        <a:rPr lang="en-US" sz="1600">
                          <a:latin typeface="Courier New" pitchFamily="49" charset="0"/>
                          <a:cs typeface="Courier New" pitchFamily="49" charset="0"/>
                        </a:rPr>
                        <a:t>---</a:t>
                      </a:r>
                      <a:r>
                        <a:rPr lang="ro-RO" sz="1600">
                          <a:latin typeface="Courier New" pitchFamily="49" charset="0"/>
                          <a:cs typeface="Courier New" pitchFamily="49" charset="0"/>
                        </a:rPr>
                        <a:t>&lt;/</a:t>
                      </a:r>
                      <a:r>
                        <a:rPr lang="en-US" sz="1600">
                          <a:latin typeface="Courier New" pitchFamily="49" charset="0"/>
                          <a:cs typeface="Courier New" pitchFamily="49" charset="0"/>
                        </a:rPr>
                        <a:t>filter</a:t>
                      </a:r>
                      <a:r>
                        <a:rPr lang="ro-RO" sz="1600">
                          <a:latin typeface="Courier New" pitchFamily="49" charset="0"/>
                          <a:cs typeface="Courier New" pitchFamily="49" charset="0"/>
                        </a:rPr>
                        <a:t>-class&gt;</a:t>
                      </a:r>
                      <a:endParaRPr lang="en-US" sz="1600"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r>
                        <a:rPr lang="ro-RO" sz="1600">
                          <a:latin typeface="Courier New" pitchFamily="49" charset="0"/>
                          <a:cs typeface="Courier New" pitchFamily="49" charset="0"/>
                        </a:rPr>
                        <a:t>&lt;init-param&gt;</a:t>
                      </a:r>
                    </a:p>
                    <a:p>
                      <a:r>
                        <a:rPr lang="en-US" sz="1600">
                          <a:latin typeface="Courier New" pitchFamily="49" charset="0"/>
                          <a:cs typeface="Courier New" pitchFamily="49" charset="0"/>
                        </a:rPr>
                        <a:t>    </a:t>
                      </a:r>
                      <a:r>
                        <a:rPr lang="ro-RO" sz="1600">
                          <a:latin typeface="Courier New" pitchFamily="49" charset="0"/>
                          <a:cs typeface="Courier New" pitchFamily="49" charset="0"/>
                        </a:rPr>
                        <a:t>&lt;param-name&gt;MAXIM&lt;/param-name&gt;</a:t>
                      </a:r>
                    </a:p>
                    <a:p>
                      <a:r>
                        <a:rPr lang="ro-RO" sz="1600">
                          <a:latin typeface="Courier New" pitchFamily="49" charset="0"/>
                          <a:cs typeface="Courier New" pitchFamily="49" charset="0"/>
                        </a:rPr>
                        <a:t>    &lt;param-value&gt;1</a:t>
                      </a:r>
                      <a:r>
                        <a:rPr lang="en-US" sz="1600"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  <a:r>
                        <a:rPr lang="ro-RO" sz="1600">
                          <a:latin typeface="Courier New" pitchFamily="49" charset="0"/>
                          <a:cs typeface="Courier New" pitchFamily="49" charset="0"/>
                        </a:rPr>
                        <a:t>&lt;/param-value&gt;</a:t>
                      </a:r>
                    </a:p>
                    <a:p>
                      <a:r>
                        <a:rPr lang="ro-RO" sz="1600">
                          <a:latin typeface="Courier New" pitchFamily="49" charset="0"/>
                          <a:cs typeface="Courier New" pitchFamily="49" charset="0"/>
                        </a:rPr>
                        <a:t>&lt;/init-param&gt;</a:t>
                      </a:r>
                      <a:r>
                        <a:rPr lang="en-US" sz="1600">
                          <a:latin typeface="Courier New" pitchFamily="49" charset="0"/>
                          <a:cs typeface="Courier New" pitchFamily="49" charset="0"/>
                        </a:rPr>
                        <a:t> - - -</a:t>
                      </a:r>
                      <a:r>
                        <a:rPr lang="ro-RO" sz="1600">
                          <a:latin typeface="Courier New" pitchFamily="49" charset="0"/>
                          <a:cs typeface="Courier New" pitchFamily="49" charset="0"/>
                        </a:rPr>
                        <a:t> &lt;/</a:t>
                      </a:r>
                      <a:r>
                        <a:rPr lang="en-US" sz="1600">
                          <a:latin typeface="Courier New" pitchFamily="49" charset="0"/>
                          <a:cs typeface="Courier New" pitchFamily="49" charset="0"/>
                        </a:rPr>
                        <a:t>filter</a:t>
                      </a:r>
                      <a:r>
                        <a:rPr lang="ro-RO" sz="1600">
                          <a:latin typeface="Courier New" pitchFamily="49" charset="0"/>
                          <a:cs typeface="Courier New" pitchFamily="49" charset="0"/>
                        </a:rPr>
                        <a:t>&gt;</a:t>
                      </a:r>
                      <a:endParaRPr lang="en-US" sz="1600"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>
                        <a:buFontTx/>
                        <a:buChar char="-"/>
                      </a:pPr>
                      <a:r>
                        <a:rPr lang="en-US" sz="1600">
                          <a:latin typeface="Courier New" pitchFamily="49" charset="0"/>
                          <a:cs typeface="Courier New" pitchFamily="49" charset="0"/>
                        </a:rPr>
                        <a:t>- - </a:t>
                      </a:r>
                      <a:r>
                        <a:rPr lang="ro-RO" sz="1600">
                          <a:latin typeface="Courier New" pitchFamily="49" charset="0"/>
                          <a:cs typeface="Courier New" pitchFamily="49" charset="0"/>
                        </a:rPr>
                        <a:t>&lt;/web-app&gt;</a:t>
                      </a:r>
                      <a:endParaRPr lang="en-US" sz="1800">
                        <a:latin typeface="+mn-lt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>
                          <a:solidFill>
                            <a:srgbClr val="C00000"/>
                          </a:solidFill>
                        </a:rPr>
                        <a:t>Clasa</a:t>
                      </a:r>
                      <a:r>
                        <a:rPr lang="en-US" sz="1600" b="1" baseline="0">
                          <a:solidFill>
                            <a:srgbClr val="C00000"/>
                          </a:solidFill>
                        </a:rPr>
                        <a:t> servlet</a:t>
                      </a:r>
                      <a:r>
                        <a:rPr lang="en-US" sz="1600" b="1">
                          <a:solidFill>
                            <a:srgbClr val="C00000"/>
                          </a:solidFill>
                        </a:rPr>
                        <a:t>: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kern="1200" baseline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public class UnFiltru - - - {</a:t>
                      </a:r>
                      <a:endParaRPr lang="en-US" sz="1600"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>
                        <a:tabLst>
                          <a:tab pos="457200" algn="r"/>
                          <a:tab pos="2743200" algn="ctr"/>
                          <a:tab pos="5486400" algn="r"/>
                        </a:tabLst>
                      </a:pPr>
                      <a:r>
                        <a:rPr lang="ro-RO" sz="160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sz="1600">
                          <a:latin typeface="Courier New" pitchFamily="49" charset="0"/>
                          <a:cs typeface="Courier New" pitchFamily="49" charset="0"/>
                        </a:rPr>
                        <a:t>  </a:t>
                      </a:r>
                      <a:r>
                        <a:rPr lang="ro-RO" sz="1600">
                          <a:latin typeface="Courier New" pitchFamily="49" charset="0"/>
                          <a:cs typeface="Courier New" pitchFamily="49" charset="0"/>
                        </a:rPr>
                        <a:t>int n</a:t>
                      </a:r>
                      <a:r>
                        <a:rPr lang="en-US" sz="1600">
                          <a:latin typeface="Courier New" pitchFamily="49" charset="0"/>
                          <a:cs typeface="Courier New" pitchFamily="49" charset="0"/>
                        </a:rPr>
                        <a:t>rmax</a:t>
                      </a:r>
                      <a:r>
                        <a:rPr lang="ro-RO" sz="1600">
                          <a:latin typeface="Courier New" pitchFamily="49" charset="0"/>
                          <a:cs typeface="Courier New" pitchFamily="49" charset="0"/>
                        </a:rPr>
                        <a:t>;</a:t>
                      </a:r>
                      <a:endParaRPr lang="en-US" sz="1600"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>
                        <a:tabLst>
                          <a:tab pos="457200" algn="r"/>
                          <a:tab pos="2743200" algn="ctr"/>
                          <a:tab pos="5486400" algn="r"/>
                        </a:tabLst>
                      </a:pPr>
                      <a:r>
                        <a:rPr lang="ro-RO" sz="1600">
                          <a:latin typeface="Courier New" pitchFamily="49" charset="0"/>
                          <a:cs typeface="Courier New" pitchFamily="49" charset="0"/>
                        </a:rPr>
                        <a:t>   public void init(</a:t>
                      </a:r>
                      <a:endParaRPr lang="en-US" sz="1600"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>
                        <a:tabLst>
                          <a:tab pos="457200" algn="r"/>
                          <a:tab pos="2743200" algn="ctr"/>
                          <a:tab pos="5486400" algn="r"/>
                        </a:tabLst>
                      </a:pPr>
                      <a:r>
                        <a:rPr lang="en-US" sz="1600">
                          <a:latin typeface="Courier New" pitchFamily="49" charset="0"/>
                          <a:cs typeface="Courier New" pitchFamily="49" charset="0"/>
                        </a:rPr>
                        <a:t>           Filter</a:t>
                      </a:r>
                      <a:r>
                        <a:rPr lang="ro-RO" sz="1600">
                          <a:latin typeface="Courier New" pitchFamily="49" charset="0"/>
                          <a:cs typeface="Courier New" pitchFamily="49" charset="0"/>
                        </a:rPr>
                        <a:t>Config config) {</a:t>
                      </a:r>
                      <a:endParaRPr lang="en-US" sz="1600"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>
                        <a:tabLst>
                          <a:tab pos="457200" algn="r"/>
                          <a:tab pos="2743200" algn="ctr"/>
                          <a:tab pos="5486400" algn="r"/>
                        </a:tabLst>
                      </a:pPr>
                      <a:r>
                        <a:rPr lang="ro-RO" sz="1600">
                          <a:latin typeface="Courier New" pitchFamily="49" charset="0"/>
                          <a:cs typeface="Courier New" pitchFamily="49" charset="0"/>
                        </a:rPr>
                        <a:t>    </a:t>
                      </a:r>
                      <a:r>
                        <a:rPr lang="en-US" sz="160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o-RO" sz="160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sz="1600">
                          <a:latin typeface="Courier New" pitchFamily="49" charset="0"/>
                          <a:cs typeface="Courier New" pitchFamily="49" charset="0"/>
                        </a:rPr>
                        <a:t>nrmax</a:t>
                      </a:r>
                      <a:r>
                        <a:rPr lang="ro-RO" sz="1600">
                          <a:latin typeface="Courier New" pitchFamily="49" charset="0"/>
                          <a:cs typeface="Courier New" pitchFamily="49" charset="0"/>
                        </a:rPr>
                        <a:t> =</a:t>
                      </a:r>
                      <a:r>
                        <a:rPr lang="en-US" sz="160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o-RO" sz="1600">
                          <a:latin typeface="Courier New" pitchFamily="49" charset="0"/>
                          <a:cs typeface="Courier New" pitchFamily="49" charset="0"/>
                        </a:rPr>
                        <a:t>Integer.parseInt(</a:t>
                      </a:r>
                      <a:endParaRPr lang="en-US" sz="1600"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>
                        <a:tabLst>
                          <a:tab pos="457200" algn="r"/>
                          <a:tab pos="2743200" algn="ctr"/>
                          <a:tab pos="5486400" algn="r"/>
                        </a:tabLst>
                      </a:pPr>
                      <a:r>
                        <a:rPr lang="ro-RO" sz="1600">
                          <a:latin typeface="Courier New" pitchFamily="49" charset="0"/>
                          <a:cs typeface="Courier New" pitchFamily="49" charset="0"/>
                        </a:rPr>
                        <a:t>config.getInitParameter("MAXIM"));</a:t>
                      </a:r>
                      <a:endParaRPr lang="en-US" sz="1600"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>
                        <a:tabLst>
                          <a:tab pos="457200" algn="r"/>
                          <a:tab pos="2743200" algn="ctr"/>
                          <a:tab pos="5486400" algn="r"/>
                        </a:tabLst>
                      </a:pPr>
                      <a:r>
                        <a:rPr lang="ro-RO" sz="160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sz="1600">
                          <a:latin typeface="Courier New" pitchFamily="49" charset="0"/>
                          <a:cs typeface="Courier New" pitchFamily="49" charset="0"/>
                        </a:rPr>
                        <a:t>- - - alte </a:t>
                      </a:r>
                      <a:r>
                        <a:rPr lang="en-US" sz="1600" baseline="0">
                          <a:latin typeface="Courier New" pitchFamily="49" charset="0"/>
                          <a:cs typeface="Courier New" pitchFamily="49" charset="0"/>
                        </a:rPr>
                        <a:t>initializari - - -</a:t>
                      </a:r>
                      <a:r>
                        <a:rPr lang="ro-RO" sz="1600">
                          <a:latin typeface="Courier New" pitchFamily="49" charset="0"/>
                          <a:cs typeface="Courier New" pitchFamily="49" charset="0"/>
                        </a:rPr>
                        <a:t> }</a:t>
                      </a:r>
                      <a:endParaRPr lang="en-US" sz="160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3537">
                <a:tc gridSpan="2">
                  <a:txBody>
                    <a:bodyPr/>
                    <a:lstStyle/>
                    <a:p>
                      <a:r>
                        <a:rPr lang="ro-RO" sz="1800" dirty="0"/>
                        <a:t> </a:t>
                      </a:r>
                      <a:r>
                        <a:rPr lang="en-US" sz="1800" dirty="0"/>
                        <a:t>                      </a:t>
                      </a:r>
                      <a:r>
                        <a:rPr lang="ro-RO" sz="1600" dirty="0">
                          <a:latin typeface="Courier New" pitchFamily="49" charset="0"/>
                          <a:cs typeface="Courier New" pitchFamily="49" charset="0"/>
                        </a:rPr>
                        <a:t>public void do</a:t>
                      </a:r>
                      <a:r>
                        <a:rPr lang="en-US" sz="1600" dirty="0">
                          <a:latin typeface="Courier New" pitchFamily="49" charset="0"/>
                          <a:cs typeface="Courier New" pitchFamily="49" charset="0"/>
                        </a:rPr>
                        <a:t>Filter  </a:t>
                      </a:r>
                      <a:r>
                        <a:rPr lang="ro-RO" sz="1600" dirty="0">
                          <a:latin typeface="Courier New" pitchFamily="49" charset="0"/>
                          <a:cs typeface="Courier New" pitchFamily="49" charset="0"/>
                        </a:rPr>
                        <a:t>(</a:t>
                      </a:r>
                      <a:r>
                        <a:rPr lang="en-US" sz="1600" dirty="0">
                          <a:latin typeface="Courier New" pitchFamily="49" charset="0"/>
                          <a:cs typeface="Courier New" pitchFamily="49" charset="0"/>
                        </a:rPr>
                        <a:t>- - - ) </a:t>
                      </a:r>
                    </a:p>
                    <a:p>
                      <a:r>
                        <a:rPr lang="en-US" sz="1600" dirty="0">
                          <a:latin typeface="Courier New" pitchFamily="49" charset="0"/>
                          <a:cs typeface="Courier New" pitchFamily="49" charset="0"/>
                        </a:rPr>
                        <a:t>                {  - - - </a:t>
                      </a:r>
                      <a:r>
                        <a:rPr lang="en-US" sz="1600" dirty="0" err="1">
                          <a:latin typeface="Courier New" pitchFamily="49" charset="0"/>
                          <a:cs typeface="Courier New" pitchFamily="49" charset="0"/>
                        </a:rPr>
                        <a:t>utilizare</a:t>
                      </a:r>
                      <a:r>
                        <a:rPr lang="en-US" sz="1600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sz="1600" dirty="0" err="1">
                          <a:latin typeface="Courier New" pitchFamily="49" charset="0"/>
                          <a:cs typeface="Courier New" pitchFamily="49" charset="0"/>
                        </a:rPr>
                        <a:t>nrmax</a:t>
                      </a:r>
                      <a:r>
                        <a:rPr lang="en-US" sz="1600" dirty="0">
                          <a:latin typeface="Courier New" pitchFamily="49" charset="0"/>
                          <a:cs typeface="Courier New" pitchFamily="49" charset="0"/>
                        </a:rPr>
                        <a:t> - - -  }</a:t>
                      </a:r>
                    </a:p>
                    <a:p>
                      <a:r>
                        <a:rPr lang="en-US" sz="1600" dirty="0">
                          <a:latin typeface="Courier New" pitchFamily="49" charset="0"/>
                          <a:cs typeface="Courier New" pitchFamily="49" charset="0"/>
                        </a:rPr>
                        <a:t>}</a:t>
                      </a:r>
                    </a:p>
                  </a:txBody>
                  <a:tcPr marT="45725" marB="457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5393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26.10.2025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BFM_Servlets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17</a:t>
            </a:fld>
            <a:r>
              <a:rPr lang="en-US" dirty="0"/>
              <a:t>_/_44_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Structura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de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fisiere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a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unei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aplicatii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web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bazate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pe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servlet 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390856"/>
            <a:ext cx="914400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 err="1"/>
              <a:t>Notam</a:t>
            </a:r>
            <a:r>
              <a:rPr lang="en-US" dirty="0"/>
              <a:t> </a:t>
            </a:r>
            <a:r>
              <a:rPr lang="en-US" b="1" i="1" dirty="0">
                <a:solidFill>
                  <a:srgbClr val="FF3300"/>
                </a:solidFill>
              </a:rPr>
              <a:t>APP</a:t>
            </a:r>
            <a:r>
              <a:rPr lang="en-US" dirty="0"/>
              <a:t> un director  </a:t>
            </a:r>
            <a:r>
              <a:rPr lang="en-US" dirty="0" err="1"/>
              <a:t>numit</a:t>
            </a:r>
            <a:r>
              <a:rPr lang="en-US" dirty="0"/>
              <a:t> </a:t>
            </a:r>
            <a:r>
              <a:rPr lang="en-US" i="1" dirty="0" err="1"/>
              <a:t>radacina</a:t>
            </a:r>
            <a:r>
              <a:rPr lang="en-US" i="1" dirty="0"/>
              <a:t> (</a:t>
            </a:r>
            <a:r>
              <a:rPr lang="en-US" i="1" dirty="0" err="1"/>
              <a:t>contextul</a:t>
            </a:r>
            <a:r>
              <a:rPr lang="en-US" i="1" dirty="0"/>
              <a:t>) </a:t>
            </a:r>
            <a:r>
              <a:rPr lang="en-US" i="1" dirty="0" err="1"/>
              <a:t>aplicatiei</a:t>
            </a:r>
            <a:r>
              <a:rPr lang="en-US" i="1" dirty="0"/>
              <a:t>.  </a:t>
            </a:r>
            <a:r>
              <a:rPr lang="en-US" i="1" dirty="0" err="1"/>
              <a:t>C</a:t>
            </a:r>
            <a:r>
              <a:rPr lang="en-US" dirty="0" err="1"/>
              <a:t>ontainerul</a:t>
            </a:r>
            <a:r>
              <a:rPr lang="en-US" dirty="0"/>
              <a:t> </a:t>
            </a:r>
            <a:r>
              <a:rPr lang="en-US" dirty="0" err="1"/>
              <a:t>primeste</a:t>
            </a:r>
            <a:r>
              <a:rPr lang="en-US" dirty="0"/>
              <a:t> </a:t>
            </a:r>
            <a:r>
              <a:rPr lang="en-US" dirty="0" err="1"/>
              <a:t>acest</a:t>
            </a:r>
            <a:r>
              <a:rPr lang="en-US" dirty="0"/>
              <a:t> director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descendentii</a:t>
            </a:r>
            <a:r>
              <a:rPr lang="en-US" dirty="0"/>
              <a:t> </a:t>
            </a:r>
            <a:r>
              <a:rPr lang="en-US" dirty="0" err="1"/>
              <a:t>lui</a:t>
            </a:r>
            <a:r>
              <a:rPr lang="en-US" dirty="0"/>
              <a:t>,  </a:t>
            </a:r>
            <a:r>
              <a:rPr lang="en-US" dirty="0" err="1"/>
              <a:t>sau</a:t>
            </a:r>
            <a:r>
              <a:rPr lang="en-US" dirty="0"/>
              <a:t> o </a:t>
            </a:r>
            <a:r>
              <a:rPr lang="en-US" dirty="0" err="1"/>
              <a:t>arhiva</a:t>
            </a:r>
            <a:r>
              <a:rPr lang="en-US" dirty="0"/>
              <a:t> </a:t>
            </a:r>
            <a:r>
              <a:rPr lang="en-US" b="1" i="1" dirty="0" err="1">
                <a:solidFill>
                  <a:srgbClr val="FF3300"/>
                </a:solidFill>
              </a:rPr>
              <a:t>APP</a:t>
            </a:r>
            <a:r>
              <a:rPr lang="en-US" b="1" dirty="0" err="1">
                <a:solidFill>
                  <a:srgbClr val="FF0000"/>
                </a:solidFill>
              </a:rPr>
              <a:t>.war</a:t>
            </a:r>
            <a:r>
              <a:rPr lang="en-US" dirty="0"/>
              <a:t> a </a:t>
            </a:r>
            <a:r>
              <a:rPr lang="en-US" dirty="0" err="1"/>
              <a:t>acestei</a:t>
            </a:r>
            <a:r>
              <a:rPr lang="en-US" dirty="0"/>
              <a:t> </a:t>
            </a:r>
            <a:r>
              <a:rPr lang="en-US" dirty="0" err="1"/>
              <a:t>structuri</a:t>
            </a:r>
            <a:r>
              <a:rPr lang="en-US" dirty="0"/>
              <a:t>. In </a:t>
            </a:r>
            <a:r>
              <a:rPr lang="en-US" dirty="0" err="1"/>
              <a:t>unele</a:t>
            </a:r>
            <a:r>
              <a:rPr lang="en-US" dirty="0"/>
              <a:t> </a:t>
            </a:r>
            <a:r>
              <a:rPr lang="en-US" dirty="0" err="1"/>
              <a:t>cazuri</a:t>
            </a:r>
            <a:r>
              <a:rPr lang="en-US" dirty="0"/>
              <a:t>, </a:t>
            </a:r>
            <a:r>
              <a:rPr lang="en-US" b="1" i="1" dirty="0">
                <a:solidFill>
                  <a:srgbClr val="FF3300"/>
                </a:solidFill>
              </a:rPr>
              <a:t>APP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un </a:t>
            </a:r>
            <a:r>
              <a:rPr lang="en-US" dirty="0" err="1"/>
              <a:t>nume</a:t>
            </a:r>
            <a:r>
              <a:rPr lang="en-US" dirty="0"/>
              <a:t> de </a:t>
            </a:r>
            <a:r>
              <a:rPr lang="en-US" dirty="0" err="1"/>
              <a:t>referinta</a:t>
            </a:r>
            <a:r>
              <a:rPr lang="en-US" dirty="0"/>
              <a:t>, </a:t>
            </a:r>
            <a:r>
              <a:rPr lang="en-US" dirty="0" err="1"/>
              <a:t>iar</a:t>
            </a:r>
            <a:r>
              <a:rPr lang="en-US" dirty="0"/>
              <a:t> </a:t>
            </a:r>
            <a:r>
              <a:rPr lang="en-US" dirty="0" err="1"/>
              <a:t>directorul</a:t>
            </a:r>
            <a:r>
              <a:rPr lang="en-US" dirty="0"/>
              <a:t> </a:t>
            </a:r>
            <a:r>
              <a:rPr lang="en-US" dirty="0" err="1"/>
              <a:t>aplicatiei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inafara</a:t>
            </a:r>
            <a:r>
              <a:rPr lang="en-US" dirty="0"/>
              <a:t> </a:t>
            </a:r>
            <a:r>
              <a:rPr lang="en-US" dirty="0" err="1"/>
              <a:t>containerului</a:t>
            </a:r>
            <a:r>
              <a:rPr lang="en-US" dirty="0"/>
              <a:t>.</a:t>
            </a:r>
          </a:p>
          <a:p>
            <a:pPr>
              <a:spcBef>
                <a:spcPct val="50000"/>
              </a:spcBef>
            </a:pPr>
            <a:r>
              <a:rPr lang="en-US" b="1" dirty="0">
                <a:solidFill>
                  <a:srgbClr val="FF3300"/>
                </a:solidFill>
              </a:rPr>
              <a:t>APP/</a:t>
            </a:r>
            <a:r>
              <a:rPr lang="en-US" b="1" dirty="0"/>
              <a:t> :</a:t>
            </a:r>
            <a:r>
              <a:rPr lang="en-US" dirty="0"/>
              <a:t>  </a:t>
            </a:r>
            <a:r>
              <a:rPr lang="en-US" dirty="0" err="1"/>
              <a:t>contine</a:t>
            </a:r>
            <a:r>
              <a:rPr lang="en-US" dirty="0"/>
              <a:t> </a:t>
            </a:r>
            <a:r>
              <a:rPr lang="en-US" b="1" dirty="0" err="1"/>
              <a:t>partea</a:t>
            </a:r>
            <a:r>
              <a:rPr lang="en-US" b="1" dirty="0"/>
              <a:t> </a:t>
            </a:r>
            <a:r>
              <a:rPr lang="en-US" b="1" dirty="0" err="1"/>
              <a:t>vizibila</a:t>
            </a:r>
            <a:r>
              <a:rPr lang="en-US" b="1" dirty="0"/>
              <a:t> </a:t>
            </a:r>
            <a:r>
              <a:rPr lang="en-US" dirty="0" err="1"/>
              <a:t>peste</a:t>
            </a:r>
            <a:r>
              <a:rPr lang="en-US" dirty="0"/>
              <a:t> web a </a:t>
            </a:r>
            <a:r>
              <a:rPr lang="en-US" dirty="0" err="1"/>
              <a:t>aplicatiei</a:t>
            </a:r>
            <a:r>
              <a:rPr lang="en-US" dirty="0"/>
              <a:t>: </a:t>
            </a:r>
            <a:r>
              <a:rPr lang="en-US" dirty="0" err="1"/>
              <a:t>fisiere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directori</a:t>
            </a:r>
            <a:r>
              <a:rPr lang="en-US" dirty="0"/>
              <a:t> – </a:t>
            </a:r>
            <a:r>
              <a:rPr lang="en-US" dirty="0" err="1"/>
              <a:t>resurse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browsere</a:t>
            </a:r>
            <a:r>
              <a:rPr lang="en-US" dirty="0"/>
              <a:t>: </a:t>
            </a:r>
            <a:r>
              <a:rPr lang="en-US" dirty="0">
                <a:solidFill>
                  <a:schemeClr val="folHlink"/>
                </a:solidFill>
              </a:rPr>
              <a:t>*.html, *.</a:t>
            </a:r>
            <a:r>
              <a:rPr lang="en-US" dirty="0" err="1">
                <a:solidFill>
                  <a:schemeClr val="folHlink"/>
                </a:solidFill>
              </a:rPr>
              <a:t>htm</a:t>
            </a:r>
            <a:r>
              <a:rPr lang="en-US" dirty="0">
                <a:solidFill>
                  <a:schemeClr val="folHlink"/>
                </a:solidFill>
              </a:rPr>
              <a:t>, *.</a:t>
            </a:r>
            <a:r>
              <a:rPr lang="en-US" dirty="0" err="1">
                <a:solidFill>
                  <a:schemeClr val="folHlink"/>
                </a:solidFill>
              </a:rPr>
              <a:t>jsp</a:t>
            </a:r>
            <a:r>
              <a:rPr lang="en-US" dirty="0">
                <a:solidFill>
                  <a:schemeClr val="folHlink"/>
                </a:solidFill>
              </a:rPr>
              <a:t>, *.class (applets), *.jar (applets), </a:t>
            </a:r>
            <a:r>
              <a:rPr lang="en-US" dirty="0" err="1">
                <a:solidFill>
                  <a:schemeClr val="folHlink"/>
                </a:solidFill>
              </a:rPr>
              <a:t>imagini</a:t>
            </a:r>
            <a:r>
              <a:rPr lang="en-US" dirty="0">
                <a:solidFill>
                  <a:schemeClr val="folHlink"/>
                </a:solidFill>
              </a:rPr>
              <a:t>, </a:t>
            </a:r>
            <a:r>
              <a:rPr lang="en-US" dirty="0" err="1">
                <a:solidFill>
                  <a:schemeClr val="folHlink"/>
                </a:solidFill>
              </a:rPr>
              <a:t>filme</a:t>
            </a:r>
            <a:r>
              <a:rPr lang="en-US" dirty="0"/>
              <a:t> etc.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b="1" dirty="0">
                <a:solidFill>
                  <a:srgbClr val="FF3300"/>
                </a:solidFill>
              </a:rPr>
              <a:t>APP/META-INF/</a:t>
            </a:r>
            <a:r>
              <a:rPr lang="en-US" b="1" dirty="0"/>
              <a:t> :</a:t>
            </a:r>
            <a:r>
              <a:rPr lang="en-US" dirty="0"/>
              <a:t>  </a:t>
            </a:r>
            <a:r>
              <a:rPr lang="en-US" dirty="0" err="1"/>
              <a:t>contine</a:t>
            </a:r>
            <a:r>
              <a:rPr lang="en-US" dirty="0"/>
              <a:t> </a:t>
            </a:r>
            <a:r>
              <a:rPr lang="en-US" dirty="0" err="1"/>
              <a:t>fisierul</a:t>
            </a:r>
            <a:r>
              <a:rPr lang="en-US" dirty="0"/>
              <a:t> text </a:t>
            </a:r>
            <a:r>
              <a:rPr lang="en-US" b="1" dirty="0" err="1">
                <a:solidFill>
                  <a:schemeClr val="folHlink"/>
                </a:solidFill>
              </a:rPr>
              <a:t>MANIFEST.MF</a:t>
            </a:r>
            <a:r>
              <a:rPr lang="en-US" b="1" dirty="0">
                <a:solidFill>
                  <a:schemeClr val="folHlink"/>
                </a:solidFill>
              </a:rPr>
              <a:t> </a:t>
            </a:r>
            <a:r>
              <a:rPr lang="en-US" dirty="0"/>
              <a:t>. De </a:t>
            </a:r>
            <a:r>
              <a:rPr lang="en-US" dirty="0" err="1"/>
              <a:t>asemenea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contine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alte</a:t>
            </a:r>
            <a:r>
              <a:rPr lang="en-US" dirty="0"/>
              <a:t> </a:t>
            </a:r>
            <a:r>
              <a:rPr lang="en-US" dirty="0" err="1"/>
              <a:t>fisiere</a:t>
            </a:r>
            <a:r>
              <a:rPr lang="en-US" dirty="0"/>
              <a:t> (de </a:t>
            </a:r>
            <a:r>
              <a:rPr lang="en-US" dirty="0" err="1"/>
              <a:t>regula</a:t>
            </a:r>
            <a:r>
              <a:rPr lang="en-US" dirty="0"/>
              <a:t> XML) </a:t>
            </a:r>
            <a:r>
              <a:rPr lang="en-US" dirty="0" err="1"/>
              <a:t>folosite</a:t>
            </a:r>
            <a:r>
              <a:rPr lang="en-US" dirty="0"/>
              <a:t> la </a:t>
            </a:r>
            <a:r>
              <a:rPr lang="en-US" dirty="0" err="1"/>
              <a:t>configurarea</a:t>
            </a:r>
            <a:r>
              <a:rPr lang="en-US" dirty="0"/>
              <a:t> </a:t>
            </a:r>
            <a:r>
              <a:rPr lang="en-US" dirty="0" err="1"/>
              <a:t>aplicatiei</a:t>
            </a:r>
            <a:r>
              <a:rPr lang="en-US" dirty="0"/>
              <a:t>.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b="1" dirty="0">
                <a:solidFill>
                  <a:srgbClr val="FF3300"/>
                </a:solidFill>
              </a:rPr>
              <a:t>APP/WEB-INF/</a:t>
            </a:r>
            <a:r>
              <a:rPr lang="en-US" b="1" dirty="0"/>
              <a:t> :</a:t>
            </a:r>
            <a:r>
              <a:rPr lang="en-US" dirty="0"/>
              <a:t>  </a:t>
            </a:r>
            <a:r>
              <a:rPr lang="en-US" dirty="0" err="1"/>
              <a:t>contine</a:t>
            </a:r>
            <a:r>
              <a:rPr lang="en-US" dirty="0"/>
              <a:t> </a:t>
            </a:r>
            <a:r>
              <a:rPr lang="en-US" b="1" dirty="0" err="1"/>
              <a:t>partea</a:t>
            </a:r>
            <a:r>
              <a:rPr lang="en-US" b="1" dirty="0"/>
              <a:t> </a:t>
            </a:r>
            <a:r>
              <a:rPr lang="en-US" b="1" dirty="0" err="1"/>
              <a:t>invizibila</a:t>
            </a:r>
            <a:r>
              <a:rPr lang="en-US" dirty="0"/>
              <a:t> </a:t>
            </a:r>
            <a:r>
              <a:rPr lang="en-US" dirty="0" err="1"/>
              <a:t>peste</a:t>
            </a:r>
            <a:r>
              <a:rPr lang="en-US" dirty="0"/>
              <a:t> web., </a:t>
            </a:r>
            <a:r>
              <a:rPr lang="en-US" dirty="0" err="1"/>
              <a:t>Fisierele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subdirectoarele</a:t>
            </a:r>
            <a:r>
              <a:rPr lang="en-US" dirty="0"/>
              <a:t>  de </a:t>
            </a:r>
            <a:r>
              <a:rPr lang="en-US" dirty="0" err="1"/>
              <a:t>aici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accesibile</a:t>
            </a:r>
            <a:r>
              <a:rPr lang="en-US" dirty="0"/>
              <a:t> </a:t>
            </a:r>
            <a:r>
              <a:rPr lang="en-US" dirty="0" err="1"/>
              <a:t>numai</a:t>
            </a:r>
            <a:r>
              <a:rPr lang="en-US" dirty="0"/>
              <a:t> </a:t>
            </a:r>
            <a:r>
              <a:rPr lang="en-US" dirty="0" err="1"/>
              <a:t>containerului</a:t>
            </a:r>
            <a:r>
              <a:rPr lang="en-US" dirty="0"/>
              <a:t>. In </a:t>
            </a:r>
            <a:r>
              <a:rPr lang="en-US" dirty="0" err="1"/>
              <a:t>primul</a:t>
            </a:r>
            <a:r>
              <a:rPr lang="en-US" dirty="0"/>
              <a:t> rand </a:t>
            </a:r>
            <a:r>
              <a:rPr lang="en-US" dirty="0" err="1"/>
              <a:t>aici</a:t>
            </a:r>
            <a:r>
              <a:rPr lang="en-US" dirty="0"/>
              <a:t> </a:t>
            </a:r>
            <a:r>
              <a:rPr lang="en-US" dirty="0" err="1"/>
              <a:t>apare</a:t>
            </a:r>
            <a:r>
              <a:rPr lang="en-US" dirty="0"/>
              <a:t> </a:t>
            </a:r>
            <a:r>
              <a:rPr lang="en-US" dirty="0" err="1"/>
              <a:t>fisierul</a:t>
            </a:r>
            <a:r>
              <a:rPr lang="en-US" dirty="0"/>
              <a:t> </a:t>
            </a:r>
            <a:r>
              <a:rPr lang="en-US" b="1" dirty="0" err="1">
                <a:solidFill>
                  <a:schemeClr val="folHlink"/>
                </a:solidFill>
              </a:rPr>
              <a:t>web.xml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eventual, </a:t>
            </a:r>
            <a:r>
              <a:rPr lang="en-US" dirty="0" err="1"/>
              <a:t>dupa</a:t>
            </a:r>
            <a:r>
              <a:rPr lang="en-US" dirty="0"/>
              <a:t> </a:t>
            </a:r>
            <a:r>
              <a:rPr lang="en-US" dirty="0" err="1"/>
              <a:t>caz</a:t>
            </a:r>
            <a:r>
              <a:rPr lang="en-US" dirty="0"/>
              <a:t>, </a:t>
            </a:r>
            <a:r>
              <a:rPr lang="en-US" dirty="0" err="1"/>
              <a:t>alte</a:t>
            </a:r>
            <a:r>
              <a:rPr lang="en-US" dirty="0"/>
              <a:t> </a:t>
            </a:r>
            <a:r>
              <a:rPr lang="en-US" dirty="0" err="1"/>
              <a:t>fisiere</a:t>
            </a:r>
            <a:r>
              <a:rPr lang="en-US" dirty="0"/>
              <a:t> xml de </a:t>
            </a:r>
            <a:r>
              <a:rPr lang="en-US" dirty="0" err="1"/>
              <a:t>descriere</a:t>
            </a:r>
            <a:r>
              <a:rPr lang="en-US" dirty="0"/>
              <a:t>: </a:t>
            </a:r>
            <a:r>
              <a:rPr lang="en-US" b="1" dirty="0" err="1">
                <a:solidFill>
                  <a:schemeClr val="folHlink"/>
                </a:solidFill>
              </a:rPr>
              <a:t>jboss-web.xml</a:t>
            </a:r>
            <a:r>
              <a:rPr lang="en-US" b="1" dirty="0">
                <a:solidFill>
                  <a:schemeClr val="folHlink"/>
                </a:solidFill>
              </a:rPr>
              <a:t>, sun-</a:t>
            </a:r>
            <a:r>
              <a:rPr lang="en-US" b="1" dirty="0" err="1">
                <a:solidFill>
                  <a:schemeClr val="folHlink"/>
                </a:solidFill>
              </a:rPr>
              <a:t>web.xml</a:t>
            </a:r>
            <a:r>
              <a:rPr lang="en-US" dirty="0"/>
              <a:t> etc. 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b="1" dirty="0">
                <a:solidFill>
                  <a:srgbClr val="FF3300"/>
                </a:solidFill>
              </a:rPr>
              <a:t>APP/WEB-INF/classes/</a:t>
            </a:r>
            <a:r>
              <a:rPr lang="en-US" b="1" dirty="0"/>
              <a:t> :</a:t>
            </a:r>
            <a:r>
              <a:rPr lang="en-US" dirty="0"/>
              <a:t>  </a:t>
            </a:r>
            <a:r>
              <a:rPr lang="en-US" dirty="0" err="1"/>
              <a:t>contine</a:t>
            </a:r>
            <a:r>
              <a:rPr lang="en-US" dirty="0"/>
              <a:t> </a:t>
            </a:r>
            <a:r>
              <a:rPr lang="en-US" dirty="0" err="1"/>
              <a:t>fisierele</a:t>
            </a:r>
            <a:r>
              <a:rPr lang="en-US" dirty="0"/>
              <a:t> </a:t>
            </a:r>
            <a:r>
              <a:rPr lang="en-US" b="1" dirty="0">
                <a:solidFill>
                  <a:schemeClr val="folHlink"/>
                </a:solidFill>
              </a:rPr>
              <a:t>*.class</a:t>
            </a:r>
            <a:r>
              <a:rPr lang="en-US" dirty="0"/>
              <a:t> ale </a:t>
            </a:r>
            <a:r>
              <a:rPr lang="en-US" dirty="0" err="1"/>
              <a:t>servleturilor</a:t>
            </a:r>
            <a:r>
              <a:rPr lang="en-US" dirty="0"/>
              <a:t>, </a:t>
            </a:r>
            <a:r>
              <a:rPr lang="en-US" dirty="0" err="1"/>
              <a:t>filtrelor</a:t>
            </a:r>
            <a:r>
              <a:rPr lang="en-US" dirty="0"/>
              <a:t>, </a:t>
            </a:r>
            <a:r>
              <a:rPr lang="en-US" dirty="0" err="1"/>
              <a:t>lisenerurilor</a:t>
            </a:r>
            <a:r>
              <a:rPr lang="en-US" dirty="0"/>
              <a:t>, </a:t>
            </a:r>
            <a:r>
              <a:rPr lang="en-US" dirty="0" err="1"/>
              <a:t>clasele</a:t>
            </a:r>
            <a:r>
              <a:rPr lang="en-US" dirty="0"/>
              <a:t> </a:t>
            </a:r>
            <a:r>
              <a:rPr lang="en-US" dirty="0" err="1"/>
              <a:t>ajutatoare</a:t>
            </a:r>
            <a:r>
              <a:rPr lang="en-US" dirty="0"/>
              <a:t> (helper) ale </a:t>
            </a:r>
            <a:r>
              <a:rPr lang="en-US" dirty="0" err="1"/>
              <a:t>acestora</a:t>
            </a:r>
            <a:r>
              <a:rPr lang="en-US" dirty="0"/>
              <a:t> etc., </a:t>
            </a:r>
            <a:r>
              <a:rPr lang="en-US" dirty="0" err="1"/>
              <a:t>grupate</a:t>
            </a:r>
            <a:r>
              <a:rPr lang="en-US" dirty="0"/>
              <a:t> in </a:t>
            </a:r>
            <a:r>
              <a:rPr lang="en-US" dirty="0" err="1"/>
              <a:t>subdirectoare</a:t>
            </a:r>
            <a:r>
              <a:rPr lang="en-US" dirty="0"/>
              <a:t> (package).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b="1" dirty="0">
                <a:solidFill>
                  <a:srgbClr val="FF3300"/>
                </a:solidFill>
              </a:rPr>
              <a:t>APP/WEB-INF/lib/</a:t>
            </a:r>
            <a:r>
              <a:rPr lang="en-US" b="1" dirty="0"/>
              <a:t> :</a:t>
            </a:r>
            <a:r>
              <a:rPr lang="en-US" dirty="0"/>
              <a:t>  (optional) </a:t>
            </a:r>
            <a:r>
              <a:rPr lang="en-US" dirty="0" err="1"/>
              <a:t>contine</a:t>
            </a:r>
            <a:r>
              <a:rPr lang="en-US" dirty="0"/>
              <a:t> </a:t>
            </a:r>
            <a:r>
              <a:rPr lang="en-US" dirty="0" err="1"/>
              <a:t>arhive</a:t>
            </a:r>
            <a:r>
              <a:rPr lang="en-US" dirty="0"/>
              <a:t>  </a:t>
            </a:r>
            <a:r>
              <a:rPr lang="en-US" b="1" dirty="0">
                <a:solidFill>
                  <a:schemeClr val="folHlink"/>
                </a:solidFill>
              </a:rPr>
              <a:t>*.jar</a:t>
            </a:r>
            <a:r>
              <a:rPr lang="en-US" dirty="0"/>
              <a:t> </a:t>
            </a:r>
            <a:r>
              <a:rPr lang="en-US" dirty="0" err="1"/>
              <a:t>necesare</a:t>
            </a:r>
            <a:r>
              <a:rPr lang="en-US" dirty="0"/>
              <a:t> </a:t>
            </a:r>
            <a:r>
              <a:rPr lang="en-US" dirty="0" err="1"/>
              <a:t>aplicatiei</a:t>
            </a:r>
            <a:r>
              <a:rPr lang="en-US" dirty="0"/>
              <a:t>. </a:t>
            </a:r>
            <a:r>
              <a:rPr lang="en-US" dirty="0" err="1"/>
              <a:t>Acestea</a:t>
            </a:r>
            <a:r>
              <a:rPr lang="en-US" dirty="0"/>
              <a:t> </a:t>
            </a:r>
            <a:r>
              <a:rPr lang="en-US" dirty="0" err="1"/>
              <a:t>vor</a:t>
            </a:r>
            <a:r>
              <a:rPr lang="en-US" dirty="0"/>
              <a:t> fi </a:t>
            </a:r>
            <a:r>
              <a:rPr lang="en-US" dirty="0" err="1"/>
              <a:t>vazute</a:t>
            </a:r>
            <a:r>
              <a:rPr lang="en-US" dirty="0"/>
              <a:t> automat de </a:t>
            </a:r>
            <a:r>
              <a:rPr lang="en-US" b="1" dirty="0" err="1">
                <a:solidFill>
                  <a:srgbClr val="008000"/>
                </a:solidFill>
              </a:rPr>
              <a:t>classpath</a:t>
            </a:r>
            <a:r>
              <a:rPr lang="en-US" dirty="0"/>
              <a:t> ale </a:t>
            </a:r>
            <a:r>
              <a:rPr lang="en-US" dirty="0" err="1"/>
              <a:t>servleturilor</a:t>
            </a:r>
            <a:r>
              <a:rPr lang="en-US" dirty="0"/>
              <a:t> </a:t>
            </a:r>
            <a:r>
              <a:rPr lang="en-US" dirty="0" err="1"/>
              <a:t>aplicatiei</a:t>
            </a:r>
            <a:r>
              <a:rPr lang="en-US" dirty="0"/>
              <a:t> (la </a:t>
            </a:r>
            <a:r>
              <a:rPr lang="en-US" dirty="0" err="1"/>
              <a:t>fel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</a:t>
            </a:r>
            <a:r>
              <a:rPr lang="en-US" dirty="0">
                <a:solidFill>
                  <a:srgbClr val="008000"/>
                </a:solidFill>
              </a:rPr>
              <a:t>$</a:t>
            </a:r>
            <a:r>
              <a:rPr lang="en-US" dirty="0" err="1">
                <a:solidFill>
                  <a:srgbClr val="008000"/>
                </a:solidFill>
              </a:rPr>
              <a:t>JAVA_HOME</a:t>
            </a:r>
            <a:r>
              <a:rPr lang="en-US" dirty="0">
                <a:solidFill>
                  <a:srgbClr val="008000"/>
                </a:solidFill>
              </a:rPr>
              <a:t>/</a:t>
            </a:r>
            <a:r>
              <a:rPr lang="en-US" dirty="0" err="1">
                <a:solidFill>
                  <a:srgbClr val="008000"/>
                </a:solidFill>
              </a:rPr>
              <a:t>jre</a:t>
            </a:r>
            <a:r>
              <a:rPr lang="en-US" dirty="0">
                <a:solidFill>
                  <a:srgbClr val="008000"/>
                </a:solidFill>
              </a:rPr>
              <a:t>/lib/</a:t>
            </a:r>
            <a:r>
              <a:rPr lang="en-US" dirty="0" err="1">
                <a:solidFill>
                  <a:srgbClr val="008000"/>
                </a:solidFill>
              </a:rPr>
              <a:t>ext</a:t>
            </a:r>
            <a:r>
              <a:rPr lang="en-US" dirty="0"/>
              <a:t> cu </a:t>
            </a:r>
            <a:r>
              <a:rPr lang="en-US" dirty="0" err="1"/>
              <a:t>arhivele</a:t>
            </a:r>
            <a:r>
              <a:rPr lang="en-US" dirty="0"/>
              <a:t> *.jar </a:t>
            </a:r>
            <a:r>
              <a:rPr lang="en-US" dirty="0" err="1"/>
              <a:t>vazute</a:t>
            </a:r>
            <a:r>
              <a:rPr lang="en-US" dirty="0"/>
              <a:t> de </a:t>
            </a:r>
            <a:r>
              <a:rPr lang="en-US" b="1" dirty="0" err="1">
                <a:solidFill>
                  <a:srgbClr val="008000"/>
                </a:solidFill>
              </a:rPr>
              <a:t>classpath</a:t>
            </a:r>
            <a:r>
              <a:rPr lang="en-US" b="1" dirty="0">
                <a:solidFill>
                  <a:srgbClr val="008000"/>
                </a:solidFill>
              </a:rPr>
              <a:t> </a:t>
            </a:r>
            <a:r>
              <a:rPr lang="en-US" dirty="0"/>
              <a:t>al </a:t>
            </a:r>
            <a:r>
              <a:rPr lang="en-US" dirty="0" err="1"/>
              <a:t>JVM</a:t>
            </a:r>
            <a:r>
              <a:rPr lang="en-US" dirty="0"/>
              <a:t>,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>
                <a:solidFill>
                  <a:srgbClr val="008000"/>
                </a:solidFill>
              </a:rPr>
              <a:t>$</a:t>
            </a:r>
            <a:r>
              <a:rPr lang="en-US" dirty="0" err="1">
                <a:solidFill>
                  <a:srgbClr val="008000"/>
                </a:solidFill>
              </a:rPr>
              <a:t>CONTAINER_SERVLET</a:t>
            </a:r>
            <a:r>
              <a:rPr lang="en-US" dirty="0">
                <a:solidFill>
                  <a:srgbClr val="008000"/>
                </a:solidFill>
              </a:rPr>
              <a:t>/lib</a:t>
            </a:r>
            <a:r>
              <a:rPr lang="en-US" dirty="0"/>
              <a:t> cu </a:t>
            </a:r>
            <a:r>
              <a:rPr lang="en-US" dirty="0" err="1"/>
              <a:t>arhivele</a:t>
            </a:r>
            <a:r>
              <a:rPr lang="en-US" dirty="0"/>
              <a:t> *.jar </a:t>
            </a:r>
            <a:r>
              <a:rPr lang="en-US" dirty="0" err="1"/>
              <a:t>vazute</a:t>
            </a:r>
            <a:r>
              <a:rPr lang="en-US" dirty="0"/>
              <a:t> de </a:t>
            </a:r>
            <a:r>
              <a:rPr lang="en-US" dirty="0" err="1"/>
              <a:t>toate</a:t>
            </a:r>
            <a:r>
              <a:rPr lang="en-US" b="1" dirty="0">
                <a:solidFill>
                  <a:srgbClr val="008000"/>
                </a:solidFill>
              </a:rPr>
              <a:t> </a:t>
            </a:r>
            <a:r>
              <a:rPr lang="en-US" b="1" dirty="0" err="1">
                <a:solidFill>
                  <a:srgbClr val="008000"/>
                </a:solidFill>
              </a:rPr>
              <a:t>classpath</a:t>
            </a:r>
            <a:r>
              <a:rPr lang="en-US" b="1" dirty="0">
                <a:solidFill>
                  <a:srgbClr val="008000"/>
                </a:solidFill>
              </a:rPr>
              <a:t> </a:t>
            </a:r>
            <a:r>
              <a:rPr lang="en-US" dirty="0"/>
              <a:t>ale </a:t>
            </a:r>
            <a:r>
              <a:rPr lang="en-US" dirty="0" err="1"/>
              <a:t>aplicatiilor</a:t>
            </a:r>
            <a:r>
              <a:rPr lang="en-US" dirty="0"/>
              <a:t> </a:t>
            </a:r>
            <a:r>
              <a:rPr lang="en-US" dirty="0" err="1"/>
              <a:t>containerului</a:t>
            </a:r>
            <a:r>
              <a:rPr lang="en-US" dirty="0"/>
              <a:t> de </a:t>
            </a:r>
            <a:r>
              <a:rPr lang="en-US" dirty="0" err="1"/>
              <a:t>servleturi</a:t>
            </a:r>
            <a:r>
              <a:rPr lang="en-US" dirty="0"/>
              <a:t>).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b="1" dirty="0">
                <a:solidFill>
                  <a:srgbClr val="FF3300"/>
                </a:solidFill>
              </a:rPr>
              <a:t>APP/WEB-INF/ 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contine</a:t>
            </a:r>
            <a:r>
              <a:rPr lang="en-US" dirty="0"/>
              <a:t>, optional,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alte</a:t>
            </a:r>
            <a:r>
              <a:rPr lang="en-US" dirty="0"/>
              <a:t> </a:t>
            </a:r>
            <a:r>
              <a:rPr lang="en-US" dirty="0" err="1"/>
              <a:t>fisiere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directoare</a:t>
            </a:r>
            <a:r>
              <a:rPr lang="en-US" dirty="0"/>
              <a:t>. In </a:t>
            </a:r>
            <a:r>
              <a:rPr lang="en-US" dirty="0" err="1"/>
              <a:t>cursurile</a:t>
            </a:r>
            <a:r>
              <a:rPr lang="en-US" dirty="0"/>
              <a:t> </a:t>
            </a:r>
            <a:r>
              <a:rPr lang="en-US" dirty="0" err="1"/>
              <a:t>urmatoare</a:t>
            </a:r>
            <a:r>
              <a:rPr lang="en-US" dirty="0"/>
              <a:t> </a:t>
            </a:r>
            <a:r>
              <a:rPr lang="en-US" dirty="0" err="1"/>
              <a:t>vom</a:t>
            </a:r>
            <a:r>
              <a:rPr lang="en-US" dirty="0"/>
              <a:t> </a:t>
            </a:r>
            <a:r>
              <a:rPr lang="en-US" dirty="0" err="1"/>
              <a:t>avea</a:t>
            </a:r>
            <a:r>
              <a:rPr lang="en-US" dirty="0"/>
              <a:t> </a:t>
            </a:r>
            <a:r>
              <a:rPr lang="en-US" dirty="0" err="1"/>
              <a:t>astfel</a:t>
            </a:r>
            <a:r>
              <a:rPr lang="en-US" dirty="0"/>
              <a:t> de </a:t>
            </a:r>
            <a:r>
              <a:rPr lang="en-US" dirty="0" err="1"/>
              <a:t>exemple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35393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26.10.2025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BFM_Servlets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18</a:t>
            </a:fld>
            <a:r>
              <a:rPr lang="en-US" dirty="0"/>
              <a:t>_/_44_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Containerele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Tomcat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si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Jetty: start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si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gestiune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porturi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461869"/>
            <a:ext cx="91440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/>
              <a:t>Start Tomcat</a:t>
            </a:r>
            <a:r>
              <a:rPr lang="en-US" dirty="0"/>
              <a:t>: 			     </a:t>
            </a:r>
            <a:r>
              <a:rPr lang="en-US" b="1" dirty="0"/>
              <a:t>Start Jetty</a:t>
            </a:r>
            <a:r>
              <a:rPr lang="en-US" dirty="0"/>
              <a:t>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                            $JETTY_HOME/java –jar start.jar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$</a:t>
            </a:r>
            <a:r>
              <a:rPr lang="ro-RO" sz="1600" dirty="0">
                <a:latin typeface="Courier New" pitchFamily="49" charset="0"/>
                <a:cs typeface="Courier New" pitchFamily="49" charset="0"/>
              </a:rPr>
              <a:t>CATALINA_HOME/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bin</a:t>
            </a:r>
            <a:r>
              <a:rPr lang="ro-RO" sz="1600" dirty="0">
                <a:latin typeface="Courier New" pitchFamily="49" charset="0"/>
                <a:cs typeface="Courier New" pitchFamily="49" charset="0"/>
              </a:rPr>
              <a:t>/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startup.{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bat|sh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 err="1"/>
              <a:t>Portul</a:t>
            </a:r>
            <a:r>
              <a:rPr lang="en-US" dirty="0"/>
              <a:t> principal de </a:t>
            </a:r>
            <a:r>
              <a:rPr lang="en-US" dirty="0" err="1"/>
              <a:t>acces</a:t>
            </a:r>
            <a:r>
              <a:rPr lang="en-US" dirty="0"/>
              <a:t> </a:t>
            </a:r>
            <a:r>
              <a:rPr lang="en-US" dirty="0" err="1"/>
              <a:t>cereri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8080.  </a:t>
            </a:r>
            <a:r>
              <a:rPr lang="en-US" dirty="0" err="1"/>
              <a:t>Alte</a:t>
            </a:r>
            <a:r>
              <a:rPr lang="en-US" dirty="0"/>
              <a:t> </a:t>
            </a:r>
            <a:r>
              <a:rPr lang="en-US" dirty="0" err="1"/>
              <a:t>porturi</a:t>
            </a:r>
            <a:r>
              <a:rPr lang="en-US" dirty="0"/>
              <a:t>: 8009 </a:t>
            </a:r>
            <a:r>
              <a:rPr lang="en-US" dirty="0" err="1"/>
              <a:t>conexiune</a:t>
            </a:r>
            <a:r>
              <a:rPr lang="en-US" dirty="0"/>
              <a:t> </a:t>
            </a:r>
            <a:r>
              <a:rPr lang="en-US" dirty="0" err="1"/>
              <a:t>AJP</a:t>
            </a:r>
            <a:r>
              <a:rPr lang="en-US" dirty="0"/>
              <a:t>,  8081 </a:t>
            </a:r>
            <a:r>
              <a:rPr lang="en-US" dirty="0" err="1"/>
              <a:t>conexiune</a:t>
            </a:r>
            <a:r>
              <a:rPr lang="en-US" dirty="0"/>
              <a:t> proxy,  8443 </a:t>
            </a:r>
            <a:r>
              <a:rPr lang="en-US" dirty="0" err="1"/>
              <a:t>conexiune</a:t>
            </a:r>
            <a:r>
              <a:rPr lang="en-US" dirty="0"/>
              <a:t> SSL etc. La </a:t>
            </a:r>
            <a:r>
              <a:rPr lang="en-US" dirty="0" err="1"/>
              <a:t>nevoie</a:t>
            </a:r>
            <a:r>
              <a:rPr lang="en-US" dirty="0"/>
              <a:t> (in </a:t>
            </a:r>
            <a:r>
              <a:rPr lang="en-US" dirty="0" err="1"/>
              <a:t>caz</a:t>
            </a:r>
            <a:r>
              <a:rPr lang="en-US" dirty="0"/>
              <a:t> de </a:t>
            </a:r>
            <a:r>
              <a:rPr lang="en-US" dirty="0" err="1"/>
              <a:t>lansari</a:t>
            </a:r>
            <a:r>
              <a:rPr lang="en-US" dirty="0"/>
              <a:t> multiple ale </a:t>
            </a:r>
            <a:r>
              <a:rPr lang="en-US" dirty="0" err="1"/>
              <a:t>containerului</a:t>
            </a:r>
            <a:r>
              <a:rPr lang="en-US" dirty="0"/>
              <a:t>) </a:t>
            </a:r>
            <a:r>
              <a:rPr lang="en-US" dirty="0" err="1"/>
              <a:t>acestea</a:t>
            </a:r>
            <a:r>
              <a:rPr lang="en-US" dirty="0"/>
              <a:t> se pot </a:t>
            </a:r>
            <a:r>
              <a:rPr lang="en-US" dirty="0" err="1"/>
              <a:t>modifica</a:t>
            </a:r>
            <a:r>
              <a:rPr lang="en-US" dirty="0"/>
              <a:t>. Mai </a:t>
            </a:r>
            <a:r>
              <a:rPr lang="en-US" dirty="0" err="1"/>
              <a:t>frecvent</a:t>
            </a:r>
            <a:r>
              <a:rPr lang="en-US" dirty="0"/>
              <a:t> se </a:t>
            </a:r>
            <a:r>
              <a:rPr lang="en-US" dirty="0" err="1"/>
              <a:t>modifica</a:t>
            </a:r>
            <a:r>
              <a:rPr lang="en-US" dirty="0"/>
              <a:t> </a:t>
            </a:r>
            <a:r>
              <a:rPr lang="en-US" dirty="0" err="1"/>
              <a:t>numai</a:t>
            </a:r>
            <a:r>
              <a:rPr lang="en-US" dirty="0"/>
              <a:t> </a:t>
            </a:r>
            <a:r>
              <a:rPr lang="en-US" dirty="0" err="1"/>
              <a:t>portul</a:t>
            </a:r>
            <a:r>
              <a:rPr lang="en-US" dirty="0"/>
              <a:t> principal (8080), </a:t>
            </a:r>
            <a:r>
              <a:rPr lang="en-US" dirty="0" err="1"/>
              <a:t>modificand</a:t>
            </a:r>
            <a:r>
              <a:rPr lang="en-US" dirty="0"/>
              <a:t> in </a:t>
            </a:r>
            <a:r>
              <a:rPr lang="en-US" dirty="0" err="1"/>
              <a:t>fisierele</a:t>
            </a:r>
            <a:r>
              <a:rPr lang="en-US" dirty="0"/>
              <a:t> </a:t>
            </a:r>
            <a:r>
              <a:rPr lang="en-US" dirty="0" err="1"/>
              <a:t>prezentate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jos.</a:t>
            </a:r>
            <a:r>
              <a:rPr lang="en-US" dirty="0"/>
              <a:t>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o-RO" sz="1600" dirty="0">
                <a:latin typeface="Courier New" pitchFamily="49" charset="0"/>
                <a:cs typeface="Courier New" pitchFamily="49" charset="0"/>
              </a:rPr>
              <a:t>$CATALINA_HOME/conf/server.xml: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 $JETTY_HOME/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etc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/jetty-http.xml: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&lt;Server - - -                         &lt;Configure - - -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&lt;Service - - -                         &lt;Call - - -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&lt;Connector port="8080"                 &lt;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Arg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- - -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             - - - /&gt;                  &lt;New - - -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- - -                                         &lt;Set name="port"&gt;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&lt;/Service&gt; - - -                                  &lt;Property name="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jetty.http.port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"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&lt;/Server&gt;                                                     default="8080"/&gt;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                                           &lt;/Set&gt; - - -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                                       &lt;/New&gt; - - -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                                    &lt;/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Arg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&gt; - - -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                                 &lt;/Call&gt; - - -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                              &lt;/Configure&gt;</a:t>
            </a:r>
          </a:p>
        </p:txBody>
      </p:sp>
    </p:spTree>
    <p:extLst>
      <p:ext uri="{BB962C8B-B14F-4D97-AF65-F5344CB8AC3E}">
        <p14:creationId xmlns:p14="http://schemas.microsoft.com/office/powerpoint/2010/main" val="32469366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26.10.2025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BFM_Servlets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19</a:t>
            </a:fld>
            <a:r>
              <a:rPr lang="en-US" dirty="0"/>
              <a:t>_/_44_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Deploy al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unei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aplicatii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web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intr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-un container (AS) 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366713"/>
            <a:ext cx="9144000" cy="70173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/>
              <a:t>Containerul</a:t>
            </a:r>
            <a:r>
              <a:rPr lang="en-US" dirty="0"/>
              <a:t> </a:t>
            </a:r>
            <a:r>
              <a:rPr lang="en-US" b="1" dirty="0"/>
              <a:t>Tomcat</a:t>
            </a:r>
            <a:r>
              <a:rPr lang="en-US" dirty="0"/>
              <a:t>: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>
                <a:solidFill>
                  <a:srgbClr val="FF0000"/>
                </a:solidFill>
              </a:rPr>
              <a:t>Start</a:t>
            </a:r>
            <a:r>
              <a:rPr lang="en-US" dirty="0"/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$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CATALINA_HOME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/bin/startup.{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sh|bat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err="1"/>
              <a:t>Copierea</a:t>
            </a:r>
            <a:r>
              <a:rPr lang="en-US" dirty="0"/>
              <a:t> </a:t>
            </a:r>
            <a:r>
              <a:rPr lang="en-US" dirty="0" err="1"/>
              <a:t>APP.war</a:t>
            </a:r>
            <a:r>
              <a:rPr lang="en-US" dirty="0"/>
              <a:t>  </a:t>
            </a:r>
            <a:r>
              <a:rPr lang="en-US" dirty="0" err="1"/>
              <a:t>sau</a:t>
            </a:r>
            <a:r>
              <a:rPr lang="en-US" dirty="0"/>
              <a:t> a </a:t>
            </a:r>
            <a:r>
              <a:rPr lang="en-US" dirty="0" err="1"/>
              <a:t>structurii</a:t>
            </a:r>
            <a:r>
              <a:rPr lang="en-US" dirty="0"/>
              <a:t> de </a:t>
            </a:r>
            <a:r>
              <a:rPr lang="en-US" dirty="0" err="1"/>
              <a:t>directori</a:t>
            </a:r>
            <a:r>
              <a:rPr lang="en-US" dirty="0"/>
              <a:t> APP in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$CATALINA_HOME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webapps</a:t>
            </a:r>
            <a:r>
              <a:rPr lang="en-US" dirty="0"/>
              <a:t>/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err="1"/>
              <a:t>Definirea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context extern 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err="1"/>
              <a:t>Crearea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aplicatii</a:t>
            </a:r>
            <a:r>
              <a:rPr lang="en-US" dirty="0"/>
              <a:t> cu server web embedded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/>
              <a:t>Containerul</a:t>
            </a:r>
            <a:r>
              <a:rPr lang="en-US" dirty="0"/>
              <a:t> </a:t>
            </a:r>
            <a:r>
              <a:rPr lang="en-US" b="1" dirty="0"/>
              <a:t>Jetty</a:t>
            </a:r>
            <a:r>
              <a:rPr lang="en-US" dirty="0"/>
              <a:t>: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>
                <a:solidFill>
                  <a:srgbClr val="FF0000"/>
                </a:solidFill>
              </a:rPr>
              <a:t>Start</a:t>
            </a:r>
            <a:r>
              <a:rPr lang="en-US" dirty="0"/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$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JETTY_HOME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/java –jar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start.jar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err="1"/>
              <a:t>Copierea</a:t>
            </a:r>
            <a:r>
              <a:rPr lang="en-US" dirty="0"/>
              <a:t> </a:t>
            </a:r>
            <a:r>
              <a:rPr lang="en-US" dirty="0" err="1"/>
              <a:t>APP.war</a:t>
            </a:r>
            <a:r>
              <a:rPr lang="en-US" dirty="0"/>
              <a:t>  </a:t>
            </a:r>
            <a:r>
              <a:rPr lang="en-US" dirty="0" err="1"/>
              <a:t>sau</a:t>
            </a:r>
            <a:r>
              <a:rPr lang="en-US" dirty="0"/>
              <a:t> a </a:t>
            </a:r>
            <a:r>
              <a:rPr lang="en-US" dirty="0" err="1"/>
              <a:t>structurii</a:t>
            </a:r>
            <a:r>
              <a:rPr lang="en-US" dirty="0"/>
              <a:t> de </a:t>
            </a:r>
            <a:r>
              <a:rPr lang="en-US" dirty="0" err="1"/>
              <a:t>directori</a:t>
            </a:r>
            <a:r>
              <a:rPr lang="en-US" dirty="0"/>
              <a:t> APP in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$JETTY_HOME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webapps</a:t>
            </a:r>
            <a:r>
              <a:rPr lang="en-US" dirty="0"/>
              <a:t>/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err="1"/>
              <a:t>Definirea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context extern 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err="1"/>
              <a:t>Crearea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aplicatii</a:t>
            </a:r>
            <a:r>
              <a:rPr lang="en-US" dirty="0"/>
              <a:t> cu server web embedded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/>
              <a:t>Containerul</a:t>
            </a:r>
            <a:r>
              <a:rPr lang="en-US" dirty="0"/>
              <a:t> </a:t>
            </a:r>
            <a:r>
              <a:rPr lang="en-US" dirty="0" err="1"/>
              <a:t>inclus</a:t>
            </a:r>
            <a:r>
              <a:rPr lang="en-US" dirty="0"/>
              <a:t> in </a:t>
            </a:r>
            <a:r>
              <a:rPr lang="en-US" dirty="0" err="1"/>
              <a:t>serverul</a:t>
            </a:r>
            <a:r>
              <a:rPr lang="en-US" dirty="0"/>
              <a:t> de </a:t>
            </a:r>
            <a:r>
              <a:rPr lang="en-US" dirty="0" err="1"/>
              <a:t>aplicatii</a:t>
            </a:r>
            <a:r>
              <a:rPr lang="en-US" dirty="0"/>
              <a:t> </a:t>
            </a:r>
            <a:r>
              <a:rPr lang="en-US" b="1" dirty="0" err="1"/>
              <a:t>WildFly</a:t>
            </a:r>
            <a:r>
              <a:rPr lang="en-US" dirty="0"/>
              <a:t>: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>
                <a:solidFill>
                  <a:srgbClr val="FF0000"/>
                </a:solidFill>
              </a:rPr>
              <a:t>Start</a:t>
            </a:r>
            <a:r>
              <a:rPr lang="en-US" dirty="0"/>
              <a:t> $</a:t>
            </a:r>
            <a:r>
              <a:rPr lang="en-US" dirty="0" err="1"/>
              <a:t>JBOSS_HOME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/bin/standalone.{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sh|bat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copy …/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APP.war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in </a:t>
            </a:r>
            <a:r>
              <a:rPr lang="en-US" dirty="0"/>
              <a:t>$</a:t>
            </a:r>
            <a:r>
              <a:rPr lang="en-US" dirty="0" err="1"/>
              <a:t>JBOSS_HOME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/standalone/deployments/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/>
              <a:t>Containerul</a:t>
            </a:r>
            <a:r>
              <a:rPr lang="en-US" dirty="0"/>
              <a:t> </a:t>
            </a:r>
            <a:r>
              <a:rPr lang="en-US" dirty="0" err="1"/>
              <a:t>inclus</a:t>
            </a:r>
            <a:r>
              <a:rPr lang="en-US" dirty="0"/>
              <a:t> in </a:t>
            </a:r>
            <a:r>
              <a:rPr lang="en-US" dirty="0" err="1"/>
              <a:t>serverul</a:t>
            </a:r>
            <a:r>
              <a:rPr lang="en-US" dirty="0"/>
              <a:t> de </a:t>
            </a:r>
            <a:r>
              <a:rPr lang="en-US" dirty="0" err="1"/>
              <a:t>aplicatii</a:t>
            </a:r>
            <a:r>
              <a:rPr lang="en-US" dirty="0"/>
              <a:t> </a:t>
            </a:r>
            <a:r>
              <a:rPr lang="en-US" b="1" dirty="0"/>
              <a:t>Glassfish</a:t>
            </a:r>
            <a:r>
              <a:rPr lang="en-US" dirty="0"/>
              <a:t>: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>
                <a:solidFill>
                  <a:srgbClr val="FF0000"/>
                </a:solidFill>
              </a:rPr>
              <a:t>Start</a:t>
            </a:r>
            <a:r>
              <a:rPr lang="en-US" dirty="0"/>
              <a:t> $</a:t>
            </a:r>
            <a:r>
              <a:rPr lang="en-US" dirty="0" err="1"/>
              <a:t>GF_HOME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/bin/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asadmin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start-domain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copy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APP.war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in </a:t>
            </a:r>
            <a:r>
              <a:rPr lang="en-US" dirty="0"/>
              <a:t>$GF_HOME/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glassfish/domains/domain1/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autodeploy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/ </a:t>
            </a:r>
            <a:r>
              <a:rPr lang="en-US" b="1" i="1" u="sng" dirty="0" err="1">
                <a:latin typeface="Courier New" pitchFamily="49" charset="0"/>
                <a:cs typeface="Courier New" pitchFamily="49" charset="0"/>
              </a:rPr>
              <a:t>sau</a:t>
            </a:r>
            <a:endParaRPr lang="en-US" b="1" i="1" u="sng" dirty="0">
              <a:latin typeface="Courier New" pitchFamily="49" charset="0"/>
              <a:cs typeface="Courier New" pitchFamily="49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/>
              <a:t>$GF_HOME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/bin/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asadmin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deploy …/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APP.war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>
                <a:solidFill>
                  <a:srgbClr val="FF0000"/>
                </a:solidFill>
              </a:rPr>
              <a:t>Vezi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exemple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detalii</a:t>
            </a:r>
            <a:r>
              <a:rPr lang="en-US" dirty="0">
                <a:solidFill>
                  <a:srgbClr val="FF0000"/>
                </a:solidFill>
              </a:rPr>
              <a:t> in </a:t>
            </a:r>
            <a:r>
              <a:rPr lang="en-US" b="1" dirty="0" err="1">
                <a:solidFill>
                  <a:srgbClr val="FF0000"/>
                </a:solidFill>
              </a:rPr>
              <a:t>1servletClasic</a:t>
            </a:r>
            <a:r>
              <a:rPr lang="en-US" b="1" dirty="0">
                <a:solidFill>
                  <a:srgbClr val="FF0000"/>
                </a:solidFill>
              </a:rPr>
              <a:t>/</a:t>
            </a:r>
            <a:r>
              <a:rPr lang="en-US" b="1" dirty="0" err="1">
                <a:solidFill>
                  <a:srgbClr val="FF0000"/>
                </a:solidFill>
              </a:rPr>
              <a:t>ReadMe.txt</a:t>
            </a:r>
            <a:endParaRPr lang="en-US" b="1" dirty="0">
              <a:solidFill>
                <a:srgbClr val="FF0000"/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5393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26.10.2025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BFM_Servlets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20</a:t>
            </a:fld>
            <a:r>
              <a:rPr lang="en-US" dirty="0"/>
              <a:t>_/_44_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Definirea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unui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context extern Tomcat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sau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Jetty </a:t>
            </a:r>
          </a:p>
        </p:txBody>
      </p:sp>
      <p:sp>
        <p:nvSpPr>
          <p:cNvPr id="2" name="Rectangle 1"/>
          <p:cNvSpPr/>
          <p:nvPr/>
        </p:nvSpPr>
        <p:spPr>
          <a:xfrm>
            <a:off x="21771" y="361270"/>
            <a:ext cx="9144000" cy="60939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tutoriale</a:t>
            </a:r>
            <a:r>
              <a:rPr lang="en-US" dirty="0"/>
              <a:t> </a:t>
            </a:r>
            <a:r>
              <a:rPr lang="en-US" dirty="0" err="1"/>
              <a:t>exemplifica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arhive</a:t>
            </a:r>
            <a:r>
              <a:rPr lang="en-US" dirty="0"/>
              <a:t> war, </a:t>
            </a:r>
            <a:r>
              <a:rPr lang="en-US" dirty="0" err="1"/>
              <a:t>practica</a:t>
            </a:r>
            <a:r>
              <a:rPr lang="en-US" dirty="0"/>
              <a:t> a </a:t>
            </a:r>
            <a:r>
              <a:rPr lang="en-US" dirty="0" err="1"/>
              <a:t>dovedit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utila</a:t>
            </a:r>
            <a:r>
              <a:rPr lang="en-US" dirty="0"/>
              <a:t> </a:t>
            </a:r>
            <a:r>
              <a:rPr lang="en-US" dirty="0" err="1"/>
              <a:t>pastrarea</a:t>
            </a:r>
            <a:r>
              <a:rPr lang="en-US" dirty="0"/>
              <a:t> </a:t>
            </a:r>
            <a:r>
              <a:rPr lang="en-US" dirty="0" err="1"/>
              <a:t>structurii</a:t>
            </a:r>
            <a:r>
              <a:rPr lang="en-US" dirty="0"/>
              <a:t> de </a:t>
            </a:r>
            <a:r>
              <a:rPr lang="en-US" dirty="0" err="1"/>
              <a:t>directori</a:t>
            </a:r>
            <a:r>
              <a:rPr lang="en-US" dirty="0"/>
              <a:t> a </a:t>
            </a:r>
            <a:r>
              <a:rPr lang="en-US" dirty="0" err="1"/>
              <a:t>aplicatiei</a:t>
            </a:r>
            <a:r>
              <a:rPr lang="en-US" dirty="0"/>
              <a:t> </a:t>
            </a:r>
            <a:r>
              <a:rPr lang="en-US" dirty="0" err="1"/>
              <a:t>nearhivata</a:t>
            </a:r>
            <a:r>
              <a:rPr lang="en-US" dirty="0"/>
              <a:t>, </a:t>
            </a:r>
            <a:r>
              <a:rPr lang="en-US" dirty="0" err="1"/>
              <a:t>intr</a:t>
            </a:r>
            <a:r>
              <a:rPr lang="en-US" dirty="0"/>
              <a:t>-un </a:t>
            </a:r>
            <a:r>
              <a:rPr lang="en-US" dirty="0" err="1"/>
              <a:t>spatiu</a:t>
            </a:r>
            <a:r>
              <a:rPr lang="en-US" dirty="0"/>
              <a:t> disc </a:t>
            </a:r>
            <a:r>
              <a:rPr lang="en-US" dirty="0" err="1"/>
              <a:t>inafara</a:t>
            </a:r>
            <a:r>
              <a:rPr lang="en-US" dirty="0"/>
              <a:t> AS. </a:t>
            </a:r>
            <a:r>
              <a:rPr lang="en-US" dirty="0" err="1"/>
              <a:t>Asta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permite</a:t>
            </a:r>
            <a:r>
              <a:rPr lang="en-US" dirty="0"/>
              <a:t> </a:t>
            </a:r>
            <a:r>
              <a:rPr lang="en-US" dirty="0" err="1"/>
              <a:t>operatii</a:t>
            </a:r>
            <a:r>
              <a:rPr lang="en-US" dirty="0"/>
              <a:t> de </a:t>
            </a:r>
            <a:r>
              <a:rPr lang="en-US" dirty="0" err="1"/>
              <a:t>scriere</a:t>
            </a:r>
            <a:r>
              <a:rPr lang="en-US" dirty="0"/>
              <a:t> in </a:t>
            </a:r>
            <a:r>
              <a:rPr lang="en-US" dirty="0" err="1"/>
              <a:t>contextul</a:t>
            </a:r>
            <a:r>
              <a:rPr lang="en-US" dirty="0"/>
              <a:t> extern. Am ales APP </a:t>
            </a:r>
            <a:r>
              <a:rPr lang="en-US" dirty="0" err="1"/>
              <a:t>ca</a:t>
            </a:r>
            <a:r>
              <a:rPr lang="en-US" dirty="0"/>
              <a:t> </a:t>
            </a:r>
            <a:r>
              <a:rPr lang="en-US" dirty="0" err="1"/>
              <a:t>nume</a:t>
            </a:r>
            <a:r>
              <a:rPr lang="en-US" dirty="0"/>
              <a:t> generic.</a:t>
            </a:r>
          </a:p>
          <a:p>
            <a:endParaRPr lang="en-US" dirty="0"/>
          </a:p>
          <a:p>
            <a:r>
              <a:rPr lang="en-US" dirty="0" err="1"/>
              <a:t>Containerul</a:t>
            </a:r>
            <a:r>
              <a:rPr lang="en-US" dirty="0"/>
              <a:t> </a:t>
            </a:r>
            <a:r>
              <a:rPr lang="en-US" b="1" dirty="0"/>
              <a:t>Tomcat</a:t>
            </a:r>
            <a:r>
              <a:rPr lang="en-US" dirty="0"/>
              <a:t> </a:t>
            </a:r>
            <a:r>
              <a:rPr lang="en-US" dirty="0" err="1"/>
              <a:t>ofera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posibilitati</a:t>
            </a:r>
            <a:r>
              <a:rPr lang="en-US" dirty="0"/>
              <a:t>. </a:t>
            </a:r>
            <a:r>
              <a:rPr lang="en-US" dirty="0" err="1"/>
              <a:t>Noi</a:t>
            </a:r>
            <a:r>
              <a:rPr lang="en-US" dirty="0"/>
              <a:t> am ales:</a:t>
            </a:r>
          </a:p>
          <a:p>
            <a:r>
              <a:rPr lang="en-US" dirty="0"/>
              <a:t>Se </a:t>
            </a:r>
            <a:r>
              <a:rPr lang="en-US" dirty="0" err="1"/>
              <a:t>creaza</a:t>
            </a:r>
            <a:r>
              <a:rPr lang="en-US" dirty="0"/>
              <a:t> un </a:t>
            </a:r>
            <a:r>
              <a:rPr lang="en-US" dirty="0" err="1"/>
              <a:t>fisier</a:t>
            </a:r>
            <a:r>
              <a:rPr lang="en-US" dirty="0"/>
              <a:t> </a:t>
            </a:r>
            <a:r>
              <a:rPr lang="en-US" b="1" dirty="0"/>
              <a:t>$</a:t>
            </a:r>
            <a:r>
              <a:rPr lang="en-US" b="1" i="1" dirty="0" err="1"/>
              <a:t>CATALINA_HOME</a:t>
            </a:r>
            <a:r>
              <a:rPr lang="en-US" b="1" i="1" dirty="0"/>
              <a:t>/</a:t>
            </a:r>
            <a:r>
              <a:rPr lang="en-US" b="1" i="1" dirty="0" err="1"/>
              <a:t>conf</a:t>
            </a:r>
            <a:r>
              <a:rPr lang="en-US" b="1" i="1" dirty="0"/>
              <a:t>/Catalina/</a:t>
            </a:r>
            <a:r>
              <a:rPr lang="en-US" b="1" i="1" dirty="0" err="1"/>
              <a:t>localhost</a:t>
            </a:r>
            <a:r>
              <a:rPr lang="en-US" b="1" i="1" dirty="0"/>
              <a:t>/</a:t>
            </a:r>
            <a:r>
              <a:rPr lang="en-US" b="1" i="1" dirty="0" err="1"/>
              <a:t>APP.xml</a:t>
            </a:r>
            <a:r>
              <a:rPr lang="en-US" b="1" i="1" dirty="0"/>
              <a:t>:</a:t>
            </a:r>
            <a:endParaRPr lang="en-US" i="1" dirty="0"/>
          </a:p>
          <a:p>
            <a:endParaRPr lang="en-US" dirty="0"/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&lt;?xml version="1.0" encoding="ISO-8859-1" standalone="no"?&gt;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&lt;Context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docBase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="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CaleaAbsolutaLaDirectorulAplicatiei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/" 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path="" reloadable="true"&gt;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&lt;/Context&gt;</a:t>
            </a:r>
            <a:endParaRPr lang="en-US" dirty="0"/>
          </a:p>
          <a:p>
            <a:r>
              <a:rPr lang="en-US" dirty="0" err="1"/>
              <a:t>Numele</a:t>
            </a:r>
            <a:r>
              <a:rPr lang="en-US" dirty="0"/>
              <a:t> </a:t>
            </a:r>
            <a:r>
              <a:rPr lang="en-US" dirty="0" err="1"/>
              <a:t>aplicatiei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fi </a:t>
            </a:r>
            <a:r>
              <a:rPr lang="en-US" dirty="0" err="1"/>
              <a:t>numele</a:t>
            </a:r>
            <a:r>
              <a:rPr lang="en-US" dirty="0"/>
              <a:t> </a:t>
            </a:r>
            <a:r>
              <a:rPr lang="en-US" dirty="0" err="1"/>
              <a:t>fisierului</a:t>
            </a:r>
            <a:r>
              <a:rPr lang="en-US" dirty="0"/>
              <a:t> xml (path </a:t>
            </a:r>
            <a:r>
              <a:rPr lang="en-US" dirty="0" err="1"/>
              <a:t>fiind</a:t>
            </a:r>
            <a:r>
              <a:rPr lang="en-US" dirty="0"/>
              <a:t> vid), </a:t>
            </a:r>
            <a:r>
              <a:rPr lang="en-US" dirty="0" err="1"/>
              <a:t>adica</a:t>
            </a:r>
            <a:r>
              <a:rPr lang="en-US" dirty="0"/>
              <a:t>  APP in </a:t>
            </a:r>
            <a:r>
              <a:rPr lang="en-US" dirty="0" err="1"/>
              <a:t>cazul</a:t>
            </a:r>
            <a:r>
              <a:rPr lang="en-US" dirty="0"/>
              <a:t> </a:t>
            </a:r>
            <a:r>
              <a:rPr lang="en-US" dirty="0" err="1"/>
              <a:t>nostru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Containerul</a:t>
            </a:r>
            <a:r>
              <a:rPr lang="en-US" dirty="0"/>
              <a:t> </a:t>
            </a:r>
            <a:r>
              <a:rPr lang="en-US" b="1" dirty="0"/>
              <a:t>Jetty</a:t>
            </a:r>
            <a:r>
              <a:rPr lang="en-US" dirty="0"/>
              <a:t> am ales:</a:t>
            </a:r>
          </a:p>
          <a:p>
            <a:r>
              <a:rPr lang="en-US" dirty="0"/>
              <a:t>In  </a:t>
            </a:r>
            <a:r>
              <a:rPr lang="en-US" b="1" dirty="0"/>
              <a:t>$</a:t>
            </a:r>
            <a:r>
              <a:rPr lang="en-US" b="1" dirty="0" err="1"/>
              <a:t>JETTY_HOME</a:t>
            </a:r>
            <a:r>
              <a:rPr lang="en-US" b="1" dirty="0"/>
              <a:t>/</a:t>
            </a:r>
            <a:r>
              <a:rPr lang="en-US" b="1" dirty="0" err="1"/>
              <a:t>webapps</a:t>
            </a:r>
            <a:r>
              <a:rPr lang="en-US" b="1" dirty="0"/>
              <a:t>/ </a:t>
            </a:r>
            <a:r>
              <a:rPr lang="en-US" dirty="0"/>
              <a:t>se </a:t>
            </a:r>
            <a:r>
              <a:rPr lang="en-US" dirty="0" err="1"/>
              <a:t>creeaza</a:t>
            </a:r>
            <a:r>
              <a:rPr lang="en-US" dirty="0"/>
              <a:t> un </a:t>
            </a:r>
            <a:r>
              <a:rPr lang="en-US" dirty="0" err="1"/>
              <a:t>fisier</a:t>
            </a:r>
            <a:r>
              <a:rPr lang="en-US" dirty="0"/>
              <a:t> XML (</a:t>
            </a:r>
            <a:r>
              <a:rPr lang="en-US" dirty="0" err="1"/>
              <a:t>numit</a:t>
            </a:r>
            <a:r>
              <a:rPr lang="en-US" dirty="0"/>
              <a:t> </a:t>
            </a:r>
            <a:r>
              <a:rPr lang="en-US" dirty="0" err="1"/>
              <a:t>oricum</a:t>
            </a:r>
            <a:r>
              <a:rPr lang="en-US" dirty="0"/>
              <a:t>, </a:t>
            </a:r>
            <a:r>
              <a:rPr lang="en-US" dirty="0" err="1"/>
              <a:t>cauta</a:t>
            </a:r>
            <a:r>
              <a:rPr lang="en-US" dirty="0"/>
              <a:t> in </a:t>
            </a:r>
            <a:r>
              <a:rPr lang="en-US" dirty="0" err="1"/>
              <a:t>toate</a:t>
            </a:r>
            <a:r>
              <a:rPr lang="en-US" dirty="0"/>
              <a:t>):</a:t>
            </a:r>
          </a:p>
          <a:p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&lt;?xml version="1.0"  encoding="ISO-8859-1"?&gt;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&lt;!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DOCTYPE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Configure PUBLIC "-//Mort Bay Consulting//DTD Configure//EN"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                    "http://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jetty.mortbay.org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/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configure.dtd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"&gt;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&lt;Configure class="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org.eclipse.jetty.webapp.WebAppContext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"&gt;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&lt;Set name="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contextPath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"&gt;/APP&lt;/Set&gt;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&lt;Set name="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resourceBase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"&gt;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CaleaAbsolutaLaDirectorulAplicatiei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/&lt;/Set&gt;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&lt;/Configure&gt;        </a:t>
            </a:r>
            <a:r>
              <a:rPr lang="en-US" sz="16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Detalii</a:t>
            </a:r>
            <a:r>
              <a:rPr lang="en-US" sz="1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la ReadMe de la </a:t>
            </a:r>
            <a:r>
              <a:rPr lang="en-US" sz="16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1servletClasic</a:t>
            </a:r>
            <a:r>
              <a:rPr lang="en-US" sz="1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/</a:t>
            </a:r>
            <a:endParaRPr lang="en-US" sz="16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78023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26.10.2025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BFM_Servlets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21</a:t>
            </a:fld>
            <a:r>
              <a:rPr lang="en-US" dirty="0"/>
              <a:t>_/_44_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Exemple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de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aplicatii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 simple servlet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0" y="366714"/>
            <a:ext cx="914400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Exemplul</a:t>
            </a:r>
            <a:r>
              <a:rPr lang="en-US" b="1" dirty="0"/>
              <a:t> </a:t>
            </a:r>
            <a:r>
              <a:rPr lang="en-US" b="1" dirty="0" err="1"/>
              <a:t>1servletClasic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contine</a:t>
            </a:r>
            <a:r>
              <a:rPr lang="en-US" dirty="0"/>
              <a:t> </a:t>
            </a:r>
            <a:r>
              <a:rPr lang="en-US" dirty="0" err="1"/>
              <a:t>doua</a:t>
            </a:r>
            <a:r>
              <a:rPr lang="en-US" dirty="0"/>
              <a:t> </a:t>
            </a:r>
            <a:r>
              <a:rPr lang="en-US" dirty="0" err="1"/>
              <a:t>servleturi</a:t>
            </a:r>
            <a:r>
              <a:rPr lang="en-US" dirty="0"/>
              <a:t>, un client html cu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posibilitati</a:t>
            </a:r>
            <a:r>
              <a:rPr lang="en-US" dirty="0"/>
              <a:t> de </a:t>
            </a:r>
            <a:r>
              <a:rPr lang="en-US" dirty="0" err="1"/>
              <a:t>apel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un descriptor web.xml. In  </a:t>
            </a:r>
            <a:r>
              <a:rPr lang="en-US" b="1" dirty="0">
                <a:solidFill>
                  <a:srgbClr val="FF0000"/>
                </a:solidFill>
              </a:rPr>
              <a:t>ReadMe.txt se </a:t>
            </a:r>
            <a:r>
              <a:rPr lang="en-US" b="1" dirty="0" err="1">
                <a:solidFill>
                  <a:srgbClr val="FF0000"/>
                </a:solidFill>
              </a:rPr>
              <a:t>exemplifica</a:t>
            </a:r>
            <a:r>
              <a:rPr lang="en-US" b="1" dirty="0">
                <a:solidFill>
                  <a:srgbClr val="FF0000"/>
                </a:solidFill>
              </a:rPr>
              <a:t> diverse </a:t>
            </a:r>
            <a:r>
              <a:rPr lang="en-US" b="1" dirty="0" err="1">
                <a:solidFill>
                  <a:srgbClr val="FF0000"/>
                </a:solidFill>
              </a:rPr>
              <a:t>tipuri</a:t>
            </a:r>
            <a:r>
              <a:rPr lang="en-US" b="1" dirty="0">
                <a:solidFill>
                  <a:srgbClr val="FF0000"/>
                </a:solidFill>
              </a:rPr>
              <a:t> de deploy </a:t>
            </a:r>
            <a:r>
              <a:rPr lang="en-US" b="1" dirty="0" err="1">
                <a:solidFill>
                  <a:srgbClr val="FF0000"/>
                </a:solidFill>
              </a:rPr>
              <a:t>pe</a:t>
            </a:r>
            <a:r>
              <a:rPr lang="en-US" b="1" dirty="0">
                <a:solidFill>
                  <a:srgbClr val="FF0000"/>
                </a:solidFill>
              </a:rPr>
              <a:t> diverse AS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Servletul</a:t>
            </a:r>
            <a:r>
              <a:rPr lang="en-US" dirty="0"/>
              <a:t> </a:t>
            </a:r>
            <a:r>
              <a:rPr lang="en-US" b="1" dirty="0" err="1"/>
              <a:t>Aduna</a:t>
            </a:r>
            <a:r>
              <a:rPr lang="en-US" dirty="0"/>
              <a:t> </a:t>
            </a:r>
            <a:r>
              <a:rPr lang="en-US" dirty="0" err="1"/>
              <a:t>mapat</a:t>
            </a:r>
            <a:r>
              <a:rPr lang="en-US" dirty="0"/>
              <a:t> /</a:t>
            </a:r>
            <a:r>
              <a:rPr lang="en-US" b="1" dirty="0"/>
              <a:t>Add</a:t>
            </a:r>
            <a:r>
              <a:rPr lang="en-US" dirty="0"/>
              <a:t> </a:t>
            </a:r>
            <a:r>
              <a:rPr lang="en-US" dirty="0" err="1"/>
              <a:t>primeste</a:t>
            </a:r>
            <a:r>
              <a:rPr lang="en-US" dirty="0"/>
              <a:t> </a:t>
            </a:r>
            <a:r>
              <a:rPr lang="en-US" dirty="0" err="1"/>
              <a:t>cereri</a:t>
            </a:r>
            <a:r>
              <a:rPr lang="en-US" dirty="0"/>
              <a:t> de </a:t>
            </a:r>
            <a:r>
              <a:rPr lang="en-US" dirty="0" err="1"/>
              <a:t>adunare</a:t>
            </a:r>
            <a:r>
              <a:rPr lang="en-US" dirty="0"/>
              <a:t> a </a:t>
            </a:r>
            <a:r>
              <a:rPr lang="en-US" dirty="0" err="1"/>
              <a:t>doua</a:t>
            </a:r>
            <a:r>
              <a:rPr lang="en-US" dirty="0"/>
              <a:t> </a:t>
            </a:r>
            <a:r>
              <a:rPr lang="en-US" dirty="0" err="1"/>
              <a:t>numere</a:t>
            </a:r>
            <a:r>
              <a:rPr lang="en-US" dirty="0"/>
              <a:t>, </a:t>
            </a:r>
            <a:r>
              <a:rPr lang="en-US" dirty="0" err="1"/>
              <a:t>atat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GET, cat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POST. </a:t>
            </a:r>
            <a:r>
              <a:rPr lang="en-US" dirty="0" err="1"/>
              <a:t>Intoarce</a:t>
            </a:r>
            <a:r>
              <a:rPr lang="en-US" dirty="0"/>
              <a:t> </a:t>
            </a:r>
            <a:r>
              <a:rPr lang="en-US" dirty="0" err="1"/>
              <a:t>suma</a:t>
            </a:r>
            <a:r>
              <a:rPr lang="en-US" dirty="0"/>
              <a:t> a </a:t>
            </a:r>
            <a:r>
              <a:rPr lang="en-US" dirty="0" err="1"/>
              <a:t>doua</a:t>
            </a:r>
            <a:r>
              <a:rPr lang="en-US" dirty="0"/>
              <a:t> </a:t>
            </a:r>
            <a:r>
              <a:rPr lang="en-US" dirty="0" err="1"/>
              <a:t>numere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un </a:t>
            </a:r>
            <a:r>
              <a:rPr lang="en-US" dirty="0" err="1"/>
              <a:t>formular</a:t>
            </a:r>
            <a:r>
              <a:rPr lang="en-US" dirty="0"/>
              <a:t> care </a:t>
            </a:r>
            <a:r>
              <a:rPr lang="en-US" dirty="0" err="1"/>
              <a:t>cere</a:t>
            </a:r>
            <a:r>
              <a:rPr lang="en-US" dirty="0"/>
              <a:t> din </a:t>
            </a:r>
            <a:r>
              <a:rPr lang="en-US" dirty="0" err="1"/>
              <a:t>nou</a:t>
            </a:r>
            <a:r>
              <a:rPr lang="en-US" dirty="0"/>
              <a:t>, </a:t>
            </a:r>
            <a:r>
              <a:rPr lang="en-US" dirty="0" err="1"/>
              <a:t>prin</a:t>
            </a:r>
            <a:r>
              <a:rPr lang="en-US" dirty="0"/>
              <a:t> POST, o </a:t>
            </a:r>
            <a:r>
              <a:rPr lang="en-US" dirty="0" err="1"/>
              <a:t>noua</a:t>
            </a:r>
            <a:r>
              <a:rPr lang="en-US" dirty="0"/>
              <a:t> </a:t>
            </a:r>
            <a:r>
              <a:rPr lang="en-US" dirty="0" err="1"/>
              <a:t>adunare</a:t>
            </a:r>
            <a:r>
              <a:rPr lang="en-US" dirty="0"/>
              <a:t>. </a:t>
            </a:r>
          </a:p>
          <a:p>
            <a:r>
              <a:rPr lang="en-US" dirty="0" err="1"/>
              <a:t>Servletul</a:t>
            </a:r>
            <a:r>
              <a:rPr lang="en-US" dirty="0"/>
              <a:t> </a:t>
            </a:r>
            <a:r>
              <a:rPr lang="en-US" b="1" dirty="0" err="1"/>
              <a:t>LitereMari</a:t>
            </a:r>
            <a:r>
              <a:rPr lang="en-US" dirty="0"/>
              <a:t>, </a:t>
            </a:r>
            <a:r>
              <a:rPr lang="en-US" dirty="0" err="1"/>
              <a:t>mapat</a:t>
            </a:r>
            <a:r>
              <a:rPr lang="en-US" dirty="0"/>
              <a:t> /</a:t>
            </a:r>
            <a:r>
              <a:rPr lang="en-US" b="1" dirty="0"/>
              <a:t>LM</a:t>
            </a:r>
            <a:r>
              <a:rPr lang="en-US" dirty="0"/>
              <a:t> </a:t>
            </a:r>
            <a:r>
              <a:rPr lang="en-US" dirty="0" err="1"/>
              <a:t>primeste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POST un string </a:t>
            </a:r>
            <a:r>
              <a:rPr lang="en-US" dirty="0" err="1"/>
              <a:t>pe</a:t>
            </a:r>
            <a:r>
              <a:rPr lang="en-US" dirty="0"/>
              <a:t> care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intoarce</a:t>
            </a:r>
            <a:r>
              <a:rPr lang="en-US" dirty="0"/>
              <a:t> </a:t>
            </a:r>
            <a:r>
              <a:rPr lang="en-US" dirty="0" err="1"/>
              <a:t>scris</a:t>
            </a:r>
            <a:r>
              <a:rPr lang="en-US" dirty="0"/>
              <a:t> cu majuscule. </a:t>
            </a:r>
          </a:p>
          <a:p>
            <a:r>
              <a:rPr lang="en-US" dirty="0" err="1"/>
              <a:t>Clientul</a:t>
            </a:r>
            <a:r>
              <a:rPr lang="en-US" dirty="0"/>
              <a:t> </a:t>
            </a:r>
            <a:r>
              <a:rPr lang="en-US" b="1" dirty="0"/>
              <a:t>client.html</a:t>
            </a:r>
            <a:r>
              <a:rPr lang="en-US" dirty="0"/>
              <a:t>,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butoane</a:t>
            </a:r>
            <a:r>
              <a:rPr lang="en-US" dirty="0"/>
              <a:t>,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cere</a:t>
            </a:r>
            <a:r>
              <a:rPr lang="en-US" dirty="0"/>
              <a:t> Add </a:t>
            </a:r>
            <a:r>
              <a:rPr lang="en-US" dirty="0" err="1"/>
              <a:t>prin</a:t>
            </a:r>
            <a:r>
              <a:rPr lang="en-US" dirty="0"/>
              <a:t> GET </a:t>
            </a:r>
            <a:r>
              <a:rPr lang="en-US" dirty="0" err="1"/>
              <a:t>sau</a:t>
            </a:r>
            <a:r>
              <a:rPr lang="en-US" dirty="0"/>
              <a:t> POST,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LitereMari</a:t>
            </a:r>
            <a:r>
              <a:rPr lang="en-US" dirty="0"/>
              <a:t>. In web.xml se </a:t>
            </a:r>
            <a:r>
              <a:rPr lang="en-US" dirty="0" err="1"/>
              <a:t>fixeaza</a:t>
            </a:r>
            <a:r>
              <a:rPr lang="en-US" dirty="0"/>
              <a:t> client.html </a:t>
            </a:r>
            <a:r>
              <a:rPr lang="en-US" dirty="0" err="1"/>
              <a:t>ca</a:t>
            </a:r>
            <a:r>
              <a:rPr lang="en-US" dirty="0"/>
              <a:t> </a:t>
            </a:r>
            <a:r>
              <a:rPr lang="en-US" dirty="0" err="1"/>
              <a:t>fisier</a:t>
            </a:r>
            <a:r>
              <a:rPr lang="en-US" dirty="0"/>
              <a:t> de </a:t>
            </a:r>
            <a:r>
              <a:rPr lang="en-US" dirty="0" err="1"/>
              <a:t>intampinare</a:t>
            </a:r>
            <a:r>
              <a:rPr lang="en-US" dirty="0"/>
              <a:t>.</a:t>
            </a:r>
          </a:p>
          <a:p>
            <a:r>
              <a:rPr lang="en-US" dirty="0" err="1">
                <a:solidFill>
                  <a:srgbClr val="FF0000"/>
                </a:solidFill>
              </a:rPr>
              <a:t>Lansarea</a:t>
            </a:r>
            <a:r>
              <a:rPr lang="en-US" dirty="0">
                <a:solidFill>
                  <a:srgbClr val="FF0000"/>
                </a:solidFill>
              </a:rPr>
              <a:t> se face din browser: http://</a:t>
            </a:r>
            <a:r>
              <a:rPr lang="en-US" dirty="0" err="1">
                <a:solidFill>
                  <a:srgbClr val="FF0000"/>
                </a:solidFill>
              </a:rPr>
              <a:t>localhost:8080</a:t>
            </a:r>
            <a:r>
              <a:rPr lang="en-US" dirty="0">
                <a:solidFill>
                  <a:srgbClr val="FF0000"/>
                </a:solidFill>
              </a:rPr>
              <a:t>/</a:t>
            </a:r>
            <a:r>
              <a:rPr lang="en-US" dirty="0" err="1">
                <a:solidFill>
                  <a:srgbClr val="FF0000"/>
                </a:solidFill>
              </a:rPr>
              <a:t>1servletClasic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            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sau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dirty="0" err="1">
                <a:solidFill>
                  <a:srgbClr val="FF0000"/>
                </a:solidFill>
              </a:rPr>
              <a:t>Lansarea</a:t>
            </a:r>
            <a:r>
              <a:rPr lang="en-US" dirty="0">
                <a:solidFill>
                  <a:srgbClr val="FF0000"/>
                </a:solidFill>
              </a:rPr>
              <a:t> se face din browser: http://</a:t>
            </a:r>
            <a:r>
              <a:rPr lang="en-US" dirty="0" err="1">
                <a:solidFill>
                  <a:srgbClr val="FF0000"/>
                </a:solidFill>
              </a:rPr>
              <a:t>localhost:8080</a:t>
            </a:r>
            <a:r>
              <a:rPr lang="en-US" dirty="0">
                <a:solidFill>
                  <a:srgbClr val="FF0000"/>
                </a:solidFill>
              </a:rPr>
              <a:t>/</a:t>
            </a:r>
            <a:r>
              <a:rPr lang="en-US" dirty="0" err="1">
                <a:solidFill>
                  <a:srgbClr val="FF0000"/>
                </a:solidFill>
              </a:rPr>
              <a:t>1servletClasic</a:t>
            </a:r>
            <a:r>
              <a:rPr lang="en-US" dirty="0">
                <a:solidFill>
                  <a:srgbClr val="FF0000"/>
                </a:solidFill>
              </a:rPr>
              <a:t>/</a:t>
            </a:r>
            <a:r>
              <a:rPr lang="en-US" dirty="0" err="1">
                <a:solidFill>
                  <a:srgbClr val="FF0000"/>
                </a:solidFill>
              </a:rPr>
              <a:t>client.html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b="1" dirty="0"/>
          </a:p>
          <a:p>
            <a:r>
              <a:rPr lang="en-US" b="1" dirty="0" err="1"/>
              <a:t>Exemplul</a:t>
            </a:r>
            <a:r>
              <a:rPr lang="en-US" b="1" dirty="0"/>
              <a:t> </a:t>
            </a:r>
            <a:r>
              <a:rPr lang="en-US" b="1" dirty="0" err="1"/>
              <a:t>2servletAnnFilterListen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preia</a:t>
            </a:r>
            <a:r>
              <a:rPr lang="en-US" dirty="0"/>
              <a:t> </a:t>
            </a:r>
            <a:r>
              <a:rPr lang="en-US" dirty="0" err="1"/>
              <a:t>exemplul</a:t>
            </a:r>
            <a:r>
              <a:rPr lang="en-US" dirty="0"/>
              <a:t> de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sus</a:t>
            </a:r>
            <a:r>
              <a:rPr lang="en-US" dirty="0"/>
              <a:t> </a:t>
            </a:r>
            <a:r>
              <a:rPr lang="en-US" dirty="0" err="1"/>
              <a:t>folosind</a:t>
            </a:r>
            <a:r>
              <a:rPr lang="en-US" dirty="0"/>
              <a:t> </a:t>
            </a:r>
            <a:r>
              <a:rPr lang="en-US" dirty="0" err="1"/>
              <a:t>numai</a:t>
            </a:r>
            <a:r>
              <a:rPr lang="en-US" dirty="0"/>
              <a:t> </a:t>
            </a:r>
            <a:r>
              <a:rPr lang="en-US" dirty="0" err="1"/>
              <a:t>adnotari</a:t>
            </a:r>
            <a:r>
              <a:rPr lang="en-US" dirty="0"/>
              <a:t>. </a:t>
            </a:r>
          </a:p>
          <a:p>
            <a:r>
              <a:rPr lang="en-US" dirty="0"/>
              <a:t>In plus, se introduce un filter </a:t>
            </a:r>
            <a:r>
              <a:rPr lang="en-US" b="1" dirty="0" err="1"/>
              <a:t>LogFilter</a:t>
            </a:r>
            <a:r>
              <a:rPr lang="en-US" dirty="0"/>
              <a:t> care </a:t>
            </a:r>
            <a:r>
              <a:rPr lang="en-US" dirty="0" err="1"/>
              <a:t>numara</a:t>
            </a:r>
            <a:r>
              <a:rPr lang="en-US" dirty="0"/>
              <a:t> </a:t>
            </a:r>
            <a:r>
              <a:rPr lang="en-US" dirty="0" err="1"/>
              <a:t>accesele</a:t>
            </a:r>
            <a:r>
              <a:rPr lang="en-US" dirty="0"/>
              <a:t> la </a:t>
            </a:r>
            <a:r>
              <a:rPr lang="en-US" dirty="0" err="1"/>
              <a:t>aplicatie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timpii</a:t>
            </a:r>
            <a:r>
              <a:rPr lang="en-US" dirty="0"/>
              <a:t> de </a:t>
            </a:r>
            <a:r>
              <a:rPr lang="en-US" dirty="0" err="1"/>
              <a:t>filtrare</a:t>
            </a:r>
            <a:r>
              <a:rPr lang="en-US" dirty="0"/>
              <a:t> de la </a:t>
            </a:r>
            <a:r>
              <a:rPr lang="en-US" dirty="0" err="1"/>
              <a:t>interceptarea</a:t>
            </a:r>
            <a:r>
              <a:rPr lang="en-US" dirty="0"/>
              <a:t> request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intoarcerea</a:t>
            </a:r>
            <a:r>
              <a:rPr lang="en-US" dirty="0"/>
              <a:t> response. </a:t>
            </a:r>
          </a:p>
          <a:p>
            <a:r>
              <a:rPr lang="en-US" dirty="0"/>
              <a:t>De </a:t>
            </a:r>
            <a:r>
              <a:rPr lang="en-US" dirty="0" err="1"/>
              <a:t>asemenea</a:t>
            </a:r>
            <a:r>
              <a:rPr lang="en-US" dirty="0"/>
              <a:t>, se introduce un listener </a:t>
            </a:r>
            <a:r>
              <a:rPr lang="en-US" b="1" dirty="0" err="1"/>
              <a:t>UniversalListener</a:t>
            </a:r>
            <a:r>
              <a:rPr lang="en-US" dirty="0"/>
              <a:t> care </a:t>
            </a:r>
            <a:r>
              <a:rPr lang="en-US" dirty="0" err="1"/>
              <a:t>implementeaza</a:t>
            </a:r>
            <a:r>
              <a:rPr lang="en-US" dirty="0"/>
              <a:t> </a:t>
            </a:r>
            <a:r>
              <a:rPr lang="en-US" dirty="0" err="1"/>
              <a:t>toate</a:t>
            </a:r>
            <a:r>
              <a:rPr lang="en-US" dirty="0"/>
              <a:t> </a:t>
            </a:r>
            <a:r>
              <a:rPr lang="en-US" dirty="0" err="1"/>
              <a:t>metodele</a:t>
            </a:r>
            <a:r>
              <a:rPr lang="en-US" dirty="0"/>
              <a:t> din </a:t>
            </a:r>
            <a:r>
              <a:rPr lang="en-US" dirty="0" err="1"/>
              <a:t>toate</a:t>
            </a:r>
            <a:r>
              <a:rPr lang="en-US" dirty="0"/>
              <a:t> </a:t>
            </a:r>
            <a:r>
              <a:rPr lang="en-US" dirty="0" err="1"/>
              <a:t>interfetele</a:t>
            </a:r>
            <a:r>
              <a:rPr lang="en-US" dirty="0"/>
              <a:t> de </a:t>
            </a:r>
            <a:r>
              <a:rPr lang="en-US" dirty="0" err="1"/>
              <a:t>interceptare</a:t>
            </a:r>
            <a:r>
              <a:rPr lang="en-US" dirty="0"/>
              <a:t>, </a:t>
            </a:r>
            <a:r>
              <a:rPr lang="en-US" dirty="0" err="1"/>
              <a:t>tiparind</a:t>
            </a:r>
            <a:r>
              <a:rPr lang="en-US" dirty="0"/>
              <a:t> cate un </a:t>
            </a:r>
            <a:r>
              <a:rPr lang="en-US" dirty="0" err="1"/>
              <a:t>mesaj</a:t>
            </a:r>
            <a:r>
              <a:rPr lang="en-US" dirty="0"/>
              <a:t> la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metoda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>
                <a:solidFill>
                  <a:srgbClr val="FF0000"/>
                </a:solidFill>
              </a:rPr>
              <a:t>Lansarea</a:t>
            </a:r>
            <a:r>
              <a:rPr lang="en-US" dirty="0">
                <a:solidFill>
                  <a:srgbClr val="FF0000"/>
                </a:solidFill>
              </a:rPr>
              <a:t> se face din browser: http://</a:t>
            </a:r>
            <a:r>
              <a:rPr lang="en-US" dirty="0" err="1">
                <a:solidFill>
                  <a:srgbClr val="FF0000"/>
                </a:solidFill>
              </a:rPr>
              <a:t>localhost:8080</a:t>
            </a:r>
            <a:r>
              <a:rPr lang="en-US" dirty="0">
                <a:solidFill>
                  <a:srgbClr val="FF0000"/>
                </a:solidFill>
              </a:rPr>
              <a:t>/</a:t>
            </a:r>
            <a:r>
              <a:rPr lang="en-US" dirty="0" err="1">
                <a:solidFill>
                  <a:srgbClr val="FF0000"/>
                </a:solidFill>
              </a:rPr>
              <a:t>2servletAnnFilterListen</a:t>
            </a:r>
            <a:r>
              <a:rPr lang="en-US" dirty="0">
                <a:solidFill>
                  <a:srgbClr val="FF0000"/>
                </a:solidFill>
              </a:rPr>
              <a:t>/</a:t>
            </a:r>
            <a:r>
              <a:rPr lang="en-US" dirty="0" err="1">
                <a:solidFill>
                  <a:srgbClr val="FF0000"/>
                </a:solidFill>
              </a:rPr>
              <a:t>client.html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420904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26.10.2025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BFM_Servlets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22</a:t>
            </a:fld>
            <a:r>
              <a:rPr lang="en-US" dirty="0"/>
              <a:t>_/_44_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Arhitecturi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de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aplicatii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tip servlet </a:t>
            </a:r>
          </a:p>
        </p:txBody>
      </p:sp>
      <p:graphicFrame>
        <p:nvGraphicFramePr>
          <p:cNvPr id="10" name="Object 2"/>
          <p:cNvGraphicFramePr>
            <a:graphicFrameLocks noChangeAspect="1"/>
          </p:cNvGraphicFramePr>
          <p:nvPr/>
        </p:nvGraphicFramePr>
        <p:xfrm>
          <a:off x="152400" y="685800"/>
          <a:ext cx="6629400" cy="167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5500093" imgH="1386054" progId="Visio.Drawing.11">
                  <p:embed/>
                </p:oleObj>
              </mc:Choice>
              <mc:Fallback>
                <p:oleObj name="VISIO" r:id="rId3" imgW="5500093" imgH="1386054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685800"/>
                        <a:ext cx="6629400" cy="167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0465030"/>
              </p:ext>
            </p:extLst>
          </p:nvPr>
        </p:nvGraphicFramePr>
        <p:xfrm>
          <a:off x="152400" y="4038600"/>
          <a:ext cx="8904287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6872454" imgH="1844015" progId="Visio.Drawing.11">
                  <p:embed/>
                </p:oleObj>
              </mc:Choice>
              <mc:Fallback>
                <p:oleObj name="VISIO" r:id="rId5" imgW="6872454" imgH="1844015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4038600"/>
                        <a:ext cx="8904287" cy="236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6"/>
          <p:cNvSpPr txBox="1">
            <a:spLocks noChangeArrowheads="1"/>
          </p:cNvSpPr>
          <p:nvPr/>
        </p:nvSpPr>
        <p:spPr bwMode="auto">
          <a:xfrm>
            <a:off x="304800" y="2667000"/>
            <a:ext cx="5562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ill Sans MT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</a:defRPr>
            </a:lvl9pPr>
          </a:lstStyle>
          <a:p>
            <a:r>
              <a:rPr lang="en-US" dirty="0">
                <a:solidFill>
                  <a:srgbClr val="FF0000"/>
                </a:solidFill>
              </a:rPr>
              <a:t>http://</a:t>
            </a:r>
            <a:r>
              <a:rPr lang="en-US" dirty="0" err="1">
                <a:solidFill>
                  <a:srgbClr val="FF0000"/>
                </a:solidFill>
              </a:rPr>
              <a:t>adresa</a:t>
            </a:r>
            <a:r>
              <a:rPr lang="en-US" dirty="0">
                <a:solidFill>
                  <a:srgbClr val="FF0000"/>
                </a:solidFill>
              </a:rPr>
              <a:t>[:8080]/APP/</a:t>
            </a:r>
            <a:r>
              <a:rPr lang="en-US" dirty="0" err="1">
                <a:solidFill>
                  <a:srgbClr val="FF0000"/>
                </a:solidFill>
              </a:rPr>
              <a:t>MAPSER</a:t>
            </a:r>
            <a:r>
              <a:rPr lang="en-US" dirty="0">
                <a:solidFill>
                  <a:srgbClr val="FF0000"/>
                </a:solidFill>
              </a:rPr>
              <a:t>[?get-request]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3276600" y="3036888"/>
            <a:ext cx="5181600" cy="1306512"/>
          </a:xfrm>
          <a:prstGeom prst="straightConnector1">
            <a:avLst/>
          </a:prstGeom>
          <a:ln w="28575" cmpd="sng"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2514600" y="2971800"/>
            <a:ext cx="3505200" cy="1066800"/>
          </a:xfrm>
          <a:prstGeom prst="straightConnector1">
            <a:avLst/>
          </a:prstGeom>
          <a:ln w="28575" cmpd="sng"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2514600" y="2019300"/>
            <a:ext cx="1143000" cy="685800"/>
          </a:xfrm>
          <a:prstGeom prst="straightConnector1">
            <a:avLst/>
          </a:prstGeom>
          <a:ln w="28575" cmpd="sng"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3276600" y="1295400"/>
            <a:ext cx="2971800" cy="1453244"/>
          </a:xfrm>
          <a:prstGeom prst="straightConnector1">
            <a:avLst/>
          </a:prstGeom>
          <a:ln w="28575" cmpd="sng"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152400" y="2438400"/>
            <a:ext cx="8763000" cy="762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52400" y="3200400"/>
            <a:ext cx="8763000" cy="762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2362200" y="3429000"/>
          <a:ext cx="4495800" cy="371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r>
                        <a:rPr lang="en-US" sz="1800" dirty="0" err="1"/>
                        <a:t>http.conf</a:t>
                      </a:r>
                      <a:r>
                        <a:rPr lang="en-US" sz="1800" dirty="0"/>
                        <a:t> + </a:t>
                      </a:r>
                      <a:r>
                        <a:rPr lang="en-US" sz="1800" dirty="0" err="1"/>
                        <a:t>workers.properties</a:t>
                      </a:r>
                      <a:endParaRPr lang="en-US" sz="1800" dirty="0"/>
                    </a:p>
                  </a:txBody>
                  <a:tcPr marT="45798" marB="4579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0" name="Straight Arrow Connector 19"/>
          <p:cNvCxnSpPr/>
          <p:nvPr/>
        </p:nvCxnSpPr>
        <p:spPr>
          <a:xfrm>
            <a:off x="685800" y="2057400"/>
            <a:ext cx="0" cy="609600"/>
          </a:xfrm>
          <a:prstGeom prst="straightConnector1">
            <a:avLst/>
          </a:prstGeom>
          <a:ln w="28575" cmpd="sng"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V="1">
            <a:off x="685800" y="3048000"/>
            <a:ext cx="0" cy="1600200"/>
          </a:xfrm>
          <a:prstGeom prst="straightConnector1">
            <a:avLst/>
          </a:prstGeom>
          <a:ln w="28575" cmpd="sng"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93812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26.10.2025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BFM_Servlets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23</a:t>
            </a:fld>
            <a:r>
              <a:rPr lang="en-US" dirty="0"/>
              <a:t>_/_44_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Conexiune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server web – container servlet (1 / 2) </a:t>
            </a:r>
          </a:p>
        </p:txBody>
      </p:sp>
      <p:sp>
        <p:nvSpPr>
          <p:cNvPr id="2" name="Rectangle 1"/>
          <p:cNvSpPr/>
          <p:nvPr/>
        </p:nvSpPr>
        <p:spPr>
          <a:xfrm>
            <a:off x="76200" y="394857"/>
            <a:ext cx="9067800" cy="64631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/>
              <a:t>Protocolul</a:t>
            </a:r>
            <a:r>
              <a:rPr lang="en-US" dirty="0"/>
              <a:t> </a:t>
            </a:r>
            <a:r>
              <a:rPr lang="en-US" b="1" dirty="0" err="1"/>
              <a:t>ajp13</a:t>
            </a:r>
            <a:r>
              <a:rPr lang="en-US" dirty="0"/>
              <a:t> (Apache  </a:t>
            </a:r>
            <a:r>
              <a:rPr lang="en-US" dirty="0" err="1"/>
              <a:t>Jserv</a:t>
            </a:r>
            <a:r>
              <a:rPr lang="en-US" dirty="0"/>
              <a:t> Protocol) </a:t>
            </a:r>
            <a:r>
              <a:rPr lang="en-US" dirty="0" err="1"/>
              <a:t>suportat</a:t>
            </a:r>
            <a:r>
              <a:rPr lang="en-US" dirty="0"/>
              <a:t> de </a:t>
            </a:r>
            <a:r>
              <a:rPr lang="en-US" dirty="0" err="1"/>
              <a:t>toate</a:t>
            </a:r>
            <a:r>
              <a:rPr lang="en-US" dirty="0"/>
              <a:t> </a:t>
            </a:r>
            <a:r>
              <a:rPr lang="en-US" dirty="0" err="1"/>
              <a:t>containerele</a:t>
            </a:r>
            <a:r>
              <a:rPr lang="en-US" dirty="0"/>
              <a:t> </a:t>
            </a:r>
            <a:r>
              <a:rPr lang="en-US" dirty="0" err="1"/>
              <a:t>actuale</a:t>
            </a:r>
            <a:r>
              <a:rPr lang="en-US" dirty="0"/>
              <a:t> care </a:t>
            </a:r>
            <a:r>
              <a:rPr lang="en-US" dirty="0" err="1"/>
              <a:t>asteapta</a:t>
            </a:r>
            <a:r>
              <a:rPr lang="en-US" dirty="0"/>
              <a:t> implicit </a:t>
            </a:r>
            <a:r>
              <a:rPr lang="en-US" dirty="0" err="1"/>
              <a:t>conexiunea</a:t>
            </a:r>
            <a:r>
              <a:rPr lang="en-US" dirty="0"/>
              <a:t> cu </a:t>
            </a:r>
            <a:r>
              <a:rPr lang="en-US" dirty="0" err="1"/>
              <a:t>serverul</a:t>
            </a:r>
            <a:r>
              <a:rPr lang="en-US" dirty="0"/>
              <a:t> web la </a:t>
            </a:r>
            <a:r>
              <a:rPr lang="en-US" dirty="0" err="1"/>
              <a:t>portul</a:t>
            </a:r>
            <a:r>
              <a:rPr lang="en-US" dirty="0"/>
              <a:t> </a:t>
            </a:r>
            <a:r>
              <a:rPr lang="en-US" b="1" dirty="0"/>
              <a:t>8009</a:t>
            </a:r>
            <a:r>
              <a:rPr lang="en-US" dirty="0"/>
              <a:t>.  </a:t>
            </a:r>
            <a:r>
              <a:rPr lang="en-US" dirty="0" err="1"/>
              <a:t>Configurarea</a:t>
            </a:r>
            <a:r>
              <a:rPr lang="en-US" dirty="0"/>
              <a:t> se face la </a:t>
            </a:r>
            <a:r>
              <a:rPr lang="en-US" dirty="0" err="1"/>
              <a:t>serverul</a:t>
            </a:r>
            <a:r>
              <a:rPr lang="en-US" dirty="0"/>
              <a:t> web.  De </a:t>
            </a:r>
            <a:r>
              <a:rPr lang="en-US" dirty="0" err="1"/>
              <a:t>exemplu</a:t>
            </a:r>
            <a:r>
              <a:rPr lang="en-US" dirty="0"/>
              <a:t> </a:t>
            </a:r>
            <a:r>
              <a:rPr lang="en-US" dirty="0" err="1"/>
              <a:t>configurarea</a:t>
            </a:r>
            <a:r>
              <a:rPr lang="en-US" dirty="0"/>
              <a:t> </a:t>
            </a:r>
            <a:r>
              <a:rPr lang="en-US" dirty="0" err="1"/>
              <a:t>containerului</a:t>
            </a:r>
            <a:r>
              <a:rPr lang="en-US" dirty="0"/>
              <a:t> </a:t>
            </a:r>
            <a:r>
              <a:rPr lang="en-US" b="1" dirty="0"/>
              <a:t>Tomcat</a:t>
            </a:r>
            <a:r>
              <a:rPr lang="en-US" dirty="0"/>
              <a:t> la </a:t>
            </a:r>
            <a:r>
              <a:rPr lang="en-US" dirty="0" err="1"/>
              <a:t>serverul</a:t>
            </a:r>
            <a:r>
              <a:rPr lang="en-US" dirty="0"/>
              <a:t> </a:t>
            </a:r>
            <a:r>
              <a:rPr lang="en-US" b="1" dirty="0"/>
              <a:t>Apache</a:t>
            </a:r>
            <a:r>
              <a:rPr lang="en-US" dirty="0"/>
              <a:t>.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/>
              <a:t>Pasii</a:t>
            </a:r>
            <a:r>
              <a:rPr lang="en-US" dirty="0"/>
              <a:t> </a:t>
            </a:r>
            <a:r>
              <a:rPr lang="en-US" dirty="0" err="1"/>
              <a:t>necesari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urmatorii</a:t>
            </a:r>
            <a:r>
              <a:rPr lang="en-US" dirty="0"/>
              <a:t> </a:t>
            </a:r>
            <a:r>
              <a:rPr lang="en-US" dirty="0" err="1"/>
              <a:t>trei</a:t>
            </a:r>
            <a:r>
              <a:rPr lang="en-US" dirty="0"/>
              <a:t> (</a:t>
            </a:r>
            <a:r>
              <a:rPr lang="en-US" dirty="0" err="1"/>
              <a:t>vezi</a:t>
            </a:r>
            <a:r>
              <a:rPr lang="en-US" dirty="0"/>
              <a:t> </a:t>
            </a:r>
            <a:r>
              <a:rPr lang="en-US" b="1" dirty="0" err="1"/>
              <a:t>3legareTomcatApache</a:t>
            </a:r>
            <a:r>
              <a:rPr lang="en-US" dirty="0"/>
              <a:t>/):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/>
              <a:t>Se </a:t>
            </a:r>
            <a:r>
              <a:rPr lang="en-US" dirty="0" err="1"/>
              <a:t>downloadeaza</a:t>
            </a:r>
            <a:r>
              <a:rPr lang="en-US" dirty="0"/>
              <a:t> </a:t>
            </a:r>
            <a:r>
              <a:rPr lang="en-US" dirty="0" err="1"/>
              <a:t>ultima</a:t>
            </a:r>
            <a:r>
              <a:rPr lang="en-US" dirty="0"/>
              <a:t> </a:t>
            </a:r>
            <a:r>
              <a:rPr lang="en-US" dirty="0" err="1"/>
              <a:t>versiune</a:t>
            </a:r>
            <a:r>
              <a:rPr lang="en-US" dirty="0"/>
              <a:t> </a:t>
            </a:r>
            <a:r>
              <a:rPr lang="en-US" dirty="0" err="1"/>
              <a:t>binara</a:t>
            </a:r>
            <a:r>
              <a:rPr lang="en-US" dirty="0"/>
              <a:t> de </a:t>
            </a:r>
            <a:r>
              <a:rPr lang="en-US" b="1" dirty="0" err="1"/>
              <a:t>mod_jk</a:t>
            </a:r>
            <a:r>
              <a:rPr lang="en-US" dirty="0"/>
              <a:t>.  I se </a:t>
            </a:r>
            <a:r>
              <a:rPr lang="en-US" dirty="0" err="1"/>
              <a:t>schimba</a:t>
            </a:r>
            <a:r>
              <a:rPr lang="en-US" dirty="0"/>
              <a:t> eventual </a:t>
            </a:r>
            <a:r>
              <a:rPr lang="en-US" dirty="0" err="1"/>
              <a:t>numele</a:t>
            </a:r>
            <a:r>
              <a:rPr lang="en-US" dirty="0"/>
              <a:t> in </a:t>
            </a:r>
            <a:r>
              <a:rPr lang="en-US" b="1" dirty="0" err="1"/>
              <a:t>mod_jk.so</a:t>
            </a:r>
            <a:r>
              <a:rPr lang="en-US" dirty="0"/>
              <a:t>. Se </a:t>
            </a:r>
            <a:r>
              <a:rPr lang="en-US" dirty="0" err="1"/>
              <a:t>depune</a:t>
            </a:r>
            <a:r>
              <a:rPr lang="en-US" dirty="0"/>
              <a:t> in </a:t>
            </a:r>
            <a:r>
              <a:rPr lang="en-US" dirty="0" err="1"/>
              <a:t>directorul</a:t>
            </a:r>
            <a:r>
              <a:rPr lang="en-US" dirty="0"/>
              <a:t> </a:t>
            </a:r>
            <a:r>
              <a:rPr lang="en-US" b="1" dirty="0"/>
              <a:t>$</a:t>
            </a:r>
            <a:r>
              <a:rPr lang="en-US" b="1" dirty="0" err="1"/>
              <a:t>APACHE_HOME</a:t>
            </a:r>
            <a:r>
              <a:rPr lang="en-US" b="1" dirty="0"/>
              <a:t>/modules 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/>
              <a:t>In </a:t>
            </a:r>
            <a:r>
              <a:rPr lang="en-US" dirty="0" err="1"/>
              <a:t>fisierul</a:t>
            </a:r>
            <a:r>
              <a:rPr lang="en-US" dirty="0"/>
              <a:t> </a:t>
            </a:r>
            <a:r>
              <a:rPr lang="en-US" b="1" dirty="0"/>
              <a:t>$</a:t>
            </a:r>
            <a:r>
              <a:rPr lang="en-US" b="1" dirty="0" err="1"/>
              <a:t>APACHE_HOME</a:t>
            </a:r>
            <a:r>
              <a:rPr lang="en-US" b="1" dirty="0"/>
              <a:t>/</a:t>
            </a:r>
            <a:r>
              <a:rPr lang="en-US" b="1" dirty="0" err="1"/>
              <a:t>conf</a:t>
            </a:r>
            <a:r>
              <a:rPr lang="en-US" b="1" dirty="0"/>
              <a:t>/</a:t>
            </a:r>
            <a:r>
              <a:rPr lang="en-US" b="1" dirty="0" err="1"/>
              <a:t>http.conf</a:t>
            </a:r>
            <a:r>
              <a:rPr lang="en-US" dirty="0"/>
              <a:t> se </a:t>
            </a:r>
            <a:r>
              <a:rPr lang="en-US" dirty="0" err="1"/>
              <a:t>adauga</a:t>
            </a:r>
            <a:r>
              <a:rPr lang="en-US" dirty="0"/>
              <a:t> </a:t>
            </a:r>
            <a:r>
              <a:rPr lang="en-US" dirty="0" err="1"/>
              <a:t>cateva</a:t>
            </a:r>
            <a:r>
              <a:rPr lang="en-US" dirty="0"/>
              <a:t> </a:t>
            </a:r>
            <a:r>
              <a:rPr lang="en-US" dirty="0" err="1"/>
              <a:t>linii</a:t>
            </a:r>
            <a:r>
              <a:rPr lang="en-US" dirty="0"/>
              <a:t>: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- - -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LoadModule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jk_module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 modules/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mod_jk.so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 #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Locului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modulului</a:t>
            </a:r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- -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IfModule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mod_jk.c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&gt;  - - -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JkWorkersFile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b="1" dirty="0"/>
              <a:t>$</a:t>
            </a:r>
            <a:r>
              <a:rPr lang="en-US" sz="1400" b="1" dirty="0" err="1"/>
              <a:t>APACHE_HOME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/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conf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/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workers.properties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#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Fisier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descriptor de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workeri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- - -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JkMount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patern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 worker # 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pattern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un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subsir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sau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o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expresie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regulara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care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sa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apara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in URL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pentru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a da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controlul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la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containerul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Tomcat. Se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defineste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un 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worker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pentru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fiecare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protocol.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Uzual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se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foloseste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doar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unul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- - - 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&lt;/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IfModule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 startAt="3"/>
              <a:defRPr/>
            </a:pPr>
            <a:r>
              <a:rPr lang="en-US" dirty="0"/>
              <a:t>Se </a:t>
            </a:r>
            <a:r>
              <a:rPr lang="en-US" dirty="0" err="1"/>
              <a:t>creeaza</a:t>
            </a:r>
            <a:r>
              <a:rPr lang="en-US" dirty="0"/>
              <a:t> </a:t>
            </a:r>
            <a:r>
              <a:rPr lang="en-US" dirty="0" err="1"/>
              <a:t>fisierul</a:t>
            </a:r>
            <a:r>
              <a:rPr lang="en-US" dirty="0"/>
              <a:t> </a:t>
            </a:r>
            <a:r>
              <a:rPr lang="en-US" b="1" dirty="0" err="1"/>
              <a:t>workers.properties</a:t>
            </a:r>
            <a:r>
              <a:rPr lang="en-US" dirty="0"/>
              <a:t> care </a:t>
            </a:r>
            <a:r>
              <a:rPr lang="en-US" dirty="0" err="1"/>
              <a:t>descrie</a:t>
            </a:r>
            <a:r>
              <a:rPr lang="en-US" dirty="0"/>
              <a:t> </a:t>
            </a:r>
            <a:r>
              <a:rPr lang="en-US" dirty="0" err="1"/>
              <a:t>containerul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se </a:t>
            </a:r>
            <a:r>
              <a:rPr lang="en-US" dirty="0" err="1"/>
              <a:t>conecteaza</a:t>
            </a:r>
            <a:r>
              <a:rPr lang="en-US" dirty="0"/>
              <a:t> la </a:t>
            </a:r>
            <a:r>
              <a:rPr lang="en-US" dirty="0" err="1"/>
              <a:t>serverul</a:t>
            </a:r>
            <a:r>
              <a:rPr lang="en-US" dirty="0"/>
              <a:t> web: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workers.tomcat_home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=$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CATALINA_HOME</a:t>
            </a:r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workers.java_home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=$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JAVA_HOME</a:t>
            </a:r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worker.list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=work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worker.worker.type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=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ajp13</a:t>
            </a:r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worker.worker.port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=8009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worker.worker.host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=localhost </a:t>
            </a:r>
          </a:p>
        </p:txBody>
      </p:sp>
    </p:spTree>
    <p:extLst>
      <p:ext uri="{BB962C8B-B14F-4D97-AF65-F5344CB8AC3E}">
        <p14:creationId xmlns:p14="http://schemas.microsoft.com/office/powerpoint/2010/main" val="20241973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26.10.2025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BFM_Servlets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24</a:t>
            </a:fld>
            <a:r>
              <a:rPr lang="en-US" dirty="0"/>
              <a:t>_/_44_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9332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Conexiune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server web – container servlet (2 / 2) </a:t>
            </a:r>
          </a:p>
        </p:txBody>
      </p:sp>
      <p:sp>
        <p:nvSpPr>
          <p:cNvPr id="2" name="Rectangle 1"/>
          <p:cNvSpPr/>
          <p:nvPr/>
        </p:nvSpPr>
        <p:spPr>
          <a:xfrm>
            <a:off x="27214" y="369332"/>
            <a:ext cx="9144000" cy="59708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/>
              <a:t>Conexiunea</a:t>
            </a:r>
            <a:r>
              <a:rPr lang="en-US" dirty="0"/>
              <a:t> la </a:t>
            </a:r>
            <a:r>
              <a:rPr lang="en-US" b="1" dirty="0"/>
              <a:t>Apache </a:t>
            </a:r>
            <a:r>
              <a:rPr lang="en-US" b="1" dirty="0" err="1"/>
              <a:t>xampp</a:t>
            </a:r>
            <a:r>
              <a:rPr lang="en-US" b="1" dirty="0"/>
              <a:t> </a:t>
            </a:r>
            <a:r>
              <a:rPr lang="en-US" dirty="0" err="1"/>
              <a:t>pe</a:t>
            </a:r>
            <a:r>
              <a:rPr lang="en-US" dirty="0"/>
              <a:t> windows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simpla</a:t>
            </a:r>
            <a:r>
              <a:rPr lang="en-US" dirty="0"/>
              <a:t>: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/>
              <a:t>Pasii</a:t>
            </a:r>
            <a:r>
              <a:rPr lang="en-US" dirty="0"/>
              <a:t> </a:t>
            </a:r>
            <a:r>
              <a:rPr lang="en-US" dirty="0" err="1"/>
              <a:t>necesari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urmatorii</a:t>
            </a:r>
            <a:r>
              <a:rPr lang="en-US" dirty="0"/>
              <a:t> </a:t>
            </a:r>
            <a:r>
              <a:rPr lang="en-US" dirty="0" err="1"/>
              <a:t>trei</a:t>
            </a:r>
            <a:r>
              <a:rPr lang="en-US" dirty="0"/>
              <a:t>: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/>
              <a:t>Se </a:t>
            </a:r>
            <a:r>
              <a:rPr lang="en-US" dirty="0" err="1"/>
              <a:t>downloadeaza</a:t>
            </a:r>
            <a:r>
              <a:rPr lang="en-US" dirty="0"/>
              <a:t> </a:t>
            </a:r>
            <a:r>
              <a:rPr lang="en-US" dirty="0" err="1"/>
              <a:t>ultima</a:t>
            </a:r>
            <a:r>
              <a:rPr lang="en-US" dirty="0"/>
              <a:t> </a:t>
            </a:r>
            <a:r>
              <a:rPr lang="en-US" dirty="0" err="1"/>
              <a:t>versiune</a:t>
            </a:r>
            <a:r>
              <a:rPr lang="en-US" dirty="0"/>
              <a:t> </a:t>
            </a:r>
            <a:r>
              <a:rPr lang="en-US" dirty="0" err="1"/>
              <a:t>binara</a:t>
            </a:r>
            <a:r>
              <a:rPr lang="en-US" dirty="0"/>
              <a:t> de </a:t>
            </a:r>
            <a:r>
              <a:rPr lang="en-US" b="1" dirty="0" err="1"/>
              <a:t>mod_proxy_ajp.so</a:t>
            </a:r>
            <a:r>
              <a:rPr lang="en-US" dirty="0"/>
              <a:t>. Se </a:t>
            </a:r>
            <a:r>
              <a:rPr lang="en-US" dirty="0" err="1"/>
              <a:t>depune</a:t>
            </a:r>
            <a:r>
              <a:rPr lang="en-US" dirty="0"/>
              <a:t> in </a:t>
            </a:r>
            <a:r>
              <a:rPr lang="en-US" dirty="0" err="1"/>
              <a:t>directorul</a:t>
            </a:r>
            <a:r>
              <a:rPr lang="en-US" dirty="0"/>
              <a:t> </a:t>
            </a:r>
            <a:r>
              <a:rPr lang="en-US" b="1" dirty="0"/>
              <a:t>$</a:t>
            </a:r>
            <a:r>
              <a:rPr lang="en-US" b="1" dirty="0" err="1"/>
              <a:t>APACHE_HOME</a:t>
            </a:r>
            <a:r>
              <a:rPr lang="en-US" b="1" dirty="0"/>
              <a:t>/modules (</a:t>
            </a:r>
            <a:r>
              <a:rPr lang="en-US" b="1" dirty="0" err="1"/>
              <a:t>daca</a:t>
            </a:r>
            <a:r>
              <a:rPr lang="en-US" b="1" dirty="0"/>
              <a:t> nu </a:t>
            </a:r>
            <a:r>
              <a:rPr lang="en-US" b="1" dirty="0" err="1"/>
              <a:t>este</a:t>
            </a:r>
            <a:r>
              <a:rPr lang="en-US" b="1" dirty="0"/>
              <a:t>)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/>
              <a:t>In </a:t>
            </a:r>
            <a:r>
              <a:rPr lang="en-US" dirty="0" err="1"/>
              <a:t>fisierul</a:t>
            </a:r>
            <a:r>
              <a:rPr lang="en-US" dirty="0"/>
              <a:t> </a:t>
            </a:r>
            <a:r>
              <a:rPr lang="en-US" b="1" dirty="0"/>
              <a:t>$</a:t>
            </a:r>
            <a:r>
              <a:rPr lang="en-US" b="1" dirty="0" err="1"/>
              <a:t>APACHE_HOME</a:t>
            </a:r>
            <a:r>
              <a:rPr lang="en-US" b="1" dirty="0"/>
              <a:t>/</a:t>
            </a:r>
            <a:r>
              <a:rPr lang="en-US" b="1" dirty="0" err="1"/>
              <a:t>conf</a:t>
            </a:r>
            <a:r>
              <a:rPr lang="en-US" b="1" dirty="0"/>
              <a:t>/</a:t>
            </a:r>
            <a:r>
              <a:rPr lang="en-US" b="1" dirty="0" err="1"/>
              <a:t>http.conf</a:t>
            </a:r>
            <a:r>
              <a:rPr lang="en-US" dirty="0"/>
              <a:t> se </a:t>
            </a:r>
            <a:r>
              <a:rPr lang="en-US" dirty="0" err="1"/>
              <a:t>adauga</a:t>
            </a:r>
            <a:r>
              <a:rPr lang="en-US" dirty="0"/>
              <a:t>: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- - -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LoadModule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proxy_ajp_module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modules/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mod_proxy_ajp.so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Daca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- -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3. In </a:t>
            </a:r>
            <a:r>
              <a:rPr lang="en-US" sz="1600" dirty="0" err="1"/>
              <a:t>fisierul</a:t>
            </a:r>
            <a:r>
              <a:rPr lang="en-US" sz="1600" dirty="0"/>
              <a:t> </a:t>
            </a:r>
            <a:r>
              <a:rPr lang="en-US" sz="1600" b="1" dirty="0"/>
              <a:t>$</a:t>
            </a:r>
            <a:r>
              <a:rPr lang="en-US" sz="1600" b="1" dirty="0" err="1"/>
              <a:t>APACHE_HOME</a:t>
            </a:r>
            <a:r>
              <a:rPr lang="en-US" sz="1600" b="1" dirty="0"/>
              <a:t>/</a:t>
            </a:r>
            <a:r>
              <a:rPr lang="en-US" sz="1600" b="1" dirty="0" err="1"/>
              <a:t>conf</a:t>
            </a:r>
            <a:r>
              <a:rPr lang="en-US" sz="1600" b="1" dirty="0"/>
              <a:t>/extra/</a:t>
            </a:r>
            <a:r>
              <a:rPr lang="en-US" sz="1600" b="1" dirty="0" err="1"/>
              <a:t>httpd-ajp.conf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- - -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ProxyPass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/APP ajp://127.0.0.1:8009/APP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- -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>
                <a:cs typeface="Courier New" pitchFamily="49" charset="0"/>
              </a:rPr>
              <a:t>Daca</a:t>
            </a:r>
            <a:r>
              <a:rPr lang="en-US" dirty="0">
                <a:cs typeface="Courier New" pitchFamily="49" charset="0"/>
              </a:rPr>
              <a:t> se </a:t>
            </a:r>
            <a:r>
              <a:rPr lang="en-US" dirty="0" err="1">
                <a:cs typeface="Courier New" pitchFamily="49" charset="0"/>
              </a:rPr>
              <a:t>doreste</a:t>
            </a:r>
            <a:r>
              <a:rPr lang="en-US" dirty="0">
                <a:cs typeface="Courier New" pitchFamily="49" charset="0"/>
              </a:rPr>
              <a:t>, in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http.conf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>
                <a:cs typeface="Courier New" pitchFamily="49" charset="0"/>
              </a:rPr>
              <a:t>se </a:t>
            </a:r>
            <a:r>
              <a:rPr lang="en-US" dirty="0" err="1">
                <a:cs typeface="Courier New" pitchFamily="49" charset="0"/>
              </a:rPr>
              <a:t>poate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cs typeface="Courier New" pitchFamily="49" charset="0"/>
              </a:rPr>
              <a:t>defini</a:t>
            </a:r>
            <a:r>
              <a:rPr lang="en-US" dirty="0">
                <a:cs typeface="Courier New" pitchFamily="49" charset="0"/>
              </a:rPr>
              <a:t> un director virtual, sub forma: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Alias /APP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CaleaAbsolutaLaDirectorulAplicatiei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&lt;Directory "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CaleaAbsolutaLaDirectorulAplicatiei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/"&gt;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Options Indexes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FollowSymLinks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Includes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ExecCGI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AllowOverride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All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Require all granted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&lt;/Directory&gt;</a:t>
            </a:r>
          </a:p>
        </p:txBody>
      </p:sp>
    </p:spTree>
    <p:extLst>
      <p:ext uri="{BB962C8B-B14F-4D97-AF65-F5344CB8AC3E}">
        <p14:creationId xmlns:p14="http://schemas.microsoft.com/office/powerpoint/2010/main" val="20241973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26.10.2025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BFM_Servlets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25</a:t>
            </a:fld>
            <a:r>
              <a:rPr lang="en-US" dirty="0"/>
              <a:t>_/_44_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Exemple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de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aplicatii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 servlet embedded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0" y="406065"/>
            <a:ext cx="9144000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Reluam</a:t>
            </a:r>
            <a:r>
              <a:rPr lang="en-US" dirty="0"/>
              <a:t> </a:t>
            </a:r>
            <a:r>
              <a:rPr lang="en-US" dirty="0" err="1"/>
              <a:t>exemplul</a:t>
            </a:r>
            <a:r>
              <a:rPr lang="en-US" b="1" dirty="0"/>
              <a:t> </a:t>
            </a:r>
            <a:r>
              <a:rPr lang="en-US" b="1" dirty="0" err="1"/>
              <a:t>1servletClasic</a:t>
            </a:r>
            <a:r>
              <a:rPr lang="en-US" b="1" dirty="0"/>
              <a:t>, </a:t>
            </a:r>
            <a:r>
              <a:rPr lang="en-US" b="1" dirty="0" err="1"/>
              <a:t>implementat</a:t>
            </a:r>
            <a:r>
              <a:rPr lang="en-US" b="1" dirty="0"/>
              <a:t> embedded</a:t>
            </a:r>
            <a:r>
              <a:rPr lang="en-US" dirty="0"/>
              <a:t> - o </a:t>
            </a:r>
            <a:r>
              <a:rPr lang="en-US" dirty="0" err="1"/>
              <a:t>arhiva</a:t>
            </a:r>
            <a:r>
              <a:rPr lang="en-US" dirty="0"/>
              <a:t> jar </a:t>
            </a:r>
            <a:r>
              <a:rPr lang="en-US" dirty="0" err="1"/>
              <a:t>executabila</a:t>
            </a:r>
            <a:r>
              <a:rPr lang="en-US" dirty="0"/>
              <a:t> care include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functiile</a:t>
            </a:r>
            <a:r>
              <a:rPr lang="en-US" dirty="0"/>
              <a:t> </a:t>
            </a:r>
            <a:r>
              <a:rPr lang="en-US" dirty="0" err="1"/>
              <a:t>containerului</a:t>
            </a:r>
            <a:r>
              <a:rPr lang="en-US" dirty="0"/>
              <a:t> de </a:t>
            </a:r>
            <a:r>
              <a:rPr lang="en-US" dirty="0" err="1"/>
              <a:t>servleturi</a:t>
            </a:r>
            <a:r>
              <a:rPr lang="en-US" dirty="0"/>
              <a:t>. </a:t>
            </a:r>
            <a:r>
              <a:rPr lang="en-US" dirty="0" err="1"/>
              <a:t>Prezentam</a:t>
            </a:r>
            <a:r>
              <a:rPr lang="en-US" dirty="0"/>
              <a:t> </a:t>
            </a:r>
            <a:r>
              <a:rPr lang="en-US" dirty="0" err="1"/>
              <a:t>doua</a:t>
            </a:r>
            <a:r>
              <a:rPr lang="en-US" dirty="0"/>
              <a:t> </a:t>
            </a:r>
            <a:r>
              <a:rPr lang="en-US" dirty="0" err="1"/>
              <a:t>implementari</a:t>
            </a:r>
            <a:r>
              <a:rPr lang="en-US" dirty="0"/>
              <a:t>: </a:t>
            </a:r>
            <a:r>
              <a:rPr lang="en-US" b="1" dirty="0" err="1"/>
              <a:t>4servletTomcatEmbedded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b="1" dirty="0" err="1"/>
              <a:t>5servletJettyEmbedded</a:t>
            </a:r>
            <a:r>
              <a:rPr lang="en-US" dirty="0"/>
              <a:t>. </a:t>
            </a:r>
            <a:r>
              <a:rPr lang="en-US" dirty="0" err="1"/>
              <a:t>Diferenta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cele</a:t>
            </a:r>
            <a:r>
              <a:rPr lang="en-US" dirty="0"/>
              <a:t> </a:t>
            </a:r>
            <a:r>
              <a:rPr lang="en-US" dirty="0" err="1"/>
              <a:t>doua</a:t>
            </a:r>
            <a:r>
              <a:rPr lang="en-US" dirty="0"/>
              <a:t> </a:t>
            </a:r>
            <a:r>
              <a:rPr lang="en-US" dirty="0" err="1"/>
              <a:t>implementari</a:t>
            </a:r>
            <a:r>
              <a:rPr lang="en-US" dirty="0"/>
              <a:t> </a:t>
            </a:r>
            <a:r>
              <a:rPr lang="en-US" dirty="0" err="1"/>
              <a:t>consta</a:t>
            </a:r>
            <a:r>
              <a:rPr lang="en-US" dirty="0"/>
              <a:t> in </a:t>
            </a:r>
            <a:r>
              <a:rPr lang="en-US" dirty="0" err="1"/>
              <a:t>sursele</a:t>
            </a:r>
            <a:r>
              <a:rPr lang="en-US" dirty="0"/>
              <a:t> </a:t>
            </a:r>
            <a:r>
              <a:rPr lang="en-US" b="1" dirty="0"/>
              <a:t>JettyServer.java</a:t>
            </a:r>
            <a:r>
              <a:rPr lang="en-US" dirty="0"/>
              <a:t> </a:t>
            </a:r>
            <a:r>
              <a:rPr lang="en-US" dirty="0" err="1"/>
              <a:t>respectiv</a:t>
            </a:r>
            <a:r>
              <a:rPr lang="en-US" dirty="0"/>
              <a:t> </a:t>
            </a:r>
            <a:r>
              <a:rPr lang="en-US" b="1" dirty="0"/>
              <a:t>TomcatServer.java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dependintele</a:t>
            </a:r>
            <a:r>
              <a:rPr lang="en-US" dirty="0"/>
              <a:t> din </a:t>
            </a:r>
            <a:r>
              <a:rPr lang="en-US" dirty="0" err="1"/>
              <a:t>build.gradle</a:t>
            </a:r>
            <a:r>
              <a:rPr lang="en-US" dirty="0"/>
              <a:t>. </a:t>
            </a:r>
            <a:r>
              <a:rPr lang="en-US" b="1" dirty="0">
                <a:solidFill>
                  <a:srgbClr val="FF0000"/>
                </a:solidFill>
              </a:rPr>
              <a:t>Am ales la </a:t>
            </a:r>
            <a:r>
              <a:rPr lang="en-US" b="1" dirty="0" err="1">
                <a:solidFill>
                  <a:srgbClr val="FF0000"/>
                </a:solidFill>
              </a:rPr>
              <a:t>dependinte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acele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versiuni</a:t>
            </a:r>
            <a:r>
              <a:rPr lang="en-US" b="1" dirty="0">
                <a:solidFill>
                  <a:srgbClr val="FF0000"/>
                </a:solidFill>
              </a:rPr>
              <a:t> care “</a:t>
            </a:r>
            <a:r>
              <a:rPr lang="en-US" b="1" dirty="0" err="1">
                <a:solidFill>
                  <a:srgbClr val="FF0000"/>
                </a:solidFill>
              </a:rPr>
              <a:t>merg</a:t>
            </a:r>
            <a:r>
              <a:rPr lang="en-US" b="1" dirty="0">
                <a:solidFill>
                  <a:srgbClr val="FF0000"/>
                </a:solidFill>
              </a:rPr>
              <a:t>”, </a:t>
            </a:r>
            <a:r>
              <a:rPr lang="en-US" b="1" dirty="0" err="1">
                <a:solidFill>
                  <a:srgbClr val="FF0000"/>
                </a:solidFill>
              </a:rPr>
              <a:t>ultimele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versiuni</a:t>
            </a:r>
            <a:r>
              <a:rPr lang="en-US" b="1" dirty="0">
                <a:solidFill>
                  <a:srgbClr val="FF0000"/>
                </a:solidFill>
              </a:rPr>
              <a:t> nu </a:t>
            </a:r>
            <a:r>
              <a:rPr lang="en-US" b="1" dirty="0" err="1">
                <a:solidFill>
                  <a:srgbClr val="FF0000"/>
                </a:solidFill>
              </a:rPr>
              <a:t>sunt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neaparat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compatibile</a:t>
            </a:r>
            <a:r>
              <a:rPr lang="en-US" b="1" dirty="0">
                <a:solidFill>
                  <a:srgbClr val="FF0000"/>
                </a:solidFill>
              </a:rPr>
              <a:t>!</a:t>
            </a:r>
          </a:p>
          <a:p>
            <a:endParaRPr lang="en-US" dirty="0"/>
          </a:p>
          <a:p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langa</a:t>
            </a:r>
            <a:r>
              <a:rPr lang="en-US" dirty="0"/>
              <a:t> </a:t>
            </a:r>
            <a:r>
              <a:rPr lang="en-US" dirty="0" err="1"/>
              <a:t>servleturile</a:t>
            </a:r>
            <a:r>
              <a:rPr lang="en-US" dirty="0"/>
              <a:t> </a:t>
            </a:r>
            <a:r>
              <a:rPr lang="en-US" b="1" dirty="0" err="1"/>
              <a:t>Aduna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b="1" dirty="0" err="1"/>
              <a:t>LitereMari</a:t>
            </a:r>
            <a:r>
              <a:rPr lang="en-US" dirty="0"/>
              <a:t>, in </a:t>
            </a:r>
            <a:r>
              <a:rPr lang="en-US" dirty="0" err="1"/>
              <a:t>ambele</a:t>
            </a:r>
            <a:r>
              <a:rPr lang="en-US" dirty="0"/>
              <a:t> </a:t>
            </a:r>
            <a:r>
              <a:rPr lang="en-US" dirty="0" err="1"/>
              <a:t>implementari</a:t>
            </a:r>
            <a:r>
              <a:rPr lang="en-US" dirty="0"/>
              <a:t> s-a </a:t>
            </a:r>
            <a:r>
              <a:rPr lang="en-US" dirty="0" err="1"/>
              <a:t>introdus</a:t>
            </a:r>
            <a:r>
              <a:rPr lang="en-US" dirty="0"/>
              <a:t> un servlet </a:t>
            </a:r>
            <a:r>
              <a:rPr lang="en-US" dirty="0" err="1"/>
              <a:t>nou</a:t>
            </a:r>
            <a:r>
              <a:rPr lang="en-US" dirty="0"/>
              <a:t> </a:t>
            </a:r>
            <a:r>
              <a:rPr lang="en-US" b="1" dirty="0" err="1"/>
              <a:t>ClientHtml</a:t>
            </a:r>
            <a:r>
              <a:rPr lang="en-US" dirty="0"/>
              <a:t>. </a:t>
            </a:r>
            <a:r>
              <a:rPr lang="en-US" dirty="0" err="1"/>
              <a:t>Acesta</a:t>
            </a:r>
            <a:r>
              <a:rPr lang="en-US" dirty="0"/>
              <a:t> se </a:t>
            </a:r>
            <a:r>
              <a:rPr lang="en-US" dirty="0" err="1"/>
              <a:t>apeleaza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metoda</a:t>
            </a:r>
            <a:r>
              <a:rPr lang="en-US" dirty="0"/>
              <a:t> GET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mapat</a:t>
            </a:r>
            <a:r>
              <a:rPr lang="en-US" dirty="0"/>
              <a:t> in </a:t>
            </a:r>
            <a:r>
              <a:rPr lang="en-US" dirty="0" err="1"/>
              <a:t>doua</a:t>
            </a:r>
            <a:r>
              <a:rPr lang="en-US" dirty="0"/>
              <a:t> </a:t>
            </a:r>
            <a:r>
              <a:rPr lang="en-US" dirty="0" err="1"/>
              <a:t>moduri</a:t>
            </a:r>
            <a:r>
              <a:rPr lang="en-US" dirty="0"/>
              <a:t>: cu </a:t>
            </a:r>
            <a:r>
              <a:rPr lang="en-US" dirty="0" err="1"/>
              <a:t>sirul</a:t>
            </a:r>
            <a:r>
              <a:rPr lang="en-US" dirty="0"/>
              <a:t> vid </a:t>
            </a:r>
            <a:r>
              <a:rPr lang="en-US" dirty="0" err="1"/>
              <a:t>si</a:t>
            </a:r>
            <a:r>
              <a:rPr lang="en-US" dirty="0"/>
              <a:t> cu “/</a:t>
            </a:r>
            <a:r>
              <a:rPr lang="en-US" b="1" dirty="0"/>
              <a:t>client.html</a:t>
            </a:r>
            <a:r>
              <a:rPr lang="en-US" dirty="0"/>
              <a:t>”. </a:t>
            </a:r>
            <a:r>
              <a:rPr lang="en-US" dirty="0" err="1"/>
              <a:t>Efectul</a:t>
            </a:r>
            <a:r>
              <a:rPr lang="en-US" dirty="0"/>
              <a:t> </a:t>
            </a:r>
            <a:r>
              <a:rPr lang="en-US" dirty="0" err="1"/>
              <a:t>servletului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</a:t>
            </a:r>
            <a:r>
              <a:rPr lang="en-US" dirty="0" err="1"/>
              <a:t>intoarce</a:t>
            </a:r>
            <a:r>
              <a:rPr lang="en-US" dirty="0"/>
              <a:t> </a:t>
            </a:r>
            <a:r>
              <a:rPr lang="en-US" dirty="0" err="1"/>
              <a:t>formularul</a:t>
            </a:r>
            <a:r>
              <a:rPr lang="en-US" dirty="0"/>
              <a:t> cu </a:t>
            </a:r>
            <a:r>
              <a:rPr lang="en-US" dirty="0" err="1"/>
              <a:t>cele</a:t>
            </a:r>
            <a:r>
              <a:rPr lang="en-US" dirty="0"/>
              <a:t> </a:t>
            </a:r>
            <a:r>
              <a:rPr lang="en-US" dirty="0" err="1"/>
              <a:t>trei</a:t>
            </a:r>
            <a:r>
              <a:rPr lang="en-US" dirty="0"/>
              <a:t> </a:t>
            </a:r>
            <a:r>
              <a:rPr lang="en-US" dirty="0" err="1"/>
              <a:t>posibilitati</a:t>
            </a:r>
            <a:r>
              <a:rPr lang="en-US" dirty="0"/>
              <a:t> de </a:t>
            </a:r>
            <a:r>
              <a:rPr lang="en-US" dirty="0" err="1"/>
              <a:t>apel</a:t>
            </a:r>
            <a:r>
              <a:rPr lang="en-US" dirty="0"/>
              <a:t> </a:t>
            </a:r>
            <a:r>
              <a:rPr lang="en-US" dirty="0" err="1"/>
              <a:t>descrise</a:t>
            </a:r>
            <a:r>
              <a:rPr lang="en-US" dirty="0"/>
              <a:t> la servlet1Clasic. (Este </a:t>
            </a:r>
            <a:r>
              <a:rPr lang="en-US" dirty="0" err="1"/>
              <a:t>cea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simpla</a:t>
            </a:r>
            <a:r>
              <a:rPr lang="en-US" dirty="0"/>
              <a:t> </a:t>
            </a:r>
            <a:r>
              <a:rPr lang="en-US" dirty="0" err="1"/>
              <a:t>modalitate</a:t>
            </a:r>
            <a:r>
              <a:rPr lang="en-US" dirty="0"/>
              <a:t> de a </a:t>
            </a:r>
            <a:r>
              <a:rPr lang="en-US" dirty="0" err="1"/>
              <a:t>invoca</a:t>
            </a:r>
            <a:r>
              <a:rPr lang="en-US" dirty="0"/>
              <a:t> </a:t>
            </a:r>
            <a:r>
              <a:rPr lang="en-US" dirty="0" err="1"/>
              <a:t>servleturi</a:t>
            </a:r>
            <a:r>
              <a:rPr lang="en-US" dirty="0"/>
              <a:t> embedded din </a:t>
            </a:r>
            <a:r>
              <a:rPr lang="en-US" dirty="0" err="1"/>
              <a:t>documente</a:t>
            </a:r>
            <a:r>
              <a:rPr lang="en-US" dirty="0"/>
              <a:t> html.)</a:t>
            </a:r>
          </a:p>
          <a:p>
            <a:endParaRPr lang="en-US" dirty="0"/>
          </a:p>
          <a:p>
            <a:r>
              <a:rPr lang="en-US" dirty="0" err="1"/>
              <a:t>Lansarea</a:t>
            </a:r>
            <a:r>
              <a:rPr lang="en-US" dirty="0"/>
              <a:t> </a:t>
            </a:r>
            <a:r>
              <a:rPr lang="en-US" dirty="0" err="1"/>
              <a:t>serverului</a:t>
            </a:r>
            <a:r>
              <a:rPr lang="en-US" dirty="0"/>
              <a:t> se face, </a:t>
            </a:r>
            <a:r>
              <a:rPr lang="en-US" dirty="0" err="1"/>
              <a:t>dupa</a:t>
            </a:r>
            <a:r>
              <a:rPr lang="en-US" dirty="0"/>
              <a:t> </a:t>
            </a:r>
            <a:r>
              <a:rPr lang="en-US" dirty="0" err="1"/>
              <a:t>caz</a:t>
            </a:r>
            <a:r>
              <a:rPr lang="en-US" dirty="0"/>
              <a:t>: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java –jar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4servletTomcatEmbedded.jar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java –jar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5servletJettyEmbedded.jar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  <a:p>
            <a:r>
              <a:rPr lang="en-US" dirty="0" err="1"/>
              <a:t>Dupa</a:t>
            </a:r>
            <a:r>
              <a:rPr lang="en-US" dirty="0"/>
              <a:t> </a:t>
            </a:r>
            <a:r>
              <a:rPr lang="en-US" dirty="0" err="1"/>
              <a:t>lansare</a:t>
            </a:r>
            <a:r>
              <a:rPr lang="en-US" dirty="0"/>
              <a:t>, din browser se pot </a:t>
            </a:r>
            <a:r>
              <a:rPr lang="en-US" dirty="0" err="1"/>
              <a:t>lansa</a:t>
            </a:r>
            <a:r>
              <a:rPr lang="en-US" dirty="0"/>
              <a:t>:</a:t>
            </a:r>
          </a:p>
          <a:p>
            <a:r>
              <a:rPr lang="en-US" dirty="0">
                <a:hlinkClick r:id="rId3"/>
              </a:rPr>
              <a:t>http://localhost:8080/Add?unu=5&amp;doi=7</a:t>
            </a:r>
            <a:endParaRPr lang="en-US" dirty="0"/>
          </a:p>
          <a:p>
            <a:r>
              <a:rPr lang="en-US" dirty="0">
                <a:hlinkClick r:id="rId3"/>
              </a:rPr>
              <a:t>http://localhost:8080</a:t>
            </a:r>
            <a:endParaRPr lang="en-US" dirty="0"/>
          </a:p>
          <a:p>
            <a:r>
              <a:rPr lang="en-US" dirty="0">
                <a:hlinkClick r:id="rId4"/>
              </a:rPr>
              <a:t>http://localhost:8080/client.html</a:t>
            </a:r>
            <a:endParaRPr lang="en-US" dirty="0"/>
          </a:p>
          <a:p>
            <a:endParaRPr lang="en-US" dirty="0"/>
          </a:p>
          <a:p>
            <a:r>
              <a:rPr lang="en-US" dirty="0"/>
              <a:t>In </a:t>
            </a:r>
            <a:r>
              <a:rPr lang="en-US" dirty="0" err="1"/>
              <a:t>ultimele</a:t>
            </a:r>
            <a:r>
              <a:rPr lang="en-US" dirty="0"/>
              <a:t> </a:t>
            </a:r>
            <a:r>
              <a:rPr lang="en-US" dirty="0" err="1"/>
              <a:t>doua</a:t>
            </a:r>
            <a:r>
              <a:rPr lang="en-US" dirty="0"/>
              <a:t> </a:t>
            </a:r>
            <a:r>
              <a:rPr lang="en-US" dirty="0" err="1"/>
              <a:t>cazuri</a:t>
            </a:r>
            <a:r>
              <a:rPr lang="en-US" dirty="0"/>
              <a:t> </a:t>
            </a:r>
            <a:r>
              <a:rPr lang="en-US" dirty="0" err="1"/>
              <a:t>apare</a:t>
            </a:r>
            <a:r>
              <a:rPr lang="en-US" dirty="0"/>
              <a:t> </a:t>
            </a:r>
            <a:r>
              <a:rPr lang="en-US" dirty="0" err="1"/>
              <a:t>formularul</a:t>
            </a:r>
            <a:r>
              <a:rPr lang="en-US" dirty="0"/>
              <a:t> cu </a:t>
            </a:r>
            <a:r>
              <a:rPr lang="en-US" dirty="0" err="1"/>
              <a:t>cele</a:t>
            </a:r>
            <a:r>
              <a:rPr lang="en-US" dirty="0"/>
              <a:t> </a:t>
            </a:r>
            <a:r>
              <a:rPr lang="en-US" dirty="0" err="1"/>
              <a:t>trei</a:t>
            </a:r>
            <a:r>
              <a:rPr lang="en-US" dirty="0"/>
              <a:t> </a:t>
            </a:r>
            <a:r>
              <a:rPr lang="en-US" dirty="0" err="1"/>
              <a:t>posibilitati</a:t>
            </a:r>
            <a:r>
              <a:rPr lang="en-US" dirty="0"/>
              <a:t> de </a:t>
            </a:r>
            <a:r>
              <a:rPr lang="en-US" dirty="0" err="1"/>
              <a:t>apel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606764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26.10.2025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BFM_Servlets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26</a:t>
            </a:fld>
            <a:r>
              <a:rPr lang="en-US" dirty="0"/>
              <a:t>_/_44_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-8468" y="375180"/>
            <a:ext cx="9152467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 err="1">
                <a:latin typeface="Calibri" pitchFamily="34" charset="0"/>
              </a:rPr>
              <a:t>Dintr</a:t>
            </a:r>
            <a:r>
              <a:rPr lang="en-US" altLang="en-US" dirty="0">
                <a:latin typeface="Calibri" pitchFamily="34" charset="0"/>
              </a:rPr>
              <a:t>-un servlet se </a:t>
            </a:r>
            <a:r>
              <a:rPr lang="en-US" altLang="en-US" dirty="0" err="1">
                <a:latin typeface="Calibri" pitchFamily="34" charset="0"/>
              </a:rPr>
              <a:t>poate</a:t>
            </a:r>
            <a:r>
              <a:rPr lang="en-US" altLang="en-US" dirty="0">
                <a:latin typeface="Calibri" pitchFamily="34" charset="0"/>
              </a:rPr>
              <a:t> </a:t>
            </a:r>
            <a:r>
              <a:rPr lang="en-US" altLang="en-US" dirty="0" err="1">
                <a:latin typeface="Calibri" pitchFamily="34" charset="0"/>
              </a:rPr>
              <a:t>trece</a:t>
            </a:r>
            <a:r>
              <a:rPr lang="en-US" altLang="en-US" dirty="0">
                <a:latin typeface="Calibri" pitchFamily="34" charset="0"/>
              </a:rPr>
              <a:t> </a:t>
            </a:r>
            <a:r>
              <a:rPr lang="en-US" altLang="en-US" dirty="0" err="1">
                <a:latin typeface="Calibri" pitchFamily="34" charset="0"/>
              </a:rPr>
              <a:t>controlul</a:t>
            </a:r>
            <a:r>
              <a:rPr lang="en-US" altLang="en-US" dirty="0">
                <a:latin typeface="Calibri" pitchFamily="34" charset="0"/>
              </a:rPr>
              <a:t>  la o </a:t>
            </a:r>
            <a:r>
              <a:rPr lang="en-US" altLang="en-US" dirty="0" err="1">
                <a:latin typeface="Calibri" pitchFamily="34" charset="0"/>
              </a:rPr>
              <a:t>alta</a:t>
            </a:r>
            <a:r>
              <a:rPr lang="en-US" altLang="en-US" dirty="0">
                <a:latin typeface="Calibri" pitchFamily="34" charset="0"/>
              </a:rPr>
              <a:t> </a:t>
            </a:r>
            <a:r>
              <a:rPr lang="en-US" altLang="en-US" dirty="0" err="1">
                <a:latin typeface="Calibri" pitchFamily="34" charset="0"/>
              </a:rPr>
              <a:t>resursa</a:t>
            </a:r>
            <a:r>
              <a:rPr lang="en-US" altLang="en-US" dirty="0">
                <a:latin typeface="Calibri" pitchFamily="34" charset="0"/>
              </a:rPr>
              <a:t> web, fie </a:t>
            </a:r>
            <a:r>
              <a:rPr lang="en-US" altLang="en-US" dirty="0" err="1">
                <a:latin typeface="Calibri" pitchFamily="34" charset="0"/>
              </a:rPr>
              <a:t>ea</a:t>
            </a:r>
            <a:r>
              <a:rPr lang="en-US" altLang="en-US" dirty="0">
                <a:latin typeface="Calibri" pitchFamily="34" charset="0"/>
              </a:rPr>
              <a:t> </a:t>
            </a:r>
            <a:r>
              <a:rPr lang="en-US" altLang="en-US" dirty="0" err="1">
                <a:latin typeface="Calibri" pitchFamily="34" charset="0"/>
              </a:rPr>
              <a:t>resursa</a:t>
            </a:r>
            <a:r>
              <a:rPr lang="en-US" altLang="en-US" dirty="0">
                <a:latin typeface="Calibri" pitchFamily="34" charset="0"/>
              </a:rPr>
              <a:t> </a:t>
            </a:r>
            <a:r>
              <a:rPr lang="en-US" altLang="en-US" dirty="0" err="1">
                <a:latin typeface="Calibri" pitchFamily="34" charset="0"/>
              </a:rPr>
              <a:t>statica</a:t>
            </a:r>
            <a:r>
              <a:rPr lang="en-US" altLang="en-US" dirty="0">
                <a:latin typeface="Calibri" pitchFamily="34" charset="0"/>
              </a:rPr>
              <a:t> web, fie alt servlet.  </a:t>
            </a:r>
            <a:r>
              <a:rPr lang="en-US" altLang="en-US" dirty="0" err="1">
                <a:latin typeface="Calibri" pitchFamily="34" charset="0"/>
              </a:rPr>
              <a:t>Pentru</a:t>
            </a:r>
            <a:r>
              <a:rPr lang="en-US" altLang="en-US" dirty="0">
                <a:latin typeface="Calibri" pitchFamily="34" charset="0"/>
              </a:rPr>
              <a:t> </a:t>
            </a:r>
            <a:r>
              <a:rPr lang="en-US" altLang="en-US" dirty="0" err="1">
                <a:latin typeface="Calibri" pitchFamily="34" charset="0"/>
              </a:rPr>
              <a:t>aceasta</a:t>
            </a:r>
            <a:r>
              <a:rPr lang="en-US" altLang="en-US" dirty="0">
                <a:latin typeface="Calibri" pitchFamily="34" charset="0"/>
              </a:rPr>
              <a:t>, </a:t>
            </a:r>
            <a:r>
              <a:rPr lang="en-US" altLang="en-US" dirty="0" err="1">
                <a:latin typeface="Calibri" pitchFamily="34" charset="0"/>
              </a:rPr>
              <a:t>prin</a:t>
            </a:r>
            <a:r>
              <a:rPr lang="en-US" altLang="en-US" dirty="0">
                <a:latin typeface="Calibri" pitchFamily="34" charset="0"/>
              </a:rPr>
              <a:t> </a:t>
            </a:r>
            <a:r>
              <a:rPr lang="en-US" altLang="en-US" dirty="0" err="1">
                <a:latin typeface="Calibri" pitchFamily="34" charset="0"/>
              </a:rPr>
              <a:t>metoda</a:t>
            </a:r>
            <a:r>
              <a:rPr lang="en-US" altLang="en-US" dirty="0">
                <a:latin typeface="Calibri" pitchFamily="34" charset="0"/>
              </a:rPr>
              <a:t> </a:t>
            </a:r>
            <a:r>
              <a:rPr lang="en-US" altLang="en-US" b="1" dirty="0" err="1">
                <a:latin typeface="Calibri" pitchFamily="34" charset="0"/>
              </a:rPr>
              <a:t>getServletContext</a:t>
            </a:r>
            <a:r>
              <a:rPr lang="en-US" altLang="en-US" dirty="0">
                <a:latin typeface="Calibri" pitchFamily="34" charset="0"/>
              </a:rPr>
              <a:t>  se </a:t>
            </a:r>
            <a:r>
              <a:rPr lang="en-US" altLang="en-US" dirty="0" err="1">
                <a:latin typeface="Calibri" pitchFamily="34" charset="0"/>
              </a:rPr>
              <a:t>obtine</a:t>
            </a:r>
            <a:r>
              <a:rPr lang="en-US" altLang="en-US" dirty="0">
                <a:latin typeface="Calibri" pitchFamily="34" charset="0"/>
              </a:rPr>
              <a:t> o </a:t>
            </a:r>
            <a:r>
              <a:rPr lang="en-US" altLang="en-US" dirty="0" err="1">
                <a:latin typeface="Calibri" pitchFamily="34" charset="0"/>
              </a:rPr>
              <a:t>referinta</a:t>
            </a:r>
            <a:r>
              <a:rPr lang="en-US" altLang="en-US" dirty="0">
                <a:latin typeface="Calibri" pitchFamily="34" charset="0"/>
              </a:rPr>
              <a:t> la </a:t>
            </a:r>
            <a:r>
              <a:rPr lang="en-US" altLang="en-US" dirty="0" err="1">
                <a:latin typeface="Calibri" pitchFamily="34" charset="0"/>
              </a:rPr>
              <a:t>obiectul</a:t>
            </a:r>
            <a:r>
              <a:rPr lang="en-US" altLang="en-US" dirty="0">
                <a:latin typeface="Calibri" pitchFamily="34" charset="0"/>
              </a:rPr>
              <a:t> </a:t>
            </a:r>
            <a:r>
              <a:rPr lang="en-US" altLang="en-US" b="1" dirty="0" err="1">
                <a:latin typeface="Calibri" pitchFamily="34" charset="0"/>
              </a:rPr>
              <a:t>ServletContext</a:t>
            </a:r>
            <a:r>
              <a:rPr lang="en-US" altLang="en-US" dirty="0">
                <a:latin typeface="Calibri" pitchFamily="34" charset="0"/>
              </a:rPr>
              <a:t> al </a:t>
            </a:r>
            <a:r>
              <a:rPr lang="en-US" altLang="en-US" dirty="0" err="1">
                <a:latin typeface="Calibri" pitchFamily="34" charset="0"/>
              </a:rPr>
              <a:t>aplicatiei</a:t>
            </a:r>
            <a:r>
              <a:rPr lang="en-US" altLang="en-US" dirty="0">
                <a:latin typeface="Calibri" pitchFamily="34" charset="0"/>
              </a:rPr>
              <a:t> servlet. De la </a:t>
            </a:r>
            <a:r>
              <a:rPr lang="en-US" altLang="en-US" dirty="0" err="1">
                <a:latin typeface="Calibri" pitchFamily="34" charset="0"/>
              </a:rPr>
              <a:t>aceasta</a:t>
            </a:r>
            <a:r>
              <a:rPr lang="en-US" altLang="en-US" dirty="0">
                <a:latin typeface="Calibri" pitchFamily="34" charset="0"/>
              </a:rPr>
              <a:t>, </a:t>
            </a:r>
            <a:r>
              <a:rPr lang="en-US" altLang="en-US" dirty="0" err="1">
                <a:latin typeface="Calibri" pitchFamily="34" charset="0"/>
              </a:rPr>
              <a:t>prin</a:t>
            </a:r>
            <a:r>
              <a:rPr lang="en-US" altLang="en-US" dirty="0">
                <a:latin typeface="Calibri" pitchFamily="34" charset="0"/>
              </a:rPr>
              <a:t> </a:t>
            </a:r>
            <a:r>
              <a:rPr lang="en-US" altLang="en-US" b="1" dirty="0" err="1">
                <a:latin typeface="Calibri" pitchFamily="34" charset="0"/>
              </a:rPr>
              <a:t>getRequestDispatcher</a:t>
            </a:r>
            <a:r>
              <a:rPr lang="en-US" altLang="en-US" dirty="0">
                <a:latin typeface="Calibri" pitchFamily="34" charset="0"/>
              </a:rPr>
              <a:t> se </a:t>
            </a:r>
            <a:r>
              <a:rPr lang="en-US" altLang="en-US" dirty="0" err="1">
                <a:latin typeface="Calibri" pitchFamily="34" charset="0"/>
              </a:rPr>
              <a:t>obtine</a:t>
            </a:r>
            <a:r>
              <a:rPr lang="en-US" altLang="en-US" dirty="0">
                <a:latin typeface="Calibri" pitchFamily="34" charset="0"/>
              </a:rPr>
              <a:t> </a:t>
            </a:r>
            <a:r>
              <a:rPr lang="en-US" altLang="en-US" dirty="0" err="1">
                <a:latin typeface="Calibri" pitchFamily="34" charset="0"/>
              </a:rPr>
              <a:t>referinta</a:t>
            </a:r>
            <a:r>
              <a:rPr lang="en-US" altLang="en-US" dirty="0">
                <a:latin typeface="Calibri" pitchFamily="34" charset="0"/>
              </a:rPr>
              <a:t> la un </a:t>
            </a:r>
            <a:r>
              <a:rPr lang="en-US" altLang="en-US" dirty="0" err="1">
                <a:latin typeface="Calibri" pitchFamily="34" charset="0"/>
              </a:rPr>
              <a:t>obiect</a:t>
            </a:r>
            <a:r>
              <a:rPr lang="en-US" altLang="en-US" dirty="0">
                <a:latin typeface="Calibri" pitchFamily="34" charset="0"/>
              </a:rPr>
              <a:t>  </a:t>
            </a:r>
            <a:r>
              <a:rPr lang="en-US" altLang="en-US" b="1" dirty="0" err="1">
                <a:latin typeface="Calibri" pitchFamily="34" charset="0"/>
              </a:rPr>
              <a:t>RequestDispecer</a:t>
            </a:r>
            <a:r>
              <a:rPr lang="en-US" altLang="en-US" dirty="0">
                <a:latin typeface="Calibri" pitchFamily="34" charset="0"/>
              </a:rPr>
              <a:t> </a:t>
            </a:r>
            <a:r>
              <a:rPr lang="en-US" altLang="en-US" dirty="0" err="1">
                <a:latin typeface="Calibri" pitchFamily="34" charset="0"/>
              </a:rPr>
              <a:t>catre</a:t>
            </a:r>
            <a:r>
              <a:rPr lang="en-US" altLang="en-US" dirty="0">
                <a:latin typeface="Calibri" pitchFamily="34" charset="0"/>
              </a:rPr>
              <a:t> o </a:t>
            </a:r>
            <a:r>
              <a:rPr lang="en-US" altLang="en-US" dirty="0" err="1">
                <a:latin typeface="Calibri" pitchFamily="34" charset="0"/>
              </a:rPr>
              <a:t>resursa</a:t>
            </a:r>
            <a:r>
              <a:rPr lang="en-US" altLang="en-US" dirty="0">
                <a:latin typeface="Calibri" pitchFamily="34" charset="0"/>
              </a:rPr>
              <a:t> web. </a:t>
            </a:r>
            <a:r>
              <a:rPr lang="en-US" altLang="en-US" dirty="0" err="1">
                <a:latin typeface="Calibri" pitchFamily="34" charset="0"/>
              </a:rPr>
              <a:t>Exemplul</a:t>
            </a:r>
            <a:r>
              <a:rPr lang="en-US" altLang="en-US" dirty="0">
                <a:latin typeface="Calibri" pitchFamily="34" charset="0"/>
              </a:rPr>
              <a:t> </a:t>
            </a:r>
            <a:r>
              <a:rPr lang="en-US" altLang="en-US" dirty="0" err="1">
                <a:latin typeface="Calibri" pitchFamily="34" charset="0"/>
              </a:rPr>
              <a:t>urmator</a:t>
            </a:r>
            <a:r>
              <a:rPr lang="en-US" altLang="en-US" dirty="0">
                <a:latin typeface="Calibri" pitchFamily="34" charset="0"/>
              </a:rPr>
              <a:t> </a:t>
            </a:r>
            <a:r>
              <a:rPr lang="en-US" altLang="en-US" dirty="0" err="1">
                <a:latin typeface="Calibri" pitchFamily="34" charset="0"/>
              </a:rPr>
              <a:t>este</a:t>
            </a:r>
            <a:r>
              <a:rPr lang="en-US" altLang="en-US" dirty="0">
                <a:latin typeface="Calibri" pitchFamily="34" charset="0"/>
              </a:rPr>
              <a:t> o </a:t>
            </a:r>
            <a:r>
              <a:rPr lang="en-US" altLang="en-US" dirty="0" err="1">
                <a:latin typeface="Calibri" pitchFamily="34" charset="0"/>
              </a:rPr>
              <a:t>varianta</a:t>
            </a:r>
            <a:r>
              <a:rPr lang="en-US" altLang="en-US" dirty="0">
                <a:latin typeface="Calibri" pitchFamily="34" charset="0"/>
              </a:rPr>
              <a:t> a </a:t>
            </a:r>
            <a:r>
              <a:rPr lang="en-US" altLang="en-US" dirty="0" err="1">
                <a:latin typeface="Calibri" pitchFamily="34" charset="0"/>
              </a:rPr>
              <a:t>maximului</a:t>
            </a:r>
            <a:r>
              <a:rPr lang="en-US" altLang="en-US" dirty="0">
                <a:latin typeface="Calibri" pitchFamily="34" charset="0"/>
              </a:rPr>
              <a:t> a </a:t>
            </a:r>
            <a:r>
              <a:rPr lang="en-US" altLang="en-US" dirty="0" err="1">
                <a:latin typeface="Calibri" pitchFamily="34" charset="0"/>
              </a:rPr>
              <a:t>doua</a:t>
            </a:r>
            <a:r>
              <a:rPr lang="en-US" altLang="en-US" dirty="0">
                <a:latin typeface="Calibri" pitchFamily="34" charset="0"/>
              </a:rPr>
              <a:t> </a:t>
            </a:r>
            <a:r>
              <a:rPr lang="en-US" altLang="en-US" dirty="0" err="1">
                <a:latin typeface="Calibri" pitchFamily="34" charset="0"/>
              </a:rPr>
              <a:t>numere</a:t>
            </a:r>
            <a:r>
              <a:rPr lang="en-US" altLang="en-US" dirty="0">
                <a:latin typeface="Calibri" pitchFamily="34" charset="0"/>
              </a:rPr>
              <a:t>. In slide-</a:t>
            </a:r>
            <a:r>
              <a:rPr lang="en-US" altLang="en-US" dirty="0" err="1">
                <a:latin typeface="Calibri" pitchFamily="34" charset="0"/>
              </a:rPr>
              <a:t>ul</a:t>
            </a:r>
            <a:r>
              <a:rPr lang="en-US" altLang="en-US" dirty="0">
                <a:latin typeface="Calibri" pitchFamily="34" charset="0"/>
              </a:rPr>
              <a:t> </a:t>
            </a:r>
            <a:r>
              <a:rPr lang="en-US" altLang="en-US" dirty="0" err="1">
                <a:latin typeface="Calibri" pitchFamily="34" charset="0"/>
              </a:rPr>
              <a:t>urmator</a:t>
            </a:r>
            <a:r>
              <a:rPr lang="en-US" altLang="en-US" dirty="0">
                <a:latin typeface="Calibri" pitchFamily="34" charset="0"/>
              </a:rPr>
              <a:t> </a:t>
            </a:r>
            <a:r>
              <a:rPr lang="en-US" altLang="en-US" dirty="0" err="1">
                <a:latin typeface="Calibri" pitchFamily="34" charset="0"/>
              </a:rPr>
              <a:t>aratam</a:t>
            </a:r>
            <a:r>
              <a:rPr lang="en-US" altLang="en-US" dirty="0">
                <a:latin typeface="Calibri" pitchFamily="34" charset="0"/>
              </a:rPr>
              <a:t> un model de </a:t>
            </a:r>
            <a:r>
              <a:rPr lang="en-US" altLang="en-US" dirty="0" err="1">
                <a:latin typeface="Calibri" pitchFamily="34" charset="0"/>
              </a:rPr>
              <a:t>organizare</a:t>
            </a:r>
            <a:r>
              <a:rPr lang="en-US" altLang="en-US" dirty="0">
                <a:latin typeface="Calibri" pitchFamily="34" charset="0"/>
              </a:rPr>
              <a:t> a </a:t>
            </a:r>
            <a:r>
              <a:rPr lang="en-US" altLang="en-US" dirty="0" err="1">
                <a:latin typeface="Calibri" pitchFamily="34" charset="0"/>
              </a:rPr>
              <a:t>unui</a:t>
            </a:r>
            <a:r>
              <a:rPr lang="en-US" altLang="en-US" dirty="0">
                <a:latin typeface="Calibri" pitchFamily="34" charset="0"/>
              </a:rPr>
              <a:t> servlet </a:t>
            </a:r>
            <a:r>
              <a:rPr lang="en-US" altLang="en-US" dirty="0" err="1">
                <a:latin typeface="Calibri" pitchFamily="34" charset="0"/>
              </a:rPr>
              <a:t>ca</a:t>
            </a:r>
            <a:r>
              <a:rPr lang="en-US" altLang="en-US" dirty="0">
                <a:latin typeface="Calibri" pitchFamily="34" charset="0"/>
              </a:rPr>
              <a:t> </a:t>
            </a:r>
            <a:r>
              <a:rPr lang="en-US" altLang="en-US" dirty="0" err="1">
                <a:latin typeface="Calibri" pitchFamily="34" charset="0"/>
              </a:rPr>
              <a:t>dispecer</a:t>
            </a:r>
            <a:r>
              <a:rPr lang="en-US" altLang="en-US" dirty="0">
                <a:latin typeface="Calibri" pitchFamily="34" charset="0"/>
              </a:rPr>
              <a:t>.</a:t>
            </a: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Mecanismul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forward la servlet </a:t>
            </a:r>
          </a:p>
        </p:txBody>
      </p:sp>
      <p:sp>
        <p:nvSpPr>
          <p:cNvPr id="2" name="Rectangle 1"/>
          <p:cNvSpPr/>
          <p:nvPr/>
        </p:nvSpPr>
        <p:spPr>
          <a:xfrm>
            <a:off x="1" y="2025908"/>
            <a:ext cx="9143998" cy="50475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1400" dirty="0">
                <a:latin typeface="Courier New" pitchFamily="49" charset="0"/>
                <a:cs typeface="Courier New" pitchFamily="49" charset="0"/>
              </a:rPr>
              <a:t>import javax.servlet.*;</a:t>
            </a:r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r>
              <a:rPr lang="ro-RO" sz="1400" dirty="0">
                <a:latin typeface="Courier New" pitchFamily="49" charset="0"/>
                <a:cs typeface="Courier New" pitchFamily="49" charset="0"/>
              </a:rPr>
              <a:t>import javax.servlet.http.*;</a:t>
            </a:r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r>
              <a:rPr lang="ro-RO" sz="1400" dirty="0">
                <a:latin typeface="Courier New" pitchFamily="49" charset="0"/>
                <a:cs typeface="Courier New" pitchFamily="49" charset="0"/>
              </a:rPr>
              <a:t>import java.io.*;</a:t>
            </a:r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r>
              <a:rPr lang="ro-RO" sz="1400" dirty="0">
                <a:latin typeface="Courier New" pitchFamily="49" charset="0"/>
                <a:cs typeface="Courier New" pitchFamily="49" charset="0"/>
              </a:rPr>
              <a:t>public class MaximForward extends HttpServlet {</a:t>
            </a:r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r>
              <a:rPr lang="ro-RO" sz="1400" dirty="0">
                <a:latin typeface="Courier New" pitchFamily="49" charset="0"/>
                <a:cs typeface="Courier New" pitchFamily="49" charset="0"/>
              </a:rPr>
              <a:t>    public void doGet(HttpServletRequest req,   HttpServletResponse res)</a:t>
            </a:r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r>
              <a:rPr lang="ro-RO" sz="1400" dirty="0">
                <a:latin typeface="Courier New" pitchFamily="49" charset="0"/>
                <a:cs typeface="Courier New" pitchFamily="49" charset="0"/>
              </a:rPr>
              <a:t>             throws ServletException, IOException {</a:t>
            </a:r>
          </a:p>
          <a:p>
            <a:r>
              <a:rPr lang="ro-RO" sz="14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ro-RO" sz="14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ServletContext sc = getServletContext();</a:t>
            </a:r>
            <a:endParaRPr lang="en-US" sz="1400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o-RO" sz="14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       RequestDispatcher rd;</a:t>
            </a:r>
            <a:endParaRPr lang="en-US" sz="1400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o-RO" sz="1400" dirty="0">
                <a:latin typeface="Courier New" pitchFamily="49" charset="0"/>
                <a:cs typeface="Courier New" pitchFamily="49" charset="0"/>
              </a:rPr>
              <a:t>        String sunu, sdoi;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lang="ro-RO" sz="1400" dirty="0">
                <a:latin typeface="Courier New" pitchFamily="49" charset="0"/>
                <a:cs typeface="Courier New" pitchFamily="49" charset="0"/>
              </a:rPr>
              <a:t>        int unu, doi;</a:t>
            </a:r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r>
              <a:rPr lang="ro-RO" sz="1400" dirty="0">
                <a:latin typeface="Courier New" pitchFamily="49" charset="0"/>
                <a:cs typeface="Courier New" pitchFamily="49" charset="0"/>
              </a:rPr>
              <a:t>        sunu = req.getParameter("unu"); sdoi = req.getParameter("doi");</a:t>
            </a:r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r>
              <a:rPr lang="ro-RO" sz="1400" dirty="0">
                <a:latin typeface="Courier New" pitchFamily="49" charset="0"/>
                <a:cs typeface="Courier New" pitchFamily="49" charset="0"/>
              </a:rPr>
              <a:t>        if ((sunu==null)||(sdoi==null)) {</a:t>
            </a:r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4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         </a:t>
            </a:r>
            <a:r>
              <a:rPr lang="ro-RO" sz="14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 rd = sc.getRequestDispatcher("/Error.html"); </a:t>
            </a:r>
            <a:endParaRPr lang="en-US" sz="1400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14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         </a:t>
            </a:r>
            <a:r>
              <a:rPr lang="ro-RO" sz="14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 rd.forward(req,res);</a:t>
            </a:r>
            <a:endParaRPr lang="en-US" sz="1400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14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en-US" sz="1400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getServletContext</a:t>
            </a:r>
            <a:r>
              <a:rPr lang="en-US" sz="14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().</a:t>
            </a:r>
            <a:r>
              <a:rPr lang="ro-RO" sz="14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getRequestDispatcher("/Error.html")</a:t>
            </a:r>
            <a:r>
              <a:rPr lang="en-US" sz="14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.forward(</a:t>
            </a:r>
            <a:r>
              <a:rPr lang="en-US" sz="1400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req</a:t>
            </a:r>
            <a:r>
              <a:rPr lang="en-US" sz="14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, res);</a:t>
            </a:r>
          </a:p>
          <a:p>
            <a:r>
              <a:rPr lang="ro-RO" sz="1400" dirty="0">
                <a:latin typeface="Courier New" pitchFamily="49" charset="0"/>
                <a:cs typeface="Courier New" pitchFamily="49" charset="0"/>
              </a:rPr>
              <a:t>        } else {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o-RO" sz="1400" dirty="0">
                <a:latin typeface="Courier New" pitchFamily="49" charset="0"/>
                <a:cs typeface="Courier New" pitchFamily="49" charset="0"/>
              </a:rPr>
              <a:t>  </a:t>
            </a:r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ro-RO" sz="1400" dirty="0">
                <a:latin typeface="Courier New" pitchFamily="49" charset="0"/>
                <a:cs typeface="Courier New" pitchFamily="49" charset="0"/>
              </a:rPr>
              <a:t>unu = Integer.parseInt(sunu); </a:t>
            </a:r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  </a:t>
            </a:r>
            <a:r>
              <a:rPr lang="ro-RO" sz="1400" dirty="0">
                <a:latin typeface="Courier New" pitchFamily="49" charset="0"/>
                <a:cs typeface="Courier New" pitchFamily="49" charset="0"/>
              </a:rPr>
              <a:t>  doi = Integer.parseInt(sdoi);</a:t>
            </a:r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4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ro-RO" sz="14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rd = sc.getRequestDispatcher(</a:t>
            </a:r>
            <a:endParaRPr lang="en-US" sz="1400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14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                 </a:t>
            </a:r>
            <a:r>
              <a:rPr lang="ro-RO" sz="14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14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/APP</a:t>
            </a:r>
            <a:r>
              <a:rPr lang="ro-RO" sz="14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/</a:t>
            </a:r>
            <a:r>
              <a:rPr lang="en-US" sz="1400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OtherMAPSER</a:t>
            </a:r>
            <a:r>
              <a:rPr lang="ro-RO" sz="14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?maxim="+ </a:t>
            </a:r>
            <a:r>
              <a:rPr lang="en-US" sz="14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ro-RO" sz="14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unu&gt;doi?unu:doi</a:t>
            </a:r>
            <a:r>
              <a:rPr lang="en-US" sz="14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)</a:t>
            </a:r>
            <a:r>
              <a:rPr lang="ro-RO" sz="14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);</a:t>
            </a:r>
            <a:endParaRPr lang="en-US" sz="1400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o-RO" sz="14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          </a:t>
            </a:r>
            <a:r>
              <a:rPr lang="en-US" sz="14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o-RO" sz="14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rd.forward(req,res);</a:t>
            </a:r>
            <a:endParaRPr lang="en-US" sz="1400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o-RO" sz="1400" dirty="0">
                <a:latin typeface="Courier New" pitchFamily="49" charset="0"/>
                <a:cs typeface="Courier New" pitchFamily="49" charset="0"/>
              </a:rPr>
              <a:t>        }</a:t>
            </a:r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r>
              <a:rPr lang="ro-RO" sz="1400" dirty="0">
                <a:latin typeface="Courier New" pitchFamily="49" charset="0"/>
                <a:cs typeface="Courier New" pitchFamily="49" charset="0"/>
              </a:rPr>
              <a:t>    } </a:t>
            </a:r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r>
              <a:rPr lang="ro-RO" sz="1400" dirty="0">
                <a:latin typeface="Courier New" pitchFamily="49" charset="0"/>
                <a:cs typeface="Courier New" pitchFamily="49" charset="0"/>
              </a:rPr>
              <a:t>}</a:t>
            </a:r>
            <a:endParaRPr lang="en-US" sz="14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86692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26.10.2025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BFM_Servlets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27</a:t>
            </a:fld>
            <a:r>
              <a:rPr lang="en-US" dirty="0"/>
              <a:t>_/_44_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Servlet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organizat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ca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dispecer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0" y="366712"/>
            <a:ext cx="9144000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Mecanismul</a:t>
            </a:r>
            <a:r>
              <a:rPr lang="en-US" dirty="0"/>
              <a:t> forward </a:t>
            </a:r>
            <a:r>
              <a:rPr lang="en-US" dirty="0" err="1"/>
              <a:t>permite</a:t>
            </a:r>
            <a:r>
              <a:rPr lang="en-US" dirty="0"/>
              <a:t> </a:t>
            </a:r>
            <a:r>
              <a:rPr lang="en-US" dirty="0" err="1"/>
              <a:t>constructia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servlet care, in </a:t>
            </a:r>
            <a:r>
              <a:rPr lang="en-US" dirty="0" err="1"/>
              <a:t>functie</a:t>
            </a:r>
            <a:r>
              <a:rPr lang="en-US" dirty="0"/>
              <a:t> de </a:t>
            </a:r>
            <a:r>
              <a:rPr lang="en-US" dirty="0" err="1"/>
              <a:t>intrarile</a:t>
            </a:r>
            <a:r>
              <a:rPr lang="en-US" dirty="0"/>
              <a:t> la </a:t>
            </a:r>
            <a:r>
              <a:rPr lang="en-US" dirty="0" err="1"/>
              <a:t>cererea</a:t>
            </a:r>
            <a:r>
              <a:rPr lang="en-US" dirty="0"/>
              <a:t> </a:t>
            </a:r>
            <a:r>
              <a:rPr lang="en-US" dirty="0" err="1"/>
              <a:t>curenta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eventual de </a:t>
            </a:r>
            <a:r>
              <a:rPr lang="en-US" dirty="0" err="1"/>
              <a:t>contextul</a:t>
            </a:r>
            <a:r>
              <a:rPr lang="en-US" dirty="0"/>
              <a:t> </a:t>
            </a:r>
            <a:r>
              <a:rPr lang="en-US" dirty="0" err="1"/>
              <a:t>curent</a:t>
            </a:r>
            <a:r>
              <a:rPr lang="en-US" dirty="0"/>
              <a:t> al </a:t>
            </a:r>
            <a:r>
              <a:rPr lang="en-US" dirty="0" err="1"/>
              <a:t>aplicatiei</a:t>
            </a:r>
            <a:r>
              <a:rPr lang="en-US" dirty="0"/>
              <a:t>,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dispecerizeze</a:t>
            </a:r>
            <a:r>
              <a:rPr lang="en-US" dirty="0"/>
              <a:t> </a:t>
            </a:r>
            <a:r>
              <a:rPr lang="en-US" dirty="0" err="1"/>
              <a:t>controlul</a:t>
            </a:r>
            <a:r>
              <a:rPr lang="en-US" dirty="0"/>
              <a:t> </a:t>
            </a:r>
            <a:r>
              <a:rPr lang="en-US" dirty="0" err="1"/>
              <a:t>executiei</a:t>
            </a:r>
            <a:r>
              <a:rPr lang="en-US" dirty="0"/>
              <a:t> </a:t>
            </a:r>
            <a:r>
              <a:rPr lang="en-US" dirty="0" err="1"/>
              <a:t>spre</a:t>
            </a:r>
            <a:r>
              <a:rPr lang="en-US" dirty="0"/>
              <a:t> </a:t>
            </a:r>
            <a:r>
              <a:rPr lang="en-US" dirty="0" err="1"/>
              <a:t>alte</a:t>
            </a:r>
            <a:r>
              <a:rPr lang="en-US" dirty="0"/>
              <a:t> </a:t>
            </a:r>
            <a:r>
              <a:rPr lang="en-US" dirty="0" err="1"/>
              <a:t>resurse</a:t>
            </a:r>
            <a:r>
              <a:rPr lang="en-US" dirty="0"/>
              <a:t> web </a:t>
            </a:r>
            <a:r>
              <a:rPr lang="en-US" dirty="0" err="1"/>
              <a:t>specializate</a:t>
            </a:r>
            <a:r>
              <a:rPr lang="en-US" dirty="0"/>
              <a:t> </a:t>
            </a:r>
            <a:r>
              <a:rPr lang="en-US" dirty="0" err="1"/>
              <a:t>spre</a:t>
            </a:r>
            <a:r>
              <a:rPr lang="en-US" dirty="0"/>
              <a:t> </a:t>
            </a:r>
            <a:r>
              <a:rPr lang="en-US" dirty="0" err="1"/>
              <a:t>actiuni</a:t>
            </a:r>
            <a:r>
              <a:rPr lang="en-US" dirty="0"/>
              <a:t> </a:t>
            </a:r>
            <a:r>
              <a:rPr lang="en-US" dirty="0" err="1"/>
              <a:t>punctuale</a:t>
            </a:r>
            <a:r>
              <a:rPr lang="en-US" dirty="0"/>
              <a:t> ale </a:t>
            </a:r>
            <a:r>
              <a:rPr lang="en-US" dirty="0" err="1"/>
              <a:t>aplicatiei</a:t>
            </a:r>
            <a:r>
              <a:rPr lang="en-US" dirty="0"/>
              <a:t>. </a:t>
            </a:r>
            <a:r>
              <a:rPr lang="en-US" dirty="0" err="1"/>
              <a:t>Resursele</a:t>
            </a:r>
            <a:r>
              <a:rPr lang="en-US" dirty="0"/>
              <a:t> </a:t>
            </a:r>
            <a:r>
              <a:rPr lang="en-US" dirty="0" err="1"/>
              <a:t>tinta</a:t>
            </a:r>
            <a:r>
              <a:rPr lang="en-US" dirty="0"/>
              <a:t> pot fi </a:t>
            </a:r>
            <a:r>
              <a:rPr lang="en-US" dirty="0" err="1"/>
              <a:t>resurse</a:t>
            </a:r>
            <a:r>
              <a:rPr lang="en-US" dirty="0"/>
              <a:t> </a:t>
            </a:r>
            <a:r>
              <a:rPr lang="en-US" dirty="0" err="1"/>
              <a:t>statice</a:t>
            </a:r>
            <a:r>
              <a:rPr lang="en-US" dirty="0"/>
              <a:t> web, </a:t>
            </a:r>
            <a:r>
              <a:rPr lang="en-US" dirty="0" err="1"/>
              <a:t>alte</a:t>
            </a:r>
            <a:r>
              <a:rPr lang="en-US" dirty="0"/>
              <a:t> </a:t>
            </a:r>
            <a:r>
              <a:rPr lang="en-US" dirty="0" err="1"/>
              <a:t>servleturi</a:t>
            </a:r>
            <a:r>
              <a:rPr lang="en-US" dirty="0"/>
              <a:t>, </a:t>
            </a:r>
            <a:r>
              <a:rPr lang="en-US" dirty="0" err="1"/>
              <a:t>pagini</a:t>
            </a:r>
            <a:r>
              <a:rPr lang="en-US" dirty="0"/>
              <a:t> </a:t>
            </a:r>
            <a:r>
              <a:rPr lang="en-US" dirty="0" err="1"/>
              <a:t>JSP</a:t>
            </a:r>
            <a:r>
              <a:rPr lang="en-US" dirty="0"/>
              <a:t> etc.</a:t>
            </a:r>
          </a:p>
          <a:p>
            <a:endParaRPr lang="en-US" dirty="0"/>
          </a:p>
          <a:p>
            <a:r>
              <a:rPr lang="en-US" dirty="0" err="1"/>
              <a:t>Organizarea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</a:t>
            </a:r>
            <a:r>
              <a:rPr lang="en-US" dirty="0" err="1"/>
              <a:t>dispecer</a:t>
            </a:r>
            <a:r>
              <a:rPr lang="en-US" dirty="0"/>
              <a:t> se </a:t>
            </a:r>
            <a:r>
              <a:rPr lang="en-US" dirty="0" err="1"/>
              <a:t>poate</a:t>
            </a:r>
            <a:r>
              <a:rPr lang="en-US" dirty="0"/>
              <a:t> face in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locuri</a:t>
            </a:r>
            <a:r>
              <a:rPr lang="en-US" dirty="0"/>
              <a:t>. </a:t>
            </a:r>
            <a:r>
              <a:rPr lang="en-US" dirty="0" err="1"/>
              <a:t>Noi</a:t>
            </a:r>
            <a:r>
              <a:rPr lang="en-US" dirty="0"/>
              <a:t> </a:t>
            </a:r>
            <a:r>
              <a:rPr lang="en-US" dirty="0" err="1"/>
              <a:t>sugeram</a:t>
            </a:r>
            <a:r>
              <a:rPr lang="en-US" dirty="0"/>
              <a:t> o </a:t>
            </a:r>
            <a:r>
              <a:rPr lang="en-US" dirty="0" err="1"/>
              <a:t>metodologie</a:t>
            </a:r>
            <a:r>
              <a:rPr lang="en-US" dirty="0"/>
              <a:t> (pot fi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altele</a:t>
            </a:r>
            <a:r>
              <a:rPr lang="en-US" dirty="0"/>
              <a:t>) care </a:t>
            </a:r>
            <a:r>
              <a:rPr lang="en-US" dirty="0" err="1"/>
              <a:t>asigura</a:t>
            </a:r>
            <a:r>
              <a:rPr lang="en-US" dirty="0"/>
              <a:t> </a:t>
            </a:r>
            <a:r>
              <a:rPr lang="en-US" dirty="0" err="1"/>
              <a:t>dispecerizarea</a:t>
            </a:r>
            <a:r>
              <a:rPr lang="en-US" dirty="0"/>
              <a:t> </a:t>
            </a:r>
            <a:r>
              <a:rPr lang="en-US" dirty="0" err="1"/>
              <a:t>consistenta</a:t>
            </a:r>
            <a:r>
              <a:rPr lang="en-US" dirty="0"/>
              <a:t> (nu </a:t>
            </a:r>
            <a:r>
              <a:rPr lang="en-US" dirty="0" err="1"/>
              <a:t>lasa</a:t>
            </a:r>
            <a:r>
              <a:rPr lang="en-US" dirty="0"/>
              <a:t> </a:t>
            </a:r>
            <a:r>
              <a:rPr lang="en-US" dirty="0" err="1"/>
              <a:t>contexte</a:t>
            </a:r>
            <a:r>
              <a:rPr lang="en-US" dirty="0"/>
              <a:t> in care </a:t>
            </a:r>
            <a:r>
              <a:rPr lang="en-US" dirty="0" err="1"/>
              <a:t>sa</a:t>
            </a:r>
            <a:r>
              <a:rPr lang="en-US" dirty="0"/>
              <a:t> nu se </a:t>
            </a:r>
            <a:r>
              <a:rPr lang="en-US" dirty="0" err="1"/>
              <a:t>transmita</a:t>
            </a:r>
            <a:r>
              <a:rPr lang="en-US" dirty="0"/>
              <a:t> </a:t>
            </a:r>
            <a:r>
              <a:rPr lang="en-US" dirty="0" err="1"/>
              <a:t>controlul</a:t>
            </a:r>
            <a:r>
              <a:rPr lang="en-US" dirty="0"/>
              <a:t> explicit). 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aceasta</a:t>
            </a:r>
            <a:r>
              <a:rPr lang="en-US" dirty="0"/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La </a:t>
            </a:r>
            <a:r>
              <a:rPr lang="en-US" dirty="0" err="1"/>
              <a:t>inceputul</a:t>
            </a:r>
            <a:r>
              <a:rPr lang="en-US" dirty="0"/>
              <a:t> </a:t>
            </a:r>
            <a:r>
              <a:rPr lang="en-US" dirty="0" err="1"/>
              <a:t>metodei</a:t>
            </a:r>
            <a:r>
              <a:rPr lang="en-US" dirty="0"/>
              <a:t> </a:t>
            </a:r>
            <a:r>
              <a:rPr lang="en-US" dirty="0" err="1"/>
              <a:t>doGet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doPost</a:t>
            </a:r>
            <a:r>
              <a:rPr lang="en-US" dirty="0"/>
              <a:t> (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ambele</a:t>
            </a:r>
            <a:r>
              <a:rPr lang="en-US" dirty="0"/>
              <a:t>) se </a:t>
            </a:r>
            <a:r>
              <a:rPr lang="en-US" dirty="0" err="1"/>
              <a:t>preiau</a:t>
            </a:r>
            <a:r>
              <a:rPr lang="en-US" dirty="0"/>
              <a:t> de la request </a:t>
            </a:r>
            <a:r>
              <a:rPr lang="en-US" dirty="0" err="1"/>
              <a:t>valorile</a:t>
            </a:r>
            <a:r>
              <a:rPr lang="en-US" dirty="0"/>
              <a:t> String ale </a:t>
            </a:r>
            <a:r>
              <a:rPr lang="en-US" dirty="0" err="1"/>
              <a:t>tuturor</a:t>
            </a:r>
            <a:r>
              <a:rPr lang="en-US" dirty="0"/>
              <a:t> </a:t>
            </a:r>
            <a:r>
              <a:rPr lang="en-US" dirty="0" err="1"/>
              <a:t>parametrilor</a:t>
            </a:r>
            <a:r>
              <a:rPr lang="en-US" dirty="0"/>
              <a:t> </a:t>
            </a:r>
            <a:r>
              <a:rPr lang="en-US" dirty="0" err="1"/>
              <a:t>posibili</a:t>
            </a:r>
            <a:r>
              <a:rPr lang="en-US" dirty="0"/>
              <a:t> din </a:t>
            </a:r>
            <a:r>
              <a:rPr lang="en-US" dirty="0" err="1"/>
              <a:t>toate</a:t>
            </a:r>
            <a:r>
              <a:rPr lang="en-US" dirty="0"/>
              <a:t> </a:t>
            </a:r>
            <a:r>
              <a:rPr lang="en-US" dirty="0" err="1"/>
              <a:t>paginile</a:t>
            </a:r>
            <a:r>
              <a:rPr lang="en-US" dirty="0"/>
              <a:t> de view ale </a:t>
            </a:r>
            <a:r>
              <a:rPr lang="en-US" dirty="0" err="1"/>
              <a:t>aplicatiei</a:t>
            </a:r>
            <a:r>
              <a:rPr lang="en-US" dirty="0"/>
              <a:t>. Evident, </a:t>
            </a:r>
            <a:r>
              <a:rPr lang="en-US" dirty="0" err="1"/>
              <a:t>unele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acestea</a:t>
            </a:r>
            <a:r>
              <a:rPr lang="en-US" dirty="0"/>
              <a:t> (</a:t>
            </a:r>
            <a:r>
              <a:rPr lang="en-US" dirty="0" err="1"/>
              <a:t>cele</a:t>
            </a:r>
            <a:r>
              <a:rPr lang="en-US" dirty="0"/>
              <a:t> </a:t>
            </a:r>
            <a:r>
              <a:rPr lang="en-US" dirty="0" err="1"/>
              <a:t>netransmise</a:t>
            </a:r>
            <a:r>
              <a:rPr lang="en-US" dirty="0"/>
              <a:t>) </a:t>
            </a:r>
            <a:r>
              <a:rPr lang="en-US" dirty="0" err="1"/>
              <a:t>vor</a:t>
            </a:r>
            <a:r>
              <a:rPr lang="en-US" dirty="0"/>
              <a:t> fi </a:t>
            </a:r>
            <a:r>
              <a:rPr lang="en-US" dirty="0" err="1"/>
              <a:t>nule</a:t>
            </a:r>
            <a:r>
              <a:rPr lang="en-US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/>
              <a:t>Daca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cazul</a:t>
            </a:r>
            <a:r>
              <a:rPr lang="en-US" dirty="0"/>
              <a:t> (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apeluri</a:t>
            </a:r>
            <a:r>
              <a:rPr lang="en-US" dirty="0"/>
              <a:t> </a:t>
            </a:r>
            <a:r>
              <a:rPr lang="en-US" dirty="0" err="1"/>
              <a:t>stateful</a:t>
            </a:r>
            <a:r>
              <a:rPr lang="en-US" dirty="0"/>
              <a:t>), se </a:t>
            </a:r>
            <a:r>
              <a:rPr lang="en-US" dirty="0" err="1"/>
              <a:t>extrag</a:t>
            </a:r>
            <a:r>
              <a:rPr lang="en-US" dirty="0"/>
              <a:t> din </a:t>
            </a:r>
            <a:r>
              <a:rPr lang="en-US" dirty="0" err="1"/>
              <a:t>obiectele</a:t>
            </a:r>
            <a:r>
              <a:rPr lang="en-US" dirty="0"/>
              <a:t> session </a:t>
            </a:r>
            <a:r>
              <a:rPr lang="en-US" dirty="0" err="1"/>
              <a:t>si</a:t>
            </a:r>
            <a:r>
              <a:rPr lang="en-US" dirty="0"/>
              <a:t> / </a:t>
            </a:r>
            <a:r>
              <a:rPr lang="en-US" dirty="0" err="1"/>
              <a:t>sau</a:t>
            </a:r>
            <a:r>
              <a:rPr lang="en-US" dirty="0"/>
              <a:t> application (</a:t>
            </a:r>
            <a:r>
              <a:rPr lang="en-US" dirty="0" err="1">
                <a:solidFill>
                  <a:srgbClr val="FF0000"/>
                </a:solidFill>
              </a:rPr>
              <a:t>vom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reveni</a:t>
            </a:r>
            <a:r>
              <a:rPr lang="en-US" dirty="0"/>
              <a:t>) </a:t>
            </a:r>
            <a:r>
              <a:rPr lang="en-US" dirty="0" err="1"/>
              <a:t>obiecte</a:t>
            </a:r>
            <a:r>
              <a:rPr lang="en-US" dirty="0"/>
              <a:t> create in </a:t>
            </a:r>
            <a:r>
              <a:rPr lang="en-US" dirty="0" err="1"/>
              <a:t>apelurile</a:t>
            </a:r>
            <a:r>
              <a:rPr lang="en-US" dirty="0"/>
              <a:t> </a:t>
            </a:r>
            <a:r>
              <a:rPr lang="en-US" dirty="0" err="1"/>
              <a:t>precedente</a:t>
            </a:r>
            <a:r>
              <a:rPr lang="en-US" dirty="0"/>
              <a:t> ale </a:t>
            </a:r>
            <a:r>
              <a:rPr lang="en-US" dirty="0" err="1"/>
              <a:t>aplicatiei</a:t>
            </a:r>
            <a:r>
              <a:rPr lang="en-US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/>
              <a:t>Plecand</a:t>
            </a:r>
            <a:r>
              <a:rPr lang="en-US" dirty="0"/>
              <a:t> de la request, se </a:t>
            </a:r>
            <a:r>
              <a:rPr lang="en-US" dirty="0" err="1"/>
              <a:t>construiesc</a:t>
            </a:r>
            <a:r>
              <a:rPr lang="en-US" dirty="0"/>
              <a:t> </a:t>
            </a:r>
            <a:r>
              <a:rPr lang="en-US" dirty="0" err="1"/>
              <a:t>obiecte</a:t>
            </a:r>
            <a:r>
              <a:rPr lang="en-US" dirty="0"/>
              <a:t> </a:t>
            </a:r>
            <a:r>
              <a:rPr lang="en-US" dirty="0" err="1"/>
              <a:t>RequestDispatcher</a:t>
            </a:r>
            <a:r>
              <a:rPr lang="en-US" dirty="0"/>
              <a:t> </a:t>
            </a:r>
            <a:r>
              <a:rPr lang="en-US" dirty="0" err="1"/>
              <a:t>catre</a:t>
            </a:r>
            <a:r>
              <a:rPr lang="en-US" dirty="0"/>
              <a:t> </a:t>
            </a:r>
            <a:r>
              <a:rPr lang="en-US" dirty="0" err="1"/>
              <a:t>toate</a:t>
            </a:r>
            <a:r>
              <a:rPr lang="en-US" dirty="0"/>
              <a:t> </a:t>
            </a:r>
            <a:r>
              <a:rPr lang="en-US" dirty="0" err="1"/>
              <a:t>resursele</a:t>
            </a:r>
            <a:r>
              <a:rPr lang="en-US" dirty="0"/>
              <a:t> web </a:t>
            </a:r>
            <a:r>
              <a:rPr lang="en-US" dirty="0" err="1"/>
              <a:t>tinte</a:t>
            </a:r>
            <a:r>
              <a:rPr lang="en-US" dirty="0"/>
              <a:t> ale </a:t>
            </a:r>
            <a:r>
              <a:rPr lang="en-US" dirty="0" err="1"/>
              <a:t>dispecerizarii</a:t>
            </a:r>
            <a:r>
              <a:rPr lang="en-US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/>
              <a:t>Daca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cazul</a:t>
            </a:r>
            <a:r>
              <a:rPr lang="en-US" dirty="0"/>
              <a:t>, se </a:t>
            </a:r>
            <a:r>
              <a:rPr lang="en-US" dirty="0" err="1"/>
              <a:t>fac</a:t>
            </a:r>
            <a:r>
              <a:rPr lang="en-US" dirty="0"/>
              <a:t> </a:t>
            </a:r>
            <a:r>
              <a:rPr lang="en-US" dirty="0" err="1"/>
              <a:t>actiuni</a:t>
            </a:r>
            <a:r>
              <a:rPr lang="en-US" dirty="0"/>
              <a:t> </a:t>
            </a:r>
            <a:r>
              <a:rPr lang="en-US" dirty="0" err="1"/>
              <a:t>premergatoare</a:t>
            </a:r>
            <a:r>
              <a:rPr lang="en-US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/>
              <a:t>Metoda</a:t>
            </a:r>
            <a:r>
              <a:rPr lang="en-US" dirty="0"/>
              <a:t> </a:t>
            </a:r>
            <a:r>
              <a:rPr lang="en-US" dirty="0" err="1"/>
              <a:t>doGet</a:t>
            </a:r>
            <a:r>
              <a:rPr lang="en-US" dirty="0"/>
              <a:t> / </a:t>
            </a:r>
            <a:r>
              <a:rPr lang="en-US" dirty="0" err="1"/>
              <a:t>doPost</a:t>
            </a:r>
            <a:r>
              <a:rPr lang="en-US" dirty="0"/>
              <a:t> se </a:t>
            </a:r>
            <a:r>
              <a:rPr lang="en-US" dirty="0" err="1"/>
              <a:t>incheie</a:t>
            </a:r>
            <a:r>
              <a:rPr lang="en-US" dirty="0"/>
              <a:t>  cu o </a:t>
            </a:r>
            <a:r>
              <a:rPr lang="en-US" dirty="0" err="1"/>
              <a:t>secventa</a:t>
            </a:r>
            <a:r>
              <a:rPr lang="en-US" dirty="0"/>
              <a:t> de </a:t>
            </a:r>
            <a:r>
              <a:rPr lang="en-US" dirty="0" err="1"/>
              <a:t>constructii</a:t>
            </a:r>
            <a:r>
              <a:rPr lang="en-US" dirty="0"/>
              <a:t> if / else,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ramura</a:t>
            </a:r>
            <a:r>
              <a:rPr lang="en-US" dirty="0"/>
              <a:t> </a:t>
            </a:r>
            <a:r>
              <a:rPr lang="en-US" dirty="0" err="1"/>
              <a:t>trebuind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aiba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</a:t>
            </a:r>
            <a:r>
              <a:rPr lang="en-US" dirty="0" err="1"/>
              <a:t>ultima</a:t>
            </a:r>
            <a:r>
              <a:rPr lang="en-US" dirty="0"/>
              <a:t> </a:t>
            </a:r>
            <a:r>
              <a:rPr lang="en-US" dirty="0" err="1"/>
              <a:t>instructiune</a:t>
            </a:r>
            <a:r>
              <a:rPr lang="en-US" dirty="0"/>
              <a:t> un forward(request, response) </a:t>
            </a:r>
            <a:r>
              <a:rPr lang="en-US" dirty="0" err="1"/>
              <a:t>invocat</a:t>
            </a:r>
            <a:r>
              <a:rPr lang="en-US" dirty="0"/>
              <a:t> de un </a:t>
            </a:r>
            <a:r>
              <a:rPr lang="en-US" dirty="0" err="1"/>
              <a:t>obiect</a:t>
            </a:r>
            <a:r>
              <a:rPr lang="en-US" dirty="0"/>
              <a:t> </a:t>
            </a:r>
            <a:r>
              <a:rPr lang="en-US" dirty="0" err="1"/>
              <a:t>RequestDispatcher</a:t>
            </a:r>
            <a:r>
              <a:rPr lang="en-US" dirty="0"/>
              <a:t>.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succesiune</a:t>
            </a:r>
            <a:r>
              <a:rPr lang="en-US" dirty="0"/>
              <a:t> </a:t>
            </a:r>
            <a:r>
              <a:rPr lang="en-US" b="1" dirty="0"/>
              <a:t>if - - - else if - - -</a:t>
            </a:r>
            <a:r>
              <a:rPr lang="en-US" dirty="0"/>
              <a:t>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aiba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o </a:t>
            </a:r>
            <a:r>
              <a:rPr lang="en-US" dirty="0" err="1"/>
              <a:t>ultima</a:t>
            </a:r>
            <a:r>
              <a:rPr lang="en-US" dirty="0"/>
              <a:t> </a:t>
            </a:r>
            <a:r>
              <a:rPr lang="en-US" dirty="0" err="1"/>
              <a:t>constructie</a:t>
            </a:r>
            <a:r>
              <a:rPr lang="en-US" dirty="0"/>
              <a:t> </a:t>
            </a:r>
            <a:r>
              <a:rPr lang="en-US" b="1" dirty="0"/>
              <a:t>else - - -</a:t>
            </a:r>
            <a:r>
              <a:rPr lang="en-US" dirty="0"/>
              <a:t>. </a:t>
            </a:r>
            <a:r>
              <a:rPr lang="en-US" dirty="0" err="1"/>
              <a:t>Designerul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urmari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</a:t>
            </a:r>
            <a:r>
              <a:rPr lang="en-US" dirty="0" err="1"/>
              <a:t>conditiile</a:t>
            </a:r>
            <a:r>
              <a:rPr lang="en-US" dirty="0"/>
              <a:t> din </a:t>
            </a:r>
            <a:r>
              <a:rPr lang="en-US" dirty="0" err="1"/>
              <a:t>succesiunea</a:t>
            </a:r>
            <a:r>
              <a:rPr lang="en-US" dirty="0"/>
              <a:t> de if-</a:t>
            </a:r>
            <a:r>
              <a:rPr lang="en-US" dirty="0" err="1"/>
              <a:t>uri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se </a:t>
            </a:r>
            <a:r>
              <a:rPr lang="en-US" dirty="0" err="1"/>
              <a:t>excluda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alta.</a:t>
            </a:r>
            <a:endParaRPr lang="en-US" dirty="0"/>
          </a:p>
          <a:p>
            <a:endParaRPr lang="en-US" dirty="0"/>
          </a:p>
          <a:p>
            <a:pPr lvl="3"/>
            <a:r>
              <a:rPr lang="en-US" b="1" dirty="0" err="1">
                <a:solidFill>
                  <a:srgbClr val="FF0000"/>
                </a:solidFill>
              </a:rPr>
              <a:t>Iata</a:t>
            </a:r>
            <a:r>
              <a:rPr lang="en-US" b="1" dirty="0">
                <a:solidFill>
                  <a:srgbClr val="FF0000"/>
                </a:solidFill>
              </a:rPr>
              <a:t>, </a:t>
            </a:r>
            <a:r>
              <a:rPr lang="en-US" b="1" dirty="0" err="1">
                <a:solidFill>
                  <a:srgbClr val="FF0000"/>
                </a:solidFill>
              </a:rPr>
              <a:t>spre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exemplu</a:t>
            </a:r>
            <a:r>
              <a:rPr lang="en-US" b="1" dirty="0">
                <a:solidFill>
                  <a:srgbClr val="FF0000"/>
                </a:solidFill>
              </a:rPr>
              <a:t>, </a:t>
            </a:r>
            <a:r>
              <a:rPr lang="en-US" b="1" dirty="0" err="1">
                <a:solidFill>
                  <a:srgbClr val="FF0000"/>
                </a:solidFill>
              </a:rPr>
              <a:t>sursa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6servletDispecer</a:t>
            </a:r>
            <a:r>
              <a:rPr lang="en-US" b="1" dirty="0">
                <a:solidFill>
                  <a:srgbClr val="FF0000"/>
                </a:solidFill>
              </a:rPr>
              <a:t>/</a:t>
            </a:r>
            <a:r>
              <a:rPr lang="en-US" b="1" dirty="0" err="1">
                <a:solidFill>
                  <a:srgbClr val="FF0000"/>
                </a:solidFill>
              </a:rPr>
              <a:t>DispecerServlet.java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86692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26.10.2025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BFM_Servlets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28</a:t>
            </a:fld>
            <a:r>
              <a:rPr lang="en-US" dirty="0"/>
              <a:t>_/_44_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Realizarea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stateful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in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aplicatii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web (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bazate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servlet) 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366925"/>
            <a:ext cx="9144000" cy="6278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/>
              <a:t>A</a:t>
            </a:r>
            <a:r>
              <a:rPr lang="ro-RO" b="1" dirty="0"/>
              <a:t>sigurarea comunicării Web </a:t>
            </a:r>
            <a:r>
              <a:rPr lang="ro-RO" b="1" i="1" dirty="0"/>
              <a:t>stateful</a:t>
            </a:r>
            <a:r>
              <a:rPr lang="en-US" dirty="0"/>
              <a:t>. </a:t>
            </a:r>
            <a:r>
              <a:rPr lang="en-US" dirty="0" err="1"/>
              <a:t>Comunicarea</a:t>
            </a:r>
            <a:r>
              <a:rPr lang="en-US" dirty="0"/>
              <a:t> web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definitie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b="1" i="1" dirty="0"/>
              <a:t>stateless</a:t>
            </a:r>
            <a:r>
              <a:rPr lang="en-US" dirty="0"/>
              <a:t>. In </a:t>
            </a:r>
            <a:r>
              <a:rPr lang="en-US" dirty="0" err="1"/>
              <a:t>aplicatii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de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ori</a:t>
            </a:r>
            <a:r>
              <a:rPr lang="en-US" dirty="0"/>
              <a:t> </a:t>
            </a:r>
            <a:r>
              <a:rPr lang="en-US" dirty="0" err="1"/>
              <a:t>util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o </a:t>
            </a:r>
            <a:r>
              <a:rPr lang="en-US" dirty="0" err="1"/>
              <a:t>cerere</a:t>
            </a:r>
            <a:r>
              <a:rPr lang="en-US" dirty="0"/>
              <a:t> </a:t>
            </a:r>
            <a:r>
              <a:rPr lang="en-US" dirty="0" err="1"/>
              <a:t>sosita</a:t>
            </a:r>
            <a:r>
              <a:rPr lang="en-US" dirty="0"/>
              <a:t> la server </a:t>
            </a:r>
            <a:r>
              <a:rPr lang="en-US" dirty="0" err="1"/>
              <a:t>sa</a:t>
            </a:r>
            <a:r>
              <a:rPr lang="en-US" dirty="0"/>
              <a:t> fie </a:t>
            </a:r>
            <a:r>
              <a:rPr lang="en-US" dirty="0" err="1"/>
              <a:t>tratata</a:t>
            </a:r>
            <a:r>
              <a:rPr lang="en-US" dirty="0"/>
              <a:t> </a:t>
            </a:r>
            <a:r>
              <a:rPr lang="en-US" sz="2400" b="1" dirty="0" err="1"/>
              <a:t>si</a:t>
            </a:r>
            <a:r>
              <a:rPr lang="en-US" dirty="0"/>
              <a:t> in </a:t>
            </a:r>
            <a:r>
              <a:rPr lang="en-US" dirty="0" err="1"/>
              <a:t>functie</a:t>
            </a:r>
            <a:r>
              <a:rPr lang="en-US" dirty="0"/>
              <a:t> de </a:t>
            </a:r>
            <a:r>
              <a:rPr lang="en-US" dirty="0" err="1"/>
              <a:t>raspunsurile</a:t>
            </a:r>
            <a:r>
              <a:rPr lang="en-US" dirty="0"/>
              <a:t> la </a:t>
            </a:r>
            <a:r>
              <a:rPr lang="en-US" dirty="0" err="1"/>
              <a:t>cererile</a:t>
            </a:r>
            <a:r>
              <a:rPr lang="en-US" dirty="0"/>
              <a:t> </a:t>
            </a:r>
            <a:r>
              <a:rPr lang="en-US" dirty="0" err="1"/>
              <a:t>precedente</a:t>
            </a:r>
            <a:r>
              <a:rPr lang="en-US" dirty="0"/>
              <a:t> </a:t>
            </a:r>
            <a:r>
              <a:rPr lang="en-US" dirty="0" err="1"/>
              <a:t>sosite</a:t>
            </a:r>
            <a:r>
              <a:rPr lang="en-US" dirty="0"/>
              <a:t> de la </a:t>
            </a:r>
            <a:r>
              <a:rPr lang="en-US" dirty="0" err="1"/>
              <a:t>acelasi</a:t>
            </a:r>
            <a:r>
              <a:rPr lang="en-US" dirty="0"/>
              <a:t> client,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pur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simplu</a:t>
            </a:r>
            <a:r>
              <a:rPr lang="en-US" dirty="0"/>
              <a:t> </a:t>
            </a:r>
            <a:r>
              <a:rPr lang="en-US" dirty="0" err="1"/>
              <a:t>raspunsuri</a:t>
            </a:r>
            <a:r>
              <a:rPr lang="en-US" dirty="0"/>
              <a:t> </a:t>
            </a:r>
            <a:r>
              <a:rPr lang="en-US" dirty="0" err="1"/>
              <a:t>precedente</a:t>
            </a:r>
            <a:r>
              <a:rPr lang="en-US" dirty="0"/>
              <a:t>, </a:t>
            </a:r>
            <a:r>
              <a:rPr lang="en-US" dirty="0" err="1"/>
              <a:t>indiferent</a:t>
            </a:r>
            <a:r>
              <a:rPr lang="en-US" dirty="0"/>
              <a:t> de client. </a:t>
            </a:r>
            <a:r>
              <a:rPr lang="en-US" dirty="0" err="1"/>
              <a:t>Asta</a:t>
            </a:r>
            <a:r>
              <a:rPr lang="en-US" dirty="0"/>
              <a:t> </a:t>
            </a:r>
            <a:r>
              <a:rPr lang="en-US" dirty="0" err="1"/>
              <a:t>presupune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la server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existe</a:t>
            </a:r>
            <a:r>
              <a:rPr lang="en-US" dirty="0"/>
              <a:t> un </a:t>
            </a:r>
            <a:r>
              <a:rPr lang="en-US" b="1" dirty="0" err="1"/>
              <a:t>istoric</a:t>
            </a:r>
            <a:r>
              <a:rPr lang="en-US" b="1" dirty="0"/>
              <a:t> </a:t>
            </a:r>
            <a:r>
              <a:rPr lang="en-US" b="1" dirty="0" err="1"/>
              <a:t>sumar</a:t>
            </a:r>
            <a:r>
              <a:rPr lang="en-US" dirty="0"/>
              <a:t> al </a:t>
            </a:r>
            <a:r>
              <a:rPr lang="en-US" dirty="0" err="1"/>
              <a:t>prelucrarilor</a:t>
            </a:r>
            <a:r>
              <a:rPr lang="en-US" dirty="0"/>
              <a:t> </a:t>
            </a:r>
            <a:r>
              <a:rPr lang="en-US" dirty="0" err="1"/>
              <a:t>pana</a:t>
            </a:r>
            <a:r>
              <a:rPr lang="en-US" dirty="0"/>
              <a:t> la </a:t>
            </a:r>
            <a:r>
              <a:rPr lang="en-US" dirty="0" err="1"/>
              <a:t>momentul</a:t>
            </a:r>
            <a:r>
              <a:rPr lang="en-US" dirty="0"/>
              <a:t> </a:t>
            </a:r>
            <a:r>
              <a:rPr lang="en-US" dirty="0" err="1"/>
              <a:t>curent</a:t>
            </a:r>
            <a:r>
              <a:rPr lang="en-US" dirty="0"/>
              <a:t>, eventual un </a:t>
            </a:r>
            <a:r>
              <a:rPr lang="en-US" dirty="0" err="1"/>
              <a:t>istoric</a:t>
            </a:r>
            <a:r>
              <a:rPr lang="en-US" dirty="0"/>
              <a:t> in </a:t>
            </a:r>
            <a:r>
              <a:rPr lang="en-US" dirty="0" err="1"/>
              <a:t>cadrul</a:t>
            </a:r>
            <a:r>
              <a:rPr lang="en-US" dirty="0"/>
              <a:t> </a:t>
            </a:r>
            <a:r>
              <a:rPr lang="en-US" dirty="0" err="1"/>
              <a:t>sesiunii</a:t>
            </a:r>
            <a:r>
              <a:rPr lang="en-US" dirty="0"/>
              <a:t> </a:t>
            </a:r>
            <a:r>
              <a:rPr lang="en-US" dirty="0" err="1"/>
              <a:t>curente</a:t>
            </a:r>
            <a:r>
              <a:rPr lang="en-US" dirty="0"/>
              <a:t> cu un client. </a:t>
            </a:r>
            <a:r>
              <a:rPr lang="en-US" dirty="0" err="1"/>
              <a:t>Printre</a:t>
            </a:r>
            <a:r>
              <a:rPr lang="en-US" dirty="0"/>
              <a:t> </a:t>
            </a:r>
            <a:r>
              <a:rPr lang="en-US" dirty="0" err="1"/>
              <a:t>solutii</a:t>
            </a:r>
            <a:r>
              <a:rPr lang="en-US" dirty="0"/>
              <a:t>, </a:t>
            </a:r>
            <a:r>
              <a:rPr lang="en-US" dirty="0" err="1"/>
              <a:t>pretabile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la </a:t>
            </a:r>
            <a:r>
              <a:rPr lang="en-US" dirty="0" err="1"/>
              <a:t>aplicatii</a:t>
            </a:r>
            <a:r>
              <a:rPr lang="en-US" dirty="0"/>
              <a:t> servlet, </a:t>
            </a:r>
            <a:r>
              <a:rPr lang="en-US" dirty="0" err="1"/>
              <a:t>avem</a:t>
            </a:r>
            <a:r>
              <a:rPr lang="en-US" dirty="0"/>
              <a:t>  5: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b="1" dirty="0"/>
              <a:t>Solutia </a:t>
            </a:r>
            <a:r>
              <a:rPr lang="en-US" b="1" dirty="0" err="1"/>
              <a:t>artizanala</a:t>
            </a:r>
            <a:r>
              <a:rPr lang="en-US" dirty="0"/>
              <a:t> - </a:t>
            </a:r>
            <a:r>
              <a:rPr lang="en-US" dirty="0" err="1"/>
              <a:t>depunerea</a:t>
            </a:r>
            <a:r>
              <a:rPr lang="en-US" dirty="0"/>
              <a:t> de </a:t>
            </a:r>
            <a:r>
              <a:rPr lang="en-US" dirty="0" err="1"/>
              <a:t>informatii</a:t>
            </a:r>
            <a:r>
              <a:rPr lang="en-US" dirty="0"/>
              <a:t> la server in </a:t>
            </a:r>
            <a:r>
              <a:rPr lang="en-US" dirty="0" err="1"/>
              <a:t>fisiere</a:t>
            </a:r>
            <a:r>
              <a:rPr lang="en-US" dirty="0"/>
              <a:t> </a:t>
            </a:r>
            <a:r>
              <a:rPr lang="en-US" dirty="0" err="1"/>
              <a:t>jurnal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citirea</a:t>
            </a:r>
            <a:r>
              <a:rPr lang="en-US" dirty="0"/>
              <a:t> </a:t>
            </a:r>
            <a:r>
              <a:rPr lang="en-US" dirty="0" err="1"/>
              <a:t>acestora</a:t>
            </a:r>
            <a:r>
              <a:rPr lang="en-US" dirty="0"/>
              <a:t> la </a:t>
            </a:r>
            <a:r>
              <a:rPr lang="en-US" dirty="0" err="1"/>
              <a:t>urmatoarea</a:t>
            </a:r>
            <a:r>
              <a:rPr lang="en-US" dirty="0"/>
              <a:t> </a:t>
            </a:r>
            <a:r>
              <a:rPr lang="en-US" dirty="0" err="1"/>
              <a:t>cerere</a:t>
            </a:r>
            <a:r>
              <a:rPr lang="en-US" dirty="0"/>
              <a:t>. </a:t>
            </a:r>
            <a:r>
              <a:rPr lang="en-US" dirty="0" err="1"/>
              <a:t>Continutul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decis</a:t>
            </a:r>
            <a:r>
              <a:rPr lang="en-US" dirty="0"/>
              <a:t> de designer.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b="1" dirty="0" err="1"/>
              <a:t>Utilizarea</a:t>
            </a:r>
            <a:r>
              <a:rPr lang="en-US" b="1" dirty="0"/>
              <a:t> </a:t>
            </a:r>
            <a:r>
              <a:rPr lang="en-US" b="1" dirty="0" err="1"/>
              <a:t>tagurilor</a:t>
            </a:r>
            <a:r>
              <a:rPr lang="en-US" b="1" dirty="0"/>
              <a:t> input hidden</a:t>
            </a:r>
            <a:r>
              <a:rPr lang="en-US" dirty="0"/>
              <a:t> – </a:t>
            </a:r>
            <a:r>
              <a:rPr lang="en-US" dirty="0" err="1"/>
              <a:t>prin</a:t>
            </a:r>
            <a:r>
              <a:rPr lang="en-US" dirty="0"/>
              <a:t> care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cerere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contine</a:t>
            </a:r>
            <a:r>
              <a:rPr lang="en-US" dirty="0"/>
              <a:t> in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raspunsul</a:t>
            </a:r>
            <a:r>
              <a:rPr lang="en-US" dirty="0"/>
              <a:t> la </a:t>
            </a:r>
            <a:r>
              <a:rPr lang="en-US" dirty="0" err="1"/>
              <a:t>cererea</a:t>
            </a:r>
            <a:r>
              <a:rPr lang="en-US" dirty="0"/>
              <a:t> </a:t>
            </a:r>
            <a:r>
              <a:rPr lang="en-US" dirty="0" err="1"/>
              <a:t>precedenta</a:t>
            </a:r>
            <a:r>
              <a:rPr lang="en-US" dirty="0"/>
              <a:t>. </a:t>
            </a:r>
            <a:r>
              <a:rPr lang="en-US" dirty="0" err="1"/>
              <a:t>Pagina</a:t>
            </a:r>
            <a:r>
              <a:rPr lang="en-US" dirty="0"/>
              <a:t> de </a:t>
            </a:r>
            <a:r>
              <a:rPr lang="en-US" dirty="0" err="1"/>
              <a:t>raspuns</a:t>
            </a:r>
            <a:r>
              <a:rPr lang="en-US" dirty="0"/>
              <a:t> de la server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contine</a:t>
            </a:r>
            <a:r>
              <a:rPr lang="en-US" dirty="0"/>
              <a:t> </a:t>
            </a:r>
            <a:r>
              <a:rPr lang="en-US" dirty="0" err="1"/>
              <a:t>informatii</a:t>
            </a:r>
            <a:r>
              <a:rPr lang="en-US" dirty="0"/>
              <a:t> "</a:t>
            </a:r>
            <a:r>
              <a:rPr lang="ro-RO" dirty="0"/>
              <a:t>ascunse”</a:t>
            </a:r>
            <a:r>
              <a:rPr lang="en-US" dirty="0"/>
              <a:t>, </a:t>
            </a:r>
            <a:r>
              <a:rPr lang="en-US" dirty="0" err="1"/>
              <a:t>pe</a:t>
            </a:r>
            <a:r>
              <a:rPr lang="en-US" dirty="0"/>
              <a:t> post de </a:t>
            </a:r>
            <a:r>
              <a:rPr lang="en-US" dirty="0" err="1"/>
              <a:t>rezultat</a:t>
            </a:r>
            <a:r>
              <a:rPr lang="en-US" dirty="0"/>
              <a:t> al </a:t>
            </a:r>
            <a:r>
              <a:rPr lang="en-US" dirty="0" err="1"/>
              <a:t>cererii</a:t>
            </a:r>
            <a:r>
              <a:rPr lang="en-US" dirty="0"/>
              <a:t>, care </a:t>
            </a:r>
            <a:r>
              <a:rPr lang="en-US" dirty="0" err="1"/>
              <a:t>merg</a:t>
            </a:r>
            <a:r>
              <a:rPr lang="en-US" dirty="0"/>
              <a:t> la client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retrimise</a:t>
            </a:r>
            <a:r>
              <a:rPr lang="en-US" dirty="0"/>
              <a:t> la </a:t>
            </a:r>
            <a:r>
              <a:rPr lang="en-US" dirty="0" err="1"/>
              <a:t>urmatoarea</a:t>
            </a:r>
            <a:r>
              <a:rPr lang="en-US" dirty="0"/>
              <a:t> </a:t>
            </a:r>
            <a:r>
              <a:rPr lang="en-US" dirty="0" err="1"/>
              <a:t>cerere</a:t>
            </a:r>
            <a:r>
              <a:rPr lang="ro-RO" dirty="0"/>
              <a:t>:</a:t>
            </a:r>
            <a:endParaRPr lang="en-US" dirty="0"/>
          </a:p>
          <a:p>
            <a:pPr marL="800100" lvl="1" indent="-3429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o-RO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&lt;html - - - &lt;body - - - &lt;form - - -</a:t>
            </a:r>
          </a:p>
          <a:p>
            <a:pPr marL="800100" lvl="1" indent="-3429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lang="ro-RO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&lt;input type=”h</a:t>
            </a:r>
            <a:r>
              <a:rPr lang="en-US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ro-RO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dden” name=”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___</a:t>
            </a:r>
            <a:r>
              <a:rPr lang="ro-RO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” value=”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___</a:t>
            </a:r>
            <a:r>
              <a:rPr lang="ro-RO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”&gt;</a:t>
            </a:r>
            <a:endParaRPr lang="en-US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 marL="800100" lvl="1" indent="-3429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- - - &lt;/form&gt; - - - &lt;/body&gt; - - - &lt;/html&gt;</a:t>
            </a:r>
            <a:endParaRPr lang="en-US" dirty="0"/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b="1" dirty="0" err="1"/>
              <a:t>Intretinerea</a:t>
            </a:r>
            <a:r>
              <a:rPr lang="en-US" b="1" dirty="0"/>
              <a:t> </a:t>
            </a:r>
            <a:r>
              <a:rPr lang="en-US" b="1" dirty="0" err="1"/>
              <a:t>unui</a:t>
            </a:r>
            <a:r>
              <a:rPr lang="en-US" b="1" dirty="0"/>
              <a:t> </a:t>
            </a:r>
            <a:r>
              <a:rPr lang="en-US" b="1" dirty="0" err="1"/>
              <a:t>mecanism</a:t>
            </a:r>
            <a:r>
              <a:rPr lang="en-US" b="1" dirty="0"/>
              <a:t> de cookies</a:t>
            </a:r>
            <a:r>
              <a:rPr lang="en-US" dirty="0"/>
              <a:t> care </a:t>
            </a:r>
            <a:r>
              <a:rPr lang="en-US" dirty="0" err="1"/>
              <a:t>leaga</a:t>
            </a:r>
            <a:r>
              <a:rPr lang="en-US" dirty="0"/>
              <a:t> </a:t>
            </a:r>
            <a:r>
              <a:rPr lang="en-US" dirty="0" err="1"/>
              <a:t>serverul</a:t>
            </a:r>
            <a:r>
              <a:rPr lang="en-US" dirty="0"/>
              <a:t> de </a:t>
            </a:r>
            <a:r>
              <a:rPr lang="en-US" dirty="0" err="1"/>
              <a:t>fiecare</a:t>
            </a:r>
            <a:r>
              <a:rPr lang="en-US" dirty="0"/>
              <a:t> browser / program client </a:t>
            </a:r>
            <a:r>
              <a:rPr lang="en-US" dirty="0" err="1"/>
              <a:t>apelator</a:t>
            </a:r>
            <a:r>
              <a:rPr lang="en-US" dirty="0"/>
              <a:t> </a:t>
            </a:r>
            <a:r>
              <a:rPr lang="en-US" dirty="0" err="1"/>
              <a:t>memorand</a:t>
            </a:r>
            <a:r>
              <a:rPr lang="en-US" dirty="0"/>
              <a:t> </a:t>
            </a:r>
            <a:r>
              <a:rPr lang="en-US" dirty="0" err="1"/>
              <a:t>astfel</a:t>
            </a:r>
            <a:r>
              <a:rPr lang="en-US" dirty="0"/>
              <a:t> </a:t>
            </a:r>
            <a:r>
              <a:rPr lang="en-US" dirty="0" err="1"/>
              <a:t>istoricul</a:t>
            </a:r>
            <a:r>
              <a:rPr lang="en-US" dirty="0"/>
              <a:t> </a:t>
            </a:r>
            <a:r>
              <a:rPr lang="en-US" dirty="0" err="1"/>
              <a:t>comunicatiilor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 </a:t>
            </a:r>
            <a:r>
              <a:rPr lang="en-US" dirty="0" err="1"/>
              <a:t>cei</a:t>
            </a:r>
            <a:r>
              <a:rPr lang="en-US" dirty="0"/>
              <a:t> </a:t>
            </a:r>
            <a:r>
              <a:rPr lang="en-US" dirty="0" err="1"/>
              <a:t>doi</a:t>
            </a:r>
            <a:r>
              <a:rPr lang="en-US" dirty="0"/>
              <a:t>..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b="1" dirty="0" err="1"/>
              <a:t>Utilizarea</a:t>
            </a:r>
            <a:r>
              <a:rPr lang="en-US" b="1" dirty="0"/>
              <a:t> </a:t>
            </a:r>
            <a:r>
              <a:rPr lang="en-US" b="1" dirty="0" err="1"/>
              <a:t>unui</a:t>
            </a:r>
            <a:r>
              <a:rPr lang="en-US" b="1" dirty="0"/>
              <a:t> </a:t>
            </a:r>
            <a:r>
              <a:rPr lang="en-US" b="1" dirty="0" err="1"/>
              <a:t>obiect</a:t>
            </a:r>
            <a:r>
              <a:rPr lang="en-US" b="1" dirty="0"/>
              <a:t> Session</a:t>
            </a:r>
            <a:r>
              <a:rPr lang="en-US" dirty="0"/>
              <a:t> – care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memora</a:t>
            </a:r>
            <a:r>
              <a:rPr lang="en-US" dirty="0"/>
              <a:t> la server </a:t>
            </a:r>
            <a:r>
              <a:rPr lang="en-US" dirty="0" err="1"/>
              <a:t>istoricul</a:t>
            </a:r>
            <a:r>
              <a:rPr lang="en-US" dirty="0"/>
              <a:t> </a:t>
            </a:r>
            <a:r>
              <a:rPr lang="en-US" dirty="0" err="1"/>
              <a:t>cererilor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raspunsurilor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durata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sesiuni</a:t>
            </a:r>
            <a:r>
              <a:rPr lang="en-US" dirty="0"/>
              <a:t>.</a:t>
            </a:r>
            <a:endParaRPr lang="en-US" b="1" dirty="0"/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b="1" dirty="0" err="1"/>
              <a:t>Utilizarea</a:t>
            </a:r>
            <a:r>
              <a:rPr lang="en-US" b="1" dirty="0"/>
              <a:t> </a:t>
            </a:r>
            <a:r>
              <a:rPr lang="en-US" b="1" dirty="0" err="1"/>
              <a:t>unui</a:t>
            </a:r>
            <a:r>
              <a:rPr lang="en-US" b="1" dirty="0"/>
              <a:t> </a:t>
            </a:r>
            <a:r>
              <a:rPr lang="en-US" b="1" dirty="0" err="1"/>
              <a:t>obiect</a:t>
            </a:r>
            <a:r>
              <a:rPr lang="en-US" b="1" dirty="0"/>
              <a:t> </a:t>
            </a:r>
            <a:r>
              <a:rPr lang="en-US" b="1" dirty="0" err="1"/>
              <a:t>ServletContext</a:t>
            </a:r>
            <a:r>
              <a:rPr lang="en-US" b="1" dirty="0"/>
              <a:t> (Application)</a:t>
            </a:r>
            <a:r>
              <a:rPr lang="en-US" dirty="0"/>
              <a:t> – care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retine</a:t>
            </a:r>
            <a:r>
              <a:rPr lang="en-US" dirty="0"/>
              <a:t> </a:t>
            </a:r>
            <a:r>
              <a:rPr lang="en-US" dirty="0" err="1"/>
              <a:t>sumarul</a:t>
            </a:r>
            <a:r>
              <a:rPr lang="en-US" dirty="0"/>
              <a:t> </a:t>
            </a:r>
            <a:r>
              <a:rPr lang="en-US" dirty="0" err="1"/>
              <a:t>istoric</a:t>
            </a:r>
            <a:r>
              <a:rPr lang="en-US" dirty="0"/>
              <a:t> al </a:t>
            </a:r>
            <a:r>
              <a:rPr lang="en-US" dirty="0" err="1"/>
              <a:t>tuturor</a:t>
            </a:r>
            <a:r>
              <a:rPr lang="en-US" dirty="0"/>
              <a:t> </a:t>
            </a:r>
            <a:r>
              <a:rPr lang="en-US" dirty="0" err="1"/>
              <a:t>cererilor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raspunsurilor</a:t>
            </a:r>
            <a:r>
              <a:rPr lang="en-US" dirty="0"/>
              <a:t> de la deploy-</a:t>
            </a:r>
            <a:r>
              <a:rPr lang="en-US" dirty="0" err="1"/>
              <a:t>ul</a:t>
            </a:r>
            <a:r>
              <a:rPr lang="en-US" dirty="0"/>
              <a:t> </a:t>
            </a:r>
            <a:r>
              <a:rPr lang="en-US" dirty="0" err="1"/>
              <a:t>aplicatiei</a:t>
            </a:r>
            <a:r>
              <a:rPr lang="en-US" dirty="0"/>
              <a:t>.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9999720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26.10.2025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BFM_Servlets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29</a:t>
            </a:fld>
            <a:r>
              <a:rPr lang="en-US" dirty="0"/>
              <a:t>_/_44_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Cookies </a:t>
            </a:r>
          </a:p>
        </p:txBody>
      </p:sp>
      <p:sp>
        <p:nvSpPr>
          <p:cNvPr id="2" name="Rectangle 1"/>
          <p:cNvSpPr/>
          <p:nvPr/>
        </p:nvSpPr>
        <p:spPr>
          <a:xfrm>
            <a:off x="21021" y="366713"/>
            <a:ext cx="9144000" cy="643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Co</a:t>
            </a:r>
            <a:r>
              <a:rPr lang="ro-RO" b="1" dirty="0"/>
              <a:t>okie</a:t>
            </a:r>
            <a:r>
              <a:rPr lang="en-US" dirty="0"/>
              <a:t>:</a:t>
            </a:r>
            <a:r>
              <a:rPr lang="ro-RO" dirty="0"/>
              <a:t> </a:t>
            </a:r>
            <a:r>
              <a:rPr lang="en-US" dirty="0"/>
              <a:t>un </a:t>
            </a:r>
            <a:r>
              <a:rPr lang="en-US" dirty="0" err="1"/>
              <a:t>cvintuplu</a:t>
            </a:r>
            <a:r>
              <a:rPr lang="en-US" dirty="0"/>
              <a:t> de text ASCII, </a:t>
            </a:r>
            <a:r>
              <a:rPr lang="en-US" dirty="0" err="1"/>
              <a:t>depozitat</a:t>
            </a:r>
            <a:r>
              <a:rPr lang="en-US" dirty="0"/>
              <a:t> in </a:t>
            </a:r>
            <a:r>
              <a:rPr lang="en-US" dirty="0" err="1"/>
              <a:t>zona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browser:  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lang="ro-RO" b="1" dirty="0">
                <a:latin typeface="Courier New" pitchFamily="49" charset="0"/>
                <a:cs typeface="Courier New" pitchFamily="49" charset="0"/>
              </a:rPr>
              <a:t>(nume, valoare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durata_de_viata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server, browser</a:t>
            </a:r>
            <a:r>
              <a:rPr lang="ro-RO" b="1" dirty="0">
                <a:latin typeface="Courier New" pitchFamily="49" charset="0"/>
                <a:cs typeface="Courier New" pitchFamily="49" charset="0"/>
              </a:rPr>
              <a:t>)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dirty="0" err="1">
                <a:latin typeface="Arial" pitchFamily="34" charset="0"/>
                <a:cs typeface="Arial" pitchFamily="34" charset="0"/>
              </a:rPr>
              <a:t>Nume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este</a:t>
            </a:r>
            <a:r>
              <a:rPr lang="en-US" dirty="0">
                <a:latin typeface="Arial" pitchFamily="34" charset="0"/>
                <a:cs typeface="Arial" pitchFamily="34" charset="0"/>
              </a:rPr>
              <a:t> un string,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valoare</a:t>
            </a:r>
            <a:r>
              <a:rPr lang="en-US" dirty="0">
                <a:latin typeface="Arial" pitchFamily="34" charset="0"/>
                <a:cs typeface="Arial" pitchFamily="34" charset="0"/>
              </a:rPr>
              <a:t> se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reprezinta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pe</a:t>
            </a:r>
            <a:r>
              <a:rPr lang="en-US" dirty="0">
                <a:latin typeface="Arial" pitchFamily="34" charset="0"/>
                <a:cs typeface="Arial" pitchFamily="34" charset="0"/>
              </a:rPr>
              <a:t> un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spatiu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relativ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redus</a:t>
            </a:r>
            <a:r>
              <a:rPr lang="en-US" dirty="0">
                <a:latin typeface="Arial" pitchFamily="34" charset="0"/>
                <a:cs typeface="Arial" pitchFamily="34" charset="0"/>
              </a:rPr>
              <a:t>, circa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4Ko</a:t>
            </a:r>
            <a:r>
              <a:rPr lang="en-US" dirty="0">
                <a:latin typeface="Arial" pitchFamily="34" charset="0"/>
                <a:cs typeface="Arial" pitchFamily="34" charset="0"/>
              </a:rPr>
              <a:t>. Un cookie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leaga</a:t>
            </a:r>
            <a:r>
              <a:rPr lang="en-US" dirty="0">
                <a:latin typeface="Arial" pitchFamily="34" charset="0"/>
                <a:cs typeface="Arial" pitchFamily="34" charset="0"/>
              </a:rPr>
              <a:t> un server de un browser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si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este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memorata</a:t>
            </a:r>
            <a:r>
              <a:rPr lang="en-US" dirty="0">
                <a:latin typeface="Arial" pitchFamily="34" charset="0"/>
                <a:cs typeface="Arial" pitchFamily="34" charset="0"/>
              </a:rPr>
              <a:t> in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spatiul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browserului</a:t>
            </a:r>
            <a:r>
              <a:rPr lang="en-US" dirty="0"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b="1" dirty="0" err="1">
                <a:latin typeface="Arial" pitchFamily="34" charset="0"/>
                <a:cs typeface="Arial" pitchFamily="34" charset="0"/>
              </a:rPr>
              <a:t>Actiuni</a:t>
            </a:r>
            <a:r>
              <a:rPr lang="en-US" dirty="0">
                <a:latin typeface="Arial" pitchFamily="34" charset="0"/>
                <a:cs typeface="Arial" pitchFamily="34" charset="0"/>
              </a:rPr>
              <a:t>: 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La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cerere</a:t>
            </a:r>
            <a:r>
              <a:rPr lang="en-US" dirty="0"/>
              <a:t> a </a:t>
            </a:r>
            <a:r>
              <a:rPr lang="en-US" dirty="0" err="1"/>
              <a:t>browserului</a:t>
            </a:r>
            <a:r>
              <a:rPr lang="en-US" dirty="0"/>
              <a:t> </a:t>
            </a:r>
            <a:r>
              <a:rPr lang="en-US" dirty="0" err="1"/>
              <a:t>catre</a:t>
            </a:r>
            <a:r>
              <a:rPr lang="en-US" dirty="0"/>
              <a:t> server se transmit </a:t>
            </a:r>
            <a:r>
              <a:rPr lang="en-US" dirty="0" err="1"/>
              <a:t>toate</a:t>
            </a:r>
            <a:r>
              <a:rPr lang="en-US" dirty="0"/>
              <a:t> </a:t>
            </a:r>
            <a:r>
              <a:rPr lang="en-US" dirty="0" err="1"/>
              <a:t>cooki-urile</a:t>
            </a:r>
            <a:r>
              <a:rPr lang="en-US" dirty="0"/>
              <a:t> </a:t>
            </a:r>
            <a:r>
              <a:rPr lang="en-US" dirty="0" err="1"/>
              <a:t>corespunzatoare</a:t>
            </a:r>
            <a:r>
              <a:rPr lang="en-US" dirty="0"/>
              <a:t> </a:t>
            </a:r>
            <a:r>
              <a:rPr lang="en-US" dirty="0" err="1"/>
              <a:t>perechii</a:t>
            </a:r>
            <a:r>
              <a:rPr lang="en-US" dirty="0"/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(browser, server)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La </a:t>
            </a:r>
            <a:r>
              <a:rPr lang="en-US" dirty="0" err="1"/>
              <a:t>raspunsul</a:t>
            </a:r>
            <a:r>
              <a:rPr lang="en-US" dirty="0"/>
              <a:t> </a:t>
            </a:r>
            <a:r>
              <a:rPr lang="en-US" dirty="0" err="1"/>
              <a:t>serverului</a:t>
            </a:r>
            <a:r>
              <a:rPr lang="en-US" dirty="0"/>
              <a:t> </a:t>
            </a:r>
            <a:r>
              <a:rPr lang="en-US" dirty="0" err="1"/>
              <a:t>cooki-urile</a:t>
            </a:r>
            <a:r>
              <a:rPr lang="en-US" dirty="0"/>
              <a:t> se </a:t>
            </a:r>
            <a:r>
              <a:rPr lang="en-US" dirty="0" err="1"/>
              <a:t>retrimit</a:t>
            </a:r>
            <a:r>
              <a:rPr lang="en-US" dirty="0"/>
              <a:t> </a:t>
            </a:r>
            <a:r>
              <a:rPr lang="en-US" dirty="0" err="1"/>
              <a:t>inapoi</a:t>
            </a:r>
            <a:r>
              <a:rPr lang="en-US" dirty="0"/>
              <a:t>, eventual </a:t>
            </a:r>
            <a:r>
              <a:rPr lang="en-US" dirty="0" err="1"/>
              <a:t>modificate</a:t>
            </a:r>
            <a:r>
              <a:rPr lang="en-US" dirty="0"/>
              <a:t>, </a:t>
            </a:r>
            <a:r>
              <a:rPr lang="en-US" dirty="0" err="1"/>
              <a:t>adaugate</a:t>
            </a:r>
            <a:r>
              <a:rPr lang="en-US" dirty="0"/>
              <a:t> </a:t>
            </a:r>
            <a:r>
              <a:rPr lang="en-US" dirty="0" err="1"/>
              <a:t>altele</a:t>
            </a:r>
            <a:r>
              <a:rPr lang="en-US" dirty="0"/>
              <a:t> </a:t>
            </a:r>
            <a:r>
              <a:rPr lang="en-US" dirty="0" err="1"/>
              <a:t>noi</a:t>
            </a:r>
            <a:r>
              <a:rPr lang="en-US" dirty="0"/>
              <a:t>, </a:t>
            </a:r>
            <a:r>
              <a:rPr lang="en-US" dirty="0" err="1"/>
              <a:t>sterse</a:t>
            </a:r>
            <a:r>
              <a:rPr lang="en-US" dirty="0"/>
              <a:t> </a:t>
            </a:r>
            <a:r>
              <a:rPr lang="en-US" dirty="0" err="1"/>
              <a:t>unele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ele</a:t>
            </a:r>
            <a:r>
              <a:rPr lang="en-US" dirty="0"/>
              <a:t> (se </a:t>
            </a:r>
            <a:r>
              <a:rPr lang="en-US" dirty="0" err="1"/>
              <a:t>pune</a:t>
            </a:r>
            <a:r>
              <a:rPr lang="en-US" dirty="0"/>
              <a:t> </a:t>
            </a:r>
            <a:r>
              <a:rPr lang="en-US" dirty="0" err="1"/>
              <a:t>durata</a:t>
            </a:r>
            <a:r>
              <a:rPr lang="en-US" dirty="0"/>
              <a:t> de </a:t>
            </a:r>
            <a:r>
              <a:rPr lang="en-US" dirty="0" err="1"/>
              <a:t>viata</a:t>
            </a:r>
            <a:r>
              <a:rPr lang="en-US" dirty="0"/>
              <a:t> zero </a:t>
            </a:r>
            <a:r>
              <a:rPr lang="en-US" dirty="0" err="1"/>
              <a:t>sau</a:t>
            </a:r>
            <a:r>
              <a:rPr lang="en-US" dirty="0"/>
              <a:t> -1).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err="1"/>
              <a:t>Utilizatorul</a:t>
            </a:r>
            <a:r>
              <a:rPr lang="en-US" dirty="0"/>
              <a:t> / administrator are </a:t>
            </a:r>
            <a:r>
              <a:rPr lang="en-US" dirty="0" err="1"/>
              <a:t>posibilitatea</a:t>
            </a:r>
            <a:r>
              <a:rPr lang="en-US" dirty="0"/>
              <a:t> de a </a:t>
            </a:r>
            <a:r>
              <a:rPr lang="en-US" dirty="0" err="1"/>
              <a:t>vizualiza</a:t>
            </a:r>
            <a:r>
              <a:rPr lang="en-US" dirty="0"/>
              <a:t> / </a:t>
            </a:r>
            <a:r>
              <a:rPr lang="en-US" dirty="0" err="1"/>
              <a:t>sterge</a:t>
            </a:r>
            <a:r>
              <a:rPr lang="en-US" dirty="0"/>
              <a:t> </a:t>
            </a:r>
            <a:r>
              <a:rPr lang="en-US" dirty="0" err="1"/>
              <a:t>cooki-urile</a:t>
            </a:r>
            <a:r>
              <a:rPr lang="en-US" dirty="0"/>
              <a:t> din </a:t>
            </a:r>
            <a:r>
              <a:rPr lang="en-US" dirty="0" err="1"/>
              <a:t>zona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browser.</a:t>
            </a:r>
          </a:p>
          <a:p>
            <a:endParaRPr lang="en-US" dirty="0"/>
          </a:p>
          <a:p>
            <a:r>
              <a:rPr lang="en-US" b="1" dirty="0"/>
              <a:t>S</a:t>
            </a:r>
            <a:r>
              <a:rPr lang="ro-RO" b="1" dirty="0"/>
              <a:t>arcini</a:t>
            </a:r>
            <a:r>
              <a:rPr lang="en-US" b="1" dirty="0"/>
              <a:t> </a:t>
            </a:r>
            <a:r>
              <a:rPr lang="en-US" b="1" dirty="0" err="1"/>
              <a:t>uzuale</a:t>
            </a:r>
            <a:r>
              <a:rPr lang="en-US" dirty="0"/>
              <a:t>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ro-RO" dirty="0"/>
              <a:t>identificarea unui user în timpul unei sesiuni e-commerce;</a:t>
            </a: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ro-RO" dirty="0"/>
              <a:t>controlul username – password în doi paşi</a:t>
            </a:r>
            <a:r>
              <a:rPr lang="en-US" dirty="0"/>
              <a:t> in context stateless</a:t>
            </a:r>
            <a:r>
              <a:rPr lang="ro-RO" dirty="0"/>
              <a:t>;</a:t>
            </a: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ro-RO" dirty="0"/>
              <a:t>ajustarea parametrilor unui site în funcţie de client;</a:t>
            </a: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ro-RO" dirty="0"/>
              <a:t>optimizarea căutării frecvente </a:t>
            </a:r>
            <a:r>
              <a:rPr lang="en-US" dirty="0"/>
              <a:t>de</a:t>
            </a:r>
            <a:r>
              <a:rPr lang="ro-RO" dirty="0"/>
              <a:t> informaţii </a:t>
            </a:r>
            <a:r>
              <a:rPr lang="en-US" dirty="0"/>
              <a:t>(</a:t>
            </a:r>
            <a:r>
              <a:rPr lang="ro-RO" dirty="0"/>
              <a:t>parametri mai des invocaţi</a:t>
            </a:r>
            <a:r>
              <a:rPr lang="en-US" dirty="0"/>
              <a:t>)</a:t>
            </a:r>
            <a:r>
              <a:rPr lang="ro-RO" dirty="0"/>
              <a:t>;</a:t>
            </a: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ro-RO" dirty="0"/>
              <a:t>elemente de protecţie şi securitate a comunicaţiei între br</a:t>
            </a:r>
            <a:r>
              <a:rPr lang="en-US" dirty="0"/>
              <a:t>o</a:t>
            </a:r>
            <a:r>
              <a:rPr lang="ro-RO" dirty="0"/>
              <a:t>wser şi server-ul web.</a:t>
            </a:r>
            <a:endParaRPr lang="en-US" dirty="0"/>
          </a:p>
          <a:p>
            <a:pPr>
              <a:buFontTx/>
              <a:buChar char="•"/>
            </a:pPr>
            <a:endParaRPr lang="en-US" sz="1600" dirty="0"/>
          </a:p>
          <a:p>
            <a:r>
              <a:rPr lang="en-US" b="1" dirty="0" err="1"/>
              <a:t>Riscuri</a:t>
            </a:r>
            <a:r>
              <a:rPr lang="en-US" dirty="0"/>
              <a:t>:</a:t>
            </a:r>
          </a:p>
          <a:p>
            <a:r>
              <a:rPr lang="en-US" dirty="0"/>
              <a:t>O mare parte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atacurile</a:t>
            </a:r>
            <a:r>
              <a:rPr lang="en-US" dirty="0"/>
              <a:t> </a:t>
            </a:r>
            <a:r>
              <a:rPr lang="en-US" dirty="0" err="1"/>
              <a:t>informatice</a:t>
            </a:r>
            <a:r>
              <a:rPr lang="en-US" dirty="0"/>
              <a:t> </a:t>
            </a:r>
            <a:r>
              <a:rPr lang="en-US" dirty="0" err="1"/>
              <a:t>utilizeaza</a:t>
            </a:r>
            <a:r>
              <a:rPr lang="en-US" dirty="0"/>
              <a:t> </a:t>
            </a:r>
            <a:r>
              <a:rPr lang="en-US" dirty="0" err="1"/>
              <a:t>cooki-urile</a:t>
            </a:r>
            <a:r>
              <a:rPr lang="en-US" dirty="0"/>
              <a:t> </a:t>
            </a:r>
            <a:r>
              <a:rPr lang="en-US" dirty="0" err="1"/>
              <a:t>existente</a:t>
            </a:r>
            <a:r>
              <a:rPr lang="en-US" dirty="0"/>
              <a:t>.</a:t>
            </a:r>
            <a:r>
              <a:rPr lang="ro-RO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086692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26.10.2025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BFM_Servlets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30</a:t>
            </a:fld>
            <a:r>
              <a:rPr lang="en-US" dirty="0"/>
              <a:t>_/_44_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Utilizarea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de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cooki-uri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in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servleturi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 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366713"/>
            <a:ext cx="9144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dirty="0">
                <a:latin typeface="Courier New" pitchFamily="49" charset="0"/>
                <a:cs typeface="Courier New" pitchFamily="49" charset="0"/>
              </a:rPr>
              <a:t> public void doGet(HttpServletRequest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o-RO" dirty="0">
                <a:latin typeface="Courier New" pitchFamily="49" charset="0"/>
                <a:cs typeface="Courier New" pitchFamily="49" charset="0"/>
              </a:rPr>
              <a:t>req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uest</a:t>
            </a:r>
            <a:r>
              <a:rPr lang="ro-RO" dirty="0">
                <a:latin typeface="Courier New" pitchFamily="49" charset="0"/>
                <a:cs typeface="Courier New" pitchFamily="49" charset="0"/>
              </a:rPr>
              <a:t>,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           </a:t>
            </a:r>
            <a:r>
              <a:rPr lang="ro-RO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o-RO" dirty="0">
                <a:latin typeface="Courier New" pitchFamily="49" charset="0"/>
                <a:cs typeface="Courier New" pitchFamily="49" charset="0"/>
              </a:rPr>
              <a:t>HttpServletResponse res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ponse</a:t>
            </a:r>
            <a:r>
              <a:rPr lang="ro-RO" dirty="0">
                <a:latin typeface="Courier New" pitchFamily="49" charset="0"/>
                <a:cs typeface="Courier New" pitchFamily="49" charset="0"/>
              </a:rPr>
              <a:t>)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//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doPost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... 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- - -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</a:t>
            </a:r>
            <a:r>
              <a:rPr lang="ro-RO" dirty="0">
                <a:latin typeface="Courier New" pitchFamily="49" charset="0"/>
                <a:cs typeface="Courier New" pitchFamily="49" charset="0"/>
              </a:rPr>
              <a:t>Cookie c;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r>
              <a:rPr lang="ro-RO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o-RO" dirty="0">
                <a:latin typeface="Courier New" pitchFamily="49" charset="0"/>
                <a:cs typeface="Courier New" pitchFamily="49" charset="0"/>
              </a:rPr>
              <a:t>Cookie[] tc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;</a:t>
            </a:r>
            <a:r>
              <a:rPr lang="ro-RO" dirty="0">
                <a:latin typeface="Courier New" pitchFamily="49" charset="0"/>
                <a:cs typeface="Courier New" pitchFamily="49" charset="0"/>
              </a:rPr>
              <a:t>  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- - - 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tc</a:t>
            </a:r>
            <a:r>
              <a:rPr lang="ro-RO" dirty="0">
                <a:latin typeface="Courier New" pitchFamily="49" charset="0"/>
                <a:cs typeface="Courier New" pitchFamily="49" charset="0"/>
              </a:rPr>
              <a:t> = req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uest</a:t>
            </a:r>
            <a:r>
              <a:rPr lang="ro-RO" dirty="0">
                <a:latin typeface="Courier New" pitchFamily="49" charset="0"/>
                <a:cs typeface="Courier New" pitchFamily="49" charset="0"/>
              </a:rPr>
              <a:t>.getCookies();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- - -</a:t>
            </a:r>
            <a:r>
              <a:rPr lang="ro-RO" dirty="0">
                <a:latin typeface="Courier New" pitchFamily="49" charset="0"/>
                <a:cs typeface="Courier New" pitchFamily="49" charset="0"/>
              </a:rPr>
              <a:t>      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c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tc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[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];  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c.getname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();  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c.getValue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();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c.setValue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("...");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- - -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//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prelucrare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parametri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din request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- - -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</a:t>
            </a:r>
            <a:r>
              <a:rPr lang="ro-RO" dirty="0">
                <a:latin typeface="Courier New" pitchFamily="49" charset="0"/>
                <a:cs typeface="Courier New" pitchFamily="49" charset="0"/>
              </a:rPr>
              <a:t>res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ponse</a:t>
            </a:r>
            <a:r>
              <a:rPr lang="ro-RO" dirty="0">
                <a:latin typeface="Courier New" pitchFamily="49" charset="0"/>
                <a:cs typeface="Courier New" pitchFamily="49" charset="0"/>
              </a:rPr>
              <a:t>.setContentType("text/html");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- - -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c = new Cookie();  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c.setName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("..."); 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c.setValue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("...");   c.</a:t>
            </a:r>
            <a:r>
              <a:rPr lang="ro-RO" dirty="0">
                <a:latin typeface="Courier New" pitchFamily="49" charset="0"/>
                <a:cs typeface="Courier New" pitchFamily="49" charset="0"/>
              </a:rPr>
              <a:t>c.setMaxAge(60*60*24*365);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ro-RO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o-RO" dirty="0">
                <a:latin typeface="Courier New" pitchFamily="49" charset="0"/>
                <a:cs typeface="Courier New" pitchFamily="49" charset="0"/>
              </a:rPr>
              <a:t>res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ponse</a:t>
            </a:r>
            <a:r>
              <a:rPr lang="ro-RO" dirty="0">
                <a:latin typeface="Courier New" pitchFamily="49" charset="0"/>
                <a:cs typeface="Courier New" pitchFamily="49" charset="0"/>
              </a:rPr>
              <a:t>.addCookie(c);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</a:t>
            </a:r>
            <a:r>
              <a:rPr lang="ro-RO" dirty="0">
                <a:latin typeface="Courier New" pitchFamily="49" charset="0"/>
                <a:cs typeface="Courier New" pitchFamily="49" charset="0"/>
              </a:rPr>
              <a:t>PrintWriter out = res.getWriter();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- - -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6692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26.10.2025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BFM_Servlets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31</a:t>
            </a:fld>
            <a:r>
              <a:rPr lang="en-US" dirty="0"/>
              <a:t>_/_44_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Utilizarea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obiectului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HttpSession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in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servleturi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366713"/>
            <a:ext cx="91440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/>
              <a:t>H</a:t>
            </a:r>
            <a:r>
              <a:rPr lang="en-US" b="1" dirty="0" err="1"/>
              <a:t>ttp</a:t>
            </a:r>
            <a:r>
              <a:rPr lang="ro-RO" b="1" dirty="0"/>
              <a:t>Session</a:t>
            </a:r>
            <a:r>
              <a:rPr lang="en-US" dirty="0"/>
              <a:t> – </a:t>
            </a:r>
            <a:r>
              <a:rPr lang="en-US" dirty="0" err="1"/>
              <a:t>depozit</a:t>
            </a:r>
            <a:r>
              <a:rPr lang="en-US" dirty="0"/>
              <a:t> de </a:t>
            </a:r>
            <a:r>
              <a:rPr lang="en-US" dirty="0" err="1"/>
              <a:t>obiecte</a:t>
            </a:r>
            <a:r>
              <a:rPr lang="en-US" dirty="0"/>
              <a:t> la server sub forma de </a:t>
            </a:r>
            <a:r>
              <a:rPr lang="en-US" dirty="0" err="1"/>
              <a:t>perechi</a:t>
            </a:r>
            <a:r>
              <a:rPr lang="en-US" dirty="0"/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nume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obiect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) </a:t>
            </a:r>
            <a:r>
              <a:rPr lang="en-US" dirty="0">
                <a:cs typeface="Courier New" pitchFamily="49" charset="0"/>
              </a:rPr>
              <a:t>care </a:t>
            </a:r>
            <a:r>
              <a:rPr lang="en-US" dirty="0" err="1">
                <a:cs typeface="Courier New" pitchFamily="49" charset="0"/>
              </a:rPr>
              <a:t>traieste</a:t>
            </a:r>
            <a:r>
              <a:rPr lang="en-US" dirty="0">
                <a:cs typeface="Courier New" pitchFamily="49" charset="0"/>
              </a:rPr>
              <a:t> de la </a:t>
            </a:r>
            <a:r>
              <a:rPr lang="en-US" dirty="0" err="1">
                <a:cs typeface="Courier New" pitchFamily="49" charset="0"/>
              </a:rPr>
              <a:t>deschiderea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cs typeface="Courier New" pitchFamily="49" charset="0"/>
              </a:rPr>
              <a:t>unei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cs typeface="Courier New" pitchFamily="49" charset="0"/>
              </a:rPr>
              <a:t>sesiuni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cs typeface="Courier New" pitchFamily="49" charset="0"/>
              </a:rPr>
              <a:t>intre</a:t>
            </a:r>
            <a:r>
              <a:rPr lang="en-US" dirty="0">
                <a:cs typeface="Courier New" pitchFamily="49" charset="0"/>
              </a:rPr>
              <a:t> un browser </a:t>
            </a:r>
            <a:r>
              <a:rPr lang="en-US" dirty="0" err="1">
                <a:cs typeface="Courier New" pitchFamily="49" charset="0"/>
              </a:rPr>
              <a:t>si</a:t>
            </a:r>
            <a:r>
              <a:rPr lang="en-US" dirty="0">
                <a:cs typeface="Courier New" pitchFamily="49" charset="0"/>
              </a:rPr>
              <a:t> un server </a:t>
            </a:r>
            <a:r>
              <a:rPr lang="en-US" dirty="0" err="1">
                <a:cs typeface="Courier New" pitchFamily="49" charset="0"/>
              </a:rPr>
              <a:t>si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cs typeface="Courier New" pitchFamily="49" charset="0"/>
              </a:rPr>
              <a:t>pana</a:t>
            </a:r>
            <a:r>
              <a:rPr lang="en-US" dirty="0">
                <a:cs typeface="Courier New" pitchFamily="49" charset="0"/>
              </a:rPr>
              <a:t> la </a:t>
            </a:r>
            <a:r>
              <a:rPr lang="en-US" dirty="0" err="1">
                <a:cs typeface="Courier New" pitchFamily="49" charset="0"/>
              </a:rPr>
              <a:t>inchiderea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cs typeface="Courier New" pitchFamily="49" charset="0"/>
              </a:rPr>
              <a:t>acesteia</a:t>
            </a:r>
            <a:r>
              <a:rPr lang="en-US" dirty="0">
                <a:cs typeface="Courier New" pitchFamily="49" charset="0"/>
              </a:rPr>
              <a:t>, </a:t>
            </a:r>
            <a:r>
              <a:rPr lang="en-US" dirty="0" err="1">
                <a:cs typeface="Courier New" pitchFamily="49" charset="0"/>
              </a:rPr>
              <a:t>dar</a:t>
            </a:r>
            <a:r>
              <a:rPr lang="en-US" dirty="0">
                <a:cs typeface="Courier New" pitchFamily="49" charset="0"/>
              </a:rPr>
              <a:t> nu </a:t>
            </a:r>
            <a:r>
              <a:rPr lang="en-US" dirty="0" err="1">
                <a:cs typeface="Courier New" pitchFamily="49" charset="0"/>
              </a:rPr>
              <a:t>mai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cs typeface="Courier New" pitchFamily="49" charset="0"/>
              </a:rPr>
              <a:t>mult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cs typeface="Courier New" pitchFamily="49" charset="0"/>
              </a:rPr>
              <a:t>decat</a:t>
            </a:r>
            <a:r>
              <a:rPr lang="en-US" dirty="0">
                <a:cs typeface="Courier New" pitchFamily="49" charset="0"/>
              </a:rPr>
              <a:t> o </a:t>
            </a:r>
            <a:r>
              <a:rPr lang="en-US" dirty="0" err="1">
                <a:cs typeface="Courier New" pitchFamily="49" charset="0"/>
              </a:rPr>
              <a:t>durata</a:t>
            </a:r>
            <a:r>
              <a:rPr lang="en-US" dirty="0">
                <a:cs typeface="Courier New" pitchFamily="49" charset="0"/>
              </a:rPr>
              <a:t> de </a:t>
            </a:r>
            <a:r>
              <a:rPr lang="en-US" dirty="0" err="1">
                <a:cs typeface="Courier New" pitchFamily="49" charset="0"/>
              </a:rPr>
              <a:t>inactivitate</a:t>
            </a:r>
            <a:r>
              <a:rPr lang="en-US" dirty="0">
                <a:cs typeface="Courier New" pitchFamily="49" charset="0"/>
              </a:rPr>
              <a:t> maxima </a:t>
            </a:r>
            <a:r>
              <a:rPr lang="en-US" dirty="0" err="1">
                <a:cs typeface="Courier New" pitchFamily="49" charset="0"/>
              </a:rPr>
              <a:t>prestabilita</a:t>
            </a:r>
            <a:r>
              <a:rPr lang="en-US" dirty="0">
                <a:cs typeface="Courier New" pitchFamily="49" charset="0"/>
              </a:rPr>
              <a:t>.</a:t>
            </a:r>
          </a:p>
          <a:p>
            <a:endParaRPr lang="en-US" dirty="0"/>
          </a:p>
          <a:p>
            <a:r>
              <a:rPr lang="en-US" dirty="0" err="1"/>
              <a:t>Obtinerea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obiect</a:t>
            </a:r>
            <a:r>
              <a:rPr lang="en-US" dirty="0"/>
              <a:t> </a:t>
            </a:r>
            <a:r>
              <a:rPr lang="en-US" dirty="0" err="1"/>
              <a:t>HttpSession</a:t>
            </a:r>
            <a:r>
              <a:rPr lang="en-US" dirty="0"/>
              <a:t>:</a:t>
            </a:r>
          </a:p>
          <a:p>
            <a:endParaRPr lang="en-US" dirty="0"/>
          </a:p>
          <a:p>
            <a:pPr lvl="2"/>
            <a:r>
              <a:rPr lang="en-US" dirty="0" err="1">
                <a:latin typeface="Courier New" pitchFamily="49" charset="0"/>
                <a:cs typeface="Courier New" pitchFamily="49" charset="0"/>
              </a:rPr>
              <a:t>HttpSession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sessiune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request.getSession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endParaRPr lang="en-US" dirty="0"/>
          </a:p>
          <a:p>
            <a:r>
              <a:rPr lang="en-US" dirty="0" err="1"/>
              <a:t>Metodele</a:t>
            </a:r>
            <a:r>
              <a:rPr lang="en-US" dirty="0"/>
              <a:t> </a:t>
            </a:r>
            <a:r>
              <a:rPr lang="en-US" dirty="0" err="1"/>
              <a:t>HttpSession</a:t>
            </a:r>
            <a:r>
              <a:rPr lang="en-US" dirty="0"/>
              <a:t>:</a:t>
            </a:r>
          </a:p>
        </p:txBody>
      </p:sp>
      <p:sp>
        <p:nvSpPr>
          <p:cNvPr id="3" name="Rectangle 2"/>
          <p:cNvSpPr/>
          <p:nvPr/>
        </p:nvSpPr>
        <p:spPr>
          <a:xfrm>
            <a:off x="5255" y="3222208"/>
            <a:ext cx="91440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/>
            <a:r>
              <a:rPr lang="en-US" dirty="0">
                <a:latin typeface="Courier New" pitchFamily="49" charset="0"/>
                <a:cs typeface="Courier New" pitchFamily="49" charset="0"/>
              </a:rPr>
              <a:t>Object </a:t>
            </a:r>
            <a:r>
              <a:rPr lang="en-US" b="1" dirty="0" err="1">
                <a:latin typeface="Courier New" pitchFamily="49" charset="0"/>
                <a:cs typeface="Courier New" pitchFamily="49" charset="0"/>
                <a:hlinkClick r:id="rId3"/>
              </a:rPr>
              <a:t>getAttribute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(String name) 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Enumeration&lt;String&gt; </a:t>
            </a:r>
            <a:r>
              <a:rPr lang="en-US" b="1" dirty="0" err="1">
                <a:latin typeface="Courier New" pitchFamily="49" charset="0"/>
                <a:cs typeface="Courier New" pitchFamily="49" charset="0"/>
                <a:hlinkClick r:id="rId3"/>
              </a:rPr>
              <a:t>getAttributeNames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 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long </a:t>
            </a:r>
            <a:r>
              <a:rPr lang="en-US" b="1" dirty="0" err="1">
                <a:latin typeface="Courier New" pitchFamily="49" charset="0"/>
                <a:cs typeface="Courier New" pitchFamily="49" charset="0"/>
                <a:hlinkClick r:id="rId3"/>
              </a:rPr>
              <a:t>getCreationTime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 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String </a:t>
            </a:r>
            <a:r>
              <a:rPr lang="en-US" b="1" dirty="0" err="1">
                <a:latin typeface="Courier New" pitchFamily="49" charset="0"/>
                <a:cs typeface="Courier New" pitchFamily="49" charset="0"/>
                <a:hlinkClick r:id="rId3"/>
              </a:rPr>
              <a:t>getId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 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long </a:t>
            </a:r>
            <a:r>
              <a:rPr lang="en-US" b="1" dirty="0" err="1">
                <a:latin typeface="Courier New" pitchFamily="49" charset="0"/>
                <a:cs typeface="Courier New" pitchFamily="49" charset="0"/>
                <a:hlinkClick r:id="rId3"/>
              </a:rPr>
              <a:t>getLastAccessedTime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 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latin typeface="Courier New" pitchFamily="49" charset="0"/>
                <a:cs typeface="Courier New" pitchFamily="49" charset="0"/>
                <a:hlinkClick r:id="rId3"/>
              </a:rPr>
              <a:t>getMaxInactiveInterval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 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 err="1">
                <a:latin typeface="Courier New" pitchFamily="49" charset="0"/>
                <a:cs typeface="Courier New" pitchFamily="49" charset="0"/>
                <a:hlinkClick r:id="rId4" tooltip="interface in javax.servlet"/>
              </a:rPr>
              <a:t>ServletContext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latin typeface="Courier New" pitchFamily="49" charset="0"/>
                <a:cs typeface="Courier New" pitchFamily="49" charset="0"/>
                <a:hlinkClick r:id="rId3"/>
              </a:rPr>
              <a:t>getServletContext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 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b="1" dirty="0">
                <a:latin typeface="Courier New" pitchFamily="49" charset="0"/>
                <a:cs typeface="Courier New" pitchFamily="49" charset="0"/>
                <a:hlinkClick r:id="rId3"/>
              </a:rPr>
              <a:t>invalidate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 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 err="1"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latin typeface="Courier New" pitchFamily="49" charset="0"/>
                <a:cs typeface="Courier New" pitchFamily="49" charset="0"/>
                <a:hlinkClick r:id="rId3"/>
              </a:rPr>
              <a:t>isNew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 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b="1" dirty="0" err="1">
                <a:latin typeface="Courier New" pitchFamily="49" charset="0"/>
                <a:cs typeface="Courier New" pitchFamily="49" charset="0"/>
                <a:hlinkClick r:id="rId3"/>
              </a:rPr>
              <a:t>setAttribute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(String name, Object value) 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b="1" dirty="0" err="1">
                <a:latin typeface="Courier New" pitchFamily="49" charset="0"/>
                <a:cs typeface="Courier New" pitchFamily="49" charset="0"/>
                <a:hlinkClick r:id="rId3"/>
              </a:rPr>
              <a:t>setMaxInactiveInterval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 interval) </a:t>
            </a:r>
          </a:p>
        </p:txBody>
      </p:sp>
    </p:spTree>
    <p:extLst>
      <p:ext uri="{BB962C8B-B14F-4D97-AF65-F5344CB8AC3E}">
        <p14:creationId xmlns:p14="http://schemas.microsoft.com/office/powerpoint/2010/main" val="26086692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26.10.2025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BFM_Servlets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32</a:t>
            </a:fld>
            <a:r>
              <a:rPr lang="en-US" dirty="0"/>
              <a:t>_/_44_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Exemplu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: servlet counter de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acces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pagina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la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nivel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de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sesiune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, nu de request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628" y="382479"/>
            <a:ext cx="8915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binecunoscute</a:t>
            </a:r>
            <a:r>
              <a:rPr lang="en-US" dirty="0"/>
              <a:t> “</a:t>
            </a:r>
            <a:r>
              <a:rPr lang="en-US" dirty="0" err="1"/>
              <a:t>contoarele</a:t>
            </a:r>
            <a:r>
              <a:rPr lang="en-US" dirty="0"/>
              <a:t> de </a:t>
            </a:r>
            <a:r>
              <a:rPr lang="en-US" dirty="0" err="1"/>
              <a:t>acces</a:t>
            </a:r>
            <a:r>
              <a:rPr lang="en-US" dirty="0"/>
              <a:t>”  la </a:t>
            </a:r>
            <a:r>
              <a:rPr lang="en-US" dirty="0" err="1"/>
              <a:t>pagini</a:t>
            </a:r>
            <a:r>
              <a:rPr lang="en-US" dirty="0"/>
              <a:t> web. </a:t>
            </a:r>
            <a:r>
              <a:rPr lang="en-US" dirty="0" err="1"/>
              <a:t>Aproape</a:t>
            </a:r>
            <a:r>
              <a:rPr lang="en-US" dirty="0"/>
              <a:t> </a:t>
            </a:r>
            <a:r>
              <a:rPr lang="en-US" dirty="0" err="1"/>
              <a:t>toate</a:t>
            </a:r>
            <a:r>
              <a:rPr lang="en-US" dirty="0"/>
              <a:t> </a:t>
            </a:r>
            <a:r>
              <a:rPr lang="en-US" dirty="0" err="1"/>
              <a:t>maresc</a:t>
            </a:r>
            <a:r>
              <a:rPr lang="en-US" dirty="0"/>
              <a:t>  </a:t>
            </a:r>
            <a:r>
              <a:rPr lang="en-US" dirty="0" err="1"/>
              <a:t>contorul</a:t>
            </a:r>
            <a:r>
              <a:rPr lang="en-US" dirty="0"/>
              <a:t> de </a:t>
            </a:r>
            <a:r>
              <a:rPr lang="en-US" dirty="0" err="1"/>
              <a:t>pagini</a:t>
            </a:r>
            <a:r>
              <a:rPr lang="en-US" dirty="0"/>
              <a:t> la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invocare</a:t>
            </a:r>
            <a:r>
              <a:rPr lang="en-US" dirty="0"/>
              <a:t> / </a:t>
            </a:r>
            <a:r>
              <a:rPr lang="en-US" dirty="0" err="1"/>
              <a:t>cerere</a:t>
            </a:r>
            <a:r>
              <a:rPr lang="en-US" dirty="0"/>
              <a:t> a </a:t>
            </a:r>
            <a:r>
              <a:rPr lang="en-US" dirty="0" err="1"/>
              <a:t>paginii</a:t>
            </a:r>
            <a:r>
              <a:rPr lang="en-US" dirty="0"/>
              <a:t>. </a:t>
            </a:r>
            <a:r>
              <a:rPr lang="en-US" dirty="0" err="1"/>
              <a:t>Dupa</a:t>
            </a:r>
            <a:r>
              <a:rPr lang="en-US" dirty="0"/>
              <a:t> </a:t>
            </a:r>
            <a:r>
              <a:rPr lang="en-US" dirty="0" err="1"/>
              <a:t>parerea</a:t>
            </a:r>
            <a:r>
              <a:rPr lang="en-US" dirty="0"/>
              <a:t> </a:t>
            </a:r>
            <a:r>
              <a:rPr lang="en-US" dirty="0" err="1"/>
              <a:t>noastra</a:t>
            </a:r>
            <a:r>
              <a:rPr lang="en-US" dirty="0"/>
              <a:t>, </a:t>
            </a:r>
            <a:r>
              <a:rPr lang="en-US" dirty="0" err="1"/>
              <a:t>numararea</a:t>
            </a:r>
            <a:r>
              <a:rPr lang="en-US" dirty="0"/>
              <a:t> </a:t>
            </a:r>
            <a:r>
              <a:rPr lang="en-US" dirty="0" err="1"/>
              <a:t>corecta</a:t>
            </a:r>
            <a:r>
              <a:rPr lang="en-US" dirty="0"/>
              <a:t>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facuta</a:t>
            </a:r>
            <a:r>
              <a:rPr lang="en-US" dirty="0"/>
              <a:t> la </a:t>
            </a:r>
            <a:r>
              <a:rPr lang="en-US" dirty="0" err="1"/>
              <a:t>nivel</a:t>
            </a:r>
            <a:r>
              <a:rPr lang="en-US" dirty="0"/>
              <a:t> de </a:t>
            </a:r>
            <a:r>
              <a:rPr lang="en-US" dirty="0" err="1"/>
              <a:t>sesiune</a:t>
            </a:r>
            <a:r>
              <a:rPr lang="en-US" dirty="0"/>
              <a:t>. </a:t>
            </a:r>
            <a:r>
              <a:rPr lang="en-US" dirty="0" err="1"/>
              <a:t>Faptul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, </a:t>
            </a:r>
            <a:r>
              <a:rPr lang="en-US" dirty="0" err="1"/>
              <a:t>spre</a:t>
            </a:r>
            <a:r>
              <a:rPr lang="en-US" dirty="0"/>
              <a:t> </a:t>
            </a:r>
            <a:r>
              <a:rPr lang="en-US" dirty="0" err="1"/>
              <a:t>exemplu</a:t>
            </a:r>
            <a:r>
              <a:rPr lang="en-US" dirty="0"/>
              <a:t>, se da un refresh la browser nu </a:t>
            </a:r>
            <a:r>
              <a:rPr lang="en-US" dirty="0" err="1"/>
              <a:t>inseamna</a:t>
            </a:r>
            <a:r>
              <a:rPr lang="en-US" dirty="0"/>
              <a:t> o </a:t>
            </a:r>
            <a:r>
              <a:rPr lang="en-US" dirty="0" err="1"/>
              <a:t>noua</a:t>
            </a:r>
            <a:r>
              <a:rPr lang="en-US" dirty="0"/>
              <a:t> </a:t>
            </a:r>
            <a:r>
              <a:rPr lang="en-US" dirty="0" err="1"/>
              <a:t>consultare</a:t>
            </a:r>
            <a:r>
              <a:rPr lang="en-US" dirty="0"/>
              <a:t>! </a:t>
            </a:r>
            <a:r>
              <a:rPr lang="en-US" dirty="0" err="1"/>
              <a:t>Iata</a:t>
            </a:r>
            <a:r>
              <a:rPr lang="en-US" dirty="0"/>
              <a:t> cum se </a:t>
            </a:r>
            <a:r>
              <a:rPr lang="en-US" dirty="0" err="1"/>
              <a:t>poate</a:t>
            </a:r>
            <a:r>
              <a:rPr lang="en-US" dirty="0"/>
              <a:t> face:</a:t>
            </a:r>
          </a:p>
        </p:txBody>
      </p:sp>
      <p:sp>
        <p:nvSpPr>
          <p:cNvPr id="3" name="Rectangle 2"/>
          <p:cNvSpPr/>
          <p:nvPr/>
        </p:nvSpPr>
        <p:spPr>
          <a:xfrm>
            <a:off x="2628" y="1478543"/>
            <a:ext cx="9141372" cy="54014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1500" dirty="0">
                <a:latin typeface="Courier New" pitchFamily="49" charset="0"/>
                <a:cs typeface="Courier New" pitchFamily="49" charset="0"/>
              </a:rPr>
              <a:t>import javax.servlet.*;</a:t>
            </a:r>
            <a:endParaRPr lang="en-US" sz="1500" dirty="0">
              <a:latin typeface="Courier New" pitchFamily="49" charset="0"/>
              <a:cs typeface="Courier New" pitchFamily="49" charset="0"/>
            </a:endParaRPr>
          </a:p>
          <a:p>
            <a:r>
              <a:rPr lang="ro-RO" sz="1500" dirty="0">
                <a:latin typeface="Courier New" pitchFamily="49" charset="0"/>
                <a:cs typeface="Courier New" pitchFamily="49" charset="0"/>
              </a:rPr>
              <a:t>import javax.servlet.http.*;</a:t>
            </a:r>
            <a:endParaRPr lang="en-US" sz="1500" dirty="0">
              <a:latin typeface="Courier New" pitchFamily="49" charset="0"/>
              <a:cs typeface="Courier New" pitchFamily="49" charset="0"/>
            </a:endParaRPr>
          </a:p>
          <a:p>
            <a:r>
              <a:rPr lang="ro-RO" sz="1500" dirty="0">
                <a:latin typeface="Courier New" pitchFamily="49" charset="0"/>
                <a:cs typeface="Courier New" pitchFamily="49" charset="0"/>
              </a:rPr>
              <a:t>import java.io.*;</a:t>
            </a:r>
            <a:endParaRPr lang="en-US" sz="1500" dirty="0">
              <a:latin typeface="Courier New" pitchFamily="49" charset="0"/>
              <a:cs typeface="Courier New" pitchFamily="49" charset="0"/>
            </a:endParaRPr>
          </a:p>
          <a:p>
            <a:r>
              <a:rPr lang="ro-RO" sz="1500" dirty="0">
                <a:latin typeface="Courier New" pitchFamily="49" charset="0"/>
                <a:cs typeface="Courier New" pitchFamily="49" charset="0"/>
              </a:rPr>
              <a:t>public class ServletCounterSession extends HttpServlet {</a:t>
            </a:r>
            <a:endParaRPr lang="en-US" sz="1500" dirty="0">
              <a:latin typeface="Courier New" pitchFamily="49" charset="0"/>
              <a:cs typeface="Courier New" pitchFamily="49" charset="0"/>
            </a:endParaRPr>
          </a:p>
          <a:p>
            <a:r>
              <a:rPr lang="ro-RO" sz="1500" dirty="0">
                <a:latin typeface="Courier New" pitchFamily="49" charset="0"/>
                <a:cs typeface="Courier New" pitchFamily="49" charset="0"/>
              </a:rPr>
              <a:t>   public void doPost(HttpServletRequest req,  HttpServletResponse res)</a:t>
            </a:r>
            <a:endParaRPr lang="en-US" sz="1500" dirty="0">
              <a:latin typeface="Courier New" pitchFamily="49" charset="0"/>
              <a:cs typeface="Courier New" pitchFamily="49" charset="0"/>
            </a:endParaRPr>
          </a:p>
          <a:p>
            <a:r>
              <a:rPr lang="ro-RO" sz="1500" dirty="0">
                <a:latin typeface="Courier New" pitchFamily="49" charset="0"/>
                <a:cs typeface="Courier New" pitchFamily="49" charset="0"/>
              </a:rPr>
              <a:t>          throws ServletException, IOException {</a:t>
            </a:r>
            <a:endParaRPr lang="en-US" sz="1500" dirty="0">
              <a:latin typeface="Courier New" pitchFamily="49" charset="0"/>
              <a:cs typeface="Courier New" pitchFamily="49" charset="0"/>
            </a:endParaRPr>
          </a:p>
          <a:p>
            <a:r>
              <a:rPr lang="ro-RO" sz="1500" dirty="0">
                <a:latin typeface="Courier New" pitchFamily="49" charset="0"/>
                <a:cs typeface="Courier New" pitchFamily="49" charset="0"/>
              </a:rPr>
              <a:t>      int i=0;</a:t>
            </a:r>
            <a:r>
              <a:rPr lang="en-US" sz="15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o-RO" sz="1500" dirty="0">
                <a:latin typeface="Courier New" pitchFamily="49" charset="0"/>
                <a:cs typeface="Courier New" pitchFamily="49" charset="0"/>
              </a:rPr>
              <a:t>  RandomAccessFile f;</a:t>
            </a:r>
            <a:r>
              <a:rPr lang="en-US" sz="15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o-RO" sz="1500" dirty="0">
                <a:latin typeface="Courier New" pitchFamily="49" charset="0"/>
                <a:cs typeface="Courier New" pitchFamily="49" charset="0"/>
              </a:rPr>
              <a:t>    ObjectOutputStream out;</a:t>
            </a:r>
            <a:r>
              <a:rPr lang="en-US" sz="1500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ro-RO" sz="1500" dirty="0">
                <a:latin typeface="Courier New" pitchFamily="49" charset="0"/>
                <a:cs typeface="Courier New" pitchFamily="49" charset="0"/>
              </a:rPr>
              <a:t>      HttpSession sesiune = req.getSession(true);</a:t>
            </a:r>
            <a:endParaRPr lang="en-US" sz="1500" dirty="0">
              <a:latin typeface="Courier New" pitchFamily="49" charset="0"/>
              <a:cs typeface="Courier New" pitchFamily="49" charset="0"/>
            </a:endParaRPr>
          </a:p>
          <a:p>
            <a:r>
              <a:rPr lang="ro-RO" sz="1500" dirty="0">
                <a:latin typeface="Courier New" pitchFamily="49" charset="0"/>
                <a:cs typeface="Courier New" pitchFamily="49" charset="0"/>
              </a:rPr>
              <a:t>      if (sesiune.isNew()) {</a:t>
            </a:r>
            <a:endParaRPr lang="en-US" sz="1500" dirty="0">
              <a:latin typeface="Courier New" pitchFamily="49" charset="0"/>
              <a:cs typeface="Courier New" pitchFamily="49" charset="0"/>
            </a:endParaRPr>
          </a:p>
          <a:p>
            <a:r>
              <a:rPr lang="ro-RO" sz="1500" dirty="0">
                <a:latin typeface="Courier New" pitchFamily="49" charset="0"/>
                <a:cs typeface="Courier New" pitchFamily="49" charset="0"/>
              </a:rPr>
              <a:t>         synchronized (this.getClass()) {</a:t>
            </a:r>
            <a:endParaRPr lang="en-US" sz="1500" dirty="0">
              <a:latin typeface="Courier New" pitchFamily="49" charset="0"/>
              <a:cs typeface="Courier New" pitchFamily="49" charset="0"/>
            </a:endParaRPr>
          </a:p>
          <a:p>
            <a:r>
              <a:rPr lang="ro-RO" sz="1500" dirty="0">
                <a:latin typeface="Courier New" pitchFamily="49" charset="0"/>
                <a:cs typeface="Courier New" pitchFamily="49" charset="0"/>
              </a:rPr>
              <a:t>            f = new RandomAccessFile("FileServletCounter", "rw");</a:t>
            </a:r>
            <a:endParaRPr lang="en-US" sz="15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500" dirty="0"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ro-RO" sz="1500" dirty="0">
                <a:latin typeface="Courier New" pitchFamily="49" charset="0"/>
                <a:cs typeface="Courier New" pitchFamily="49" charset="0"/>
              </a:rPr>
              <a:t>i = f.readInt();    i++;     </a:t>
            </a:r>
            <a:endParaRPr lang="en-US" sz="15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500" dirty="0"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ro-RO" sz="1500" dirty="0">
                <a:latin typeface="Courier New" pitchFamily="49" charset="0"/>
                <a:cs typeface="Courier New" pitchFamily="49" charset="0"/>
              </a:rPr>
              <a:t>f.seek(0);     </a:t>
            </a:r>
            <a:r>
              <a:rPr lang="en-US" sz="1500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lang="ro-RO" sz="1500" dirty="0">
                <a:latin typeface="Courier New" pitchFamily="49" charset="0"/>
                <a:cs typeface="Courier New" pitchFamily="49" charset="0"/>
              </a:rPr>
              <a:t>f.writeInt(i);        f.close();</a:t>
            </a:r>
            <a:endParaRPr lang="en-US" sz="1500" dirty="0">
              <a:latin typeface="Courier New" pitchFamily="49" charset="0"/>
              <a:cs typeface="Courier New" pitchFamily="49" charset="0"/>
            </a:endParaRPr>
          </a:p>
          <a:p>
            <a:r>
              <a:rPr lang="ro-RO" sz="1500" dirty="0">
                <a:latin typeface="Courier New" pitchFamily="49" charset="0"/>
                <a:cs typeface="Courier New" pitchFamily="49" charset="0"/>
              </a:rPr>
              <a:t>            sesiune.setAttribute("contorCurent", new Integer(i));</a:t>
            </a:r>
            <a:endParaRPr lang="en-US" sz="1500" dirty="0">
              <a:latin typeface="Courier New" pitchFamily="49" charset="0"/>
              <a:cs typeface="Courier New" pitchFamily="49" charset="0"/>
            </a:endParaRPr>
          </a:p>
          <a:p>
            <a:r>
              <a:rPr lang="ro-RO" sz="1500" dirty="0">
                <a:latin typeface="Courier New" pitchFamily="49" charset="0"/>
                <a:cs typeface="Courier New" pitchFamily="49" charset="0"/>
              </a:rPr>
              <a:t>         } // synchronized</a:t>
            </a:r>
            <a:endParaRPr lang="en-US" sz="1500" dirty="0">
              <a:latin typeface="Courier New" pitchFamily="49" charset="0"/>
              <a:cs typeface="Courier New" pitchFamily="49" charset="0"/>
            </a:endParaRPr>
          </a:p>
          <a:p>
            <a:r>
              <a:rPr lang="ro-RO" sz="1500" dirty="0">
                <a:latin typeface="Courier New" pitchFamily="49" charset="0"/>
                <a:cs typeface="Courier New" pitchFamily="49" charset="0"/>
              </a:rPr>
              <a:t>      } else { // sesiune exista deja</a:t>
            </a:r>
            <a:endParaRPr lang="en-US" sz="1500" dirty="0">
              <a:latin typeface="Courier New" pitchFamily="49" charset="0"/>
              <a:cs typeface="Courier New" pitchFamily="49" charset="0"/>
            </a:endParaRPr>
          </a:p>
          <a:p>
            <a:r>
              <a:rPr lang="ro-RO" sz="1500" dirty="0">
                <a:latin typeface="Courier New" pitchFamily="49" charset="0"/>
                <a:cs typeface="Courier New" pitchFamily="49" charset="0"/>
              </a:rPr>
              <a:t>         i = ((Integer)sesiune.getAttribute("contorCurent")).intValue();</a:t>
            </a:r>
            <a:endParaRPr lang="en-US" sz="1500" dirty="0">
              <a:latin typeface="Courier New" pitchFamily="49" charset="0"/>
              <a:cs typeface="Courier New" pitchFamily="49" charset="0"/>
            </a:endParaRPr>
          </a:p>
          <a:p>
            <a:r>
              <a:rPr lang="ro-RO" sz="1500" dirty="0">
                <a:latin typeface="Courier New" pitchFamily="49" charset="0"/>
                <a:cs typeface="Courier New" pitchFamily="49" charset="0"/>
              </a:rPr>
              <a:t>      } </a:t>
            </a:r>
            <a:endParaRPr lang="en-US" sz="1500" dirty="0">
              <a:latin typeface="Courier New" pitchFamily="49" charset="0"/>
              <a:cs typeface="Courier New" pitchFamily="49" charset="0"/>
            </a:endParaRPr>
          </a:p>
          <a:p>
            <a:r>
              <a:rPr lang="ro-RO" sz="1500" dirty="0">
                <a:latin typeface="Courier New" pitchFamily="49" charset="0"/>
                <a:cs typeface="Courier New" pitchFamily="49" charset="0"/>
              </a:rPr>
              <a:t>      res.setContentType("application/octet-stream");</a:t>
            </a:r>
            <a:endParaRPr lang="en-US" sz="1500" dirty="0">
              <a:latin typeface="Courier New" pitchFamily="49" charset="0"/>
              <a:cs typeface="Courier New" pitchFamily="49" charset="0"/>
            </a:endParaRPr>
          </a:p>
          <a:p>
            <a:r>
              <a:rPr lang="ro-RO" sz="1500" dirty="0">
                <a:latin typeface="Courier New" pitchFamily="49" charset="0"/>
                <a:cs typeface="Courier New" pitchFamily="49" charset="0"/>
              </a:rPr>
              <a:t>      out = new ObjectOutputStream(res.getOutputStream());</a:t>
            </a:r>
            <a:endParaRPr lang="en-US" sz="1500" dirty="0">
              <a:latin typeface="Courier New" pitchFamily="49" charset="0"/>
              <a:cs typeface="Courier New" pitchFamily="49" charset="0"/>
            </a:endParaRPr>
          </a:p>
          <a:p>
            <a:r>
              <a:rPr lang="ro-RO" sz="1500" dirty="0">
                <a:latin typeface="Courier New" pitchFamily="49" charset="0"/>
                <a:cs typeface="Courier New" pitchFamily="49" charset="0"/>
              </a:rPr>
              <a:t>      out.writeObject(new Integer(i));    out.flush();     out.close();</a:t>
            </a:r>
            <a:endParaRPr lang="en-US" sz="1500" dirty="0">
              <a:latin typeface="Courier New" pitchFamily="49" charset="0"/>
              <a:cs typeface="Courier New" pitchFamily="49" charset="0"/>
            </a:endParaRPr>
          </a:p>
          <a:p>
            <a:r>
              <a:rPr lang="ro-RO" sz="1500" dirty="0">
                <a:latin typeface="Courier New" pitchFamily="49" charset="0"/>
                <a:cs typeface="Courier New" pitchFamily="49" charset="0"/>
              </a:rPr>
              <a:t>   }</a:t>
            </a:r>
            <a:endParaRPr lang="en-US" sz="1500" dirty="0">
              <a:latin typeface="Courier New" pitchFamily="49" charset="0"/>
              <a:cs typeface="Courier New" pitchFamily="49" charset="0"/>
            </a:endParaRPr>
          </a:p>
          <a:p>
            <a:r>
              <a:rPr lang="ro-RO" sz="1500" dirty="0">
                <a:latin typeface="Courier New" pitchFamily="49" charset="0"/>
                <a:cs typeface="Courier New" pitchFamily="49" charset="0"/>
              </a:rPr>
              <a:t>} </a:t>
            </a:r>
            <a:r>
              <a:rPr lang="en-US" sz="1500" dirty="0">
                <a:latin typeface="Courier New" pitchFamily="49" charset="0"/>
                <a:cs typeface="Courier New" pitchFamily="49" charset="0"/>
              </a:rPr>
              <a:t>     // </a:t>
            </a:r>
            <a:r>
              <a:rPr lang="en-US" sz="1500" dirty="0" err="1">
                <a:latin typeface="Courier New" pitchFamily="49" charset="0"/>
                <a:cs typeface="Courier New" pitchFamily="49" charset="0"/>
              </a:rPr>
              <a:t>Prin</a:t>
            </a:r>
            <a:r>
              <a:rPr lang="en-US" sz="1500" dirty="0">
                <a:latin typeface="Courier New" pitchFamily="49" charset="0"/>
                <a:cs typeface="Courier New" pitchFamily="49" charset="0"/>
              </a:rPr>
              <a:t> JavaScript se </a:t>
            </a:r>
            <a:r>
              <a:rPr lang="en-US" sz="1500" dirty="0" err="1">
                <a:latin typeface="Courier New" pitchFamily="49" charset="0"/>
                <a:cs typeface="Courier New" pitchFamily="49" charset="0"/>
              </a:rPr>
              <a:t>invoca</a:t>
            </a:r>
            <a:r>
              <a:rPr lang="en-US" sz="1500" dirty="0">
                <a:latin typeface="Courier New" pitchFamily="49" charset="0"/>
                <a:cs typeface="Courier New" pitchFamily="49" charset="0"/>
              </a:rPr>
              <a:t> la </a:t>
            </a:r>
            <a:r>
              <a:rPr lang="en-US" sz="1500" dirty="0" err="1">
                <a:latin typeface="Courier New" pitchFamily="49" charset="0"/>
                <a:cs typeface="Courier New" pitchFamily="49" charset="0"/>
              </a:rPr>
              <a:t>onload</a:t>
            </a:r>
            <a:r>
              <a:rPr lang="en-US" sz="15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500" dirty="0" err="1">
                <a:latin typeface="Courier New" pitchFamily="49" charset="0"/>
                <a:cs typeface="Courier New" pitchFamily="49" charset="0"/>
              </a:rPr>
              <a:t>acest</a:t>
            </a:r>
            <a:r>
              <a:rPr lang="en-US" sz="1500" dirty="0">
                <a:latin typeface="Courier New" pitchFamily="49" charset="0"/>
                <a:cs typeface="Courier New" pitchFamily="49" charset="0"/>
              </a:rPr>
              <a:t> servlet.</a:t>
            </a:r>
            <a:endParaRPr lang="ro-RO" sz="15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88055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26.10.2025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BFM_Servlets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33</a:t>
            </a:fld>
            <a:r>
              <a:rPr lang="en-US" dirty="0"/>
              <a:t>_/_44_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Utilizarea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obiectului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ServletContext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in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servleturi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366713"/>
            <a:ext cx="9144000" cy="35702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ServletContext</a:t>
            </a:r>
            <a:r>
              <a:rPr lang="en-US" b="1" dirty="0"/>
              <a:t> (application</a:t>
            </a:r>
            <a:r>
              <a:rPr lang="en-US" dirty="0"/>
              <a:t> in </a:t>
            </a:r>
            <a:r>
              <a:rPr lang="en-US" dirty="0" err="1"/>
              <a:t>pagini</a:t>
            </a:r>
            <a:r>
              <a:rPr lang="en-US" dirty="0"/>
              <a:t> </a:t>
            </a:r>
            <a:r>
              <a:rPr lang="en-US" dirty="0" err="1"/>
              <a:t>JSP</a:t>
            </a:r>
            <a:r>
              <a:rPr lang="en-US" dirty="0"/>
              <a:t>) – </a:t>
            </a:r>
            <a:r>
              <a:rPr lang="en-US" dirty="0" err="1"/>
              <a:t>depozit</a:t>
            </a:r>
            <a:r>
              <a:rPr lang="en-US" dirty="0"/>
              <a:t> de </a:t>
            </a:r>
            <a:r>
              <a:rPr lang="en-US" dirty="0" err="1"/>
              <a:t>obiecte</a:t>
            </a:r>
            <a:r>
              <a:rPr lang="en-US" dirty="0"/>
              <a:t> la server sub forma de </a:t>
            </a:r>
            <a:r>
              <a:rPr lang="en-US" dirty="0" err="1"/>
              <a:t>perechi</a:t>
            </a:r>
            <a:r>
              <a:rPr lang="en-US" dirty="0"/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nume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obiect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) </a:t>
            </a:r>
            <a:r>
              <a:rPr lang="en-US" dirty="0">
                <a:cs typeface="Courier New" pitchFamily="49" charset="0"/>
              </a:rPr>
              <a:t>care </a:t>
            </a:r>
            <a:r>
              <a:rPr lang="en-US" dirty="0" err="1">
                <a:cs typeface="Courier New" pitchFamily="49" charset="0"/>
              </a:rPr>
              <a:t>traieste</a:t>
            </a:r>
            <a:r>
              <a:rPr lang="en-US" dirty="0">
                <a:cs typeface="Courier New" pitchFamily="49" charset="0"/>
              </a:rPr>
              <a:t> de la deploy-</a:t>
            </a:r>
            <a:r>
              <a:rPr lang="en-US" dirty="0" err="1">
                <a:cs typeface="Courier New" pitchFamily="49" charset="0"/>
              </a:rPr>
              <a:t>ul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cs typeface="Courier New" pitchFamily="49" charset="0"/>
              </a:rPr>
              <a:t>unei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cs typeface="Courier New" pitchFamily="49" charset="0"/>
              </a:rPr>
              <a:t>aplicatii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cs typeface="Courier New" pitchFamily="49" charset="0"/>
              </a:rPr>
              <a:t>si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cs typeface="Courier New" pitchFamily="49" charset="0"/>
              </a:rPr>
              <a:t>este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cs typeface="Courier New" pitchFamily="49" charset="0"/>
              </a:rPr>
              <a:t>activ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cs typeface="Courier New" pitchFamily="49" charset="0"/>
              </a:rPr>
              <a:t>pe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cs typeface="Courier New" pitchFamily="49" charset="0"/>
              </a:rPr>
              <a:t>toata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cs typeface="Courier New" pitchFamily="49" charset="0"/>
              </a:rPr>
              <a:t>durata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cs typeface="Courier New" pitchFamily="49" charset="0"/>
              </a:rPr>
              <a:t>acesteia</a:t>
            </a:r>
            <a:r>
              <a:rPr lang="en-US" dirty="0">
                <a:cs typeface="Courier New" pitchFamily="49" charset="0"/>
              </a:rPr>
              <a:t>. </a:t>
            </a:r>
          </a:p>
          <a:p>
            <a:r>
              <a:rPr lang="en-US" dirty="0" err="1">
                <a:cs typeface="Courier New" pitchFamily="49" charset="0"/>
              </a:rPr>
              <a:t>Obiectele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cs typeface="Courier New" pitchFamily="49" charset="0"/>
              </a:rPr>
              <a:t>depuse</a:t>
            </a:r>
            <a:r>
              <a:rPr lang="en-US" dirty="0">
                <a:cs typeface="Courier New" pitchFamily="49" charset="0"/>
              </a:rPr>
              <a:t> in </a:t>
            </a:r>
            <a:r>
              <a:rPr lang="en-US" dirty="0" err="1">
                <a:cs typeface="Courier New" pitchFamily="49" charset="0"/>
              </a:rPr>
              <a:t>acest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cs typeface="Courier New" pitchFamily="49" charset="0"/>
              </a:rPr>
              <a:t>depozit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cs typeface="Courier New" pitchFamily="49" charset="0"/>
              </a:rPr>
              <a:t>sunt</a:t>
            </a:r>
            <a:r>
              <a:rPr lang="en-US" dirty="0">
                <a:cs typeface="Courier New" pitchFamily="49" charset="0"/>
              </a:rPr>
              <a:t> fie </a:t>
            </a:r>
            <a:r>
              <a:rPr lang="en-US" dirty="0" err="1">
                <a:cs typeface="Courier New" pitchFamily="49" charset="0"/>
              </a:rPr>
              <a:t>constante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cs typeface="Courier New" pitchFamily="49" charset="0"/>
              </a:rPr>
              <a:t>valabile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cs typeface="Courier New" pitchFamily="49" charset="0"/>
              </a:rPr>
              <a:t>pe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cs typeface="Courier New" pitchFamily="49" charset="0"/>
              </a:rPr>
              <a:t>toata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cs typeface="Courier New" pitchFamily="49" charset="0"/>
              </a:rPr>
              <a:t>durata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cs typeface="Courier New" pitchFamily="49" charset="0"/>
              </a:rPr>
              <a:t>aplicatiei</a:t>
            </a:r>
            <a:r>
              <a:rPr lang="en-US" dirty="0">
                <a:cs typeface="Courier New" pitchFamily="49" charset="0"/>
              </a:rPr>
              <a:t>, fie </a:t>
            </a:r>
            <a:r>
              <a:rPr lang="en-US" dirty="0" err="1">
                <a:cs typeface="Courier New" pitchFamily="49" charset="0"/>
              </a:rPr>
              <a:t>obiecte</a:t>
            </a:r>
            <a:r>
              <a:rPr lang="en-US" dirty="0">
                <a:cs typeface="Courier New" pitchFamily="49" charset="0"/>
              </a:rPr>
              <a:t> care </a:t>
            </a:r>
            <a:r>
              <a:rPr lang="en-US" dirty="0" err="1">
                <a:cs typeface="Courier New" pitchFamily="49" charset="0"/>
              </a:rPr>
              <a:t>sunt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cs typeface="Courier New" pitchFamily="49" charset="0"/>
              </a:rPr>
              <a:t>modificabile</a:t>
            </a:r>
            <a:r>
              <a:rPr lang="en-US" dirty="0">
                <a:cs typeface="Courier New" pitchFamily="49" charset="0"/>
              </a:rPr>
              <a:t> / </a:t>
            </a:r>
            <a:r>
              <a:rPr lang="en-US" dirty="0" err="1">
                <a:cs typeface="Courier New" pitchFamily="49" charset="0"/>
              </a:rPr>
              <a:t>consultabile</a:t>
            </a:r>
            <a:r>
              <a:rPr lang="en-US" dirty="0">
                <a:cs typeface="Courier New" pitchFamily="49" charset="0"/>
              </a:rPr>
              <a:t> de </a:t>
            </a:r>
            <a:r>
              <a:rPr lang="en-US" dirty="0" err="1">
                <a:cs typeface="Courier New" pitchFamily="49" charset="0"/>
              </a:rPr>
              <a:t>toti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cs typeface="Courier New" pitchFamily="49" charset="0"/>
              </a:rPr>
              <a:t>clientii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cs typeface="Courier New" pitchFamily="49" charset="0"/>
              </a:rPr>
              <a:t>aplicatiei</a:t>
            </a:r>
            <a:r>
              <a:rPr lang="en-US" dirty="0">
                <a:cs typeface="Courier New" pitchFamily="49" charset="0"/>
              </a:rPr>
              <a:t>.</a:t>
            </a:r>
          </a:p>
          <a:p>
            <a:endParaRPr lang="en-US" dirty="0"/>
          </a:p>
          <a:p>
            <a:r>
              <a:rPr lang="en-US" dirty="0" err="1"/>
              <a:t>Obtinerea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obiect</a:t>
            </a:r>
            <a:r>
              <a:rPr lang="en-US" dirty="0"/>
              <a:t> </a:t>
            </a:r>
            <a:r>
              <a:rPr lang="en-US" dirty="0" err="1"/>
              <a:t>ServletContext</a:t>
            </a:r>
            <a:r>
              <a:rPr lang="en-US" dirty="0"/>
              <a:t> </a:t>
            </a:r>
            <a:r>
              <a:rPr lang="en-US" dirty="0" err="1"/>
              <a:t>ctx</a:t>
            </a:r>
            <a:r>
              <a:rPr lang="en-US" dirty="0"/>
              <a:t>; se </a:t>
            </a:r>
            <a:r>
              <a:rPr lang="en-US" dirty="0" err="1"/>
              <a:t>poate</a:t>
            </a:r>
            <a:r>
              <a:rPr lang="en-US" dirty="0"/>
              <a:t> face in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moduri</a:t>
            </a:r>
            <a:r>
              <a:rPr lang="en-US" dirty="0"/>
              <a:t>:</a:t>
            </a:r>
          </a:p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ctx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getServletContext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marL="0" lvl="2"/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ctx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getServletConfig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().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getServletContext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marL="0" lvl="2"/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ctx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request.getServletContext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marL="0" lvl="2"/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ctx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request.getSessoin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().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getServletContext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endParaRPr lang="en-US" dirty="0"/>
          </a:p>
          <a:p>
            <a:r>
              <a:rPr lang="en-US" dirty="0" err="1"/>
              <a:t>Principalele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</a:t>
            </a:r>
            <a:r>
              <a:rPr lang="en-US" dirty="0" err="1"/>
              <a:t>ServletContext</a:t>
            </a:r>
            <a:r>
              <a:rPr lang="en-US" dirty="0"/>
              <a:t>: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3936921"/>
            <a:ext cx="9144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/>
            <a:r>
              <a:rPr lang="en-US" dirty="0">
                <a:latin typeface="Courier New" pitchFamily="49" charset="0"/>
                <a:cs typeface="Courier New" pitchFamily="49" charset="0"/>
              </a:rPr>
              <a:t>Object </a:t>
            </a:r>
            <a:r>
              <a:rPr lang="en-US" b="1" dirty="0" err="1">
                <a:latin typeface="Courier New" pitchFamily="49" charset="0"/>
                <a:cs typeface="Courier New" pitchFamily="49" charset="0"/>
                <a:hlinkClick r:id="rId3"/>
              </a:rPr>
              <a:t>getAttribute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(String name) 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b="1" dirty="0" err="1">
                <a:latin typeface="Courier New" pitchFamily="49" charset="0"/>
                <a:cs typeface="Courier New" pitchFamily="49" charset="0"/>
                <a:hlinkClick r:id="rId3"/>
              </a:rPr>
              <a:t>setAttribute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(String name, Object value) 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Enumeration&lt;String&gt; </a:t>
            </a:r>
            <a:r>
              <a:rPr lang="en-US" b="1" dirty="0" err="1">
                <a:latin typeface="Courier New" pitchFamily="49" charset="0"/>
                <a:cs typeface="Courier New" pitchFamily="49" charset="0"/>
                <a:hlinkClick r:id="rId3"/>
              </a:rPr>
              <a:t>getAttributeNames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 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Enumeration&lt;String&gt; </a:t>
            </a:r>
            <a:r>
              <a:rPr lang="en-US" b="1" dirty="0" err="1">
                <a:latin typeface="Courier New" pitchFamily="49" charset="0"/>
                <a:cs typeface="Courier New" pitchFamily="49" charset="0"/>
                <a:hlinkClick r:id="rId3"/>
              </a:rPr>
              <a:t>getInitParameterNames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 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String </a:t>
            </a:r>
            <a:r>
              <a:rPr lang="en-US" b="1" dirty="0" err="1">
                <a:latin typeface="Courier New" pitchFamily="49" charset="0"/>
                <a:cs typeface="Courier New" pitchFamily="49" charset="0"/>
                <a:hlinkClick r:id="rId3"/>
              </a:rPr>
              <a:t>getMimeType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 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String </a:t>
            </a:r>
            <a:r>
              <a:rPr lang="en-US" b="1" dirty="0" err="1">
                <a:latin typeface="Courier New" pitchFamily="49" charset="0"/>
                <a:cs typeface="Courier New" pitchFamily="49" charset="0"/>
                <a:hlinkClick r:id="rId3"/>
              </a:rPr>
              <a:t>getRealPath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(String path) 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 err="1">
                <a:latin typeface="Courier New" pitchFamily="49" charset="0"/>
                <a:cs typeface="Courier New" pitchFamily="49" charset="0"/>
              </a:rPr>
              <a:t>RequestDispathcer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latin typeface="Courier New" pitchFamily="49" charset="0"/>
                <a:cs typeface="Courier New" pitchFamily="49" charset="0"/>
                <a:hlinkClick r:id="rId3"/>
              </a:rPr>
              <a:t>getRequestDispatcher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(String path) 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String </a:t>
            </a:r>
            <a:r>
              <a:rPr lang="en-US" b="1" dirty="0" err="1">
                <a:latin typeface="Courier New" pitchFamily="49" charset="0"/>
                <a:cs typeface="Courier New" pitchFamily="49" charset="0"/>
                <a:hlinkClick r:id="rId3"/>
              </a:rPr>
              <a:t>getInitParameter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(String name) 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b="1" dirty="0" err="1">
                <a:latin typeface="Courier New" pitchFamily="49" charset="0"/>
                <a:cs typeface="Courier New" pitchFamily="49" charset="0"/>
                <a:hlinkClick r:id="rId3"/>
              </a:rPr>
              <a:t>setInitParameter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(String name, String value) 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b="1" dirty="0" err="1">
                <a:latin typeface="Courier New" pitchFamily="49" charset="0"/>
                <a:cs typeface="Courier New" pitchFamily="49" charset="0"/>
                <a:hlinkClick r:id="rId3"/>
              </a:rPr>
              <a:t>removeAttribute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(String name) </a:t>
            </a:r>
          </a:p>
        </p:txBody>
      </p:sp>
    </p:spTree>
    <p:extLst>
      <p:ext uri="{BB962C8B-B14F-4D97-AF65-F5344CB8AC3E}">
        <p14:creationId xmlns:p14="http://schemas.microsoft.com/office/powerpoint/2010/main" val="20566432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26.10.2025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BFM_Servlets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34</a:t>
            </a:fld>
            <a:r>
              <a:rPr lang="en-US" dirty="0"/>
              <a:t>_/_44_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Download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si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upload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prin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servlet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0" y="385106"/>
            <a:ext cx="9144000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realiza</a:t>
            </a:r>
            <a:r>
              <a:rPr lang="en-US" dirty="0"/>
              <a:t> download-area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fisier</a:t>
            </a:r>
            <a:r>
              <a:rPr lang="en-US" dirty="0"/>
              <a:t> de la server la un client,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necesar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se </a:t>
            </a:r>
            <a:r>
              <a:rPr lang="en-US" dirty="0" err="1"/>
              <a:t>specifice</a:t>
            </a:r>
            <a:r>
              <a:rPr lang="en-US" dirty="0"/>
              <a:t> </a:t>
            </a:r>
            <a:r>
              <a:rPr lang="en-US" dirty="0" err="1"/>
              <a:t>numele</a:t>
            </a:r>
            <a:r>
              <a:rPr lang="en-US" dirty="0"/>
              <a:t> </a:t>
            </a:r>
            <a:r>
              <a:rPr lang="en-US" dirty="0" err="1"/>
              <a:t>fisierului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se </a:t>
            </a:r>
            <a:r>
              <a:rPr lang="en-US" dirty="0" err="1"/>
              <a:t>utilizeze</a:t>
            </a:r>
            <a:r>
              <a:rPr lang="en-US" dirty="0"/>
              <a:t> o </a:t>
            </a:r>
            <a:r>
              <a:rPr lang="en-US" dirty="0" err="1"/>
              <a:t>serie</a:t>
            </a:r>
            <a:r>
              <a:rPr lang="en-US" dirty="0"/>
              <a:t> de </a:t>
            </a:r>
            <a:r>
              <a:rPr lang="en-US" dirty="0" err="1"/>
              <a:t>facilitati</a:t>
            </a:r>
            <a:r>
              <a:rPr lang="en-US" dirty="0"/>
              <a:t> ale </a:t>
            </a:r>
            <a:r>
              <a:rPr lang="en-US" dirty="0" err="1"/>
              <a:t>obiectului</a:t>
            </a:r>
            <a:r>
              <a:rPr lang="en-US" dirty="0"/>
              <a:t> response. </a:t>
            </a:r>
          </a:p>
          <a:p>
            <a:endParaRPr lang="en-US" dirty="0"/>
          </a:p>
          <a:p>
            <a:r>
              <a:rPr lang="en-US" dirty="0"/>
              <a:t>In </a:t>
            </a:r>
            <a:r>
              <a:rPr lang="en-US" dirty="0" err="1">
                <a:solidFill>
                  <a:srgbClr val="FF0000"/>
                </a:solidFill>
              </a:rPr>
              <a:t>aplicatia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7servletDownload</a:t>
            </a:r>
            <a:r>
              <a:rPr lang="en-US" dirty="0"/>
              <a:t> </a:t>
            </a:r>
            <a:r>
              <a:rPr lang="en-US" dirty="0" err="1"/>
              <a:t>exista</a:t>
            </a:r>
            <a:r>
              <a:rPr lang="en-US" dirty="0"/>
              <a:t> un client </a:t>
            </a:r>
            <a:r>
              <a:rPr lang="en-US" b="1" dirty="0"/>
              <a:t>download.html</a:t>
            </a:r>
            <a:r>
              <a:rPr lang="en-US" dirty="0"/>
              <a:t> care </a:t>
            </a:r>
            <a:r>
              <a:rPr lang="en-US" dirty="0" err="1"/>
              <a:t>apeleaza</a:t>
            </a:r>
            <a:r>
              <a:rPr lang="en-US" dirty="0"/>
              <a:t> download-area </a:t>
            </a:r>
            <a:r>
              <a:rPr lang="en-US" dirty="0" err="1"/>
              <a:t>prin</a:t>
            </a:r>
            <a:r>
              <a:rPr lang="en-US" dirty="0"/>
              <a:t> POST, </a:t>
            </a:r>
            <a:r>
              <a:rPr lang="en-US" dirty="0" err="1"/>
              <a:t>dar</a:t>
            </a:r>
            <a:r>
              <a:rPr lang="en-US" dirty="0"/>
              <a:t> </a:t>
            </a:r>
            <a:r>
              <a:rPr lang="en-US" dirty="0" err="1"/>
              <a:t>cererea</a:t>
            </a:r>
            <a:r>
              <a:rPr lang="en-US" dirty="0"/>
              <a:t> se </a:t>
            </a:r>
            <a:r>
              <a:rPr lang="en-US" dirty="0" err="1"/>
              <a:t>poate</a:t>
            </a:r>
            <a:r>
              <a:rPr lang="en-US" dirty="0"/>
              <a:t> face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GET: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http:// - - -:8080/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7servletDownload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download?fileServer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- - - -</a:t>
            </a:r>
          </a:p>
          <a:p>
            <a:r>
              <a:rPr lang="en-US" dirty="0"/>
              <a:t>In </a:t>
            </a:r>
            <a:r>
              <a:rPr lang="en-US" b="1" dirty="0"/>
              <a:t>DownloadServlet.java</a:t>
            </a:r>
            <a:r>
              <a:rPr lang="en-US" dirty="0"/>
              <a:t>, </a:t>
            </a:r>
            <a:r>
              <a:rPr lang="en-US" dirty="0" err="1"/>
              <a:t>operatia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complet</a:t>
            </a:r>
            <a:r>
              <a:rPr lang="en-US" dirty="0"/>
              <a:t> </a:t>
            </a:r>
            <a:r>
              <a:rPr lang="en-US" dirty="0" err="1"/>
              <a:t>asigurata</a:t>
            </a:r>
            <a:r>
              <a:rPr lang="en-US" dirty="0"/>
              <a:t> de </a:t>
            </a:r>
            <a:r>
              <a:rPr lang="en-US" dirty="0" err="1"/>
              <a:t>metoda</a:t>
            </a:r>
            <a:r>
              <a:rPr lang="en-US" dirty="0"/>
              <a:t> </a:t>
            </a:r>
            <a:r>
              <a:rPr lang="en-US" b="1" dirty="0" err="1"/>
              <a:t>doDownload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Operatia</a:t>
            </a:r>
            <a:r>
              <a:rPr lang="en-US" dirty="0"/>
              <a:t> upload s-a </a:t>
            </a:r>
            <a:r>
              <a:rPr lang="en-US" dirty="0" err="1"/>
              <a:t>realizat</a:t>
            </a:r>
            <a:r>
              <a:rPr lang="en-US" dirty="0"/>
              <a:t> in </a:t>
            </a:r>
            <a:r>
              <a:rPr lang="en-US" dirty="0" err="1"/>
              <a:t>timp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. </a:t>
            </a:r>
            <a:r>
              <a:rPr lang="en-US" dirty="0" err="1"/>
              <a:t>Noi</a:t>
            </a:r>
            <a:r>
              <a:rPr lang="en-US" dirty="0"/>
              <a:t> am ales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prezentam</a:t>
            </a:r>
            <a:r>
              <a:rPr lang="en-US" dirty="0"/>
              <a:t> ultima, </a:t>
            </a:r>
            <a:r>
              <a:rPr lang="en-US" dirty="0" err="1"/>
              <a:t>valabila</a:t>
            </a:r>
            <a:r>
              <a:rPr lang="en-US" dirty="0"/>
              <a:t> </a:t>
            </a:r>
            <a:r>
              <a:rPr lang="en-US" dirty="0" err="1"/>
              <a:t>incepand</a:t>
            </a:r>
            <a:r>
              <a:rPr lang="en-US" dirty="0"/>
              <a:t> cu 3.0. In servlet se </a:t>
            </a:r>
            <a:r>
              <a:rPr lang="en-US" dirty="0" err="1"/>
              <a:t>foloseste</a:t>
            </a:r>
            <a:r>
              <a:rPr lang="en-US" dirty="0"/>
              <a:t> </a:t>
            </a:r>
            <a:r>
              <a:rPr lang="en-US" b="1" dirty="0"/>
              <a:t>@</a:t>
            </a:r>
            <a:r>
              <a:rPr lang="en-US" b="1" dirty="0" err="1"/>
              <a:t>MultipartConfig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metodele</a:t>
            </a:r>
            <a:r>
              <a:rPr lang="en-US" dirty="0"/>
              <a:t> </a:t>
            </a:r>
            <a:r>
              <a:rPr lang="en-US" dirty="0" err="1"/>
              <a:t>interfatei</a:t>
            </a:r>
            <a:r>
              <a:rPr lang="en-US" dirty="0"/>
              <a:t> </a:t>
            </a:r>
            <a:r>
              <a:rPr lang="en-US" b="1" dirty="0"/>
              <a:t>Part</a:t>
            </a:r>
            <a:r>
              <a:rPr lang="en-US" dirty="0"/>
              <a:t> de la servlet. </a:t>
            </a:r>
          </a:p>
          <a:p>
            <a:endParaRPr lang="en-US" dirty="0"/>
          </a:p>
          <a:p>
            <a:r>
              <a:rPr lang="en-US" dirty="0" err="1">
                <a:solidFill>
                  <a:srgbClr val="FF0000"/>
                </a:solidFill>
              </a:rPr>
              <a:t>Exemplul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8servletUpload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/>
              <a:t>este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/>
              <a:t>suficient</a:t>
            </a:r>
            <a:r>
              <a:rPr lang="en-US" dirty="0"/>
              <a:t> de general </a:t>
            </a:r>
            <a:r>
              <a:rPr lang="en-US" dirty="0" err="1"/>
              <a:t>spre</a:t>
            </a:r>
            <a:r>
              <a:rPr lang="en-US" dirty="0"/>
              <a:t> a fi </a:t>
            </a:r>
            <a:r>
              <a:rPr lang="en-US" dirty="0" err="1"/>
              <a:t>folosit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orice</a:t>
            </a:r>
            <a:r>
              <a:rPr lang="en-US" dirty="0"/>
              <a:t> upload-</a:t>
            </a:r>
            <a:r>
              <a:rPr lang="en-US" dirty="0" err="1"/>
              <a:t>uri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 err="1"/>
              <a:t>Clientul</a:t>
            </a:r>
            <a:r>
              <a:rPr lang="en-US" dirty="0"/>
              <a:t> html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obligatoriu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faca</a:t>
            </a:r>
            <a:r>
              <a:rPr lang="en-US" dirty="0"/>
              <a:t> </a:t>
            </a:r>
            <a:r>
              <a:rPr lang="en-US" dirty="0" err="1"/>
              <a:t>cererea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POST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foloseasca</a:t>
            </a:r>
            <a:r>
              <a:rPr lang="en-US" dirty="0"/>
              <a:t> </a:t>
            </a:r>
            <a:r>
              <a:rPr lang="en-US" dirty="0" err="1"/>
              <a:t>atributul</a:t>
            </a:r>
            <a:r>
              <a:rPr lang="en-US" dirty="0"/>
              <a:t> </a:t>
            </a:r>
            <a:r>
              <a:rPr lang="en-US" b="1" dirty="0" err="1"/>
              <a:t>enctype</a:t>
            </a:r>
            <a:r>
              <a:rPr lang="en-US" b="1" dirty="0"/>
              <a:t>=“multipart/form-data”</a:t>
            </a:r>
            <a:r>
              <a:rPr lang="en-US" dirty="0"/>
              <a:t>. </a:t>
            </a:r>
            <a:r>
              <a:rPr lang="en-US" dirty="0" err="1"/>
              <a:t>Tagul</a:t>
            </a:r>
            <a:r>
              <a:rPr lang="en-US" dirty="0"/>
              <a:t> input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fie de </a:t>
            </a:r>
            <a:r>
              <a:rPr lang="en-US" b="1" dirty="0"/>
              <a:t>type=“file”</a:t>
            </a:r>
            <a:r>
              <a:rPr lang="en-US" dirty="0"/>
              <a:t>. </a:t>
            </a:r>
            <a:r>
              <a:rPr lang="en-US" dirty="0" err="1"/>
              <a:t>Clientul</a:t>
            </a:r>
            <a:r>
              <a:rPr lang="en-US" dirty="0"/>
              <a:t> </a:t>
            </a:r>
            <a:r>
              <a:rPr lang="en-US" dirty="0" err="1"/>
              <a:t>nostru</a:t>
            </a:r>
            <a:r>
              <a:rPr lang="en-US" dirty="0"/>
              <a:t>, </a:t>
            </a:r>
            <a:r>
              <a:rPr lang="en-US" b="1" dirty="0"/>
              <a:t>upload.html</a:t>
            </a:r>
            <a:r>
              <a:rPr lang="en-US" dirty="0"/>
              <a:t> </a:t>
            </a:r>
            <a:r>
              <a:rPr lang="en-US" dirty="0" err="1"/>
              <a:t>permite</a:t>
            </a:r>
            <a:r>
              <a:rPr lang="en-US" dirty="0"/>
              <a:t> </a:t>
            </a:r>
            <a:r>
              <a:rPr lang="en-US" dirty="0" err="1"/>
              <a:t>cecerea</a:t>
            </a:r>
            <a:r>
              <a:rPr lang="en-US" dirty="0"/>
              <a:t> de </a:t>
            </a:r>
            <a:r>
              <a:rPr lang="en-US" dirty="0" err="1"/>
              <a:t>trei</a:t>
            </a:r>
            <a:r>
              <a:rPr lang="en-US" dirty="0"/>
              <a:t> </a:t>
            </a:r>
            <a:r>
              <a:rPr lang="en-US" dirty="0" err="1"/>
              <a:t>fisiere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fie </a:t>
            </a:r>
            <a:r>
              <a:rPr lang="en-US" dirty="0" err="1"/>
              <a:t>uploadate</a:t>
            </a:r>
            <a:r>
              <a:rPr lang="en-US" dirty="0"/>
              <a:t> (se </a:t>
            </a:r>
            <a:r>
              <a:rPr lang="en-US" dirty="0" err="1"/>
              <a:t>generalizeaza</a:t>
            </a:r>
            <a:r>
              <a:rPr lang="en-US" dirty="0"/>
              <a:t> </a:t>
            </a:r>
            <a:r>
              <a:rPr lang="en-US" dirty="0" err="1"/>
              <a:t>usor</a:t>
            </a:r>
            <a:r>
              <a:rPr lang="en-US" dirty="0"/>
              <a:t>). De </a:t>
            </a:r>
            <a:r>
              <a:rPr lang="en-US" dirty="0" err="1"/>
              <a:t>asemenea</a:t>
            </a:r>
            <a:r>
              <a:rPr lang="en-US" dirty="0"/>
              <a:t>, </a:t>
            </a:r>
            <a:r>
              <a:rPr lang="en-US" dirty="0" err="1"/>
              <a:t>clientul</a:t>
            </a:r>
            <a:r>
              <a:rPr lang="en-US" dirty="0"/>
              <a:t> </a:t>
            </a:r>
            <a:r>
              <a:rPr lang="en-US" dirty="0" err="1"/>
              <a:t>cere</a:t>
            </a:r>
            <a:r>
              <a:rPr lang="en-US" dirty="0"/>
              <a:t> </a:t>
            </a:r>
            <a:r>
              <a:rPr lang="en-US" dirty="0" err="1"/>
              <a:t>directorul</a:t>
            </a:r>
            <a:r>
              <a:rPr lang="en-US" dirty="0"/>
              <a:t> server </a:t>
            </a:r>
            <a:r>
              <a:rPr lang="en-US" dirty="0" err="1"/>
              <a:t>unde</a:t>
            </a:r>
            <a:r>
              <a:rPr lang="en-US" dirty="0"/>
              <a:t> se </a:t>
            </a:r>
            <a:r>
              <a:rPr lang="en-US" dirty="0" err="1"/>
              <a:t>depun</a:t>
            </a:r>
            <a:r>
              <a:rPr lang="en-US" dirty="0"/>
              <a:t> </a:t>
            </a:r>
            <a:r>
              <a:rPr lang="en-US" dirty="0" err="1"/>
              <a:t>fisierele</a:t>
            </a:r>
            <a:r>
              <a:rPr lang="en-US" dirty="0"/>
              <a:t> </a:t>
            </a:r>
            <a:r>
              <a:rPr lang="en-US" dirty="0" err="1"/>
              <a:t>uploadate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In </a:t>
            </a:r>
            <a:r>
              <a:rPr lang="en-US" dirty="0" err="1"/>
              <a:t>ceea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priveste</a:t>
            </a:r>
            <a:r>
              <a:rPr lang="en-US" dirty="0"/>
              <a:t> </a:t>
            </a:r>
            <a:r>
              <a:rPr lang="en-US" dirty="0" err="1"/>
              <a:t>actiunea</a:t>
            </a:r>
            <a:r>
              <a:rPr lang="en-US" dirty="0"/>
              <a:t> de la </a:t>
            </a:r>
            <a:r>
              <a:rPr lang="en-US" b="1" dirty="0"/>
              <a:t>UploadServlet.java</a:t>
            </a:r>
            <a:r>
              <a:rPr lang="en-US" dirty="0"/>
              <a:t>, </a:t>
            </a:r>
            <a:r>
              <a:rPr lang="en-US" dirty="0" err="1"/>
              <a:t>operatia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asigurata</a:t>
            </a:r>
            <a:r>
              <a:rPr lang="en-US" dirty="0"/>
              <a:t> de </a:t>
            </a:r>
            <a:r>
              <a:rPr lang="en-US" dirty="0" err="1"/>
              <a:t>metoda</a:t>
            </a:r>
            <a:r>
              <a:rPr lang="en-US" dirty="0"/>
              <a:t> </a:t>
            </a:r>
            <a:r>
              <a:rPr lang="en-US" b="1" dirty="0" err="1"/>
              <a:t>doUpload</a:t>
            </a:r>
            <a:r>
              <a:rPr lang="en-US" dirty="0"/>
              <a:t> </a:t>
            </a:r>
            <a:r>
              <a:rPr lang="en-US" dirty="0" err="1"/>
              <a:t>completata</a:t>
            </a:r>
            <a:r>
              <a:rPr lang="en-US" dirty="0"/>
              <a:t> cu </a:t>
            </a:r>
            <a:r>
              <a:rPr lang="en-US" dirty="0" err="1"/>
              <a:t>metoda</a:t>
            </a:r>
            <a:r>
              <a:rPr lang="en-US" dirty="0"/>
              <a:t> </a:t>
            </a:r>
            <a:r>
              <a:rPr lang="en-US" dirty="0" err="1"/>
              <a:t>ajutatoare</a:t>
            </a:r>
            <a:r>
              <a:rPr lang="en-US" dirty="0"/>
              <a:t> </a:t>
            </a:r>
            <a:r>
              <a:rPr lang="en-US" b="1" dirty="0" err="1"/>
              <a:t>getFileName</a:t>
            </a:r>
            <a:r>
              <a:rPr lang="en-US" b="1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748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26.10.2025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BFM_Servlets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35</a:t>
            </a:fld>
            <a:r>
              <a:rPr lang="en-US" dirty="0"/>
              <a:t>_/_44_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Trimitere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emailuri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din Java (1/2)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0" y="400872"/>
            <a:ext cx="9144000" cy="64171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Desi nu </a:t>
            </a:r>
            <a:r>
              <a:rPr lang="en-US" dirty="0" err="1"/>
              <a:t>fac</a:t>
            </a:r>
            <a:r>
              <a:rPr lang="en-US" dirty="0"/>
              <a:t> parte din </a:t>
            </a:r>
            <a:r>
              <a:rPr lang="en-US" dirty="0" err="1"/>
              <a:t>tematica</a:t>
            </a:r>
            <a:r>
              <a:rPr lang="en-US" dirty="0"/>
              <a:t> servlet, </a:t>
            </a:r>
            <a:r>
              <a:rPr lang="en-US" dirty="0" err="1"/>
              <a:t>consideram</a:t>
            </a:r>
            <a:r>
              <a:rPr lang="en-US" dirty="0"/>
              <a:t> </a:t>
            </a:r>
            <a:r>
              <a:rPr lang="en-US" dirty="0" err="1"/>
              <a:t>oportun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prezentam</a:t>
            </a:r>
            <a:r>
              <a:rPr lang="en-US" dirty="0"/>
              <a:t> </a:t>
            </a:r>
            <a:r>
              <a:rPr lang="en-US" dirty="0" err="1"/>
              <a:t>aici</a:t>
            </a:r>
            <a:r>
              <a:rPr lang="en-US" dirty="0"/>
              <a:t> </a:t>
            </a:r>
            <a:r>
              <a:rPr lang="en-US" dirty="0" err="1"/>
              <a:t>acest</a:t>
            </a:r>
            <a:r>
              <a:rPr lang="en-US" dirty="0"/>
              <a:t> </a:t>
            </a:r>
            <a:r>
              <a:rPr lang="en-US" dirty="0" err="1"/>
              <a:t>subiect</a:t>
            </a:r>
            <a:r>
              <a:rPr lang="en-US" dirty="0"/>
              <a:t>.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aceasta</a:t>
            </a:r>
            <a:r>
              <a:rPr lang="en-US" dirty="0"/>
              <a:t> </a:t>
            </a:r>
            <a:r>
              <a:rPr lang="en-US" dirty="0" err="1"/>
              <a:t>actiune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suficient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se </a:t>
            </a:r>
            <a:r>
              <a:rPr lang="en-US" dirty="0" err="1"/>
              <a:t>foloseasca</a:t>
            </a:r>
            <a:r>
              <a:rPr lang="en-US" dirty="0"/>
              <a:t> </a:t>
            </a:r>
            <a:r>
              <a:rPr lang="en-US" b="1" dirty="0" err="1"/>
              <a:t>JavaMail</a:t>
            </a:r>
            <a:r>
              <a:rPr lang="en-US" dirty="0"/>
              <a:t> API </a:t>
            </a:r>
            <a:r>
              <a:rPr lang="en-US" dirty="0" err="1"/>
              <a:t>si</a:t>
            </a:r>
            <a:r>
              <a:rPr lang="en-US" dirty="0"/>
              <a:t> Java Activation Framework (</a:t>
            </a:r>
            <a:r>
              <a:rPr lang="en-US" b="1" dirty="0"/>
              <a:t>JAF</a:t>
            </a:r>
            <a:r>
              <a:rPr lang="en-US" dirty="0"/>
              <a:t>). In </a:t>
            </a:r>
            <a:r>
              <a:rPr lang="en-US" dirty="0" err="1"/>
              <a:t>acest</a:t>
            </a:r>
            <a:r>
              <a:rPr lang="en-US" dirty="0"/>
              <a:t> </a:t>
            </a:r>
            <a:r>
              <a:rPr lang="en-US" dirty="0" err="1"/>
              <a:t>scop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necesare</a:t>
            </a:r>
            <a:r>
              <a:rPr lang="en-US" dirty="0"/>
              <a:t> </a:t>
            </a:r>
            <a:r>
              <a:rPr lang="en-US" dirty="0" err="1"/>
              <a:t>arhivele</a:t>
            </a:r>
            <a:r>
              <a:rPr lang="en-US" dirty="0"/>
              <a:t> </a:t>
            </a:r>
            <a:r>
              <a:rPr lang="en-US" b="1" dirty="0"/>
              <a:t>mail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b="1" dirty="0"/>
              <a:t>activation</a:t>
            </a:r>
            <a:r>
              <a:rPr lang="en-US" dirty="0"/>
              <a:t>.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mesaje</a:t>
            </a:r>
            <a:r>
              <a:rPr lang="en-US" dirty="0"/>
              <a:t> simple se </a:t>
            </a:r>
            <a:r>
              <a:rPr lang="en-US" dirty="0" err="1"/>
              <a:t>foloseste</a:t>
            </a:r>
            <a:r>
              <a:rPr lang="en-US" dirty="0"/>
              <a:t> din </a:t>
            </a:r>
            <a:r>
              <a:rPr lang="en-US" b="1" dirty="0" err="1"/>
              <a:t>javax.mail</a:t>
            </a:r>
            <a:r>
              <a:rPr lang="en-US" dirty="0"/>
              <a:t> </a:t>
            </a:r>
            <a:r>
              <a:rPr lang="en-US" dirty="0" err="1"/>
              <a:t>obiect</a:t>
            </a:r>
            <a:r>
              <a:rPr lang="en-US" dirty="0"/>
              <a:t> </a:t>
            </a:r>
            <a:r>
              <a:rPr lang="en-US" b="1" dirty="0" err="1"/>
              <a:t>MimeMessage</a:t>
            </a:r>
            <a:r>
              <a:rPr lang="en-US" dirty="0"/>
              <a:t>. In </a:t>
            </a:r>
            <a:r>
              <a:rPr lang="en-US" dirty="0" err="1"/>
              <a:t>caz</a:t>
            </a:r>
            <a:r>
              <a:rPr lang="en-US" dirty="0"/>
              <a:t> de </a:t>
            </a:r>
            <a:r>
              <a:rPr lang="en-US" dirty="0" err="1"/>
              <a:t>atachment</a:t>
            </a:r>
            <a:r>
              <a:rPr lang="en-US" dirty="0"/>
              <a:t>, se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folosesc</a:t>
            </a:r>
            <a:r>
              <a:rPr lang="en-US" dirty="0"/>
              <a:t> in plus </a:t>
            </a:r>
            <a:r>
              <a:rPr lang="en-US" b="1" dirty="0" err="1"/>
              <a:t>MimeBodyPart</a:t>
            </a:r>
            <a:r>
              <a:rPr lang="en-US" dirty="0"/>
              <a:t>, </a:t>
            </a:r>
            <a:r>
              <a:rPr lang="en-US" b="1" dirty="0" err="1"/>
              <a:t>BodyPart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b="1" dirty="0"/>
              <a:t>Multipart.</a:t>
            </a:r>
          </a:p>
          <a:p>
            <a:endParaRPr lang="en-US" dirty="0"/>
          </a:p>
          <a:p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exemplificare</a:t>
            </a:r>
            <a:r>
              <a:rPr lang="en-US" dirty="0"/>
              <a:t>, </a:t>
            </a:r>
            <a:r>
              <a:rPr lang="en-US" dirty="0" err="1"/>
              <a:t>construim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intai</a:t>
            </a:r>
            <a:r>
              <a:rPr lang="en-US" dirty="0"/>
              <a:t> </a:t>
            </a:r>
            <a:r>
              <a:rPr lang="en-US" dirty="0" err="1"/>
              <a:t>clasa</a:t>
            </a:r>
            <a:r>
              <a:rPr lang="en-US" dirty="0"/>
              <a:t> </a:t>
            </a:r>
            <a:r>
              <a:rPr lang="en-US" b="1" dirty="0" err="1"/>
              <a:t>SendMails</a:t>
            </a:r>
            <a:r>
              <a:rPr lang="en-US" dirty="0"/>
              <a:t> cu </a:t>
            </a:r>
            <a:r>
              <a:rPr lang="en-US" dirty="0" err="1"/>
              <a:t>metodele</a:t>
            </a:r>
            <a:r>
              <a:rPr lang="en-US" dirty="0"/>
              <a:t> </a:t>
            </a:r>
            <a:r>
              <a:rPr lang="en-US" dirty="0" err="1"/>
              <a:t>statice</a:t>
            </a:r>
            <a:r>
              <a:rPr lang="en-US" dirty="0"/>
              <a:t>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700" b="1" dirty="0">
                <a:latin typeface="Courier New" pitchFamily="49" charset="0"/>
                <a:cs typeface="Courier New" pitchFamily="49" charset="0"/>
              </a:rPr>
              <a:t>send(from,  to, cc, bcc, subject, </a:t>
            </a:r>
            <a:r>
              <a:rPr lang="en-US" sz="1700" b="1" dirty="0" err="1">
                <a:latin typeface="Courier New" pitchFamily="49" charset="0"/>
                <a:cs typeface="Courier New" pitchFamily="49" charset="0"/>
              </a:rPr>
              <a:t>mmessage</a:t>
            </a:r>
            <a:r>
              <a:rPr lang="en-US" sz="17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700" b="1" dirty="0" err="1">
                <a:latin typeface="Courier New" pitchFamily="49" charset="0"/>
                <a:cs typeface="Courier New" pitchFamily="49" charset="0"/>
              </a:rPr>
              <a:t>fileattch</a:t>
            </a:r>
            <a:r>
              <a:rPr lang="en-US" sz="17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700" b="1" dirty="0" err="1">
                <a:latin typeface="Courier New" pitchFamily="49" charset="0"/>
                <a:cs typeface="Courier New" pitchFamily="49" charset="0"/>
              </a:rPr>
              <a:t>smtphost</a:t>
            </a:r>
            <a:r>
              <a:rPr lang="en-US" sz="1700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700" b="1" dirty="0" err="1">
                <a:latin typeface="Courier New" pitchFamily="49" charset="0"/>
                <a:cs typeface="Courier New" pitchFamily="49" charset="0"/>
              </a:rPr>
              <a:t>mailFromFile</a:t>
            </a:r>
            <a:r>
              <a:rPr lang="en-US" sz="1700" b="1" dirty="0">
                <a:latin typeface="Courier New" pitchFamily="49" charset="0"/>
                <a:cs typeface="Courier New" pitchFamily="49" charset="0"/>
              </a:rPr>
              <a:t>(in)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17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/>
              <a:t>send</a:t>
            </a:r>
            <a:r>
              <a:rPr lang="en-US" dirty="0"/>
              <a:t> </a:t>
            </a:r>
            <a:r>
              <a:rPr lang="en-US" dirty="0" err="1"/>
              <a:t>trimite</a:t>
            </a:r>
            <a:r>
              <a:rPr lang="en-US" dirty="0"/>
              <a:t> un </a:t>
            </a:r>
            <a:r>
              <a:rPr lang="en-US" dirty="0" err="1"/>
              <a:t>mesaj</a:t>
            </a:r>
            <a:r>
              <a:rPr lang="en-US" dirty="0"/>
              <a:t> la </a:t>
            </a:r>
            <a:r>
              <a:rPr lang="en-US" dirty="0" err="1"/>
              <a:t>unul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multi </a:t>
            </a:r>
            <a:r>
              <a:rPr lang="en-US" dirty="0" err="1"/>
              <a:t>destinatari</a:t>
            </a:r>
            <a:r>
              <a:rPr lang="en-US" dirty="0"/>
              <a:t>, eventual </a:t>
            </a:r>
            <a:r>
              <a:rPr lang="en-US" dirty="0" err="1"/>
              <a:t>atasand</a:t>
            </a:r>
            <a:r>
              <a:rPr lang="en-US" dirty="0"/>
              <a:t> </a:t>
            </a:r>
            <a:r>
              <a:rPr lang="en-US" dirty="0" err="1"/>
              <a:t>unul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fisiere</a:t>
            </a:r>
            <a:r>
              <a:rPr lang="en-US" dirty="0"/>
              <a:t>. </a:t>
            </a:r>
            <a:r>
              <a:rPr lang="en-US" dirty="0" err="1"/>
              <a:t>Listele</a:t>
            </a:r>
            <a:r>
              <a:rPr lang="en-US" dirty="0"/>
              <a:t> </a:t>
            </a:r>
            <a:r>
              <a:rPr lang="en-US" b="1" dirty="0"/>
              <a:t>to</a:t>
            </a:r>
            <a:r>
              <a:rPr lang="en-US" dirty="0"/>
              <a:t>, </a:t>
            </a:r>
            <a:r>
              <a:rPr lang="en-US" b="1" dirty="0"/>
              <a:t>cc</a:t>
            </a:r>
            <a:r>
              <a:rPr lang="en-US" dirty="0"/>
              <a:t>, </a:t>
            </a:r>
            <a:r>
              <a:rPr lang="en-US" b="1" dirty="0"/>
              <a:t>bcc </a:t>
            </a:r>
            <a:r>
              <a:rPr lang="en-US" dirty="0"/>
              <a:t>(</a:t>
            </a:r>
            <a:r>
              <a:rPr lang="en-US" dirty="0" err="1"/>
              <a:t>adrese</a:t>
            </a:r>
            <a:r>
              <a:rPr lang="en-US" dirty="0"/>
              <a:t> </a:t>
            </a:r>
            <a:r>
              <a:rPr lang="en-US" dirty="0" err="1"/>
              <a:t>destinatari</a:t>
            </a:r>
            <a:r>
              <a:rPr lang="en-US" dirty="0"/>
              <a:t>), </a:t>
            </a:r>
            <a:r>
              <a:rPr lang="en-US" b="1" dirty="0" err="1"/>
              <a:t>fileAttach</a:t>
            </a:r>
            <a:r>
              <a:rPr lang="en-US" dirty="0"/>
              <a:t> (</a:t>
            </a:r>
            <a:r>
              <a:rPr lang="en-US" dirty="0" err="1"/>
              <a:t>fisiere</a:t>
            </a:r>
            <a:r>
              <a:rPr lang="en-US" dirty="0"/>
              <a:t> de </a:t>
            </a:r>
            <a:r>
              <a:rPr lang="en-US" dirty="0" err="1"/>
              <a:t>atasat</a:t>
            </a:r>
            <a:r>
              <a:rPr lang="en-US" dirty="0"/>
              <a:t>) pot fi </a:t>
            </a:r>
            <a:r>
              <a:rPr lang="en-US" dirty="0" err="1"/>
              <a:t>nule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de </a:t>
            </a:r>
            <a:r>
              <a:rPr lang="en-US" dirty="0" err="1"/>
              <a:t>lungime</a:t>
            </a:r>
            <a:r>
              <a:rPr lang="en-US" dirty="0"/>
              <a:t> 0.</a:t>
            </a:r>
          </a:p>
          <a:p>
            <a:r>
              <a:rPr lang="en-US" b="1" dirty="0"/>
              <a:t>from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expeditorul</a:t>
            </a:r>
            <a:r>
              <a:rPr lang="en-US" dirty="0"/>
              <a:t>, </a:t>
            </a:r>
            <a:r>
              <a:rPr lang="en-US" b="1" dirty="0"/>
              <a:t>subject</a:t>
            </a:r>
            <a:r>
              <a:rPr lang="en-US" dirty="0"/>
              <a:t>  </a:t>
            </a:r>
            <a:r>
              <a:rPr lang="en-US" dirty="0" err="1"/>
              <a:t>subiectul</a:t>
            </a:r>
            <a:r>
              <a:rPr lang="en-US" dirty="0"/>
              <a:t> </a:t>
            </a:r>
            <a:r>
              <a:rPr lang="en-US" dirty="0" err="1"/>
              <a:t>mesajului</a:t>
            </a:r>
            <a:r>
              <a:rPr lang="en-US" dirty="0"/>
              <a:t>, </a:t>
            </a:r>
            <a:r>
              <a:rPr lang="en-US" b="1" dirty="0" err="1"/>
              <a:t>mesaj</a:t>
            </a:r>
            <a:r>
              <a:rPr lang="en-US" dirty="0"/>
              <a:t> </a:t>
            </a:r>
            <a:r>
              <a:rPr lang="en-US" dirty="0" err="1"/>
              <a:t>corpul</a:t>
            </a:r>
            <a:r>
              <a:rPr lang="en-US" dirty="0"/>
              <a:t> </a:t>
            </a:r>
            <a:r>
              <a:rPr lang="en-US" dirty="0" err="1"/>
              <a:t>mesajului</a:t>
            </a:r>
            <a:r>
              <a:rPr lang="en-US" dirty="0"/>
              <a:t>;</a:t>
            </a:r>
          </a:p>
          <a:p>
            <a:r>
              <a:rPr lang="en-US" b="1" dirty="0" err="1"/>
              <a:t>smtphost</a:t>
            </a:r>
            <a:r>
              <a:rPr lang="en-US" dirty="0"/>
              <a:t> </a:t>
            </a:r>
            <a:r>
              <a:rPr lang="en-US" dirty="0" err="1"/>
              <a:t>serverul</a:t>
            </a:r>
            <a:r>
              <a:rPr lang="en-US" dirty="0"/>
              <a:t> de mail care </a:t>
            </a:r>
            <a:r>
              <a:rPr lang="en-US" dirty="0" err="1"/>
              <a:t>expediaza</a:t>
            </a:r>
            <a:r>
              <a:rPr lang="en-US" dirty="0"/>
              <a:t>.</a:t>
            </a:r>
          </a:p>
          <a:p>
            <a:r>
              <a:rPr lang="en-US" dirty="0" err="1"/>
              <a:t>Functia</a:t>
            </a:r>
            <a:r>
              <a:rPr lang="en-US" dirty="0"/>
              <a:t> </a:t>
            </a:r>
            <a:r>
              <a:rPr lang="en-US" b="1" dirty="0" err="1"/>
              <a:t>intoarce</a:t>
            </a:r>
            <a:r>
              <a:rPr lang="en-US" b="1" dirty="0"/>
              <a:t> un string</a:t>
            </a:r>
            <a:r>
              <a:rPr lang="en-US" dirty="0"/>
              <a:t> vid </a:t>
            </a:r>
            <a:r>
              <a:rPr lang="en-US" dirty="0" err="1"/>
              <a:t>daca</a:t>
            </a:r>
            <a:r>
              <a:rPr lang="en-US" dirty="0"/>
              <a:t> nu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erori</a:t>
            </a:r>
            <a:r>
              <a:rPr lang="en-US" dirty="0"/>
              <a:t> / </a:t>
            </a:r>
            <a:r>
              <a:rPr lang="en-US" dirty="0" err="1"/>
              <a:t>esecuri</a:t>
            </a:r>
            <a:r>
              <a:rPr lang="en-US" dirty="0"/>
              <a:t>,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linii</a:t>
            </a:r>
            <a:r>
              <a:rPr lang="en-US" dirty="0"/>
              <a:t> ale </a:t>
            </a:r>
            <a:r>
              <a:rPr lang="en-US" dirty="0" err="1"/>
              <a:t>unor</a:t>
            </a:r>
            <a:r>
              <a:rPr lang="en-US" dirty="0"/>
              <a:t> </a:t>
            </a:r>
            <a:r>
              <a:rPr lang="en-US" dirty="0" err="1"/>
              <a:t>erori</a:t>
            </a:r>
            <a:r>
              <a:rPr lang="en-US" dirty="0"/>
              <a:t> de </a:t>
            </a:r>
            <a:r>
              <a:rPr lang="en-US" dirty="0" err="1"/>
              <a:t>transmitere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 err="1"/>
              <a:t>mailFromFile</a:t>
            </a:r>
            <a:r>
              <a:rPr lang="en-US" dirty="0"/>
              <a:t> </a:t>
            </a:r>
            <a:r>
              <a:rPr lang="en-US" dirty="0" err="1"/>
              <a:t>primeste</a:t>
            </a:r>
            <a:r>
              <a:rPr lang="en-US" dirty="0"/>
              <a:t> </a:t>
            </a:r>
            <a:r>
              <a:rPr lang="en-US" dirty="0" err="1"/>
              <a:t>fisierul</a:t>
            </a:r>
            <a:r>
              <a:rPr lang="en-US" dirty="0"/>
              <a:t> text </a:t>
            </a:r>
            <a:r>
              <a:rPr lang="en-US" b="1" dirty="0"/>
              <a:t>in</a:t>
            </a:r>
            <a:r>
              <a:rPr lang="en-US" dirty="0"/>
              <a:t> (</a:t>
            </a:r>
            <a:r>
              <a:rPr lang="en-US" dirty="0" err="1"/>
              <a:t>deja</a:t>
            </a:r>
            <a:r>
              <a:rPr lang="en-US" dirty="0"/>
              <a:t> </a:t>
            </a:r>
            <a:r>
              <a:rPr lang="en-US" dirty="0" err="1"/>
              <a:t>deschis</a:t>
            </a:r>
            <a:r>
              <a:rPr lang="en-US" dirty="0"/>
              <a:t>) cu o </a:t>
            </a:r>
            <a:r>
              <a:rPr lang="en-US" dirty="0" err="1"/>
              <a:t>structura</a:t>
            </a:r>
            <a:r>
              <a:rPr lang="en-US" dirty="0"/>
              <a:t> de </a:t>
            </a:r>
            <a:r>
              <a:rPr lang="en-US" dirty="0" err="1"/>
              <a:t>linii</a:t>
            </a:r>
            <a:r>
              <a:rPr lang="en-US" dirty="0"/>
              <a:t> care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permita</a:t>
            </a:r>
            <a:r>
              <a:rPr lang="en-US" dirty="0"/>
              <a:t> </a:t>
            </a:r>
            <a:r>
              <a:rPr lang="en-US" dirty="0" err="1"/>
              <a:t>trimiterea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aceliuasi</a:t>
            </a:r>
            <a:r>
              <a:rPr lang="en-US" dirty="0"/>
              <a:t> </a:t>
            </a:r>
            <a:r>
              <a:rPr lang="en-US" dirty="0" err="1"/>
              <a:t>mesaj</a:t>
            </a:r>
            <a:r>
              <a:rPr lang="en-US" dirty="0"/>
              <a:t>, cu eventual </a:t>
            </a:r>
            <a:r>
              <a:rPr lang="en-US" dirty="0" err="1"/>
              <a:t>atasamente</a:t>
            </a:r>
            <a:r>
              <a:rPr lang="en-US" dirty="0"/>
              <a:t>, la </a:t>
            </a:r>
            <a:r>
              <a:rPr lang="en-US" dirty="0" err="1"/>
              <a:t>destinatari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In </a:t>
            </a:r>
            <a:r>
              <a:rPr lang="en-US" b="1" dirty="0" err="1"/>
              <a:t>9SendMails</a:t>
            </a:r>
            <a:r>
              <a:rPr lang="en-US" dirty="0"/>
              <a:t>/ </a:t>
            </a:r>
            <a:r>
              <a:rPr lang="en-US" dirty="0" err="1"/>
              <a:t>Scriptul</a:t>
            </a:r>
            <a:r>
              <a:rPr lang="en-US" dirty="0"/>
              <a:t> </a:t>
            </a:r>
            <a:r>
              <a:rPr lang="en-US" b="1" dirty="0"/>
              <a:t>sm.bat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b="1" dirty="0" err="1"/>
              <a:t>buildSM.gradle</a:t>
            </a:r>
            <a:r>
              <a:rPr lang="en-US" dirty="0"/>
              <a:t> </a:t>
            </a:r>
            <a:r>
              <a:rPr lang="en-US" dirty="0" err="1"/>
              <a:t>implementeaza</a:t>
            </a:r>
            <a:r>
              <a:rPr lang="en-US" dirty="0"/>
              <a:t> </a:t>
            </a:r>
            <a:r>
              <a:rPr lang="en-US" dirty="0" err="1"/>
              <a:t>crearea</a:t>
            </a:r>
            <a:r>
              <a:rPr lang="en-US" dirty="0"/>
              <a:t> </a:t>
            </a:r>
            <a:r>
              <a:rPr lang="en-US" b="1" dirty="0"/>
              <a:t>SendMails.jar</a:t>
            </a:r>
            <a:r>
              <a:rPr lang="en-US" dirty="0"/>
              <a:t> care </a:t>
            </a:r>
            <a:r>
              <a:rPr lang="en-US" dirty="0" err="1"/>
              <a:t>va</a:t>
            </a:r>
            <a:r>
              <a:rPr lang="en-US" dirty="0"/>
              <a:t> fi </a:t>
            </a:r>
            <a:r>
              <a:rPr lang="en-US" dirty="0" err="1"/>
              <a:t>folosita</a:t>
            </a:r>
            <a:r>
              <a:rPr lang="en-US" dirty="0"/>
              <a:t> in </a:t>
            </a:r>
            <a:r>
              <a:rPr lang="en-US" dirty="0" err="1"/>
              <a:t>urmatoarele</a:t>
            </a:r>
            <a:r>
              <a:rPr lang="en-US" dirty="0"/>
              <a:t> </a:t>
            </a:r>
            <a:r>
              <a:rPr lang="en-US" dirty="0" err="1"/>
              <a:t>doua</a:t>
            </a:r>
            <a:r>
              <a:rPr lang="en-US" dirty="0"/>
              <a:t> </a:t>
            </a:r>
            <a:r>
              <a:rPr lang="en-US" dirty="0" err="1"/>
              <a:t>aplicatii</a:t>
            </a:r>
            <a:r>
              <a:rPr lang="en-US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9149975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26.10.2025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BFM_Servlets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36</a:t>
            </a:fld>
            <a:r>
              <a:rPr lang="en-US" dirty="0"/>
              <a:t>_/_44_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Trimitere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emailuri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din Java (2/2)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4159" y="3867807"/>
            <a:ext cx="9144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StandaloneSends.jar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o </a:t>
            </a:r>
            <a:r>
              <a:rPr lang="en-US" dirty="0" err="1"/>
              <a:t>aplicatie</a:t>
            </a:r>
            <a:r>
              <a:rPr lang="en-US" dirty="0"/>
              <a:t> standalone care </a:t>
            </a:r>
            <a:r>
              <a:rPr lang="en-US" dirty="0" err="1"/>
              <a:t>trimite</a:t>
            </a:r>
            <a:r>
              <a:rPr lang="en-US" dirty="0"/>
              <a:t> </a:t>
            </a:r>
            <a:r>
              <a:rPr lang="en-US" dirty="0" err="1"/>
              <a:t>mailuri</a:t>
            </a:r>
            <a:r>
              <a:rPr lang="en-US" dirty="0"/>
              <a:t> </a:t>
            </a:r>
            <a:r>
              <a:rPr lang="en-US" dirty="0" err="1"/>
              <a:t>descrise</a:t>
            </a:r>
            <a:r>
              <a:rPr lang="en-US" dirty="0"/>
              <a:t> </a:t>
            </a:r>
            <a:r>
              <a:rPr lang="en-US" dirty="0" err="1"/>
              <a:t>intr</a:t>
            </a:r>
            <a:r>
              <a:rPr lang="en-US" dirty="0"/>
              <a:t>-un </a:t>
            </a:r>
            <a:r>
              <a:rPr lang="en-US" dirty="0" err="1"/>
              <a:t>fisier</a:t>
            </a:r>
            <a:r>
              <a:rPr lang="en-US" dirty="0"/>
              <a:t> de </a:t>
            </a:r>
            <a:r>
              <a:rPr lang="en-US" dirty="0" err="1"/>
              <a:t>intrare</a:t>
            </a:r>
            <a:r>
              <a:rPr lang="en-US" dirty="0"/>
              <a:t>. </a:t>
            </a:r>
            <a:r>
              <a:rPr lang="en-US" dirty="0" err="1"/>
              <a:t>Scriptul</a:t>
            </a:r>
            <a:r>
              <a:rPr lang="en-US" dirty="0"/>
              <a:t> </a:t>
            </a:r>
            <a:r>
              <a:rPr lang="en-US" b="1" dirty="0"/>
              <a:t>main.bat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b="1" dirty="0" err="1"/>
              <a:t>buildMain.gradle</a:t>
            </a:r>
            <a:r>
              <a:rPr lang="en-US" dirty="0"/>
              <a:t> </a:t>
            </a:r>
            <a:r>
              <a:rPr lang="en-US" dirty="0" err="1"/>
              <a:t>implementeaza</a:t>
            </a:r>
            <a:r>
              <a:rPr lang="en-US" dirty="0"/>
              <a:t> </a:t>
            </a:r>
            <a:r>
              <a:rPr lang="en-US" dirty="0" err="1"/>
              <a:t>crearea</a:t>
            </a:r>
            <a:r>
              <a:rPr lang="en-US" dirty="0"/>
              <a:t> </a:t>
            </a:r>
            <a:r>
              <a:rPr lang="en-US" dirty="0" err="1"/>
              <a:t>arhivei</a:t>
            </a:r>
            <a:r>
              <a:rPr lang="en-US" dirty="0"/>
              <a:t> </a:t>
            </a:r>
            <a:r>
              <a:rPr lang="en-US" dirty="0" err="1"/>
              <a:t>autolansabile</a:t>
            </a:r>
            <a:r>
              <a:rPr lang="en-US" dirty="0"/>
              <a:t> care </a:t>
            </a:r>
            <a:r>
              <a:rPr lang="en-US" dirty="0" err="1"/>
              <a:t>primeste</a:t>
            </a:r>
            <a:r>
              <a:rPr lang="en-US" dirty="0"/>
              <a:t> </a:t>
            </a:r>
            <a:r>
              <a:rPr lang="en-US" dirty="0" err="1"/>
              <a:t>fisierul</a:t>
            </a:r>
            <a:r>
              <a:rPr lang="en-US" dirty="0"/>
              <a:t> de </a:t>
            </a:r>
            <a:r>
              <a:rPr lang="en-US" dirty="0" err="1"/>
              <a:t>intrare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prim argument al </a:t>
            </a:r>
            <a:r>
              <a:rPr lang="en-US" dirty="0" err="1"/>
              <a:t>liniei</a:t>
            </a:r>
            <a:r>
              <a:rPr lang="en-US" dirty="0"/>
              <a:t> de </a:t>
            </a:r>
            <a:r>
              <a:rPr lang="en-US" dirty="0" err="1"/>
              <a:t>comanda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</a:t>
            </a:r>
            <a:r>
              <a:rPr lang="en-US" dirty="0" err="1"/>
              <a:t>redirectare</a:t>
            </a:r>
            <a:r>
              <a:rPr lang="en-US" dirty="0"/>
              <a:t> a </a:t>
            </a:r>
            <a:r>
              <a:rPr lang="en-US" dirty="0" err="1"/>
              <a:t>intrarii</a:t>
            </a:r>
            <a:r>
              <a:rPr lang="en-US" dirty="0"/>
              <a:t> standard.</a:t>
            </a:r>
          </a:p>
          <a:p>
            <a:endParaRPr lang="en-US" dirty="0"/>
          </a:p>
          <a:p>
            <a:r>
              <a:rPr lang="en-US" b="1" dirty="0" err="1"/>
              <a:t>ServletSends.war</a:t>
            </a:r>
            <a:r>
              <a:rPr lang="en-US" dirty="0"/>
              <a:t>  </a:t>
            </a:r>
            <a:r>
              <a:rPr lang="en-US" dirty="0" err="1"/>
              <a:t>este</a:t>
            </a:r>
            <a:r>
              <a:rPr lang="en-US" dirty="0"/>
              <a:t> o </a:t>
            </a:r>
            <a:r>
              <a:rPr lang="en-US" dirty="0" err="1"/>
              <a:t>aplicatie</a:t>
            </a:r>
            <a:r>
              <a:rPr lang="en-US" dirty="0"/>
              <a:t> care </a:t>
            </a:r>
            <a:r>
              <a:rPr lang="en-US" dirty="0" err="1"/>
              <a:t>trimite</a:t>
            </a:r>
            <a:r>
              <a:rPr lang="en-US" dirty="0"/>
              <a:t> </a:t>
            </a:r>
            <a:r>
              <a:rPr lang="en-US" dirty="0" err="1"/>
              <a:t>mailuri</a:t>
            </a:r>
            <a:r>
              <a:rPr lang="en-US" dirty="0"/>
              <a:t> </a:t>
            </a:r>
            <a:r>
              <a:rPr lang="en-US" dirty="0" err="1"/>
              <a:t>descrise</a:t>
            </a:r>
            <a:r>
              <a:rPr lang="en-US" dirty="0"/>
              <a:t> </a:t>
            </a:r>
            <a:r>
              <a:rPr lang="en-US" dirty="0" err="1"/>
              <a:t>intr</a:t>
            </a:r>
            <a:r>
              <a:rPr lang="en-US" dirty="0"/>
              <a:t>-un </a:t>
            </a:r>
            <a:r>
              <a:rPr lang="en-US" dirty="0" err="1"/>
              <a:t>fisier</a:t>
            </a:r>
            <a:r>
              <a:rPr lang="en-US" dirty="0"/>
              <a:t> de </a:t>
            </a:r>
            <a:r>
              <a:rPr lang="en-US" dirty="0" err="1"/>
              <a:t>intrare</a:t>
            </a:r>
            <a:r>
              <a:rPr lang="en-US" dirty="0"/>
              <a:t> al </a:t>
            </a:r>
            <a:r>
              <a:rPr lang="en-US" dirty="0" err="1"/>
              <a:t>carui</a:t>
            </a:r>
            <a:r>
              <a:rPr lang="en-US" dirty="0"/>
              <a:t> </a:t>
            </a:r>
            <a:r>
              <a:rPr lang="en-US" dirty="0" err="1"/>
              <a:t>nume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transmis</a:t>
            </a:r>
            <a:r>
              <a:rPr lang="en-US" dirty="0"/>
              <a:t>, GET </a:t>
            </a:r>
            <a:r>
              <a:rPr lang="en-US" dirty="0" err="1"/>
              <a:t>sau</a:t>
            </a:r>
            <a:r>
              <a:rPr lang="en-US" dirty="0"/>
              <a:t> POST, cu </a:t>
            </a:r>
            <a:r>
              <a:rPr lang="en-US" dirty="0" err="1"/>
              <a:t>parametrul</a:t>
            </a:r>
            <a:r>
              <a:rPr lang="en-US" dirty="0"/>
              <a:t> file. In </a:t>
            </a:r>
            <a:r>
              <a:rPr lang="en-US" dirty="0" err="1"/>
              <a:t>aplicatie</a:t>
            </a:r>
            <a:r>
              <a:rPr lang="en-US" dirty="0"/>
              <a:t> se </a:t>
            </a:r>
            <a:r>
              <a:rPr lang="en-US" dirty="0" err="1"/>
              <a:t>afla</a:t>
            </a:r>
            <a:r>
              <a:rPr lang="en-US" dirty="0"/>
              <a:t> </a:t>
            </a:r>
            <a:r>
              <a:rPr lang="en-US" dirty="0" err="1"/>
              <a:t>servletul</a:t>
            </a:r>
            <a:r>
              <a:rPr lang="en-US" dirty="0"/>
              <a:t> </a:t>
            </a:r>
            <a:r>
              <a:rPr lang="en-US" b="1" dirty="0"/>
              <a:t>Servlet.java</a:t>
            </a:r>
            <a:r>
              <a:rPr lang="en-US" dirty="0"/>
              <a:t> </a:t>
            </a:r>
            <a:r>
              <a:rPr lang="en-US" dirty="0" err="1"/>
              <a:t>mapat</a:t>
            </a:r>
            <a:r>
              <a:rPr lang="en-US" dirty="0"/>
              <a:t> cu </a:t>
            </a:r>
            <a:r>
              <a:rPr lang="en-US" b="1" dirty="0" err="1"/>
              <a:t>SendMails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clientul</a:t>
            </a:r>
            <a:r>
              <a:rPr lang="en-US" dirty="0"/>
              <a:t> </a:t>
            </a:r>
            <a:r>
              <a:rPr lang="en-US" b="1" dirty="0"/>
              <a:t>SendMails.html</a:t>
            </a:r>
            <a:r>
              <a:rPr lang="en-US" dirty="0"/>
              <a:t> care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trimite</a:t>
            </a:r>
            <a:r>
              <a:rPr lang="en-US" dirty="0"/>
              <a:t> </a:t>
            </a:r>
            <a:r>
              <a:rPr lang="en-US" dirty="0" err="1"/>
              <a:t>cererea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GET </a:t>
            </a:r>
            <a:r>
              <a:rPr lang="en-US" dirty="0" err="1"/>
              <a:t>sau</a:t>
            </a:r>
            <a:r>
              <a:rPr lang="en-US" dirty="0"/>
              <a:t> POST. </a:t>
            </a:r>
            <a:r>
              <a:rPr lang="en-US" dirty="0" err="1"/>
              <a:t>Scriptul</a:t>
            </a:r>
            <a:r>
              <a:rPr lang="en-US" dirty="0"/>
              <a:t> </a:t>
            </a:r>
            <a:r>
              <a:rPr lang="en-US" b="1" dirty="0"/>
              <a:t>servlet.bat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b="1" dirty="0" err="1"/>
              <a:t>buildServlet.gradle</a:t>
            </a:r>
            <a:r>
              <a:rPr lang="en-US" dirty="0"/>
              <a:t> </a:t>
            </a:r>
            <a:r>
              <a:rPr lang="en-US" dirty="0" err="1"/>
              <a:t>implementeaza</a:t>
            </a:r>
            <a:r>
              <a:rPr lang="en-US" dirty="0"/>
              <a:t> </a:t>
            </a:r>
            <a:r>
              <a:rPr lang="en-US" dirty="0" err="1"/>
              <a:t>crearea</a:t>
            </a:r>
            <a:r>
              <a:rPr lang="en-US" dirty="0"/>
              <a:t> </a:t>
            </a:r>
            <a:r>
              <a:rPr lang="en-US" dirty="0" err="1"/>
              <a:t>arhivei</a:t>
            </a:r>
            <a:r>
              <a:rPr lang="en-US" dirty="0"/>
              <a:t> war care se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deploya</a:t>
            </a:r>
            <a:r>
              <a:rPr lang="en-US" dirty="0"/>
              <a:t> </a:t>
            </a:r>
            <a:r>
              <a:rPr lang="en-US" dirty="0" err="1"/>
              <a:t>intr</a:t>
            </a:r>
            <a:r>
              <a:rPr lang="en-US" dirty="0"/>
              <a:t>-un container de </a:t>
            </a:r>
            <a:r>
              <a:rPr lang="en-US" dirty="0" err="1"/>
              <a:t>servleturi</a:t>
            </a:r>
            <a:r>
              <a:rPr lang="en-US" dirty="0"/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398404"/>
            <a:ext cx="3048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#from __________</a:t>
            </a:r>
          </a:p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#subject _______________</a:t>
            </a:r>
          </a:p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#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smtphost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 _______________</a:t>
            </a:r>
          </a:p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#to ____________</a:t>
            </a:r>
          </a:p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__________</a:t>
            </a:r>
          </a:p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 - - -</a:t>
            </a:r>
          </a:p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#cc ____________</a:t>
            </a:r>
          </a:p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__________</a:t>
            </a:r>
          </a:p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 - - -</a:t>
            </a:r>
          </a:p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#bcc ____________</a:t>
            </a:r>
          </a:p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__________</a:t>
            </a:r>
          </a:p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 - - -</a:t>
            </a:r>
          </a:p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#message ____________</a:t>
            </a:r>
          </a:p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__________</a:t>
            </a:r>
          </a:p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 - - -</a:t>
            </a:r>
          </a:p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__________</a:t>
            </a:r>
          </a:p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#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fileattch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 ____________</a:t>
            </a:r>
          </a:p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__________</a:t>
            </a:r>
          </a:p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 - - -</a:t>
            </a:r>
          </a:p>
          <a:p>
            <a:endParaRPr lang="en-US" sz="1200" dirty="0"/>
          </a:p>
        </p:txBody>
      </p:sp>
      <p:sp>
        <p:nvSpPr>
          <p:cNvPr id="6" name="TextBox 5"/>
          <p:cNvSpPr txBox="1"/>
          <p:nvPr/>
        </p:nvSpPr>
        <p:spPr>
          <a:xfrm>
            <a:off x="304800" y="1524000"/>
            <a:ext cx="472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Structura</a:t>
            </a:r>
            <a:r>
              <a:rPr lang="en-US" dirty="0"/>
              <a:t> </a:t>
            </a:r>
            <a:r>
              <a:rPr lang="en-US" dirty="0" err="1"/>
              <a:t>fisierului</a:t>
            </a:r>
            <a:r>
              <a:rPr lang="en-US" dirty="0"/>
              <a:t> de </a:t>
            </a:r>
            <a:r>
              <a:rPr lang="en-US" dirty="0" err="1"/>
              <a:t>intrare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de forma:</a:t>
            </a:r>
          </a:p>
        </p:txBody>
      </p:sp>
    </p:spTree>
    <p:extLst>
      <p:ext uri="{BB962C8B-B14F-4D97-AF65-F5344CB8AC3E}">
        <p14:creationId xmlns:p14="http://schemas.microsoft.com/office/powerpoint/2010/main" val="42219598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26.10.2025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BFM_Servlets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37</a:t>
            </a:fld>
            <a:r>
              <a:rPr lang="en-US" dirty="0"/>
              <a:t>_/_44_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Schimb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de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obiecte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intre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servlet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si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applet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0" y="366713"/>
            <a:ext cx="9144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Singura</a:t>
            </a:r>
            <a:r>
              <a:rPr lang="en-US" dirty="0"/>
              <a:t> </a:t>
            </a:r>
            <a:r>
              <a:rPr lang="en-US" dirty="0" err="1"/>
              <a:t>posibilitate</a:t>
            </a:r>
            <a:r>
              <a:rPr lang="en-US" dirty="0"/>
              <a:t> de </a:t>
            </a:r>
            <a:r>
              <a:rPr lang="en-US" dirty="0" err="1"/>
              <a:t>comunicare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 un </a:t>
            </a:r>
            <a:r>
              <a:rPr lang="en-US" dirty="0" err="1"/>
              <a:t>aplet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un servlet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</a:t>
            </a:r>
            <a:r>
              <a:rPr lang="en-US" dirty="0" err="1"/>
              <a:t>ambele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se </a:t>
            </a:r>
            <a:r>
              <a:rPr lang="en-US" dirty="0" err="1"/>
              <a:t>afle</a:t>
            </a:r>
            <a:r>
              <a:rPr lang="en-US" dirty="0"/>
              <a:t> in </a:t>
            </a:r>
            <a:r>
              <a:rPr lang="en-US" dirty="0" err="1"/>
              <a:t>aceeasi</a:t>
            </a:r>
            <a:r>
              <a:rPr lang="en-US" dirty="0"/>
              <a:t> </a:t>
            </a:r>
            <a:r>
              <a:rPr lang="en-US" dirty="0" err="1"/>
              <a:t>aplicatie</a:t>
            </a:r>
            <a:r>
              <a:rPr lang="en-US" dirty="0"/>
              <a:t> web (</a:t>
            </a:r>
            <a:r>
              <a:rPr lang="en-US" dirty="0" err="1"/>
              <a:t>appletul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partea</a:t>
            </a:r>
            <a:r>
              <a:rPr lang="en-US" dirty="0"/>
              <a:t> </a:t>
            </a:r>
            <a:r>
              <a:rPr lang="en-US" dirty="0" err="1"/>
              <a:t>publica</a:t>
            </a:r>
            <a:r>
              <a:rPr lang="en-US" dirty="0"/>
              <a:t>, </a:t>
            </a:r>
            <a:r>
              <a:rPr lang="en-US" dirty="0" err="1"/>
              <a:t>servletul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partea</a:t>
            </a:r>
            <a:r>
              <a:rPr lang="en-US" dirty="0"/>
              <a:t> </a:t>
            </a:r>
            <a:r>
              <a:rPr lang="en-US" dirty="0" err="1"/>
              <a:t>ascunsa</a:t>
            </a:r>
            <a:r>
              <a:rPr lang="en-US" dirty="0"/>
              <a:t>).</a:t>
            </a:r>
          </a:p>
          <a:p>
            <a:r>
              <a:rPr lang="en-US" dirty="0"/>
              <a:t>Din </a:t>
            </a:r>
            <a:r>
              <a:rPr lang="en-US" dirty="0" err="1"/>
              <a:t>cauza</a:t>
            </a:r>
            <a:r>
              <a:rPr lang="en-US" dirty="0"/>
              <a:t> </a:t>
            </a:r>
            <a:r>
              <a:rPr lang="en-US" dirty="0" err="1"/>
              <a:t>specificului</a:t>
            </a:r>
            <a:r>
              <a:rPr lang="en-US" dirty="0"/>
              <a:t> </a:t>
            </a:r>
            <a:r>
              <a:rPr lang="en-US" dirty="0" err="1"/>
              <a:t>HTTPP</a:t>
            </a:r>
            <a:r>
              <a:rPr lang="en-US" dirty="0"/>
              <a:t>, </a:t>
            </a:r>
            <a:r>
              <a:rPr lang="en-US" dirty="0" err="1"/>
              <a:t>comunicarea</a:t>
            </a:r>
            <a:r>
              <a:rPr lang="en-US" dirty="0"/>
              <a:t> se face in maximum </a:t>
            </a:r>
            <a:r>
              <a:rPr lang="en-US" dirty="0" err="1"/>
              <a:t>doua</a:t>
            </a:r>
            <a:r>
              <a:rPr lang="en-US" dirty="0"/>
              <a:t> </a:t>
            </a:r>
            <a:r>
              <a:rPr lang="en-US" dirty="0" err="1"/>
              <a:t>etape</a:t>
            </a:r>
            <a:r>
              <a:rPr lang="en-US" dirty="0"/>
              <a:t>: Mai </a:t>
            </a:r>
            <a:r>
              <a:rPr lang="en-US" dirty="0" err="1"/>
              <a:t>intai</a:t>
            </a:r>
            <a:r>
              <a:rPr lang="en-US" dirty="0"/>
              <a:t> se </a:t>
            </a:r>
            <a:r>
              <a:rPr lang="en-US" dirty="0" err="1"/>
              <a:t>trimit</a:t>
            </a:r>
            <a:r>
              <a:rPr lang="en-US" dirty="0"/>
              <a:t> </a:t>
            </a:r>
            <a:r>
              <a:rPr lang="en-US" dirty="0" err="1"/>
              <a:t>informatii</a:t>
            </a:r>
            <a:r>
              <a:rPr lang="en-US" dirty="0"/>
              <a:t> de la applet </a:t>
            </a:r>
            <a:r>
              <a:rPr lang="en-US" dirty="0" err="1"/>
              <a:t>spre</a:t>
            </a:r>
            <a:r>
              <a:rPr lang="en-US" dirty="0"/>
              <a:t> servlet, </a:t>
            </a:r>
            <a:r>
              <a:rPr lang="en-US" dirty="0" err="1"/>
              <a:t>apoi</a:t>
            </a:r>
            <a:r>
              <a:rPr lang="en-US" dirty="0"/>
              <a:t> de la servlet </a:t>
            </a:r>
            <a:r>
              <a:rPr lang="en-US" dirty="0" err="1"/>
              <a:t>spre</a:t>
            </a:r>
            <a:r>
              <a:rPr lang="en-US" dirty="0"/>
              <a:t> applet (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atat</a:t>
            </a:r>
            <a:r>
              <a:rPr lang="en-US" dirty="0"/>
              <a:t>!).</a:t>
            </a:r>
          </a:p>
          <a:p>
            <a:r>
              <a:rPr lang="en-US" dirty="0"/>
              <a:t> </a:t>
            </a:r>
            <a:r>
              <a:rPr lang="en-US" dirty="0" err="1"/>
              <a:t>Deoarece</a:t>
            </a:r>
            <a:r>
              <a:rPr lang="en-US" dirty="0"/>
              <a:t> </a:t>
            </a:r>
            <a:r>
              <a:rPr lang="en-US" dirty="0" err="1"/>
              <a:t>ambele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obiecte</a:t>
            </a:r>
            <a:r>
              <a:rPr lang="en-US" dirty="0"/>
              <a:t> Java,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interesant</a:t>
            </a:r>
            <a:r>
              <a:rPr lang="en-US" dirty="0"/>
              <a:t> </a:t>
            </a:r>
            <a:r>
              <a:rPr lang="en-US" dirty="0" err="1"/>
              <a:t>schimbul</a:t>
            </a:r>
            <a:r>
              <a:rPr lang="en-US" dirty="0"/>
              <a:t> de </a:t>
            </a:r>
            <a:r>
              <a:rPr lang="en-US" dirty="0" err="1"/>
              <a:t>obiecte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 </a:t>
            </a:r>
            <a:r>
              <a:rPr lang="en-US" dirty="0" err="1"/>
              <a:t>acestea</a:t>
            </a:r>
            <a:r>
              <a:rPr lang="en-US" dirty="0"/>
              <a:t>: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899223"/>
            <a:ext cx="9144000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3300"/>
                </a:solidFill>
              </a:rPr>
              <a:t>Applet</a:t>
            </a:r>
            <a:r>
              <a:rPr lang="en-US" dirty="0">
                <a:solidFill>
                  <a:srgbClr val="FF3300"/>
                </a:solidFill>
              </a:rPr>
              <a:t>:</a:t>
            </a:r>
          </a:p>
          <a:p>
            <a:pPr lvl="1"/>
            <a:r>
              <a:rPr lang="en-US" sz="1600" dirty="0">
                <a:solidFill>
                  <a:srgbClr val="FF3300"/>
                </a:solidFill>
                <a:latin typeface="Courier New" pitchFamily="49" charset="0"/>
                <a:cs typeface="Courier New" pitchFamily="49" charset="0"/>
              </a:rPr>
              <a:t>- - -</a:t>
            </a:r>
          </a:p>
          <a:p>
            <a:r>
              <a:rPr lang="en-US" sz="1600" dirty="0">
                <a:solidFill>
                  <a:srgbClr val="FF3300"/>
                </a:solidFill>
                <a:latin typeface="Courier New" pitchFamily="49" charset="0"/>
                <a:cs typeface="Courier New" pitchFamily="49" charset="0"/>
              </a:rPr>
              <a:t>    u</a:t>
            </a:r>
            <a:r>
              <a:rPr lang="ro-RO" sz="1600" dirty="0">
                <a:solidFill>
                  <a:srgbClr val="FF3300"/>
                </a:solidFill>
                <a:latin typeface="Courier New" pitchFamily="49" charset="0"/>
                <a:cs typeface="Courier New" pitchFamily="49" charset="0"/>
              </a:rPr>
              <a:t>rl = new URL("http://"+getCodeBase().getHost()</a:t>
            </a:r>
            <a:r>
              <a:rPr lang="en-US" sz="1600" dirty="0">
                <a:solidFill>
                  <a:srgbClr val="FF3300"/>
                </a:solidFill>
                <a:latin typeface="Courier New" pitchFamily="49" charset="0"/>
                <a:cs typeface="Courier New" pitchFamily="49" charset="0"/>
              </a:rPr>
              <a:t>+</a:t>
            </a:r>
            <a:r>
              <a:rPr lang="ro-RO" sz="1600" dirty="0">
                <a:solidFill>
                  <a:srgbClr val="FF3300"/>
                </a:solidFill>
                <a:latin typeface="Courier New" pitchFamily="49" charset="0"/>
                <a:cs typeface="Courier New" pitchFamily="49" charset="0"/>
              </a:rPr>
              <a:t>":8080/</a:t>
            </a:r>
            <a:r>
              <a:rPr lang="en-US" sz="1600" dirty="0">
                <a:solidFill>
                  <a:srgbClr val="FF3300"/>
                </a:solidFill>
                <a:latin typeface="Courier New" pitchFamily="49" charset="0"/>
                <a:cs typeface="Courier New" pitchFamily="49" charset="0"/>
              </a:rPr>
              <a:t>APP</a:t>
            </a:r>
            <a:r>
              <a:rPr lang="ro-RO" sz="1600" dirty="0">
                <a:solidFill>
                  <a:srgbClr val="FF3300"/>
                </a:solidFill>
                <a:latin typeface="Courier New" pitchFamily="49" charset="0"/>
                <a:cs typeface="Courier New" pitchFamily="49" charset="0"/>
              </a:rPr>
              <a:t>/</a:t>
            </a:r>
            <a:r>
              <a:rPr lang="en-US" sz="1600" dirty="0" err="1">
                <a:solidFill>
                  <a:srgbClr val="FF3300"/>
                </a:solidFill>
                <a:latin typeface="Courier New" pitchFamily="49" charset="0"/>
                <a:cs typeface="Courier New" pitchFamily="49" charset="0"/>
              </a:rPr>
              <a:t>MAPSER</a:t>
            </a:r>
            <a:r>
              <a:rPr lang="ro-RO" sz="1600" dirty="0">
                <a:solidFill>
                  <a:srgbClr val="FF3300"/>
                </a:solidFill>
                <a:latin typeface="Courier New" pitchFamily="49" charset="0"/>
                <a:cs typeface="Courier New" pitchFamily="49" charset="0"/>
              </a:rPr>
              <a:t>");</a:t>
            </a:r>
            <a:endParaRPr lang="en-US" sz="1600" dirty="0">
              <a:solidFill>
                <a:srgbClr val="FF3300"/>
              </a:solidFill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ro-RO" sz="1600" dirty="0">
                <a:solidFill>
                  <a:srgbClr val="FF3300"/>
                </a:solidFill>
                <a:latin typeface="Courier New" pitchFamily="49" charset="0"/>
                <a:cs typeface="Courier New" pitchFamily="49" charset="0"/>
              </a:rPr>
              <a:t>urlCon = url.openConnection();</a:t>
            </a:r>
            <a:endParaRPr lang="en-US" sz="1600" dirty="0">
              <a:solidFill>
                <a:srgbClr val="FF3300"/>
              </a:solidFill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ro-RO" sz="1600" dirty="0">
                <a:solidFill>
                  <a:srgbClr val="FF3300"/>
                </a:solidFill>
                <a:latin typeface="Courier New" pitchFamily="49" charset="0"/>
                <a:cs typeface="Courier New" pitchFamily="49" charset="0"/>
              </a:rPr>
              <a:t>urlCon.setUseCaches(false);</a:t>
            </a:r>
            <a:r>
              <a:rPr lang="en-US" sz="1600" dirty="0">
                <a:solidFill>
                  <a:srgbClr val="FF330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ro-RO" sz="1600" dirty="0">
                <a:solidFill>
                  <a:srgbClr val="FF3300"/>
                </a:solidFill>
                <a:latin typeface="Courier New" pitchFamily="49" charset="0"/>
                <a:cs typeface="Courier New" pitchFamily="49" charset="0"/>
              </a:rPr>
              <a:t>urlCon.setDefaultUseCaches(false);</a:t>
            </a:r>
            <a:endParaRPr lang="en-US" sz="1600" dirty="0">
              <a:solidFill>
                <a:srgbClr val="FF3300"/>
              </a:solidFill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ro-RO" sz="1600" dirty="0">
                <a:solidFill>
                  <a:srgbClr val="FF3300"/>
                </a:solidFill>
                <a:latin typeface="Courier New" pitchFamily="49" charset="0"/>
                <a:cs typeface="Courier New" pitchFamily="49" charset="0"/>
              </a:rPr>
              <a:t>urlCon.setDoOutput(true);</a:t>
            </a:r>
            <a:endParaRPr lang="en-US" sz="1600" dirty="0">
              <a:solidFill>
                <a:srgbClr val="FF3300"/>
              </a:solidFill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ro-RO" sz="1600" dirty="0">
                <a:solidFill>
                  <a:srgbClr val="FF3300"/>
                </a:solidFill>
                <a:latin typeface="Courier New" pitchFamily="49" charset="0"/>
                <a:cs typeface="Courier New" pitchFamily="49" charset="0"/>
              </a:rPr>
              <a:t>out = new ObjectOutputStream(urlCon.getOutputStream());</a:t>
            </a:r>
            <a:r>
              <a:rPr lang="en-US" sz="1600" dirty="0">
                <a:solidFill>
                  <a:srgbClr val="FF3300"/>
                </a:solidFill>
                <a:latin typeface="Courier New" pitchFamily="49" charset="0"/>
                <a:cs typeface="Courier New" pitchFamily="49" charset="0"/>
              </a:rPr>
              <a:t> </a:t>
            </a:r>
          </a:p>
          <a:p>
            <a:pPr lvl="1"/>
            <a:r>
              <a:rPr lang="en-US" sz="1600" dirty="0">
                <a:solidFill>
                  <a:srgbClr val="FF3300"/>
                </a:solidFill>
                <a:latin typeface="Courier New" pitchFamily="49" charset="0"/>
                <a:cs typeface="Courier New" pitchFamily="49" charset="0"/>
              </a:rPr>
              <a:t>- - - </a:t>
            </a:r>
            <a:r>
              <a:rPr lang="ro-RO" sz="1600" dirty="0">
                <a:solidFill>
                  <a:srgbClr val="FF3300"/>
                </a:solidFill>
                <a:latin typeface="Courier New" pitchFamily="49" charset="0"/>
                <a:cs typeface="Courier New" pitchFamily="49" charset="0"/>
              </a:rPr>
              <a:t>out.writeObject(</a:t>
            </a:r>
            <a:r>
              <a:rPr lang="en-US" sz="1600" dirty="0" err="1">
                <a:solidFill>
                  <a:srgbClr val="FF3300"/>
                </a:solidFill>
                <a:latin typeface="Courier New" pitchFamily="49" charset="0"/>
                <a:cs typeface="Courier New" pitchFamily="49" charset="0"/>
              </a:rPr>
              <a:t>o1</a:t>
            </a:r>
            <a:r>
              <a:rPr lang="ro-RO" sz="1600" dirty="0">
                <a:solidFill>
                  <a:srgbClr val="FF3300"/>
                </a:solidFill>
                <a:latin typeface="Courier New" pitchFamily="49" charset="0"/>
                <a:cs typeface="Courier New" pitchFamily="49" charset="0"/>
              </a:rPr>
              <a:t>);</a:t>
            </a:r>
            <a:r>
              <a:rPr lang="en-US" sz="1600" dirty="0">
                <a:solidFill>
                  <a:srgbClr val="FF3300"/>
                </a:solidFill>
                <a:latin typeface="Courier New" pitchFamily="49" charset="0"/>
                <a:cs typeface="Courier New" pitchFamily="49" charset="0"/>
              </a:rPr>
              <a:t> - - -</a:t>
            </a:r>
          </a:p>
          <a:p>
            <a:pPr lvl="1"/>
            <a:r>
              <a:rPr lang="ro-RO" sz="1600" dirty="0">
                <a:solidFill>
                  <a:srgbClr val="FF3300"/>
                </a:solidFill>
                <a:latin typeface="Courier New" pitchFamily="49" charset="0"/>
                <a:cs typeface="Courier New" pitchFamily="49" charset="0"/>
              </a:rPr>
              <a:t>in = new ObjectInputStream(urlCon.getInputStream());</a:t>
            </a:r>
            <a:r>
              <a:rPr lang="en-US" sz="1600" dirty="0">
                <a:solidFill>
                  <a:srgbClr val="FF3300"/>
                </a:solidFill>
                <a:latin typeface="Courier New" pitchFamily="49" charset="0"/>
                <a:cs typeface="Courier New" pitchFamily="49" charset="0"/>
              </a:rPr>
              <a:t> </a:t>
            </a:r>
          </a:p>
          <a:p>
            <a:pPr lvl="1"/>
            <a:r>
              <a:rPr lang="en-US" sz="1600" dirty="0">
                <a:solidFill>
                  <a:srgbClr val="FF3300"/>
                </a:solidFill>
                <a:latin typeface="Courier New" pitchFamily="49" charset="0"/>
                <a:cs typeface="Courier New" pitchFamily="49" charset="0"/>
              </a:rPr>
              <a:t>- - - </a:t>
            </a:r>
            <a:r>
              <a:rPr lang="en-US" sz="1600" dirty="0" err="1">
                <a:solidFill>
                  <a:srgbClr val="FF3300"/>
                </a:solidFill>
                <a:latin typeface="Courier New" pitchFamily="49" charset="0"/>
                <a:cs typeface="Courier New" pitchFamily="49" charset="0"/>
              </a:rPr>
              <a:t>o2</a:t>
            </a:r>
            <a:r>
              <a:rPr lang="ro-RO" sz="1600" dirty="0">
                <a:solidFill>
                  <a:srgbClr val="FF3300"/>
                </a:solidFill>
                <a:latin typeface="Courier New" pitchFamily="49" charset="0"/>
                <a:cs typeface="Courier New" pitchFamily="49" charset="0"/>
              </a:rPr>
              <a:t> = (</a:t>
            </a:r>
            <a:r>
              <a:rPr lang="en-US" sz="1600" dirty="0" err="1">
                <a:solidFill>
                  <a:srgbClr val="FF3300"/>
                </a:solidFill>
                <a:latin typeface="Courier New" pitchFamily="49" charset="0"/>
                <a:cs typeface="Courier New" pitchFamily="49" charset="0"/>
              </a:rPr>
              <a:t>O2</a:t>
            </a:r>
            <a:r>
              <a:rPr lang="ro-RO" sz="1600" dirty="0">
                <a:solidFill>
                  <a:srgbClr val="FF3300"/>
                </a:solidFill>
                <a:latin typeface="Courier New" pitchFamily="49" charset="0"/>
                <a:cs typeface="Courier New" pitchFamily="49" charset="0"/>
              </a:rPr>
              <a:t>)in.readObject();</a:t>
            </a:r>
            <a:r>
              <a:rPr lang="en-US" sz="1600" dirty="0">
                <a:solidFill>
                  <a:srgbClr val="FF3300"/>
                </a:solidFill>
                <a:latin typeface="Courier New" pitchFamily="49" charset="0"/>
                <a:cs typeface="Courier New" pitchFamily="49" charset="0"/>
              </a:rPr>
              <a:t> - - -</a:t>
            </a:r>
            <a:endParaRPr lang="ro-RO" sz="1600" dirty="0">
              <a:solidFill>
                <a:srgbClr val="FF33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-28904" y="4607665"/>
            <a:ext cx="9144000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cs typeface="Courier New" pitchFamily="49" charset="0"/>
              </a:rPr>
              <a:t>Servlet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: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- - - 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</a:t>
            </a:r>
            <a:r>
              <a:rPr lang="ro-RO" dirty="0">
                <a:latin typeface="Courier New" pitchFamily="49" charset="0"/>
                <a:cs typeface="Courier New" pitchFamily="49" charset="0"/>
              </a:rPr>
              <a:t>in =  new ObjectInputStream(req.getInputStream());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</a:t>
            </a:r>
            <a:r>
              <a:rPr lang="ro-RO" dirty="0">
                <a:latin typeface="Courier New" pitchFamily="49" charset="0"/>
                <a:cs typeface="Courier New" pitchFamily="49" charset="0"/>
              </a:rPr>
              <a:t>out =  new ObjectOutputStream(res.getOutputStream());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- - -</a:t>
            </a:r>
            <a:r>
              <a:rPr lang="ro-RO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o1</a:t>
            </a:r>
            <a:r>
              <a:rPr lang="ro-RO" dirty="0">
                <a:latin typeface="Courier New" pitchFamily="49" charset="0"/>
                <a:cs typeface="Courier New" pitchFamily="49" charset="0"/>
              </a:rPr>
              <a:t> = 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O1</a:t>
            </a:r>
            <a:r>
              <a:rPr lang="ro-RO" dirty="0">
                <a:latin typeface="Courier New" pitchFamily="49" charset="0"/>
                <a:cs typeface="Courier New" pitchFamily="49" charset="0"/>
              </a:rPr>
              <a:t>)in.readObject();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- - - 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</a:t>
            </a:r>
            <a:r>
              <a:rPr lang="ro-RO" dirty="0">
                <a:latin typeface="Courier New" pitchFamily="49" charset="0"/>
                <a:cs typeface="Courier New" pitchFamily="49" charset="0"/>
              </a:rPr>
              <a:t>out.writeObject(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o2</a:t>
            </a:r>
            <a:r>
              <a:rPr lang="ro-RO" dirty="0">
                <a:latin typeface="Courier New" pitchFamily="49" charset="0"/>
                <a:cs typeface="Courier New" pitchFamily="49" charset="0"/>
              </a:rPr>
              <a:t>);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ro-RO" dirty="0">
                <a:latin typeface="Courier New" pitchFamily="49" charset="0"/>
                <a:cs typeface="Courier New" pitchFamily="49" charset="0"/>
              </a:rPr>
              <a:t>out.flush();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- - -</a:t>
            </a:r>
            <a:endParaRPr lang="ro-RO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88055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26.10.2025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BFM_Servlets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38</a:t>
            </a:fld>
            <a:r>
              <a:rPr lang="en-US" dirty="0"/>
              <a:t>_/_44_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Exemplu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: un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contor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ce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foloseste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applet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si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servlet 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905000"/>
            <a:ext cx="4572000" cy="38410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public class 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CountAp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extends Applet{</a:t>
            </a:r>
            <a:endParaRPr lang="en-US" sz="1400" dirty="0">
              <a:latin typeface="Courier New" pitchFamily="49" charset="0"/>
              <a:cs typeface="Times New Roman" pitchFamily="18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public void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init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() {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URL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url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;       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URLConnection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urlCon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;</a:t>
            </a:r>
            <a:endParaRPr lang="en-US" sz="1400" dirty="0">
              <a:latin typeface="Courier New" pitchFamily="49" charset="0"/>
              <a:cs typeface="Times New Roman" pitchFamily="18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BufferedReader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in;         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DataOutputStream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out;</a:t>
            </a:r>
            <a:endParaRPr lang="en-US" sz="1400" dirty="0">
              <a:latin typeface="Courier New" pitchFamily="49" charset="0"/>
              <a:cs typeface="Times New Roman" pitchFamily="18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url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=new URL(“</a:t>
            </a:r>
            <a:r>
              <a:rPr lang="en-US" sz="1400" b="1" i="1" dirty="0">
                <a:latin typeface="Courier New" pitchFamily="49" charset="0"/>
                <a:cs typeface="Courier New" pitchFamily="49" charset="0"/>
              </a:rPr>
              <a:t>URL/APP/</a:t>
            </a:r>
            <a:r>
              <a:rPr lang="en-US" sz="1400" b="1" i="1" dirty="0" err="1">
                <a:latin typeface="Courier New" pitchFamily="49" charset="0"/>
                <a:cs typeface="Courier New" pitchFamily="49" charset="0"/>
              </a:rPr>
              <a:t>MAPSER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");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urlCon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url.openConnection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- - -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in = new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ObectInputStream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...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urlCon.getInputStream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()</a:t>
            </a:r>
            <a:endParaRPr lang="en-US" sz="1400" dirty="0">
              <a:latin typeface="Courier New" pitchFamily="49" charset="0"/>
              <a:cs typeface="Times New Roman" pitchFamily="18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sz="1400" b="1" i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400" b="1" i="1" dirty="0">
                <a:latin typeface="Courier New" pitchFamily="49" charset="0"/>
                <a:cs typeface="Courier New" pitchFamily="49" charset="0"/>
              </a:rPr>
              <a:t> = (Integer)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in.readObject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sz="1400" b="1" i="1" dirty="0">
                <a:latin typeface="Courier New" pitchFamily="49" charset="0"/>
                <a:cs typeface="Courier New" pitchFamily="49" charset="0"/>
              </a:rPr>
              <a:t>Label response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= new Label(</a:t>
            </a:r>
            <a:r>
              <a:rPr lang="en-US" sz="1400" b="1" i="1" dirty="0" err="1">
                <a:latin typeface="Courier New" pitchFamily="49" charset="0"/>
                <a:cs typeface="Courier New" pitchFamily="49" charset="0"/>
              </a:rPr>
              <a:t>i.intValue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());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sz="1400" b="1" i="1" dirty="0" err="1">
                <a:latin typeface="Courier New" pitchFamily="49" charset="0"/>
                <a:cs typeface="Courier New" pitchFamily="49" charset="0"/>
              </a:rPr>
              <a:t>this.add</a:t>
            </a:r>
            <a:r>
              <a:rPr lang="en-US" sz="1400" b="1" i="1" dirty="0">
                <a:latin typeface="Courier New" pitchFamily="49" charset="0"/>
                <a:cs typeface="Courier New" pitchFamily="49" charset="0"/>
              </a:rPr>
              <a:t>(response);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sz="1400" b="1" i="1" dirty="0" err="1">
                <a:latin typeface="Courier New" pitchFamily="49" charset="0"/>
                <a:cs typeface="Courier New" pitchFamily="49" charset="0"/>
              </a:rPr>
              <a:t>this.setVisible</a:t>
            </a:r>
            <a:r>
              <a:rPr lang="en-US" sz="1400" b="1" i="1" dirty="0">
                <a:latin typeface="Courier New" pitchFamily="49" charset="0"/>
                <a:cs typeface="Courier New" pitchFamily="49" charset="0"/>
              </a:rPr>
              <a:t>(true);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sz="1400" b="1" i="1" dirty="0">
                <a:latin typeface="Courier New" pitchFamily="49" charset="0"/>
                <a:cs typeface="Courier New" pitchFamily="49" charset="0"/>
              </a:rPr>
              <a:t>- - -</a:t>
            </a:r>
          </a:p>
        </p:txBody>
      </p:sp>
      <p:sp>
        <p:nvSpPr>
          <p:cNvPr id="6" name="Rectangle 5"/>
          <p:cNvSpPr/>
          <p:nvPr/>
        </p:nvSpPr>
        <p:spPr>
          <a:xfrm>
            <a:off x="4621924" y="366713"/>
            <a:ext cx="4522076" cy="455201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URL/APP: - - -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@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WebServlet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(“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MAPSER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”)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ro-RO" sz="1400" dirty="0">
                <a:latin typeface="Courier New" pitchFamily="49" charset="0"/>
                <a:cs typeface="Courier New" pitchFamily="49" charset="0"/>
              </a:rPr>
              <a:t>public class </a:t>
            </a:r>
            <a:r>
              <a:rPr lang="ro-RO" sz="1400" b="1" i="1" dirty="0">
                <a:latin typeface="Courier New" pitchFamily="49" charset="0"/>
                <a:cs typeface="Courier New" pitchFamily="49" charset="0"/>
              </a:rPr>
              <a:t>Count</a:t>
            </a:r>
            <a:r>
              <a:rPr lang="ro-RO" sz="1400" dirty="0">
                <a:latin typeface="Courier New" pitchFamily="49" charset="0"/>
                <a:cs typeface="Courier New" pitchFamily="49" charset="0"/>
              </a:rPr>
              <a:t> extends HttpServlet {</a:t>
            </a:r>
            <a:endParaRPr lang="ro-RO" sz="1400" dirty="0">
              <a:latin typeface="Courier New" pitchFamily="49" charset="0"/>
              <a:cs typeface="Times New Roman" pitchFamily="18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ro-RO" sz="1400" dirty="0">
                <a:latin typeface="Courier New" pitchFamily="49" charset="0"/>
                <a:cs typeface="Courier New" pitchFamily="49" charset="0"/>
              </a:rPr>
              <a:t> public void </a:t>
            </a:r>
            <a:r>
              <a:rPr lang="ro-RO" sz="1400" b="1" i="1" dirty="0">
                <a:latin typeface="Courier New" pitchFamily="49" charset="0"/>
                <a:cs typeface="Courier New" pitchFamily="49" charset="0"/>
              </a:rPr>
              <a:t>doPost</a:t>
            </a:r>
            <a:r>
              <a:rPr lang="ro-RO" sz="1400" dirty="0">
                <a:latin typeface="Courier New" pitchFamily="49" charset="0"/>
                <a:cs typeface="Courier New" pitchFamily="49" charset="0"/>
              </a:rPr>
              <a:t>(</a:t>
            </a:r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 </a:t>
            </a:r>
            <a:r>
              <a:rPr lang="ro-RO" sz="1400" dirty="0">
                <a:latin typeface="Courier New" pitchFamily="49" charset="0"/>
                <a:cs typeface="Courier New" pitchFamily="49" charset="0"/>
              </a:rPr>
              <a:t>HttpServletRequest req,</a:t>
            </a:r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ro-RO" sz="1400" dirty="0">
                <a:latin typeface="Courier New" pitchFamily="49" charset="0"/>
                <a:cs typeface="Courier New" pitchFamily="49" charset="0"/>
              </a:rPr>
              <a:t> HttpServletResponse res)</a:t>
            </a:r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- - -</a:t>
            </a:r>
            <a:endParaRPr lang="ro-RO" sz="1400" dirty="0">
              <a:latin typeface="Courier New" pitchFamily="49" charset="0"/>
              <a:cs typeface="Times New Roman" pitchFamily="18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lang="ro-RO" sz="1400" dirty="0">
                <a:latin typeface="Courier New" pitchFamily="49" charset="0"/>
                <a:cs typeface="Courier New" pitchFamily="49" charset="0"/>
              </a:rPr>
              <a:t>synchronized (this.getClass()) {</a:t>
            </a:r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  f </a:t>
            </a:r>
            <a:r>
              <a:rPr lang="ro-RO" sz="1400" dirty="0">
                <a:latin typeface="Courier New" pitchFamily="49" charset="0"/>
                <a:cs typeface="Courier New" pitchFamily="49" charset="0"/>
              </a:rPr>
              <a:t>= new RandomAccessFile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(...)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  </a:t>
            </a:r>
            <a:r>
              <a:rPr lang="ro-RO" sz="1400" dirty="0">
                <a:latin typeface="Courier New" pitchFamily="49" charset="0"/>
                <a:cs typeface="Courier New" pitchFamily="49" charset="0"/>
              </a:rPr>
              <a:t>i = f.readInt();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o-RO" sz="1400" dirty="0">
                <a:latin typeface="Courier New" pitchFamily="49" charset="0"/>
                <a:cs typeface="Courier New" pitchFamily="49" charset="0"/>
              </a:rPr>
              <a:t>i++;</a:t>
            </a:r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  </a:t>
            </a:r>
            <a:r>
              <a:rPr lang="ro-RO" sz="1400" dirty="0">
                <a:latin typeface="Courier New" pitchFamily="49" charset="0"/>
                <a:cs typeface="Courier New" pitchFamily="49" charset="0"/>
              </a:rPr>
              <a:t>f.seek(0);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o-RO" sz="1400" dirty="0">
                <a:latin typeface="Courier New" pitchFamily="49" charset="0"/>
                <a:cs typeface="Courier New" pitchFamily="49" charset="0"/>
              </a:rPr>
              <a:t>f.writeInt(i);</a:t>
            </a:r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 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f.close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}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lang="ro-RO" sz="1400" dirty="0">
                <a:latin typeface="Courier New" pitchFamily="49" charset="0"/>
                <a:cs typeface="Courier New" pitchFamily="49" charset="0"/>
              </a:rPr>
              <a:t>res.setContentType(</a:t>
            </a:r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 </a:t>
            </a:r>
            <a:r>
              <a:rPr lang="ro-RO" sz="1400" dirty="0">
                <a:latin typeface="Courier New" pitchFamily="49" charset="0"/>
                <a:cs typeface="Courier New" pitchFamily="49" charset="0"/>
              </a:rPr>
              <a:t>"application/octet-stream");</a:t>
            </a:r>
            <a:endParaRPr lang="ro-RO" sz="1400" dirty="0">
              <a:latin typeface="Courier New" pitchFamily="49" charset="0"/>
              <a:cs typeface="Times New Roman" pitchFamily="18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ro-RO" sz="1400" dirty="0">
                <a:latin typeface="Courier New" pitchFamily="49" charset="0"/>
                <a:cs typeface="Courier New" pitchFamily="49" charset="0"/>
              </a:rPr>
              <a:t>     out = new ObjectOutputStream(</a:t>
            </a:r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      </a:t>
            </a:r>
            <a:r>
              <a:rPr lang="ro-RO" sz="1400" dirty="0">
                <a:latin typeface="Courier New" pitchFamily="49" charset="0"/>
                <a:cs typeface="Courier New" pitchFamily="49" charset="0"/>
              </a:rPr>
              <a:t>res.getOutputStream());</a:t>
            </a:r>
            <a:endParaRPr lang="ro-RO" sz="1400" dirty="0">
              <a:latin typeface="Courier New" pitchFamily="49" charset="0"/>
              <a:cs typeface="Times New Roman" pitchFamily="18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ro-RO" sz="1400" dirty="0">
                <a:latin typeface="Courier New" pitchFamily="49" charset="0"/>
                <a:cs typeface="Courier New" pitchFamily="49" charset="0"/>
              </a:rPr>
              <a:t>    out.writeObject(new </a:t>
            </a:r>
            <a:r>
              <a:rPr lang="ro-RO" sz="1400" b="1" i="1" dirty="0">
                <a:latin typeface="Courier New" pitchFamily="49" charset="0"/>
                <a:cs typeface="Courier New" pitchFamily="49" charset="0"/>
              </a:rPr>
              <a:t>Integer(i</a:t>
            </a:r>
            <a:r>
              <a:rPr lang="ro-RO" sz="1400" dirty="0">
                <a:latin typeface="Courier New" pitchFamily="49" charset="0"/>
                <a:cs typeface="Courier New" pitchFamily="49" charset="0"/>
              </a:rPr>
              <a:t>));</a:t>
            </a:r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- - -</a:t>
            </a:r>
          </a:p>
        </p:txBody>
      </p:sp>
      <p:sp>
        <p:nvSpPr>
          <p:cNvPr id="10" name="Line 14"/>
          <p:cNvSpPr>
            <a:spLocks noChangeShapeType="1"/>
          </p:cNvSpPr>
          <p:nvPr/>
        </p:nvSpPr>
        <p:spPr bwMode="auto">
          <a:xfrm flipV="1">
            <a:off x="3200400" y="914400"/>
            <a:ext cx="1524000" cy="2362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" name="Line 13"/>
          <p:cNvSpPr>
            <a:spLocks noChangeShapeType="1"/>
          </p:cNvSpPr>
          <p:nvPr/>
        </p:nvSpPr>
        <p:spPr bwMode="auto">
          <a:xfrm flipH="1">
            <a:off x="3200400" y="4495799"/>
            <a:ext cx="1828800" cy="112714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" name="Line 14"/>
          <p:cNvSpPr>
            <a:spLocks noChangeShapeType="1"/>
          </p:cNvSpPr>
          <p:nvPr/>
        </p:nvSpPr>
        <p:spPr bwMode="auto">
          <a:xfrm flipV="1">
            <a:off x="3352800" y="1371600"/>
            <a:ext cx="2133600" cy="2286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oval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" name="Line 13"/>
          <p:cNvSpPr>
            <a:spLocks noChangeShapeType="1"/>
          </p:cNvSpPr>
          <p:nvPr/>
        </p:nvSpPr>
        <p:spPr bwMode="auto">
          <a:xfrm flipH="1">
            <a:off x="2743198" y="4038600"/>
            <a:ext cx="2514601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oval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8086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26.10.2025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BFM_Servlets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39</a:t>
            </a:fld>
            <a:r>
              <a:rPr lang="en-US" dirty="0"/>
              <a:t>_/_44_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JDBC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access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prin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JNDI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; Tomcat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si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Jetty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389120"/>
            <a:ext cx="9144000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C</a:t>
            </a:r>
            <a:r>
              <a:rPr lang="ro-RO" sz="2400" dirty="0"/>
              <a:t>onect</a:t>
            </a:r>
            <a:r>
              <a:rPr lang="en-US" sz="2400" dirty="0"/>
              <a:t>area</a:t>
            </a:r>
            <a:r>
              <a:rPr lang="ro-RO" sz="2400" dirty="0"/>
              <a:t> direct</a:t>
            </a:r>
            <a:r>
              <a:rPr lang="en-US" sz="2400" dirty="0"/>
              <a:t>a</a:t>
            </a:r>
            <a:r>
              <a:rPr lang="ro-RO" sz="2400" dirty="0"/>
              <a:t> prin JDBC</a:t>
            </a:r>
            <a:r>
              <a:rPr lang="en-US" sz="2400" dirty="0"/>
              <a:t> are </a:t>
            </a:r>
            <a:r>
              <a:rPr lang="en-US" sz="2400" dirty="0" err="1"/>
              <a:t>cateva</a:t>
            </a:r>
            <a:r>
              <a:rPr lang="en-US" sz="2400" dirty="0"/>
              <a:t> </a:t>
            </a:r>
            <a:r>
              <a:rPr lang="en-US" sz="2400" dirty="0" err="1"/>
              <a:t>dezavantaje</a:t>
            </a:r>
            <a:r>
              <a:rPr lang="en-US" sz="2400" dirty="0"/>
              <a:t>, </a:t>
            </a:r>
            <a:r>
              <a:rPr lang="en-US" sz="2400" dirty="0" err="1"/>
              <a:t>deoarece</a:t>
            </a:r>
            <a:r>
              <a:rPr lang="en-US" sz="2400" dirty="0"/>
              <a:t> </a:t>
            </a:r>
          </a:p>
          <a:p>
            <a:r>
              <a:rPr lang="en-US" sz="2400" dirty="0"/>
              <a:t>se </a:t>
            </a:r>
            <a:r>
              <a:rPr lang="ro-RO" sz="2400" dirty="0"/>
              <a:t>informaţiile de conectare</a:t>
            </a:r>
            <a:r>
              <a:rPr lang="en-US" sz="2400" dirty="0"/>
              <a:t> </a:t>
            </a:r>
            <a:r>
              <a:rPr lang="en-US" sz="2400" dirty="0" err="1"/>
              <a:t>trebuie</a:t>
            </a:r>
            <a:r>
              <a:rPr lang="en-US" sz="2400" dirty="0"/>
              <a:t> </a:t>
            </a:r>
            <a:r>
              <a:rPr lang="en-US" sz="2400" dirty="0" err="1"/>
              <a:t>sa</a:t>
            </a:r>
            <a:r>
              <a:rPr lang="en-US" sz="2400" dirty="0"/>
              <a:t> fie fixate in cod (</a:t>
            </a:r>
            <a:r>
              <a:rPr lang="en-US" sz="2400" dirty="0" err="1"/>
              <a:t>hardcodate</a:t>
            </a:r>
            <a:r>
              <a:rPr lang="en-US" sz="2400" dirty="0"/>
              <a:t>)</a:t>
            </a:r>
            <a:r>
              <a:rPr lang="ro-RO" sz="2400" dirty="0"/>
              <a:t>:</a:t>
            </a:r>
            <a:endParaRPr lang="en-US" sz="2400" dirty="0"/>
          </a:p>
          <a:p>
            <a:pPr marL="800100" lvl="1" indent="-342900">
              <a:buFont typeface="Arial" pitchFamily="34" charset="0"/>
              <a:buChar char="•"/>
            </a:pPr>
            <a:r>
              <a:rPr lang="ro-RO" sz="2400" dirty="0"/>
              <a:t>clasa driver;</a:t>
            </a:r>
            <a:endParaRPr lang="en-US" sz="2400" dirty="0"/>
          </a:p>
          <a:p>
            <a:pPr marL="800100" lvl="1" indent="-342900">
              <a:buFont typeface="Arial" pitchFamily="34" charset="0"/>
              <a:buChar char="•"/>
            </a:pPr>
            <a:r>
              <a:rPr lang="ro-RO" sz="2400" dirty="0"/>
              <a:t>string-ul de conectare;</a:t>
            </a:r>
            <a:endParaRPr lang="en-US" sz="2400" dirty="0"/>
          </a:p>
          <a:p>
            <a:pPr marL="800100" lvl="1" indent="-342900">
              <a:buFont typeface="Arial" pitchFamily="34" charset="0"/>
              <a:buChar char="•"/>
            </a:pPr>
            <a:r>
              <a:rPr lang="ro-RO" sz="2400" dirty="0"/>
              <a:t>numele user-ului bazei de date;</a:t>
            </a:r>
            <a:endParaRPr lang="en-US" sz="2400" dirty="0"/>
          </a:p>
          <a:p>
            <a:pPr marL="800100" lvl="1" indent="-342900">
              <a:buFont typeface="Arial" pitchFamily="34" charset="0"/>
              <a:buChar char="•"/>
            </a:pPr>
            <a:r>
              <a:rPr lang="ro-RO" sz="2400" dirty="0"/>
              <a:t>parola acestuia</a:t>
            </a:r>
            <a:endParaRPr lang="en-US" sz="2400" dirty="0"/>
          </a:p>
          <a:p>
            <a:endParaRPr lang="en-US" sz="2400" dirty="0"/>
          </a:p>
          <a:p>
            <a:r>
              <a:rPr lang="ro-RO" sz="2400" dirty="0"/>
              <a:t>O soluţie elastică</a:t>
            </a:r>
            <a:r>
              <a:rPr lang="en-US" sz="2400" dirty="0"/>
              <a:t> - a</a:t>
            </a:r>
            <a:r>
              <a:rPr lang="ro-RO" sz="2400" dirty="0"/>
              <a:t>linierea </a:t>
            </a:r>
            <a:r>
              <a:rPr lang="en-US" sz="2400" dirty="0" err="1"/>
              <a:t>containerului</a:t>
            </a:r>
            <a:r>
              <a:rPr lang="ro-RO" sz="2400" dirty="0"/>
              <a:t> la JNDI</a:t>
            </a:r>
            <a:r>
              <a:rPr lang="en-US" sz="2400" dirty="0"/>
              <a:t>. </a:t>
            </a:r>
            <a:r>
              <a:rPr lang="ro-RO" sz="2400" dirty="0"/>
              <a:t>Pentru </a:t>
            </a:r>
            <a:r>
              <a:rPr lang="en-US" sz="2400" dirty="0" err="1"/>
              <a:t>aceasta</a:t>
            </a:r>
            <a:r>
              <a:rPr lang="en-US" sz="2400" dirty="0"/>
              <a:t>: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2400" dirty="0"/>
              <a:t>Se </a:t>
            </a:r>
            <a:r>
              <a:rPr lang="en-US" sz="2400" dirty="0" err="1"/>
              <a:t>specifica</a:t>
            </a:r>
            <a:r>
              <a:rPr lang="en-US" sz="2400" dirty="0"/>
              <a:t> </a:t>
            </a:r>
            <a:r>
              <a:rPr lang="en-US" sz="2400" dirty="0" err="1"/>
              <a:t>i</a:t>
            </a:r>
            <a:r>
              <a:rPr lang="ro-RO" sz="2400" dirty="0"/>
              <a:t>n </a:t>
            </a:r>
            <a:r>
              <a:rPr lang="ro-RO" sz="2400" dirty="0">
                <a:solidFill>
                  <a:srgbClr val="FF3300"/>
                </a:solidFill>
              </a:rPr>
              <a:t>web.xml</a:t>
            </a:r>
            <a:r>
              <a:rPr lang="ro-RO" sz="2400" dirty="0"/>
              <a:t> un </a:t>
            </a:r>
            <a:r>
              <a:rPr lang="ro-RO" sz="2400" b="1" i="1" dirty="0">
                <a:solidFill>
                  <a:schemeClr val="folHlink"/>
                </a:solidFill>
              </a:rPr>
              <a:t>nume JNDI</a:t>
            </a:r>
            <a:r>
              <a:rPr lang="ro-RO" sz="2400" i="1" dirty="0"/>
              <a:t>,</a:t>
            </a:r>
            <a:r>
              <a:rPr lang="ro-RO" sz="2400" dirty="0"/>
              <a:t> prin care programele se refer</a:t>
            </a:r>
            <a:r>
              <a:rPr lang="en-US" sz="2400" dirty="0"/>
              <a:t>a</a:t>
            </a:r>
            <a:r>
              <a:rPr lang="ro-RO" sz="2400" dirty="0"/>
              <a:t> la </a:t>
            </a:r>
            <a:r>
              <a:rPr lang="en-US" sz="2400" dirty="0" err="1"/>
              <a:t>baza</a:t>
            </a:r>
            <a:r>
              <a:rPr lang="ro-RO" sz="2400" dirty="0"/>
              <a:t> de date</a:t>
            </a:r>
            <a:r>
              <a:rPr lang="en-US" sz="2400" dirty="0"/>
              <a:t>;</a:t>
            </a:r>
            <a:r>
              <a:rPr lang="ro-RO" sz="2400" dirty="0"/>
              <a:t> </a:t>
            </a:r>
            <a:endParaRPr lang="en-US" sz="2400" dirty="0"/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2400" dirty="0"/>
              <a:t>Se</a:t>
            </a:r>
            <a:r>
              <a:rPr lang="ro-RO" sz="2400" dirty="0"/>
              <a:t> asigur</a:t>
            </a:r>
            <a:r>
              <a:rPr lang="en-US" sz="2400" dirty="0"/>
              <a:t>a</a:t>
            </a:r>
            <a:r>
              <a:rPr lang="ro-RO" sz="2400" dirty="0"/>
              <a:t> </a:t>
            </a:r>
            <a:r>
              <a:rPr lang="en-US" sz="2400" i="1" dirty="0" err="1"/>
              <a:t>i</a:t>
            </a:r>
            <a:r>
              <a:rPr lang="ro-RO" sz="2400" i="1" dirty="0"/>
              <a:t>n </a:t>
            </a:r>
            <a:r>
              <a:rPr lang="ro-RO" sz="2400" i="1" dirty="0">
                <a:solidFill>
                  <a:srgbClr val="FF3300"/>
                </a:solidFill>
              </a:rPr>
              <a:t>codul Java</a:t>
            </a:r>
            <a:r>
              <a:rPr lang="ro-RO" sz="2400" i="1" dirty="0"/>
              <a:t> </a:t>
            </a:r>
            <a:r>
              <a:rPr lang="ro-RO" sz="2400" dirty="0"/>
              <a:t>conectarea la baza de date prin referinţa de mai sus;</a:t>
            </a:r>
            <a:endParaRPr lang="en-US" sz="2400" dirty="0"/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2400" dirty="0"/>
              <a:t>Se</a:t>
            </a:r>
            <a:r>
              <a:rPr lang="ro-RO" sz="2400" dirty="0"/>
              <a:t> </a:t>
            </a:r>
            <a:r>
              <a:rPr lang="en-US" sz="2400" dirty="0" err="1"/>
              <a:t>configureaza</a:t>
            </a:r>
            <a:r>
              <a:rPr lang="ro-RO" sz="2400" dirty="0"/>
              <a:t> </a:t>
            </a:r>
            <a:r>
              <a:rPr lang="en-US" sz="2400" dirty="0"/>
              <a:t>la </a:t>
            </a:r>
            <a:r>
              <a:rPr lang="en-US" sz="2400" dirty="0" err="1"/>
              <a:t>nivel</a:t>
            </a:r>
            <a:r>
              <a:rPr lang="en-US" sz="2400" dirty="0"/>
              <a:t> global – la container - </a:t>
            </a:r>
            <a:r>
              <a:rPr lang="ro-RO" sz="2400" dirty="0"/>
              <a:t>resursa </a:t>
            </a:r>
            <a:r>
              <a:rPr lang="en-US" sz="2400" dirty="0"/>
              <a:t>DB</a:t>
            </a:r>
            <a:r>
              <a:rPr lang="ro-RO" sz="2400" dirty="0"/>
              <a:t> </a:t>
            </a:r>
            <a:r>
              <a:rPr lang="en-US" sz="2400" dirty="0" err="1"/>
              <a:t>si</a:t>
            </a:r>
            <a:r>
              <a:rPr lang="en-US" sz="2400" dirty="0"/>
              <a:t> se </a:t>
            </a:r>
            <a:r>
              <a:rPr lang="en-US" sz="2400" dirty="0" err="1"/>
              <a:t>leaga</a:t>
            </a:r>
            <a:r>
              <a:rPr lang="en-US" sz="2400" dirty="0"/>
              <a:t> </a:t>
            </a:r>
            <a:r>
              <a:rPr lang="ro-RO" sz="2400" dirty="0"/>
              <a:t>de numele </a:t>
            </a:r>
            <a:r>
              <a:rPr lang="en-US" sz="2400" dirty="0" err="1"/>
              <a:t>JNDI</a:t>
            </a:r>
            <a:r>
              <a:rPr lang="en-US" sz="2400" dirty="0"/>
              <a:t>. </a:t>
            </a:r>
            <a:r>
              <a:rPr lang="en-US" sz="2400" dirty="0" err="1"/>
              <a:t>Configurarea</a:t>
            </a:r>
            <a:r>
              <a:rPr lang="en-US" sz="2400" dirty="0"/>
              <a:t> se face:</a:t>
            </a:r>
          </a:p>
          <a:p>
            <a:pPr marL="2171700" lvl="4" indent="-342900">
              <a:buFont typeface="Wingdings" pitchFamily="2" charset="2"/>
              <a:buChar char="q"/>
            </a:pPr>
            <a:r>
              <a:rPr lang="en-US" sz="2400" dirty="0"/>
              <a:t>Tomcat – in </a:t>
            </a:r>
            <a:r>
              <a:rPr lang="en-US" sz="2400" dirty="0" err="1"/>
              <a:t>fisierul</a:t>
            </a:r>
            <a:r>
              <a:rPr lang="en-US" sz="2400" dirty="0"/>
              <a:t> </a:t>
            </a:r>
            <a:r>
              <a:rPr lang="ro-RO" sz="2400" dirty="0">
                <a:solidFill>
                  <a:srgbClr val="FF3300"/>
                </a:solidFill>
              </a:rPr>
              <a:t>server.xml</a:t>
            </a:r>
            <a:endParaRPr lang="en-US" sz="2400" dirty="0">
              <a:solidFill>
                <a:srgbClr val="FF3300"/>
              </a:solidFill>
            </a:endParaRPr>
          </a:p>
          <a:p>
            <a:pPr marL="2171700" lvl="4" indent="-342900">
              <a:buFont typeface="Wingdings" pitchFamily="2" charset="2"/>
              <a:buChar char="q"/>
            </a:pPr>
            <a:r>
              <a:rPr lang="en-US" sz="2400" dirty="0"/>
              <a:t>Jetty – in </a:t>
            </a:r>
            <a:r>
              <a:rPr lang="en-US" sz="2400" dirty="0" err="1"/>
              <a:t>fisierul</a:t>
            </a:r>
            <a:r>
              <a:rPr lang="en-US" sz="2400" dirty="0"/>
              <a:t> </a:t>
            </a:r>
            <a:r>
              <a:rPr lang="en-US" sz="2400" dirty="0" err="1">
                <a:solidFill>
                  <a:srgbClr val="FF3300"/>
                </a:solidFill>
              </a:rPr>
              <a:t>jetty.xml</a:t>
            </a:r>
            <a:endParaRPr lang="ro-RO" sz="2400" dirty="0"/>
          </a:p>
        </p:txBody>
      </p:sp>
    </p:spTree>
    <p:extLst>
      <p:ext uri="{BB962C8B-B14F-4D97-AF65-F5344CB8AC3E}">
        <p14:creationId xmlns:p14="http://schemas.microsoft.com/office/powerpoint/2010/main" val="38738086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26.10.2025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BFM_Servlets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40</a:t>
            </a:fld>
            <a:r>
              <a:rPr lang="en-US" dirty="0"/>
              <a:t>_/_44_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Specificarea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resursei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in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web.xml</a:t>
            </a:r>
            <a:endParaRPr lang="en-US" altLang="en-US" dirty="0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914400" y="1305342"/>
            <a:ext cx="74676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0" algn="l"/>
                <a:tab pos="457200" algn="l"/>
                <a:tab pos="609600" algn="l"/>
                <a:tab pos="1217613" algn="l"/>
                <a:tab pos="1827213" algn="l"/>
                <a:tab pos="2435225" algn="l"/>
                <a:tab pos="3044825" algn="l"/>
                <a:tab pos="3654425" algn="l"/>
                <a:tab pos="4262438" algn="l"/>
                <a:tab pos="4872038" algn="l"/>
                <a:tab pos="5480050" algn="l"/>
                <a:tab pos="6089650" algn="l"/>
              </a:tabLst>
            </a:pPr>
            <a:r>
              <a:rPr lang="ro-RO" dirty="0">
                <a:latin typeface="Courier New" pitchFamily="49" charset="0"/>
                <a:cs typeface="Courier New" pitchFamily="49" charset="0"/>
              </a:rPr>
              <a:t>&lt;web-app&gt;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0" algn="l"/>
                <a:tab pos="457200" algn="l"/>
                <a:tab pos="609600" algn="l"/>
                <a:tab pos="1217613" algn="l"/>
                <a:tab pos="1827213" algn="l"/>
                <a:tab pos="2435225" algn="l"/>
                <a:tab pos="3044825" algn="l"/>
                <a:tab pos="3654425" algn="l"/>
                <a:tab pos="4262438" algn="l"/>
                <a:tab pos="4872038" algn="l"/>
                <a:tab pos="5480050" algn="l"/>
                <a:tab pos="6089650" algn="l"/>
              </a:tabLst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- - -</a:t>
            </a:r>
          </a:p>
          <a:p>
            <a:pPr>
              <a:tabLst>
                <a:tab pos="0" algn="l"/>
                <a:tab pos="457200" algn="l"/>
                <a:tab pos="609600" algn="l"/>
                <a:tab pos="1217613" algn="l"/>
                <a:tab pos="1827213" algn="l"/>
                <a:tab pos="2435225" algn="l"/>
                <a:tab pos="3044825" algn="l"/>
                <a:tab pos="3654425" algn="l"/>
                <a:tab pos="4262438" algn="l"/>
                <a:tab pos="4872038" algn="l"/>
                <a:tab pos="5480050" algn="l"/>
                <a:tab pos="6089650" algn="l"/>
              </a:tabLst>
            </a:pPr>
            <a:r>
              <a:rPr lang="ro-RO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ro-RO" dirty="0">
                <a:latin typeface="Courier New" pitchFamily="49" charset="0"/>
                <a:cs typeface="Courier New" pitchFamily="49" charset="0"/>
              </a:rPr>
              <a:t>&lt;servlet&gt;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- - - </a:t>
            </a:r>
            <a:r>
              <a:rPr lang="ro-RO" dirty="0">
                <a:latin typeface="Courier New" pitchFamily="49" charset="0"/>
                <a:cs typeface="Courier New" pitchFamily="49" charset="0"/>
              </a:rPr>
              <a:t>&lt;/servlet&gt;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0" algn="l"/>
                <a:tab pos="457200" algn="l"/>
                <a:tab pos="609600" algn="l"/>
                <a:tab pos="1217613" algn="l"/>
                <a:tab pos="1827213" algn="l"/>
                <a:tab pos="2435225" algn="l"/>
                <a:tab pos="3044825" algn="l"/>
                <a:tab pos="3654425" algn="l"/>
                <a:tab pos="4262438" algn="l"/>
                <a:tab pos="4872038" algn="l"/>
                <a:tab pos="5480050" algn="l"/>
                <a:tab pos="6089650" algn="l"/>
              </a:tabLst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- - -</a:t>
            </a:r>
          </a:p>
          <a:p>
            <a:pPr>
              <a:tabLst>
                <a:tab pos="0" algn="l"/>
                <a:tab pos="457200" algn="l"/>
                <a:tab pos="609600" algn="l"/>
                <a:tab pos="1217613" algn="l"/>
                <a:tab pos="1827213" algn="l"/>
                <a:tab pos="2435225" algn="l"/>
                <a:tab pos="3044825" algn="l"/>
                <a:tab pos="3654425" algn="l"/>
                <a:tab pos="4262438" algn="l"/>
                <a:tab pos="4872038" algn="l"/>
                <a:tab pos="5480050" algn="l"/>
                <a:tab pos="6089650" algn="l"/>
              </a:tabLst>
            </a:pPr>
            <a:r>
              <a:rPr lang="ro-RO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ro-RO" dirty="0">
                <a:latin typeface="Courier New" pitchFamily="49" charset="0"/>
                <a:cs typeface="Courier New" pitchFamily="49" charset="0"/>
              </a:rPr>
              <a:t>&lt;resource-ref&gt;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0" algn="l"/>
                <a:tab pos="457200" algn="l"/>
                <a:tab pos="609600" algn="l"/>
                <a:tab pos="1217613" algn="l"/>
                <a:tab pos="1827213" algn="l"/>
                <a:tab pos="2435225" algn="l"/>
                <a:tab pos="3044825" algn="l"/>
                <a:tab pos="3654425" algn="l"/>
                <a:tab pos="4262438" algn="l"/>
                <a:tab pos="4872038" algn="l"/>
                <a:tab pos="5480050" algn="l"/>
                <a:tab pos="6089650" algn="l"/>
              </a:tabLst>
            </a:pPr>
            <a:r>
              <a:rPr lang="ro-RO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lang="ro-RO" dirty="0">
                <a:latin typeface="Courier New" pitchFamily="49" charset="0"/>
                <a:cs typeface="Courier New" pitchFamily="49" charset="0"/>
              </a:rPr>
              <a:t>&lt;res-ref-name&gt;</a:t>
            </a:r>
            <a:r>
              <a:rPr lang="ro-RO" b="1" dirty="0">
                <a:solidFill>
                  <a:srgbClr val="FF3300"/>
                </a:solidFill>
                <a:latin typeface="Courier New" pitchFamily="49" charset="0"/>
                <a:cs typeface="Courier New" pitchFamily="49" charset="0"/>
              </a:rPr>
              <a:t>jdbc/N</a:t>
            </a:r>
            <a:r>
              <a:rPr lang="en-US" b="1" dirty="0" err="1">
                <a:solidFill>
                  <a:srgbClr val="FF3300"/>
                </a:solidFill>
                <a:latin typeface="Courier New" pitchFamily="49" charset="0"/>
                <a:cs typeface="Courier New" pitchFamily="49" charset="0"/>
              </a:rPr>
              <a:t>umeJNDI</a:t>
            </a:r>
            <a:r>
              <a:rPr lang="ro-RO" dirty="0">
                <a:latin typeface="Courier New" pitchFamily="49" charset="0"/>
                <a:cs typeface="Courier New" pitchFamily="49" charset="0"/>
              </a:rPr>
              <a:t>&lt;/res-ref-name&gt;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0" algn="l"/>
                <a:tab pos="457200" algn="l"/>
                <a:tab pos="609600" algn="l"/>
                <a:tab pos="1217613" algn="l"/>
                <a:tab pos="1827213" algn="l"/>
                <a:tab pos="2435225" algn="l"/>
                <a:tab pos="3044825" algn="l"/>
                <a:tab pos="3654425" algn="l"/>
                <a:tab pos="4262438" algn="l"/>
                <a:tab pos="4872038" algn="l"/>
                <a:tab pos="5480050" algn="l"/>
                <a:tab pos="6089650" algn="l"/>
              </a:tabLst>
            </a:pPr>
            <a:r>
              <a:rPr lang="ro-RO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ro-RO" dirty="0">
                <a:latin typeface="Courier New" pitchFamily="49" charset="0"/>
                <a:cs typeface="Courier New" pitchFamily="49" charset="0"/>
              </a:rPr>
              <a:t>&lt;res-type&gt;javax.sql.DataSource&lt;/res-type&gt;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0" algn="l"/>
                <a:tab pos="457200" algn="l"/>
                <a:tab pos="609600" algn="l"/>
                <a:tab pos="1217613" algn="l"/>
                <a:tab pos="1827213" algn="l"/>
                <a:tab pos="2435225" algn="l"/>
                <a:tab pos="3044825" algn="l"/>
                <a:tab pos="3654425" algn="l"/>
                <a:tab pos="4262438" algn="l"/>
                <a:tab pos="4872038" algn="l"/>
                <a:tab pos="5480050" algn="l"/>
                <a:tab pos="6089650" algn="l"/>
              </a:tabLst>
            </a:pPr>
            <a:r>
              <a:rPr lang="ro-RO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ro-RO" dirty="0">
                <a:latin typeface="Courier New" pitchFamily="49" charset="0"/>
                <a:cs typeface="Courier New" pitchFamily="49" charset="0"/>
              </a:rPr>
              <a:t>&lt;res-auth&gt;Container&lt;/res-auth&gt;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0" algn="l"/>
                <a:tab pos="457200" algn="l"/>
                <a:tab pos="609600" algn="l"/>
                <a:tab pos="1217613" algn="l"/>
                <a:tab pos="1827213" algn="l"/>
                <a:tab pos="2435225" algn="l"/>
                <a:tab pos="3044825" algn="l"/>
                <a:tab pos="3654425" algn="l"/>
                <a:tab pos="4262438" algn="l"/>
                <a:tab pos="4872038" algn="l"/>
                <a:tab pos="5480050" algn="l"/>
                <a:tab pos="6089650" algn="l"/>
              </a:tabLst>
            </a:pPr>
            <a:r>
              <a:rPr lang="ro-RO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ro-RO" dirty="0">
                <a:latin typeface="Courier New" pitchFamily="49" charset="0"/>
                <a:cs typeface="Courier New" pitchFamily="49" charset="0"/>
              </a:rPr>
              <a:t>&lt;/resource-ref&gt;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0" algn="l"/>
                <a:tab pos="457200" algn="l"/>
                <a:tab pos="609600" algn="l"/>
                <a:tab pos="1217613" algn="l"/>
                <a:tab pos="1827213" algn="l"/>
                <a:tab pos="2435225" algn="l"/>
                <a:tab pos="3044825" algn="l"/>
                <a:tab pos="3654425" algn="l"/>
                <a:tab pos="4262438" algn="l"/>
                <a:tab pos="4872038" algn="l"/>
                <a:tab pos="5480050" algn="l"/>
                <a:tab pos="6089650" algn="l"/>
              </a:tabLst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- - -</a:t>
            </a:r>
          </a:p>
          <a:p>
            <a:pPr>
              <a:tabLst>
                <a:tab pos="0" algn="l"/>
                <a:tab pos="457200" algn="l"/>
                <a:tab pos="609600" algn="l"/>
                <a:tab pos="1217613" algn="l"/>
                <a:tab pos="1827213" algn="l"/>
                <a:tab pos="2435225" algn="l"/>
                <a:tab pos="3044825" algn="l"/>
                <a:tab pos="3654425" algn="l"/>
                <a:tab pos="4262438" algn="l"/>
                <a:tab pos="4872038" algn="l"/>
                <a:tab pos="5480050" algn="l"/>
                <a:tab pos="6089650" algn="l"/>
              </a:tabLst>
            </a:pPr>
            <a:r>
              <a:rPr lang="ro-RO" dirty="0">
                <a:latin typeface="Courier New" pitchFamily="49" charset="0"/>
                <a:cs typeface="Courier New" pitchFamily="49" charset="0"/>
              </a:rPr>
              <a:t>&lt;/web-app&gt;</a:t>
            </a:r>
          </a:p>
        </p:txBody>
      </p:sp>
    </p:spTree>
    <p:extLst>
      <p:ext uri="{BB962C8B-B14F-4D97-AF65-F5344CB8AC3E}">
        <p14:creationId xmlns:p14="http://schemas.microsoft.com/office/powerpoint/2010/main" val="81880554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26.10.2025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BFM_Servlets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41</a:t>
            </a:fld>
            <a:r>
              <a:rPr lang="en-US" dirty="0"/>
              <a:t>_/_44_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Conectarea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la DB in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codul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Java 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914400"/>
            <a:ext cx="91440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60363"/>
            <a:r>
              <a:rPr lang="en-US" dirty="0">
                <a:latin typeface="Courier New" pitchFamily="49" charset="0"/>
                <a:cs typeface="Courier New" pitchFamily="49" charset="0"/>
              </a:rPr>
              <a:t> - - -</a:t>
            </a:r>
          </a:p>
          <a:p>
            <a:pPr indent="360363"/>
            <a:r>
              <a:rPr lang="en-US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ro-RO" dirty="0">
                <a:latin typeface="Courier New" pitchFamily="49" charset="0"/>
                <a:cs typeface="Courier New" pitchFamily="49" charset="0"/>
              </a:rPr>
              <a:t>javax.naming.Context cx = new InitialContext();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indent="360363"/>
            <a:r>
              <a:rPr lang="en-US" dirty="0">
                <a:latin typeface="Courier New" pitchFamily="49" charset="0"/>
                <a:cs typeface="Courier New" pitchFamily="49" charset="0"/>
              </a:rPr>
              <a:t>    //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Contextul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initial 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cel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specificat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prin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i="1" dirty="0" err="1">
                <a:latin typeface="Courier New" pitchFamily="49" charset="0"/>
                <a:cs typeface="Courier New" pitchFamily="49" charset="0"/>
              </a:rPr>
              <a:t>jndi.properties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indent="360363"/>
            <a:r>
              <a:rPr lang="en-US" dirty="0">
                <a:latin typeface="Courier New" pitchFamily="49" charset="0"/>
                <a:cs typeface="Courier New" pitchFamily="49" charset="0"/>
              </a:rPr>
              <a:t>    //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este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furnizat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automat de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catre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container</a:t>
            </a:r>
          </a:p>
          <a:p>
            <a:pPr indent="360363"/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indent="360363"/>
            <a:r>
              <a:rPr lang="en-US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ro-RO" dirty="0">
                <a:latin typeface="Courier New" pitchFamily="49" charset="0"/>
                <a:cs typeface="Courier New" pitchFamily="49" charset="0"/>
              </a:rPr>
              <a:t>javax.sql.DataSource ds = 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indent="360363"/>
            <a:r>
              <a:rPr lang="en-US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ro-RO" dirty="0">
                <a:latin typeface="Courier New" pitchFamily="49" charset="0"/>
                <a:cs typeface="Courier New" pitchFamily="49" charset="0"/>
              </a:rPr>
              <a:t>(DataSource)cx.lookup("</a:t>
            </a:r>
            <a:r>
              <a:rPr lang="ro-RO" b="1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java:comp/env/</a:t>
            </a:r>
            <a:r>
              <a:rPr lang="ro-RO" b="1" dirty="0">
                <a:solidFill>
                  <a:srgbClr val="FF3300"/>
                </a:solidFill>
                <a:latin typeface="Courier New" pitchFamily="49" charset="0"/>
                <a:cs typeface="Courier New" pitchFamily="49" charset="0"/>
              </a:rPr>
              <a:t>jdbc/</a:t>
            </a:r>
            <a:r>
              <a:rPr lang="en-US" b="1" dirty="0" err="1">
                <a:solidFill>
                  <a:srgbClr val="FF3300"/>
                </a:solidFill>
                <a:latin typeface="Courier New" pitchFamily="49" charset="0"/>
                <a:cs typeface="Courier New" pitchFamily="49" charset="0"/>
              </a:rPr>
              <a:t>NumeJNDI</a:t>
            </a:r>
            <a:r>
              <a:rPr lang="ro-RO" dirty="0">
                <a:latin typeface="Courier New" pitchFamily="49" charset="0"/>
                <a:cs typeface="Courier New" pitchFamily="49" charset="0"/>
              </a:rPr>
              <a:t>");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indent="360363"/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indent="360363"/>
            <a:r>
              <a:rPr lang="en-US" dirty="0">
                <a:latin typeface="Courier New" pitchFamily="49" charset="0"/>
                <a:cs typeface="Courier New" pitchFamily="49" charset="0"/>
              </a:rPr>
              <a:t>    //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java:comp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/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env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este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contextul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JNDI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al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containerului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indent="360363"/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indent="360363"/>
            <a:r>
              <a:rPr lang="en-US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ro-RO" dirty="0">
                <a:latin typeface="Courier New" pitchFamily="49" charset="0"/>
                <a:cs typeface="Courier New" pitchFamily="49" charset="0"/>
              </a:rPr>
              <a:t>javax.sql.Connection co = ds.getConnection();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indent="360363"/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indent="360363"/>
            <a:r>
              <a:rPr lang="en-US" dirty="0">
                <a:latin typeface="Courier New" pitchFamily="49" charset="0"/>
                <a:cs typeface="Courier New" pitchFamily="49" charset="0"/>
              </a:rPr>
              <a:t>    - - -</a:t>
            </a:r>
          </a:p>
          <a:p>
            <a:pPr indent="360363"/>
            <a:r>
              <a:rPr lang="en-US" dirty="0">
                <a:latin typeface="Courier New" pitchFamily="49" charset="0"/>
                <a:cs typeface="Courier New" pitchFamily="49" charset="0"/>
              </a:rPr>
              <a:t>    //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Restul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codului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coincide cu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cel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de la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conectarea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clasica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23602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26.10.2025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BFM_Servlets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42</a:t>
            </a:fld>
            <a:r>
              <a:rPr lang="en-US" dirty="0"/>
              <a:t>_/_44_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Tomcat: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definire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JDBC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prin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JNDI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in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server.xml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 </a:t>
            </a:r>
          </a:p>
        </p:txBody>
      </p:sp>
      <p:sp>
        <p:nvSpPr>
          <p:cNvPr id="2" name="Rectangle 1"/>
          <p:cNvSpPr/>
          <p:nvPr/>
        </p:nvSpPr>
        <p:spPr>
          <a:xfrm>
            <a:off x="5255" y="801699"/>
            <a:ext cx="91440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0" algn="l"/>
                <a:tab pos="457200" algn="l"/>
                <a:tab pos="609600" algn="l"/>
                <a:tab pos="1217613" algn="l"/>
                <a:tab pos="1827213" algn="l"/>
                <a:tab pos="2435225" algn="l"/>
                <a:tab pos="3044825" algn="l"/>
                <a:tab pos="3654425" algn="l"/>
                <a:tab pos="4262438" algn="l"/>
                <a:tab pos="4872038" algn="l"/>
                <a:tab pos="5480050" algn="l"/>
                <a:tab pos="6089650" algn="l"/>
              </a:tabLst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- - - &lt;Context - - -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sau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&lt;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DefaultContext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- - -</a:t>
            </a:r>
          </a:p>
          <a:p>
            <a:pPr>
              <a:tabLst>
                <a:tab pos="0" algn="l"/>
                <a:tab pos="457200" algn="l"/>
                <a:tab pos="609600" algn="l"/>
                <a:tab pos="1217613" algn="l"/>
                <a:tab pos="1827213" algn="l"/>
                <a:tab pos="2435225" algn="l"/>
                <a:tab pos="3044825" algn="l"/>
                <a:tab pos="3654425" algn="l"/>
                <a:tab pos="4262438" algn="l"/>
                <a:tab pos="4872038" algn="l"/>
                <a:tab pos="5480050" algn="l"/>
                <a:tab pos="6089650" algn="l"/>
              </a:tabLst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- - -</a:t>
            </a:r>
          </a:p>
          <a:p>
            <a:pPr>
              <a:tabLst>
                <a:tab pos="0" algn="l"/>
                <a:tab pos="457200" algn="l"/>
                <a:tab pos="609600" algn="l"/>
                <a:tab pos="1217613" algn="l"/>
                <a:tab pos="1827213" algn="l"/>
                <a:tab pos="2435225" algn="l"/>
                <a:tab pos="3044825" algn="l"/>
                <a:tab pos="3654425" algn="l"/>
                <a:tab pos="4262438" algn="l"/>
                <a:tab pos="4872038" algn="l"/>
                <a:tab pos="5480050" algn="l"/>
                <a:tab pos="6089650" algn="l"/>
              </a:tabLst>
            </a:pPr>
            <a:r>
              <a:rPr lang="ro-RO" dirty="0">
                <a:latin typeface="Courier New" pitchFamily="49" charset="0"/>
                <a:cs typeface="Courier New" pitchFamily="49" charset="0"/>
              </a:rPr>
              <a:t>   &lt;ResourceParams name="</a:t>
            </a:r>
            <a:r>
              <a:rPr lang="ro-RO" b="1" dirty="0">
                <a:solidFill>
                  <a:srgbClr val="FF3300"/>
                </a:solidFill>
                <a:latin typeface="Courier New" pitchFamily="49" charset="0"/>
                <a:cs typeface="Courier New" pitchFamily="49" charset="0"/>
              </a:rPr>
              <a:t>jdbc/N</a:t>
            </a:r>
            <a:r>
              <a:rPr lang="en-US" b="1" dirty="0" err="1">
                <a:solidFill>
                  <a:srgbClr val="FF3300"/>
                </a:solidFill>
                <a:latin typeface="Courier New" pitchFamily="49" charset="0"/>
                <a:cs typeface="Courier New" pitchFamily="49" charset="0"/>
              </a:rPr>
              <a:t>umeJNDI</a:t>
            </a:r>
            <a:r>
              <a:rPr lang="ro-RO" dirty="0">
                <a:latin typeface="Courier New" pitchFamily="49" charset="0"/>
                <a:cs typeface="Courier New" pitchFamily="49" charset="0"/>
              </a:rPr>
              <a:t>"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auth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=</a:t>
            </a:r>
            <a:r>
              <a:rPr lang="ro-RO" dirty="0">
                <a:latin typeface="Courier New" pitchFamily="49" charset="0"/>
                <a:cs typeface="Courier New" pitchFamily="49" charset="0"/>
              </a:rPr>
              <a:t> "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Container</a:t>
            </a:r>
            <a:r>
              <a:rPr lang="ro-RO" dirty="0">
                <a:latin typeface="Courier New" pitchFamily="49" charset="0"/>
                <a:cs typeface="Courier New" pitchFamily="49" charset="0"/>
              </a:rPr>
              <a:t>"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0" algn="l"/>
                <a:tab pos="457200" algn="l"/>
                <a:tab pos="609600" algn="l"/>
                <a:tab pos="1217613" algn="l"/>
                <a:tab pos="1827213" algn="l"/>
                <a:tab pos="2435225" algn="l"/>
                <a:tab pos="3044825" algn="l"/>
                <a:tab pos="3654425" algn="l"/>
                <a:tab pos="4262438" algn="l"/>
                <a:tab pos="4872038" algn="l"/>
                <a:tab pos="5480050" algn="l"/>
                <a:tab pos="6089650" algn="l"/>
              </a:tabLst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                          type=</a:t>
            </a:r>
            <a:r>
              <a:rPr lang="ro-RO" dirty="0">
                <a:latin typeface="Courier New" pitchFamily="49" charset="0"/>
                <a:cs typeface="Courier New" pitchFamily="49" charset="0"/>
              </a:rPr>
              <a:t>"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javax.sql.DataSource</a:t>
            </a:r>
            <a:r>
              <a:rPr lang="ro-RO" dirty="0">
                <a:latin typeface="Courier New" pitchFamily="49" charset="0"/>
                <a:cs typeface="Courier New" pitchFamily="49" charset="0"/>
              </a:rPr>
              <a:t>"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tabLst>
                <a:tab pos="0" algn="l"/>
                <a:tab pos="457200" algn="l"/>
                <a:tab pos="609600" algn="l"/>
                <a:tab pos="1217613" algn="l"/>
                <a:tab pos="1827213" algn="l"/>
                <a:tab pos="2435225" algn="l"/>
                <a:tab pos="3044825" algn="l"/>
                <a:tab pos="3654425" algn="l"/>
                <a:tab pos="4262438" algn="l"/>
                <a:tab pos="4872038" algn="l"/>
                <a:tab pos="5480050" algn="l"/>
                <a:tab pos="6089650" algn="l"/>
              </a:tabLst>
            </a:pPr>
            <a:r>
              <a:rPr lang="ro-RO" dirty="0">
                <a:latin typeface="Courier New" pitchFamily="49" charset="0"/>
                <a:cs typeface="Courier New" pitchFamily="49" charset="0"/>
              </a:rPr>
              <a:t>      &lt;parameter&gt;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0" algn="l"/>
                <a:tab pos="457200" algn="l"/>
                <a:tab pos="609600" algn="l"/>
                <a:tab pos="1217613" algn="l"/>
                <a:tab pos="1827213" algn="l"/>
                <a:tab pos="2435225" algn="l"/>
                <a:tab pos="3044825" algn="l"/>
                <a:tab pos="3654425" algn="l"/>
                <a:tab pos="4262438" algn="l"/>
                <a:tab pos="4872038" algn="l"/>
                <a:tab pos="5480050" algn="l"/>
                <a:tab pos="6089650" algn="l"/>
              </a:tabLst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     </a:t>
            </a:r>
            <a:r>
              <a:rPr lang="ro-RO" dirty="0">
                <a:latin typeface="Courier New" pitchFamily="49" charset="0"/>
                <a:cs typeface="Courier New" pitchFamily="49" charset="0"/>
              </a:rPr>
              <a:t>&lt;name&gt;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user</a:t>
            </a:r>
            <a:r>
              <a:rPr lang="ro-RO" dirty="0">
                <a:latin typeface="Courier New" pitchFamily="49" charset="0"/>
                <a:cs typeface="Courier New" pitchFamily="49" charset="0"/>
              </a:rPr>
              <a:t>&lt;/name&gt;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&lt;value&gt;- - -&lt;/value&gt;</a:t>
            </a:r>
            <a:r>
              <a:rPr lang="ro-RO" dirty="0">
                <a:latin typeface="Courier New" pitchFamily="49" charset="0"/>
                <a:cs typeface="Courier New" pitchFamily="49" charset="0"/>
              </a:rPr>
              <a:t> 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0" algn="l"/>
                <a:tab pos="457200" algn="l"/>
                <a:tab pos="609600" algn="l"/>
                <a:tab pos="1217613" algn="l"/>
                <a:tab pos="1827213" algn="l"/>
                <a:tab pos="2435225" algn="l"/>
                <a:tab pos="3044825" algn="l"/>
                <a:tab pos="3654425" algn="l"/>
                <a:tab pos="4262438" algn="l"/>
                <a:tab pos="4872038" algn="l"/>
                <a:tab pos="5480050" algn="l"/>
                <a:tab pos="6089650" algn="l"/>
              </a:tabLst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ro-RO" dirty="0">
                <a:latin typeface="Courier New" pitchFamily="49" charset="0"/>
                <a:cs typeface="Courier New" pitchFamily="49" charset="0"/>
              </a:rPr>
              <a:t>&lt;/parameter&gt;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0" algn="l"/>
                <a:tab pos="457200" algn="l"/>
                <a:tab pos="609600" algn="l"/>
                <a:tab pos="1217613" algn="l"/>
                <a:tab pos="1827213" algn="l"/>
                <a:tab pos="2435225" algn="l"/>
                <a:tab pos="3044825" algn="l"/>
                <a:tab pos="3654425" algn="l"/>
                <a:tab pos="4262438" algn="l"/>
                <a:tab pos="4872038" algn="l"/>
                <a:tab pos="5480050" algn="l"/>
                <a:tab pos="6089650" algn="l"/>
              </a:tabLst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lang="ro-RO" dirty="0">
                <a:latin typeface="Courier New" pitchFamily="49" charset="0"/>
                <a:cs typeface="Courier New" pitchFamily="49" charset="0"/>
              </a:rPr>
              <a:t> &lt;parameter&gt;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0" algn="l"/>
                <a:tab pos="457200" algn="l"/>
                <a:tab pos="609600" algn="l"/>
                <a:tab pos="1217613" algn="l"/>
                <a:tab pos="1827213" algn="l"/>
                <a:tab pos="2435225" algn="l"/>
                <a:tab pos="3044825" algn="l"/>
                <a:tab pos="3654425" algn="l"/>
                <a:tab pos="4262438" algn="l"/>
                <a:tab pos="4872038" algn="l"/>
                <a:tab pos="5480050" algn="l"/>
                <a:tab pos="6089650" algn="l"/>
              </a:tabLst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     </a:t>
            </a:r>
            <a:r>
              <a:rPr lang="ro-RO" dirty="0">
                <a:latin typeface="Courier New" pitchFamily="49" charset="0"/>
                <a:cs typeface="Courier New" pitchFamily="49" charset="0"/>
              </a:rPr>
              <a:t>&lt;name&gt;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password</a:t>
            </a:r>
            <a:r>
              <a:rPr lang="ro-RO" dirty="0">
                <a:latin typeface="Courier New" pitchFamily="49" charset="0"/>
                <a:cs typeface="Courier New" pitchFamily="49" charset="0"/>
              </a:rPr>
              <a:t>&lt;/name&gt;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&lt;value&gt;- - -&lt;/value&gt;</a:t>
            </a:r>
            <a:r>
              <a:rPr lang="ro-RO" dirty="0">
                <a:latin typeface="Courier New" pitchFamily="49" charset="0"/>
                <a:cs typeface="Courier New" pitchFamily="49" charset="0"/>
              </a:rPr>
              <a:t> 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0" algn="l"/>
                <a:tab pos="457200" algn="l"/>
                <a:tab pos="609600" algn="l"/>
                <a:tab pos="1217613" algn="l"/>
                <a:tab pos="1827213" algn="l"/>
                <a:tab pos="2435225" algn="l"/>
                <a:tab pos="3044825" algn="l"/>
                <a:tab pos="3654425" algn="l"/>
                <a:tab pos="4262438" algn="l"/>
                <a:tab pos="4872038" algn="l"/>
                <a:tab pos="5480050" algn="l"/>
                <a:tab pos="6089650" algn="l"/>
              </a:tabLst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ro-RO" dirty="0">
                <a:latin typeface="Courier New" pitchFamily="49" charset="0"/>
                <a:cs typeface="Courier New" pitchFamily="49" charset="0"/>
              </a:rPr>
              <a:t>&lt;/parameter&gt;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0" algn="l"/>
                <a:tab pos="457200" algn="l"/>
                <a:tab pos="609600" algn="l"/>
                <a:tab pos="1217613" algn="l"/>
                <a:tab pos="1827213" algn="l"/>
                <a:tab pos="2435225" algn="l"/>
                <a:tab pos="3044825" algn="l"/>
                <a:tab pos="3654425" algn="l"/>
                <a:tab pos="4262438" algn="l"/>
                <a:tab pos="4872038" algn="l"/>
                <a:tab pos="5480050" algn="l"/>
                <a:tab pos="6089650" algn="l"/>
              </a:tabLst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lang="ro-RO" dirty="0">
                <a:latin typeface="Courier New" pitchFamily="49" charset="0"/>
                <a:cs typeface="Courier New" pitchFamily="49" charset="0"/>
              </a:rPr>
              <a:t> &lt;parameter&gt;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0" algn="l"/>
                <a:tab pos="457200" algn="l"/>
                <a:tab pos="609600" algn="l"/>
                <a:tab pos="1217613" algn="l"/>
                <a:tab pos="1827213" algn="l"/>
                <a:tab pos="2435225" algn="l"/>
                <a:tab pos="3044825" algn="l"/>
                <a:tab pos="3654425" algn="l"/>
                <a:tab pos="4262438" algn="l"/>
                <a:tab pos="4872038" algn="l"/>
                <a:tab pos="5480050" algn="l"/>
                <a:tab pos="6089650" algn="l"/>
              </a:tabLst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     </a:t>
            </a:r>
            <a:r>
              <a:rPr lang="ro-RO" dirty="0">
                <a:latin typeface="Courier New" pitchFamily="49" charset="0"/>
                <a:cs typeface="Courier New" pitchFamily="49" charset="0"/>
              </a:rPr>
              <a:t>&lt;name&gt;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driverClassName</a:t>
            </a:r>
            <a:r>
              <a:rPr lang="ro-RO" dirty="0">
                <a:latin typeface="Courier New" pitchFamily="49" charset="0"/>
                <a:cs typeface="Courier New" pitchFamily="49" charset="0"/>
              </a:rPr>
              <a:t>&lt;/name&gt;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0" algn="l"/>
                <a:tab pos="457200" algn="l"/>
                <a:tab pos="609600" algn="l"/>
                <a:tab pos="1217613" algn="l"/>
                <a:tab pos="1827213" algn="l"/>
                <a:tab pos="2435225" algn="l"/>
                <a:tab pos="3044825" algn="l"/>
                <a:tab pos="3654425" algn="l"/>
                <a:tab pos="4262438" algn="l"/>
                <a:tab pos="4872038" algn="l"/>
                <a:tab pos="5480050" algn="l"/>
                <a:tab pos="6089650" algn="l"/>
              </a:tabLst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     &lt;value&gt;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com.mysql.jdbc.Driver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&lt;/value&gt;</a:t>
            </a:r>
            <a:r>
              <a:rPr lang="ro-RO" dirty="0">
                <a:latin typeface="Courier New" pitchFamily="49" charset="0"/>
                <a:cs typeface="Courier New" pitchFamily="49" charset="0"/>
              </a:rPr>
              <a:t> 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0" algn="l"/>
                <a:tab pos="457200" algn="l"/>
                <a:tab pos="609600" algn="l"/>
                <a:tab pos="1217613" algn="l"/>
                <a:tab pos="1827213" algn="l"/>
                <a:tab pos="2435225" algn="l"/>
                <a:tab pos="3044825" algn="l"/>
                <a:tab pos="3654425" algn="l"/>
                <a:tab pos="4262438" algn="l"/>
                <a:tab pos="4872038" algn="l"/>
                <a:tab pos="5480050" algn="l"/>
                <a:tab pos="6089650" algn="l"/>
              </a:tabLst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ro-RO" dirty="0">
                <a:latin typeface="Courier New" pitchFamily="49" charset="0"/>
                <a:cs typeface="Courier New" pitchFamily="49" charset="0"/>
              </a:rPr>
              <a:t>&lt;/parameter&gt;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0" algn="l"/>
                <a:tab pos="457200" algn="l"/>
                <a:tab pos="609600" algn="l"/>
                <a:tab pos="1217613" algn="l"/>
                <a:tab pos="1827213" algn="l"/>
                <a:tab pos="2435225" algn="l"/>
                <a:tab pos="3044825" algn="l"/>
                <a:tab pos="3654425" algn="l"/>
                <a:tab pos="4262438" algn="l"/>
                <a:tab pos="4872038" algn="l"/>
                <a:tab pos="5480050" algn="l"/>
                <a:tab pos="6089650" algn="l"/>
              </a:tabLst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lang="ro-RO" dirty="0">
                <a:latin typeface="Courier New" pitchFamily="49" charset="0"/>
                <a:cs typeface="Courier New" pitchFamily="49" charset="0"/>
              </a:rPr>
              <a:t> &lt;parameter&gt;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0" algn="l"/>
                <a:tab pos="457200" algn="l"/>
                <a:tab pos="609600" algn="l"/>
                <a:tab pos="1217613" algn="l"/>
                <a:tab pos="1827213" algn="l"/>
                <a:tab pos="2435225" algn="l"/>
                <a:tab pos="3044825" algn="l"/>
                <a:tab pos="3654425" algn="l"/>
                <a:tab pos="4262438" algn="l"/>
                <a:tab pos="4872038" algn="l"/>
                <a:tab pos="5480050" algn="l"/>
                <a:tab pos="6089650" algn="l"/>
              </a:tabLst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     </a:t>
            </a:r>
            <a:r>
              <a:rPr lang="ro-RO" dirty="0">
                <a:latin typeface="Courier New" pitchFamily="49" charset="0"/>
                <a:cs typeface="Courier New" pitchFamily="49" charset="0"/>
              </a:rPr>
              <a:t>&lt;name&gt;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url</a:t>
            </a:r>
            <a:r>
              <a:rPr lang="ro-RO" dirty="0">
                <a:latin typeface="Courier New" pitchFamily="49" charset="0"/>
                <a:cs typeface="Courier New" pitchFamily="49" charset="0"/>
              </a:rPr>
              <a:t>&lt;/name&gt;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0" algn="l"/>
                <a:tab pos="457200" algn="l"/>
                <a:tab pos="609600" algn="l"/>
                <a:tab pos="1217613" algn="l"/>
                <a:tab pos="1827213" algn="l"/>
                <a:tab pos="2435225" algn="l"/>
                <a:tab pos="3044825" algn="l"/>
                <a:tab pos="3654425" algn="l"/>
                <a:tab pos="4262438" algn="l"/>
                <a:tab pos="4872038" algn="l"/>
                <a:tab pos="5480050" algn="l"/>
                <a:tab pos="6089650" algn="l"/>
              </a:tabLst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     &lt;value&gt;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jdbc:mysql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://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localhost:3306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/</a:t>
            </a:r>
            <a:r>
              <a:rPr lang="en-US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NumeDB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&lt;/value&gt;</a:t>
            </a:r>
            <a:r>
              <a:rPr lang="ro-RO" dirty="0">
                <a:latin typeface="Courier New" pitchFamily="49" charset="0"/>
                <a:cs typeface="Courier New" pitchFamily="49" charset="0"/>
              </a:rPr>
              <a:t> 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0" algn="l"/>
                <a:tab pos="457200" algn="l"/>
                <a:tab pos="609600" algn="l"/>
                <a:tab pos="1217613" algn="l"/>
                <a:tab pos="1827213" algn="l"/>
                <a:tab pos="2435225" algn="l"/>
                <a:tab pos="3044825" algn="l"/>
                <a:tab pos="3654425" algn="l"/>
                <a:tab pos="4262438" algn="l"/>
                <a:tab pos="4872038" algn="l"/>
                <a:tab pos="5480050" algn="l"/>
                <a:tab pos="6089650" algn="l"/>
              </a:tabLst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ro-RO" dirty="0">
                <a:latin typeface="Courier New" pitchFamily="49" charset="0"/>
                <a:cs typeface="Courier New" pitchFamily="49" charset="0"/>
              </a:rPr>
              <a:t>&lt;/parameter&gt;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0" algn="l"/>
                <a:tab pos="457200" algn="l"/>
                <a:tab pos="609600" algn="l"/>
                <a:tab pos="1217613" algn="l"/>
                <a:tab pos="1827213" algn="l"/>
                <a:tab pos="2435225" algn="l"/>
                <a:tab pos="3044825" algn="l"/>
                <a:tab pos="3654425" algn="l"/>
                <a:tab pos="4262438" algn="l"/>
                <a:tab pos="4872038" algn="l"/>
                <a:tab pos="5480050" algn="l"/>
                <a:tab pos="6089650" algn="l"/>
              </a:tabLst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ro-RO" dirty="0">
                <a:latin typeface="Courier New" pitchFamily="49" charset="0"/>
                <a:cs typeface="Courier New" pitchFamily="49" charset="0"/>
              </a:rPr>
              <a:t>&lt;/ResourceParams&gt;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0" algn="l"/>
                <a:tab pos="457200" algn="l"/>
                <a:tab pos="609600" algn="l"/>
                <a:tab pos="1217613" algn="l"/>
                <a:tab pos="1827213" algn="l"/>
                <a:tab pos="2435225" algn="l"/>
                <a:tab pos="3044825" algn="l"/>
                <a:tab pos="3654425" algn="l"/>
                <a:tab pos="4262438" algn="l"/>
                <a:tab pos="4872038" algn="l"/>
                <a:tab pos="5480050" algn="l"/>
                <a:tab pos="6089650" algn="l"/>
              </a:tabLst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- - -</a:t>
            </a:r>
          </a:p>
          <a:p>
            <a:pPr>
              <a:tabLst>
                <a:tab pos="0" algn="l"/>
                <a:tab pos="457200" algn="l"/>
                <a:tab pos="609600" algn="l"/>
                <a:tab pos="1217613" algn="l"/>
                <a:tab pos="1827213" algn="l"/>
                <a:tab pos="2435225" algn="l"/>
                <a:tab pos="3044825" algn="l"/>
                <a:tab pos="3654425" algn="l"/>
                <a:tab pos="4262438" algn="l"/>
                <a:tab pos="4872038" algn="l"/>
                <a:tab pos="5480050" algn="l"/>
                <a:tab pos="6089650" algn="l"/>
              </a:tabLst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- - - </a:t>
            </a:r>
            <a:r>
              <a:rPr lang="ro-RO" dirty="0">
                <a:latin typeface="Courier New" pitchFamily="49" charset="0"/>
                <a:cs typeface="Courier New" pitchFamily="49" charset="0"/>
              </a:rPr>
              <a:t>&lt;/Context&gt;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sau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&lt;/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DefaultContext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&gt; - - -</a:t>
            </a:r>
            <a:endParaRPr lang="ro-RO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348734"/>
            <a:ext cx="912297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In </a:t>
            </a:r>
            <a:r>
              <a:rPr lang="en-US" dirty="0" err="1"/>
              <a:t>fisierul</a:t>
            </a:r>
            <a:r>
              <a:rPr lang="en-US" dirty="0"/>
              <a:t> </a:t>
            </a:r>
            <a:r>
              <a:rPr lang="en-US" b="1" dirty="0" err="1">
                <a:solidFill>
                  <a:schemeClr val="folHlink"/>
                </a:solidFill>
              </a:rPr>
              <a:t>server.xml</a:t>
            </a:r>
            <a:r>
              <a:rPr lang="en-US" b="1" dirty="0"/>
              <a:t>,</a:t>
            </a:r>
            <a:r>
              <a:rPr lang="en-US" dirty="0"/>
              <a:t> se introduce in </a:t>
            </a:r>
            <a:r>
              <a:rPr lang="en-US" dirty="0" err="1"/>
              <a:t>tagul</a:t>
            </a:r>
            <a:r>
              <a:rPr lang="en-US" dirty="0"/>
              <a:t> &lt;</a:t>
            </a:r>
            <a:r>
              <a:rPr lang="ro-RO" b="1" dirty="0">
                <a:solidFill>
                  <a:schemeClr val="folHlink"/>
                </a:solidFill>
              </a:rPr>
              <a:t>DefaultContext</a:t>
            </a:r>
            <a:r>
              <a:rPr lang="en-US" dirty="0"/>
              <a:t>&gt; </a:t>
            </a:r>
            <a:r>
              <a:rPr lang="en-US" dirty="0" err="1"/>
              <a:t>sau</a:t>
            </a:r>
            <a:r>
              <a:rPr lang="en-US" dirty="0"/>
              <a:t> &lt;</a:t>
            </a:r>
            <a:r>
              <a:rPr lang="en-US" b="1" dirty="0">
                <a:solidFill>
                  <a:schemeClr val="folHlink"/>
                </a:solidFill>
              </a:rPr>
              <a:t>Context</a:t>
            </a:r>
            <a:r>
              <a:rPr lang="en-US" dirty="0"/>
              <a:t>&gt; :  </a:t>
            </a:r>
          </a:p>
        </p:txBody>
      </p:sp>
    </p:spTree>
    <p:extLst>
      <p:ext uri="{BB962C8B-B14F-4D97-AF65-F5344CB8AC3E}">
        <p14:creationId xmlns:p14="http://schemas.microsoft.com/office/powerpoint/2010/main" val="113236029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26.10.2025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BFM_Servlets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43</a:t>
            </a:fld>
            <a:r>
              <a:rPr lang="en-US" dirty="0"/>
              <a:t>_/_44_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9332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Jetty: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definire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JDBC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prin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JNDI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in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jetty.xml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 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948690"/>
            <a:ext cx="91440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0" algn="l"/>
                <a:tab pos="457200" algn="l"/>
                <a:tab pos="609600" algn="l"/>
                <a:tab pos="1217613" algn="l"/>
                <a:tab pos="1827213" algn="l"/>
                <a:tab pos="2435225" algn="l"/>
                <a:tab pos="3044825" algn="l"/>
                <a:tab pos="3654425" algn="l"/>
                <a:tab pos="4262438" algn="l"/>
                <a:tab pos="4872038" algn="l"/>
                <a:tab pos="5480050" algn="l"/>
                <a:tab pos="6089650" algn="l"/>
              </a:tabLst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- - -</a:t>
            </a:r>
          </a:p>
          <a:p>
            <a:pPr>
              <a:tabLst>
                <a:tab pos="0" algn="l"/>
                <a:tab pos="457200" algn="l"/>
                <a:tab pos="609600" algn="l"/>
                <a:tab pos="1217613" algn="l"/>
                <a:tab pos="1827213" algn="l"/>
                <a:tab pos="2435225" algn="l"/>
                <a:tab pos="3044825" algn="l"/>
                <a:tab pos="3654425" algn="l"/>
                <a:tab pos="4262438" algn="l"/>
                <a:tab pos="4872038" algn="l"/>
                <a:tab pos="5480050" algn="l"/>
                <a:tab pos="6089650" algn="l"/>
              </a:tabLst>
            </a:pPr>
            <a:r>
              <a:rPr lang="ro-RO" dirty="0">
                <a:latin typeface="Courier New" pitchFamily="49" charset="0"/>
                <a:cs typeface="Courier New" pitchFamily="49" charset="0"/>
              </a:rPr>
              <a:t>   &lt;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New</a:t>
            </a:r>
            <a:r>
              <a:rPr lang="ro-RO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id</a:t>
            </a:r>
            <a:r>
              <a:rPr lang="ro-RO" dirty="0">
                <a:latin typeface="Courier New" pitchFamily="49" charset="0"/>
                <a:cs typeface="Courier New" pitchFamily="49" charset="0"/>
              </a:rPr>
              <a:t>="</a:t>
            </a:r>
            <a:r>
              <a:rPr lang="ro-RO" b="1" dirty="0">
                <a:solidFill>
                  <a:srgbClr val="FF3300"/>
                </a:solidFill>
                <a:latin typeface="Courier New" pitchFamily="49" charset="0"/>
                <a:cs typeface="Courier New" pitchFamily="49" charset="0"/>
              </a:rPr>
              <a:t>N</a:t>
            </a:r>
            <a:r>
              <a:rPr lang="en-US" b="1" dirty="0" err="1">
                <a:solidFill>
                  <a:srgbClr val="FF3300"/>
                </a:solidFill>
                <a:latin typeface="Courier New" pitchFamily="49" charset="0"/>
                <a:cs typeface="Courier New" pitchFamily="49" charset="0"/>
              </a:rPr>
              <a:t>umeJNDI</a:t>
            </a:r>
            <a:r>
              <a:rPr lang="ro-RO" dirty="0">
                <a:latin typeface="Courier New" pitchFamily="49" charset="0"/>
                <a:cs typeface="Courier New" pitchFamily="49" charset="0"/>
              </a:rPr>
              <a:t>"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tabLst>
                <a:tab pos="0" algn="l"/>
                <a:tab pos="457200" algn="l"/>
                <a:tab pos="609600" algn="l"/>
                <a:tab pos="1217613" algn="l"/>
                <a:tab pos="1827213" algn="l"/>
                <a:tab pos="2435225" algn="l"/>
                <a:tab pos="3044825" algn="l"/>
                <a:tab pos="3654425" algn="l"/>
                <a:tab pos="4262438" algn="l"/>
                <a:tab pos="4872038" algn="l"/>
                <a:tab pos="5480050" algn="l"/>
                <a:tab pos="6089650" algn="l"/>
              </a:tabLst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    class=</a:t>
            </a:r>
            <a:r>
              <a:rPr lang="ro-RO" dirty="0">
                <a:latin typeface="Courier New" pitchFamily="49" charset="0"/>
                <a:cs typeface="Courier New" pitchFamily="49" charset="0"/>
              </a:rPr>
              <a:t>"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org.eclipse.jetty.plus.jndi.Resource</a:t>
            </a:r>
            <a:r>
              <a:rPr lang="ro-RO" dirty="0">
                <a:latin typeface="Courier New" pitchFamily="49" charset="0"/>
                <a:cs typeface="Courier New" pitchFamily="49" charset="0"/>
              </a:rPr>
              <a:t>"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tabLst>
                <a:tab pos="0" algn="l"/>
                <a:tab pos="457200" algn="l"/>
                <a:tab pos="609600" algn="l"/>
                <a:tab pos="1217613" algn="l"/>
                <a:tab pos="1827213" algn="l"/>
                <a:tab pos="2435225" algn="l"/>
                <a:tab pos="3044825" algn="l"/>
                <a:tab pos="3654425" algn="l"/>
                <a:tab pos="4262438" algn="l"/>
                <a:tab pos="4872038" algn="l"/>
                <a:tab pos="5480050" algn="l"/>
                <a:tab pos="6089650" algn="l"/>
              </a:tabLst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lang="ro-RO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Arg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&gt;&lt;/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Arg</a:t>
            </a:r>
            <a:r>
              <a:rPr lang="ro-RO" dirty="0">
                <a:latin typeface="Courier New" pitchFamily="49" charset="0"/>
                <a:cs typeface="Courier New" pitchFamily="49" charset="0"/>
              </a:rPr>
              <a:t>&gt;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0" algn="l"/>
                <a:tab pos="457200" algn="l"/>
                <a:tab pos="609600" algn="l"/>
                <a:tab pos="1217613" algn="l"/>
                <a:tab pos="1827213" algn="l"/>
                <a:tab pos="2435225" algn="l"/>
                <a:tab pos="3044825" algn="l"/>
                <a:tab pos="3654425" algn="l"/>
                <a:tab pos="4262438" algn="l"/>
                <a:tab pos="4872038" algn="l"/>
                <a:tab pos="5480050" algn="l"/>
                <a:tab pos="6089650" algn="l"/>
              </a:tabLst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lang="ro-RO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Arg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jdbc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/</a:t>
            </a:r>
            <a:r>
              <a:rPr lang="en-US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NumeJNDI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&lt;/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Arg</a:t>
            </a:r>
            <a:r>
              <a:rPr lang="ro-RO" dirty="0">
                <a:latin typeface="Courier New" pitchFamily="49" charset="0"/>
                <a:cs typeface="Courier New" pitchFamily="49" charset="0"/>
              </a:rPr>
              <a:t>&gt;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0" algn="l"/>
                <a:tab pos="457200" algn="l"/>
                <a:tab pos="609600" algn="l"/>
                <a:tab pos="1217613" algn="l"/>
                <a:tab pos="1827213" algn="l"/>
                <a:tab pos="2435225" algn="l"/>
                <a:tab pos="3044825" algn="l"/>
                <a:tab pos="3654425" algn="l"/>
                <a:tab pos="4262438" algn="l"/>
                <a:tab pos="4872038" algn="l"/>
                <a:tab pos="5480050" algn="l"/>
                <a:tab pos="6089650" algn="l"/>
              </a:tabLst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lang="ro-RO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Arg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tabLst>
                <a:tab pos="0" algn="l"/>
                <a:tab pos="457200" algn="l"/>
                <a:tab pos="609600" algn="l"/>
                <a:tab pos="1217613" algn="l"/>
                <a:tab pos="1827213" algn="l"/>
                <a:tab pos="2435225" algn="l"/>
                <a:tab pos="3044825" algn="l"/>
                <a:tab pos="3654425" algn="l"/>
                <a:tab pos="4262438" algn="l"/>
                <a:tab pos="4872038" algn="l"/>
                <a:tab pos="5480050" algn="l"/>
                <a:tab pos="6089650" algn="l"/>
              </a:tabLst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   &lt;New class=“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com.mysql.jdbc.Driver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”&gt;</a:t>
            </a:r>
          </a:p>
          <a:p>
            <a:pPr>
              <a:tabLst>
                <a:tab pos="0" algn="l"/>
                <a:tab pos="457200" algn="l"/>
                <a:tab pos="609600" algn="l"/>
                <a:tab pos="1217613" algn="l"/>
                <a:tab pos="1827213" algn="l"/>
                <a:tab pos="2435225" algn="l"/>
                <a:tab pos="3044825" algn="l"/>
                <a:tab pos="3654425" algn="l"/>
                <a:tab pos="4262438" algn="l"/>
                <a:tab pos="4872038" algn="l"/>
                <a:tab pos="5480050" algn="l"/>
                <a:tab pos="6089650" algn="l"/>
              </a:tabLst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     &lt;Set name=“User”&gt;- - -&lt;/Set&gt;</a:t>
            </a:r>
          </a:p>
          <a:p>
            <a:pPr>
              <a:tabLst>
                <a:tab pos="0" algn="l"/>
                <a:tab pos="457200" algn="l"/>
                <a:tab pos="609600" algn="l"/>
                <a:tab pos="1217613" algn="l"/>
                <a:tab pos="1827213" algn="l"/>
                <a:tab pos="2435225" algn="l"/>
                <a:tab pos="3044825" algn="l"/>
                <a:tab pos="3654425" algn="l"/>
                <a:tab pos="4262438" algn="l"/>
                <a:tab pos="4872038" algn="l"/>
                <a:tab pos="5480050" algn="l"/>
                <a:tab pos="6089650" algn="l"/>
              </a:tabLst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     &lt;Set name=“Password”&gt;- - -&lt;/Set&gt;</a:t>
            </a:r>
          </a:p>
          <a:p>
            <a:pPr>
              <a:tabLst>
                <a:tab pos="0" algn="l"/>
                <a:tab pos="457200" algn="l"/>
                <a:tab pos="609600" algn="l"/>
                <a:tab pos="1217613" algn="l"/>
                <a:tab pos="1827213" algn="l"/>
                <a:tab pos="2435225" algn="l"/>
                <a:tab pos="3044825" algn="l"/>
                <a:tab pos="3654425" algn="l"/>
                <a:tab pos="4262438" algn="l"/>
                <a:tab pos="4872038" algn="l"/>
                <a:tab pos="5480050" algn="l"/>
                <a:tab pos="6089650" algn="l"/>
              </a:tabLst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     &lt;Set name=“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Url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”&gt;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jdbc:mysql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://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localhost:3306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/</a:t>
            </a:r>
            <a:r>
              <a:rPr lang="en-US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NumeDB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&lt;/Set&gt;</a:t>
            </a:r>
          </a:p>
          <a:p>
            <a:pPr>
              <a:tabLst>
                <a:tab pos="0" algn="l"/>
                <a:tab pos="457200" algn="l"/>
                <a:tab pos="609600" algn="l"/>
                <a:tab pos="1217613" algn="l"/>
                <a:tab pos="1827213" algn="l"/>
                <a:tab pos="2435225" algn="l"/>
                <a:tab pos="3044825" algn="l"/>
                <a:tab pos="3654425" algn="l"/>
                <a:tab pos="4262438" algn="l"/>
                <a:tab pos="4872038" algn="l"/>
                <a:tab pos="5480050" algn="l"/>
                <a:tab pos="6089650" algn="l"/>
              </a:tabLst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   &lt;/New&gt;</a:t>
            </a:r>
          </a:p>
          <a:p>
            <a:pPr>
              <a:tabLst>
                <a:tab pos="0" algn="l"/>
                <a:tab pos="457200" algn="l"/>
                <a:tab pos="609600" algn="l"/>
                <a:tab pos="1217613" algn="l"/>
                <a:tab pos="1827213" algn="l"/>
                <a:tab pos="2435225" algn="l"/>
                <a:tab pos="3044825" algn="l"/>
                <a:tab pos="3654425" algn="l"/>
                <a:tab pos="4262438" algn="l"/>
                <a:tab pos="4872038" algn="l"/>
                <a:tab pos="5480050" algn="l"/>
                <a:tab pos="6089650" algn="l"/>
              </a:tabLst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 &lt;/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Arg</a:t>
            </a:r>
            <a:r>
              <a:rPr lang="ro-RO" dirty="0">
                <a:latin typeface="Courier New" pitchFamily="49" charset="0"/>
                <a:cs typeface="Courier New" pitchFamily="49" charset="0"/>
              </a:rPr>
              <a:t>&gt;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0" algn="l"/>
                <a:tab pos="457200" algn="l"/>
                <a:tab pos="609600" algn="l"/>
                <a:tab pos="1217613" algn="l"/>
                <a:tab pos="1827213" algn="l"/>
                <a:tab pos="2435225" algn="l"/>
                <a:tab pos="3044825" algn="l"/>
                <a:tab pos="3654425" algn="l"/>
                <a:tab pos="4262438" algn="l"/>
                <a:tab pos="4872038" algn="l"/>
                <a:tab pos="5480050" algn="l"/>
                <a:tab pos="6089650" algn="l"/>
              </a:tabLst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&lt;/New&gt;</a:t>
            </a:r>
          </a:p>
          <a:p>
            <a:pPr>
              <a:tabLst>
                <a:tab pos="0" algn="l"/>
                <a:tab pos="457200" algn="l"/>
                <a:tab pos="609600" algn="l"/>
                <a:tab pos="1217613" algn="l"/>
                <a:tab pos="1827213" algn="l"/>
                <a:tab pos="2435225" algn="l"/>
                <a:tab pos="3044825" algn="l"/>
                <a:tab pos="3654425" algn="l"/>
                <a:tab pos="4262438" algn="l"/>
                <a:tab pos="4872038" algn="l"/>
                <a:tab pos="5480050" algn="l"/>
                <a:tab pos="6089650" algn="l"/>
              </a:tabLst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- - -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69332"/>
            <a:ext cx="510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 introduce un tag </a:t>
            </a:r>
            <a:r>
              <a:rPr lang="en-US" b="1" dirty="0"/>
              <a:t>New</a:t>
            </a:r>
            <a:r>
              <a:rPr lang="en-US" dirty="0"/>
              <a:t> in </a:t>
            </a:r>
            <a:r>
              <a:rPr lang="en-US" b="1" dirty="0" err="1"/>
              <a:t>jetty.xml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23602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26.10.2025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BFM_Servlets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44</a:t>
            </a:fld>
            <a:r>
              <a:rPr lang="en-US" dirty="0"/>
              <a:t>_/_44_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>
                <a:solidFill>
                  <a:srgbClr val="FF0000"/>
                </a:solidFill>
                <a:latin typeface="Calibri" pitchFamily="34" charset="0"/>
              </a:rPr>
              <a:t>TITLU </a:t>
            </a:r>
          </a:p>
        </p:txBody>
      </p:sp>
      <p:pic>
        <p:nvPicPr>
          <p:cNvPr id="7" name="Picture 9" descr="questionmark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609600"/>
            <a:ext cx="55626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951472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26.10.2025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BFM_Servlets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45</a:t>
            </a:fld>
            <a:r>
              <a:rPr lang="en-US" dirty="0"/>
              <a:t>_/_44_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>
                <a:solidFill>
                  <a:srgbClr val="FF0000"/>
                </a:solidFill>
                <a:latin typeface="Calibri" pitchFamily="34" charset="0"/>
              </a:rPr>
              <a:t>TITLU </a:t>
            </a:r>
          </a:p>
        </p:txBody>
      </p:sp>
    </p:spTree>
    <p:extLst>
      <p:ext uri="{BB962C8B-B14F-4D97-AF65-F5344CB8AC3E}">
        <p14:creationId xmlns:p14="http://schemas.microsoft.com/office/powerpoint/2010/main" val="478497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b97ba85-579e-411b-948c-311c2e42328f" xsi:nil="true"/>
    <lcf76f155ced4ddcb4097134ff3c332f xmlns="fa0e77c9-1a0d-4ee8-b1f5-4ac48c790630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904CC3ACF4D0747AA1FE12D19DCF021" ma:contentTypeVersion="10" ma:contentTypeDescription="Create a new document." ma:contentTypeScope="" ma:versionID="67fba6aa4b17e667eced50403a993aec">
  <xsd:schema xmlns:xsd="http://www.w3.org/2001/XMLSchema" xmlns:xs="http://www.w3.org/2001/XMLSchema" xmlns:p="http://schemas.microsoft.com/office/2006/metadata/properties" xmlns:ns2="fa0e77c9-1a0d-4ee8-b1f5-4ac48c790630" xmlns:ns3="db97ba85-579e-411b-948c-311c2e42328f" targetNamespace="http://schemas.microsoft.com/office/2006/metadata/properties" ma:root="true" ma:fieldsID="f9580e09431f531cb957aa4b42decfe8" ns2:_="" ns3:_="">
    <xsd:import namespace="fa0e77c9-1a0d-4ee8-b1f5-4ac48c790630"/>
    <xsd:import namespace="db97ba85-579e-411b-948c-311c2e423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0e77c9-1a0d-4ee8-b1f5-4ac48c7906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f85decb-1301-438d-8b3f-81c7864c2a9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97ba85-579e-411b-948c-311c2e42328f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1560ba9-541b-4abe-8009-15c2be7e61e6}" ma:internalName="TaxCatchAll" ma:showField="CatchAllData" ma:web="db97ba85-579e-411b-948c-311c2e42328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E52FD79-6624-4B69-AED4-C6BDBA515EA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7DEAD5B-0089-44B2-9D64-668049ECADD6}">
  <ds:schemaRefs>
    <ds:schemaRef ds:uri="http://schemas.microsoft.com/office/2006/metadata/properties"/>
    <ds:schemaRef ds:uri="http://schemas.microsoft.com/office/infopath/2007/PartnerControls"/>
    <ds:schemaRef ds:uri="db97ba85-579e-411b-948c-311c2e42328f"/>
    <ds:schemaRef ds:uri="fa0e77c9-1a0d-4ee8-b1f5-4ac48c790630"/>
  </ds:schemaRefs>
</ds:datastoreItem>
</file>

<file path=customXml/itemProps3.xml><?xml version="1.0" encoding="utf-8"?>
<ds:datastoreItem xmlns:ds="http://schemas.openxmlformats.org/officeDocument/2006/customXml" ds:itemID="{87CFADE4-0B29-4284-83EC-67774D8BF15E}"/>
</file>

<file path=docProps/app.xml><?xml version="1.0" encoding="utf-8"?>
<Properties xmlns="http://schemas.openxmlformats.org/officeDocument/2006/extended-properties" xmlns:vt="http://schemas.openxmlformats.org/officeDocument/2006/docPropsVTypes">
  <TotalTime>5210</TotalTime>
  <Words>6781</Words>
  <Application>Microsoft Office PowerPoint</Application>
  <PresentationFormat>On-screen Show (4:3)</PresentationFormat>
  <Paragraphs>891</Paragraphs>
  <Slides>45</Slides>
  <Notes>45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HTTP: prezentare generala</dc:title>
  <dc:creator>florin</dc:creator>
  <cp:lastModifiedBy>flori</cp:lastModifiedBy>
  <cp:revision>498</cp:revision>
  <dcterms:created xsi:type="dcterms:W3CDTF">2010-02-26T05:05:29Z</dcterms:created>
  <dcterms:modified xsi:type="dcterms:W3CDTF">2025-10-26T15:08:46Z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0x0101008904CC3ACF4D0747AA1FE12D19DCF021</vt:lpwstr>
  </property>
  <property fmtid="{D5CDD505-2E9C-101B-9397-08002B2CF9AE}" pid="3" name="MediaServiceImageTags">
    <vt:lpwstr/>
  </property>
</Properties>
</file>