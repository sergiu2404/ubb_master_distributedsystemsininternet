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405" r:id="rId19"/>
    <p:sldId id="399" r:id="rId20"/>
    <p:sldId id="400" r:id="rId21"/>
    <p:sldId id="401" r:id="rId22"/>
    <p:sldId id="424" r:id="rId23"/>
    <p:sldId id="425" r:id="rId24"/>
    <p:sldId id="428" r:id="rId25"/>
    <p:sldId id="427" r:id="rId26"/>
    <p:sldId id="422" r:id="rId27"/>
    <p:sldId id="402" r:id="rId28"/>
    <p:sldId id="417" r:id="rId29"/>
    <p:sldId id="413" r:id="rId30"/>
    <p:sldId id="414" r:id="rId31"/>
    <p:sldId id="418" r:id="rId32"/>
    <p:sldId id="419" r:id="rId33"/>
    <p:sldId id="416" r:id="rId34"/>
    <p:sldId id="420" r:id="rId35"/>
    <p:sldId id="406" r:id="rId36"/>
    <p:sldId id="375" r:id="rId37"/>
    <p:sldId id="376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01" autoAdjust="0"/>
    <p:restoredTop sz="94682" autoAdjust="0"/>
  </p:normalViewPr>
  <p:slideViewPr>
    <p:cSldViewPr>
      <p:cViewPr varScale="1">
        <p:scale>
          <a:sx n="69" d="100"/>
          <a:sy n="69" d="100"/>
        </p:scale>
        <p:origin x="-11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C446B50-EBCC-4549-B913-78C31A5715D4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44EF314-D17D-42F0-A4EA-2B5F4C42C4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1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4D0E8A-F903-4BFC-AAE4-071EBECB2044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5BF1447-E096-4932-96A5-57CCAFD729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76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75E47-11DF-41CD-B4DC-1E2CC3B1BAC3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4D20E-36F9-4F27-B041-4D28D47D8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70C99-798F-4B77-8525-B6B1A68C542F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EC160-630B-43EC-9EBD-26D39DBB3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EA27-4E63-4B72-A22C-4A41B554A709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9EEC-B89F-4F8E-980B-CC1F47709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02068-6A82-465E-9AA1-37F23B374125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A941E-C710-4599-A526-A0D1465B02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7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FBCDC-DD36-4C9B-9459-7594B816EA70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E29FF-8F5F-4A5B-9DCB-A5593FF60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64E29-04AA-42F6-82BD-B739C63AA4C7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1F437-345C-473B-872F-2EE25B976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534AB-BFF8-4218-BBBB-983CAE0B0C6C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092BF-3E6B-4DF9-BB30-4F6CEC4F7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A4BAC-04EA-4A36-8BBD-A7524A61B525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87381-B7F6-431C-A51A-F2F0205118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2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25F6B-7528-402F-AD9F-BAB886339EE5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E576-5DEB-47C2-8D44-98945CBD5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4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4CFCB-691A-4A3C-921B-9FFF6B0B59C0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F83E8-4ADD-4B1D-B7EA-F2A47D9E0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5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9A652-83DF-4311-B4A1-900FE9437C69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9FF3F-B42D-4A27-94EB-0B0BE2060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5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7141E8-33FF-45C2-819B-9E7015E51387}" type="datetime1">
              <a:rPr lang="ro-RO"/>
              <a:pPr>
                <a:defRPr/>
              </a:pPr>
              <a:t>05.11.2025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F29C45-B3A1-4D71-9EF3-A524C24DD4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jboss.org/hibernate/core/3.3/reference/en/html/session-configuration.html#configuration-optiona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tackoverflow.com/questions/35400503/hibernate-hbm2ddl-auto-value-update-or-none" TargetMode="External"/><Relationship Id="rId5" Type="http://schemas.openxmlformats.org/officeDocument/2006/relationships/hyperlink" Target="http://stackoverflow.com/questions/12043244/hibernate-creating-database-table" TargetMode="External"/><Relationship Id="rId4" Type="http://schemas.openxmlformats.org/officeDocument/2006/relationships/hyperlink" Target="http://stackoverflow.com/questions/438146/hibernate-hbm2ddl-auto-possible-values-and-what-they-do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adresa:8080/ejb7cs/clien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99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Tehnologia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 (Java Persistence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); JPA2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Scopurile</a:t>
            </a:r>
            <a:r>
              <a:rPr lang="en-US" dirty="0"/>
              <a:t> </a:t>
            </a:r>
            <a:r>
              <a:rPr lang="en-US" b="1" dirty="0" err="1"/>
              <a:t>tehnologiei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Simplifica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dirty="0" err="1"/>
              <a:t>JavaEE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JavaSE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comunitatii</a:t>
            </a:r>
            <a:r>
              <a:rPr lang="en-US" dirty="0"/>
              <a:t> Java un standard </a:t>
            </a:r>
            <a:r>
              <a:rPr lang="en-US" dirty="0" err="1"/>
              <a:t>unic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preluate</a:t>
            </a:r>
            <a:r>
              <a:rPr lang="en-US" dirty="0"/>
              <a:t> de la </a:t>
            </a:r>
            <a:r>
              <a:rPr lang="en-US" dirty="0" err="1"/>
              <a:t>tehnologii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(Hibernate, </a:t>
            </a:r>
            <a:r>
              <a:rPr lang="en-US" dirty="0" err="1"/>
              <a:t>TopLink</a:t>
            </a:r>
            <a:r>
              <a:rPr lang="en-US" dirty="0"/>
              <a:t>, </a:t>
            </a:r>
            <a:r>
              <a:rPr lang="en-US" dirty="0" err="1"/>
              <a:t>Jdo</a:t>
            </a:r>
            <a:r>
              <a:rPr lang="en-US" dirty="0"/>
              <a:t>)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Se </a:t>
            </a:r>
            <a:r>
              <a:rPr lang="en-US" dirty="0" err="1"/>
              <a:t>bazeaza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POJO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descriptori</a:t>
            </a:r>
            <a:r>
              <a:rPr lang="en-US" dirty="0"/>
              <a:t> XML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.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Principalele</a:t>
            </a:r>
            <a:r>
              <a:rPr lang="en-US" dirty="0"/>
              <a:t> </a:t>
            </a:r>
            <a:r>
              <a:rPr lang="en-US" b="1" dirty="0" err="1"/>
              <a:t>componente</a:t>
            </a:r>
            <a:r>
              <a:rPr lang="en-US" dirty="0"/>
              <a:t>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Clase</a:t>
            </a:r>
            <a:r>
              <a:rPr lang="en-US" dirty="0"/>
              <a:t> </a:t>
            </a:r>
            <a:r>
              <a:rPr lang="en-US" b="1" dirty="0"/>
              <a:t>Entity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permit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Entity Manager </a:t>
            </a:r>
            <a:r>
              <a:rPr lang="en-US" dirty="0" err="1"/>
              <a:t>intretine</a:t>
            </a:r>
            <a:r>
              <a:rPr lang="en-US" dirty="0"/>
              <a:t> un </a:t>
            </a:r>
            <a:r>
              <a:rPr lang="en-US" b="1" dirty="0"/>
              <a:t>context de </a:t>
            </a:r>
            <a:r>
              <a:rPr lang="en-US" b="1" dirty="0" err="1"/>
              <a:t>persistenta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Entity Manager Factory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in </a:t>
            </a:r>
            <a:r>
              <a:rPr lang="en-US" dirty="0" err="1"/>
              <a:t>JavaSE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Entity Manager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JPQL</a:t>
            </a:r>
            <a:r>
              <a:rPr lang="en-US" dirty="0"/>
              <a:t> – Java Persistence Query Language,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furnizeaza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proprietati</a:t>
            </a:r>
            <a:endParaRPr lang="en-US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Unitatea</a:t>
            </a:r>
            <a:r>
              <a:rPr lang="en-US" b="1" dirty="0"/>
              <a:t> de </a:t>
            </a:r>
            <a:r>
              <a:rPr lang="en-US" b="1" dirty="0" err="1"/>
              <a:t>persistenta</a:t>
            </a:r>
            <a:r>
              <a:rPr lang="en-US" b="1" dirty="0"/>
              <a:t> </a:t>
            </a:r>
            <a:r>
              <a:rPr lang="en-US" dirty="0" err="1"/>
              <a:t>ce</a:t>
            </a:r>
            <a:r>
              <a:rPr lang="en-US" dirty="0"/>
              <a:t> face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ale </a:t>
            </a:r>
            <a:r>
              <a:rPr lang="en-US" dirty="0" err="1"/>
              <a:t>caror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persistate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DB </a:t>
            </a:r>
            <a:r>
              <a:rPr lang="en-US" dirty="0" err="1"/>
              <a:t>relationala</a:t>
            </a:r>
            <a:r>
              <a:rPr lang="en-US" dirty="0"/>
              <a:t> in care se </a:t>
            </a:r>
            <a:r>
              <a:rPr lang="en-US" dirty="0" err="1"/>
              <a:t>persista</a:t>
            </a:r>
            <a:r>
              <a:rPr lang="en-US" dirty="0"/>
              <a:t>.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Exemple</a:t>
            </a:r>
            <a:r>
              <a:rPr lang="en-US" dirty="0"/>
              <a:t> de </a:t>
            </a:r>
            <a:r>
              <a:rPr lang="en-US" dirty="0" err="1"/>
              <a:t>utilizare</a:t>
            </a:r>
            <a:r>
              <a:rPr lang="en-US" dirty="0"/>
              <a:t> JPA: </a:t>
            </a:r>
            <a:r>
              <a:rPr lang="en-US" b="1" dirty="0" err="1"/>
              <a:t>1jpaCs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2jpaCs</a:t>
            </a:r>
            <a:r>
              <a:rPr lang="en-US" dirty="0"/>
              <a:t>, </a:t>
            </a:r>
            <a:r>
              <a:rPr lang="en-US" b="1" dirty="0"/>
              <a:t>EJB30 vs EJB21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Instalare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configurare</a:t>
            </a:r>
            <a:r>
              <a:rPr lang="en-US" b="1" dirty="0"/>
              <a:t> a AS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definirea</a:t>
            </a:r>
            <a:r>
              <a:rPr lang="en-US" b="1" dirty="0"/>
              <a:t> </a:t>
            </a:r>
            <a:r>
              <a:rPr lang="en-US" b="1" dirty="0" err="1"/>
              <a:t>unei</a:t>
            </a:r>
            <a:r>
              <a:rPr lang="en-US" b="1" dirty="0"/>
              <a:t> DB </a:t>
            </a:r>
            <a:r>
              <a:rPr lang="en-US" dirty="0" err="1"/>
              <a:t>relationale</a:t>
            </a:r>
            <a:r>
              <a:rPr lang="en-US" dirty="0"/>
              <a:t> (</a:t>
            </a:r>
            <a:r>
              <a:rPr lang="en-US" b="1" dirty="0" err="1"/>
              <a:t>datasource</a:t>
            </a:r>
            <a:r>
              <a:rPr lang="en-US" b="1" dirty="0"/>
              <a:t> JPA)</a:t>
            </a:r>
            <a:r>
              <a:rPr lang="en-US" dirty="0"/>
              <a:t> in care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b="1" dirty="0" err="1"/>
              <a:t>numelui</a:t>
            </a:r>
            <a:r>
              <a:rPr lang="en-US" b="1" dirty="0"/>
              <a:t> JNDI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referita</a:t>
            </a:r>
            <a:r>
              <a:rPr lang="en-US" dirty="0"/>
              <a:t>..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Le </a:t>
            </a:r>
            <a:r>
              <a:rPr lang="en-US" dirty="0" err="1">
                <a:solidFill>
                  <a:srgbClr val="FF0000"/>
                </a:solidFill>
              </a:rPr>
              <a:t>vom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trata</a:t>
            </a:r>
            <a:r>
              <a:rPr lang="en-US" dirty="0">
                <a:solidFill>
                  <a:srgbClr val="FF0000"/>
                </a:solidFill>
              </a:rPr>
              <a:t> in </a:t>
            </a:r>
            <a:r>
              <a:rPr lang="en-US" dirty="0" err="1">
                <a:solidFill>
                  <a:srgbClr val="FF0000"/>
                </a:solidFill>
              </a:rPr>
              <a:t>aceasta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ordine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Vom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ilustra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persistenta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folosind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atat</a:t>
            </a:r>
            <a:r>
              <a:rPr lang="en-US" dirty="0">
                <a:solidFill>
                  <a:srgbClr val="FF0000"/>
                </a:solidFill>
              </a:rPr>
              <a:t> DB </a:t>
            </a:r>
            <a:r>
              <a:rPr lang="en-US" dirty="0" err="1">
                <a:solidFill>
                  <a:srgbClr val="FF0000"/>
                </a:solidFill>
              </a:rPr>
              <a:t>oferite</a:t>
            </a:r>
            <a:r>
              <a:rPr lang="en-US" dirty="0">
                <a:solidFill>
                  <a:srgbClr val="FF0000"/>
                </a:solidFill>
              </a:rPr>
              <a:t> de AS </a:t>
            </a:r>
            <a:r>
              <a:rPr lang="en-US" dirty="0" err="1">
                <a:solidFill>
                  <a:srgbClr val="FF0000"/>
                </a:solidFill>
              </a:rPr>
              <a:t>particulare</a:t>
            </a:r>
            <a:r>
              <a:rPr lang="en-US" dirty="0">
                <a:solidFill>
                  <a:srgbClr val="FF0000"/>
                </a:solidFill>
              </a:rPr>
              <a:t>, cat </a:t>
            </a:r>
            <a:r>
              <a:rPr lang="en-US" dirty="0" err="1">
                <a:solidFill>
                  <a:srgbClr val="FF0000"/>
                </a:solidFill>
              </a:rPr>
              <a:t>si</a:t>
            </a:r>
            <a:r>
              <a:rPr lang="en-US" dirty="0">
                <a:solidFill>
                  <a:srgbClr val="FF0000"/>
                </a:solidFill>
              </a:rPr>
              <a:t> MySQL, </a:t>
            </a:r>
            <a:r>
              <a:rPr lang="en-US" dirty="0" err="1">
                <a:solidFill>
                  <a:srgbClr val="FF0000"/>
                </a:solidFill>
              </a:rPr>
              <a:t>pentru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 err="1">
                <a:solidFill>
                  <a:srgbClr val="FF0000"/>
                </a:solidFill>
              </a:rPr>
              <a:t>asigura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independenta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suportului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persistenta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68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-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ORM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49078" y="374617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Un </a:t>
            </a:r>
            <a:r>
              <a:rPr lang="en-US" b="1" dirty="0"/>
              <a:t>Entity bean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POJO</a:t>
            </a:r>
            <a:r>
              <a:rPr lang="en-US" dirty="0"/>
              <a:t> cu un constructor public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argumente</a:t>
            </a:r>
            <a:r>
              <a:rPr lang="en-US" dirty="0"/>
              <a:t>, </a:t>
            </a:r>
            <a:r>
              <a:rPr lang="en-US" dirty="0" err="1"/>
              <a:t>prefixat</a:t>
            </a:r>
            <a:r>
              <a:rPr lang="en-US" dirty="0"/>
              <a:t> de </a:t>
            </a:r>
            <a:r>
              <a:rPr lang="en-US" b="1" dirty="0"/>
              <a:t>@Entity</a:t>
            </a:r>
            <a:r>
              <a:rPr lang="en-US" dirty="0"/>
              <a:t>,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DB </a:t>
            </a:r>
            <a:r>
              <a:rPr lang="en-US" dirty="0" err="1"/>
              <a:t>relationala</a:t>
            </a:r>
            <a:r>
              <a:rPr lang="en-US" dirty="0"/>
              <a:t>. 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Mecanismul</a:t>
            </a:r>
            <a:r>
              <a:rPr lang="en-US" dirty="0"/>
              <a:t> de </a:t>
            </a:r>
            <a:r>
              <a:rPr lang="en-US" dirty="0" err="1"/>
              <a:t>mapare</a:t>
            </a:r>
            <a:r>
              <a:rPr lang="en-US" dirty="0"/>
              <a:t> </a:t>
            </a:r>
            <a:r>
              <a:rPr lang="en-US" b="1" dirty="0" err="1"/>
              <a:t>ORM</a:t>
            </a:r>
            <a:r>
              <a:rPr lang="en-US" dirty="0"/>
              <a:t> (Object Relational Mapping) </a:t>
            </a:r>
            <a:r>
              <a:rPr lang="en-US" dirty="0" err="1"/>
              <a:t>defineste</a:t>
            </a:r>
            <a:r>
              <a:rPr lang="en-US" dirty="0"/>
              <a:t>: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cate</a:t>
            </a:r>
            <a:r>
              <a:rPr lang="en-US" dirty="0"/>
              <a:t> un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Entity;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instanta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are </a:t>
            </a:r>
            <a:r>
              <a:rPr lang="en-US" dirty="0" err="1"/>
              <a:t>corespondent</a:t>
            </a:r>
            <a:r>
              <a:rPr lang="en-US" dirty="0"/>
              <a:t> un rand al </a:t>
            </a:r>
            <a:r>
              <a:rPr lang="en-US" dirty="0" err="1"/>
              <a:t>tabelului</a:t>
            </a:r>
            <a:r>
              <a:rPr lang="en-US" dirty="0"/>
              <a:t>;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proprietate</a:t>
            </a:r>
            <a:r>
              <a:rPr lang="en-US" dirty="0"/>
              <a:t> a </a:t>
            </a:r>
            <a:r>
              <a:rPr lang="en-US" dirty="0" err="1"/>
              <a:t>POJO</a:t>
            </a:r>
            <a:r>
              <a:rPr lang="en-US" dirty="0"/>
              <a:t> are </a:t>
            </a:r>
            <a:r>
              <a:rPr lang="en-US" dirty="0" err="1"/>
              <a:t>corespondent</a:t>
            </a:r>
            <a:r>
              <a:rPr lang="en-US" dirty="0"/>
              <a:t> un camp al </a:t>
            </a:r>
            <a:r>
              <a:rPr lang="en-US" dirty="0" err="1"/>
              <a:t>tabelului</a:t>
            </a:r>
            <a:r>
              <a:rPr lang="en-US" dirty="0"/>
              <a:t> de tip </a:t>
            </a:r>
            <a:r>
              <a:rPr lang="en-US" dirty="0" err="1"/>
              <a:t>echivalent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 err="1"/>
              <a:t>Iata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mapare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: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50" y="3048000"/>
            <a:ext cx="372903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3810000"/>
            <a:ext cx="5634037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8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–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tipuri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date;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adnotari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Tipurile</a:t>
            </a:r>
            <a:r>
              <a:rPr lang="en-US" dirty="0"/>
              <a:t> de date Java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persistabile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r>
              <a:rPr lang="en-US" dirty="0" err="1"/>
              <a:t>tipurile</a:t>
            </a:r>
            <a:r>
              <a:rPr lang="en-US" dirty="0"/>
              <a:t> primitive, String, </a:t>
            </a:r>
            <a:r>
              <a:rPr lang="en-US" dirty="0" err="1"/>
              <a:t>BigInteger</a:t>
            </a:r>
            <a:r>
              <a:rPr lang="en-US" dirty="0"/>
              <a:t>, </a:t>
            </a:r>
            <a:r>
              <a:rPr lang="en-US" dirty="0" err="1"/>
              <a:t>BigDecimal</a:t>
            </a:r>
            <a:r>
              <a:rPr lang="en-US" dirty="0"/>
              <a:t>, Date, Calendar, Time, byte[], char[],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serializabile</a:t>
            </a:r>
            <a:r>
              <a:rPr lang="en-US" dirty="0"/>
              <a:t>.  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Proprietatile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la </a:t>
            </a:r>
            <a:r>
              <a:rPr lang="en-US" dirty="0" err="1"/>
              <a:t>randul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Entity (eventual de alt tip)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colectii</a:t>
            </a:r>
            <a:r>
              <a:rPr lang="en-US" dirty="0"/>
              <a:t> de </a:t>
            </a:r>
            <a:r>
              <a:rPr lang="en-US" dirty="0" err="1"/>
              <a:t>astfel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se </a:t>
            </a:r>
            <a:r>
              <a:rPr lang="en-US" dirty="0" err="1"/>
              <a:t>mapeaza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legaturi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 respective.  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Obiectele</a:t>
            </a:r>
            <a:r>
              <a:rPr lang="en-US" dirty="0"/>
              <a:t> care se </a:t>
            </a:r>
            <a:r>
              <a:rPr lang="en-US" dirty="0" err="1"/>
              <a:t>persista</a:t>
            </a:r>
            <a:r>
              <a:rPr lang="en-US" dirty="0"/>
              <a:t> </a:t>
            </a:r>
            <a:r>
              <a:rPr lang="en-US" b="1" dirty="0" err="1"/>
              <a:t>trebuie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fie </a:t>
            </a:r>
            <a:r>
              <a:rPr lang="en-US" b="1" dirty="0" err="1"/>
              <a:t>serializabile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b="1" dirty="0" err="1"/>
              <a:t>proprietati</a:t>
            </a:r>
            <a:r>
              <a:rPr lang="en-US" b="1" dirty="0"/>
              <a:t> </a:t>
            </a:r>
            <a:r>
              <a:rPr lang="en-US" b="1" dirty="0" err="1"/>
              <a:t>sunt</a:t>
            </a:r>
            <a:r>
              <a:rPr lang="en-US" b="1" dirty="0"/>
              <a:t> </a:t>
            </a:r>
            <a:r>
              <a:rPr lang="en-US" b="1" dirty="0" err="1"/>
              <a:t>adnotate</a:t>
            </a:r>
            <a:r>
              <a:rPr lang="en-US" dirty="0"/>
              <a:t>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 se pot </a:t>
            </a:r>
            <a:r>
              <a:rPr lang="en-US" dirty="0" err="1"/>
              <a:t>referi</a:t>
            </a:r>
            <a:r>
              <a:rPr lang="en-US" dirty="0"/>
              <a:t> la: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Validarea</a:t>
            </a:r>
            <a:r>
              <a:rPr lang="en-US" dirty="0"/>
              <a:t> </a:t>
            </a:r>
            <a:r>
              <a:rPr lang="en-US" dirty="0" err="1"/>
              <a:t>continutului</a:t>
            </a:r>
            <a:r>
              <a:rPr lang="en-US" dirty="0"/>
              <a:t> </a:t>
            </a:r>
            <a:r>
              <a:rPr lang="en-US" dirty="0" err="1"/>
              <a:t>proprietatii</a:t>
            </a:r>
            <a:r>
              <a:rPr lang="en-US" dirty="0"/>
              <a:t>, </a:t>
            </a:r>
            <a:r>
              <a:rPr lang="en-US" dirty="0" err="1"/>
              <a:t>asa</a:t>
            </a:r>
            <a:r>
              <a:rPr lang="en-US" dirty="0"/>
              <a:t> cum am </a:t>
            </a:r>
            <a:r>
              <a:rPr lang="en-US" dirty="0" err="1"/>
              <a:t>aratat</a:t>
            </a:r>
            <a:r>
              <a:rPr lang="en-US" dirty="0"/>
              <a:t> (</a:t>
            </a:r>
            <a:r>
              <a:rPr lang="en-US" dirty="0" err="1"/>
              <a:t>cursul</a:t>
            </a:r>
            <a:r>
              <a:rPr lang="en-US" dirty="0"/>
              <a:t> 3) la </a:t>
            </a:r>
            <a:r>
              <a:rPr lang="en-US" dirty="0" err="1"/>
              <a:t>validarea</a:t>
            </a:r>
            <a:r>
              <a:rPr lang="en-US" dirty="0"/>
              <a:t> </a:t>
            </a:r>
            <a:r>
              <a:rPr lang="en-US" dirty="0" err="1"/>
              <a:t>beanurilor</a:t>
            </a:r>
            <a:r>
              <a:rPr lang="en-US" dirty="0"/>
              <a:t>.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Particularitati</a:t>
            </a:r>
            <a:r>
              <a:rPr lang="en-US" dirty="0"/>
              <a:t> ale </a:t>
            </a:r>
            <a:r>
              <a:rPr lang="en-US" dirty="0" err="1"/>
              <a:t>contextului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(</a:t>
            </a:r>
            <a:r>
              <a:rPr lang="en-US" dirty="0" err="1"/>
              <a:t>precizari</a:t>
            </a:r>
            <a:r>
              <a:rPr lang="en-US" dirty="0"/>
              <a:t> la </a:t>
            </a:r>
            <a:r>
              <a:rPr lang="en-US" dirty="0" err="1"/>
              <a:t>punctul</a:t>
            </a:r>
            <a:r>
              <a:rPr lang="en-US" dirty="0"/>
              <a:t> 5).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Precizari</a:t>
            </a:r>
            <a:r>
              <a:rPr lang="en-US" dirty="0"/>
              <a:t> (de </a:t>
            </a:r>
            <a:r>
              <a:rPr lang="en-US" dirty="0" err="1"/>
              <a:t>regula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)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in care se </a:t>
            </a:r>
            <a:r>
              <a:rPr lang="en-US" dirty="0" err="1"/>
              <a:t>realizeaza</a:t>
            </a:r>
            <a:r>
              <a:rPr lang="en-US" dirty="0"/>
              <a:t> ORM.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endParaRPr lang="en-US" dirty="0"/>
          </a:p>
          <a:p>
            <a:pPr eaLnBrk="1" hangingPunct="1"/>
            <a:r>
              <a:rPr lang="en-US" dirty="0"/>
              <a:t>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de la </a:t>
            </a:r>
            <a:r>
              <a:rPr lang="en-US" dirty="0" err="1"/>
              <a:t>punctul</a:t>
            </a:r>
            <a:r>
              <a:rPr lang="en-US" dirty="0"/>
              <a:t> 3: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@Id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. </a:t>
            </a:r>
            <a:r>
              <a:rPr lang="en-US" dirty="0" err="1"/>
              <a:t>Exista</a:t>
            </a:r>
            <a:r>
              <a:rPr lang="en-US" dirty="0"/>
              <a:t>,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defini</a:t>
            </a:r>
            <a:r>
              <a:rPr lang="en-US" dirty="0"/>
              <a:t> o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care </a:t>
            </a:r>
            <a:r>
              <a:rPr lang="en-US" dirty="0" err="1"/>
              <a:t>inglobeaza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campuri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</a:t>
            </a:r>
            <a:r>
              <a:rPr lang="en-US" b="1" dirty="0" err="1"/>
              <a:t>GeneratedValue</a:t>
            </a:r>
            <a:r>
              <a:rPr lang="en-US" b="1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includere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Entity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cheii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incrementata</a:t>
            </a:r>
            <a:r>
              <a:rPr lang="en-US" dirty="0"/>
              <a:t> automat.</a:t>
            </a:r>
          </a:p>
          <a:p>
            <a:pPr eaLnBrk="1" hangingPunct="1"/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@Column(</a:t>
            </a:r>
            <a:r>
              <a:rPr lang="en-US" b="1" dirty="0" err="1"/>
              <a:t>nullable</a:t>
            </a:r>
            <a:r>
              <a:rPr lang="en-US" b="1" dirty="0"/>
              <a:t> = false)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b="1" dirty="0"/>
              <a:t>@Column(length = 2000)</a:t>
            </a:r>
            <a:r>
              <a:rPr lang="en-US" dirty="0"/>
              <a:t>, </a:t>
            </a:r>
            <a:r>
              <a:rPr lang="en-US" dirty="0" err="1"/>
              <a:t>indica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ca in DB </a:t>
            </a:r>
            <a:r>
              <a:rPr lang="en-US" dirty="0" err="1"/>
              <a:t>coloana</a:t>
            </a:r>
            <a:r>
              <a:rPr lang="en-US" dirty="0"/>
              <a:t> </a:t>
            </a:r>
            <a:r>
              <a:rPr lang="en-US" dirty="0" err="1"/>
              <a:t>adnotata</a:t>
            </a:r>
            <a:r>
              <a:rPr lang="en-US" dirty="0"/>
              <a:t> nu </a:t>
            </a:r>
            <a:r>
              <a:rPr lang="en-US" dirty="0" err="1"/>
              <a:t>admite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null, </a:t>
            </a:r>
            <a:r>
              <a:rPr lang="en-US" dirty="0" err="1"/>
              <a:t>respectiv</a:t>
            </a:r>
            <a:r>
              <a:rPr lang="en-US" dirty="0"/>
              <a:t> in DB are 2000 </a:t>
            </a:r>
            <a:r>
              <a:rPr lang="en-US" dirty="0" err="1"/>
              <a:t>caractere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-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adnotari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34017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@Embedded private Address address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camp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serializarea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de tip </a:t>
            </a:r>
            <a:r>
              <a:rPr lang="en-US" b="1" dirty="0"/>
              <a:t>Address</a:t>
            </a:r>
            <a:r>
              <a:rPr lang="en-US" dirty="0"/>
              <a:t>. La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b="1" dirty="0"/>
              <a:t>Address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adnotata</a:t>
            </a:r>
            <a:r>
              <a:rPr lang="en-US" dirty="0"/>
              <a:t>:  </a:t>
            </a:r>
            <a:r>
              <a:rPr lang="en-US" b="1" dirty="0"/>
              <a:t>@Embeddable public class Address { - - -}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@Transient</a:t>
            </a:r>
            <a:r>
              <a:rPr lang="en-US" dirty="0"/>
              <a:t> </a:t>
            </a:r>
            <a:r>
              <a:rPr lang="en-US" dirty="0" err="1"/>
              <a:t>prefixeaza</a:t>
            </a:r>
            <a:r>
              <a:rPr lang="en-US" dirty="0"/>
              <a:t> </a:t>
            </a:r>
            <a:r>
              <a:rPr lang="en-US" dirty="0" err="1"/>
              <a:t>proprietatile</a:t>
            </a:r>
            <a:r>
              <a:rPr lang="en-US" dirty="0"/>
              <a:t> din </a:t>
            </a:r>
            <a:r>
              <a:rPr lang="en-US" dirty="0" err="1"/>
              <a:t>POJO</a:t>
            </a:r>
            <a:r>
              <a:rPr lang="en-US" dirty="0"/>
              <a:t> care nu se </a:t>
            </a:r>
            <a:r>
              <a:rPr lang="en-US" dirty="0" err="1"/>
              <a:t>doresc</a:t>
            </a:r>
            <a:r>
              <a:rPr lang="en-US" dirty="0"/>
              <a:t> a fi </a:t>
            </a:r>
            <a:r>
              <a:rPr lang="en-US" dirty="0" err="1"/>
              <a:t>persistate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@Table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/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/>
              <a:t>@Column</a:t>
            </a:r>
            <a:r>
              <a:rPr lang="en-US" dirty="0"/>
              <a:t> permit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numelor</a:t>
            </a:r>
            <a:r>
              <a:rPr lang="en-US" dirty="0"/>
              <a:t> de </a:t>
            </a:r>
            <a:r>
              <a:rPr lang="en-US" dirty="0" err="1"/>
              <a:t>tabel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camp, 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stabilirte</a:t>
            </a:r>
            <a:r>
              <a:rPr lang="en-US" dirty="0"/>
              <a:t> implicit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JPA</a:t>
            </a:r>
            <a:endParaRPr lang="en-US" dirty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0" y="3048000"/>
            <a:ext cx="91440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just" eaLnBrk="1" hangingPunct="1"/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corpul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claselor</a:t>
            </a:r>
            <a:r>
              <a:rPr lang="en-US" dirty="0">
                <a:solidFill>
                  <a:srgbClr val="FF0000"/>
                </a:solidFill>
              </a:rPr>
              <a:t> Entity bean pot fi definite </a:t>
            </a:r>
            <a:r>
              <a:rPr lang="en-US" dirty="0" err="1">
                <a:solidFill>
                  <a:srgbClr val="FF0000"/>
                </a:solidFill>
              </a:rPr>
              <a:t>sapte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tipuri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interceptori</a:t>
            </a:r>
            <a:r>
              <a:rPr lang="en-US" dirty="0">
                <a:solidFill>
                  <a:srgbClr val="FF0000"/>
                </a:solidFill>
              </a:rPr>
              <a:t>: (</a:t>
            </a:r>
            <a:r>
              <a:rPr lang="en-US" dirty="0" err="1">
                <a:solidFill>
                  <a:srgbClr val="FF0000"/>
                </a:solidFill>
              </a:rPr>
              <a:t>listeneri</a:t>
            </a:r>
            <a:r>
              <a:rPr lang="en-US" dirty="0">
                <a:solidFill>
                  <a:srgbClr val="FF0000"/>
                </a:solidFill>
              </a:rPr>
              <a:t>). </a:t>
            </a:r>
            <a:r>
              <a:rPr lang="en-US" dirty="0" err="1">
                <a:solidFill>
                  <a:srgbClr val="FF0000"/>
                </a:solidFill>
              </a:rPr>
              <a:t>Acestea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metode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prefixate</a:t>
            </a:r>
            <a:r>
              <a:rPr lang="en-US" dirty="0">
                <a:solidFill>
                  <a:srgbClr val="FF0000"/>
                </a:solidFill>
              </a:rPr>
              <a:t> cu </a:t>
            </a:r>
            <a:r>
              <a:rPr lang="en-US" dirty="0" err="1">
                <a:solidFill>
                  <a:srgbClr val="FF0000"/>
                </a:solidFill>
              </a:rPr>
              <a:t>adnotari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specifice</a:t>
            </a:r>
            <a:r>
              <a:rPr lang="en-US" dirty="0">
                <a:solidFill>
                  <a:srgbClr val="FF0000"/>
                </a:solidFill>
              </a:rPr>
              <a:t>,  care intra in </a:t>
            </a:r>
            <a:r>
              <a:rPr lang="en-US" dirty="0" err="1">
                <a:solidFill>
                  <a:srgbClr val="FF0000"/>
                </a:solidFill>
              </a:rPr>
              <a:t>actiune</a:t>
            </a:r>
            <a:r>
              <a:rPr lang="en-US" dirty="0">
                <a:solidFill>
                  <a:srgbClr val="FF0000"/>
                </a:solidFill>
              </a:rPr>
              <a:t> la </a:t>
            </a:r>
            <a:r>
              <a:rPr lang="en-US" dirty="0" err="1">
                <a:solidFill>
                  <a:srgbClr val="FF0000"/>
                </a:solidFill>
              </a:rPr>
              <a:t>producerea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urmatoarelor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evenimente</a:t>
            </a:r>
            <a:r>
              <a:rPr lang="en-US" dirty="0">
                <a:solidFill>
                  <a:srgbClr val="FF0000"/>
                </a:solidFill>
              </a:rPr>
              <a:t> legate de </a:t>
            </a:r>
            <a:r>
              <a:rPr lang="en-US" dirty="0" err="1">
                <a:solidFill>
                  <a:srgbClr val="FF0000"/>
                </a:solidFill>
              </a:rPr>
              <a:t>ciclul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viata</a:t>
            </a:r>
            <a:r>
              <a:rPr lang="en-US" dirty="0">
                <a:solidFill>
                  <a:srgbClr val="FF0000"/>
                </a:solidFill>
              </a:rPr>
              <a:t> a Entity bean (slide-</a:t>
            </a:r>
            <a:r>
              <a:rPr lang="en-US" dirty="0" err="1">
                <a:solidFill>
                  <a:srgbClr val="FF0000"/>
                </a:solidFill>
              </a:rPr>
              <a:t>ul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urmator</a:t>
            </a:r>
            <a:r>
              <a:rPr lang="en-US" dirty="0">
                <a:solidFill>
                  <a:srgbClr val="FF0000"/>
                </a:solidFill>
              </a:rPr>
              <a:t>).  </a:t>
            </a:r>
            <a:r>
              <a:rPr lang="en-US" dirty="0" err="1">
                <a:solidFill>
                  <a:srgbClr val="FF0000"/>
                </a:solidFill>
              </a:rPr>
              <a:t>Adnotarile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sunt</a:t>
            </a:r>
            <a:r>
              <a:rPr lang="en-US" dirty="0">
                <a:solidFill>
                  <a:srgbClr val="FF0000"/>
                </a:solidFill>
              </a:rPr>
              <a:t>: 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PrePersist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PostPersist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PreUpdate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PostUpdate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PreRemove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PostRemove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PostLoad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5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–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ciclul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viata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5025"/>
            <a:ext cx="914400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6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Relatii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beans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91154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, prima </a:t>
            </a:r>
            <a:r>
              <a:rPr lang="en-US" dirty="0" err="1"/>
              <a:t>componenta</a:t>
            </a:r>
            <a:r>
              <a:rPr lang="en-US" dirty="0"/>
              <a:t> o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maparii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destinatia</a:t>
            </a:r>
            <a:r>
              <a:rPr lang="en-US" dirty="0"/>
              <a:t> (</a:t>
            </a:r>
            <a:r>
              <a:rPr lang="en-US" dirty="0" err="1"/>
              <a:t>tinta</a:t>
            </a:r>
            <a:r>
              <a:rPr lang="en-US" dirty="0"/>
              <a:t>) </a:t>
            </a:r>
            <a:r>
              <a:rPr lang="en-US" dirty="0" err="1"/>
              <a:t>ei</a:t>
            </a:r>
            <a:r>
              <a:rPr lang="en-US" dirty="0"/>
              <a:t>.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cardinalitati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relatiile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entity beans: </a:t>
            </a:r>
            <a:r>
              <a:rPr lang="en-US" b="1" dirty="0"/>
              <a:t>one-to-one</a:t>
            </a:r>
            <a:r>
              <a:rPr lang="en-US" dirty="0"/>
              <a:t>, </a:t>
            </a:r>
            <a:r>
              <a:rPr lang="en-US" b="1" dirty="0"/>
              <a:t>one-to-many</a:t>
            </a:r>
            <a:r>
              <a:rPr lang="en-US" dirty="0"/>
              <a:t>, </a:t>
            </a:r>
            <a:r>
              <a:rPr lang="en-US" b="1" dirty="0"/>
              <a:t>many-to-one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many-to-many</a:t>
            </a:r>
            <a:r>
              <a:rPr lang="en-US" dirty="0"/>
              <a:t>. In plus,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directii</a:t>
            </a:r>
            <a:r>
              <a:rPr lang="en-US" dirty="0"/>
              <a:t> de </a:t>
            </a:r>
            <a:r>
              <a:rPr lang="en-US" dirty="0" err="1"/>
              <a:t>navigare</a:t>
            </a:r>
            <a:r>
              <a:rPr lang="en-US" dirty="0"/>
              <a:t>: </a:t>
            </a:r>
            <a:r>
              <a:rPr lang="en-US" b="1" dirty="0" err="1"/>
              <a:t>unidirectionale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bidirectionale</a:t>
            </a:r>
            <a:r>
              <a:rPr lang="en-US" dirty="0"/>
              <a:t>.  Este </a:t>
            </a:r>
            <a:r>
              <a:rPr lang="en-US" dirty="0" err="1"/>
              <a:t>usor</a:t>
            </a:r>
            <a:r>
              <a:rPr lang="en-US" dirty="0"/>
              <a:t> de </a:t>
            </a:r>
            <a:r>
              <a:rPr lang="en-US" dirty="0" err="1"/>
              <a:t>observat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one-to-many bidirectional </a:t>
            </a:r>
            <a:r>
              <a:rPr lang="en-US" dirty="0" err="1"/>
              <a:t>si</a:t>
            </a:r>
            <a:r>
              <a:rPr lang="en-US" dirty="0"/>
              <a:t> many-to-one bidirectional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echivalente</a:t>
            </a:r>
            <a:r>
              <a:rPr lang="en-US" dirty="0"/>
              <a:t> </a:t>
            </a:r>
            <a:r>
              <a:rPr lang="en-US" dirty="0" err="1"/>
              <a:t>schimband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cu </a:t>
            </a:r>
            <a:r>
              <a:rPr lang="en-US" dirty="0" err="1"/>
              <a:t>destinatia</a:t>
            </a:r>
            <a:r>
              <a:rPr lang="en-US" dirty="0"/>
              <a:t>.  </a:t>
            </a:r>
          </a:p>
          <a:p>
            <a:pPr eaLnBrk="1" hangingPunct="1"/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sapte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entity beans.  </a:t>
            </a:r>
            <a:r>
              <a:rPr lang="en-US" dirty="0" err="1"/>
              <a:t>Vom</a:t>
            </a:r>
            <a:r>
              <a:rPr lang="en-US" dirty="0"/>
              <a:t> da </a:t>
            </a:r>
            <a:r>
              <a:rPr lang="en-US" dirty="0" err="1"/>
              <a:t>cate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situatie</a:t>
            </a:r>
            <a:r>
              <a:rPr lang="en-US" dirty="0"/>
              <a:t>. Mai </a:t>
            </a:r>
            <a:r>
              <a:rPr lang="en-US" dirty="0" err="1"/>
              <a:t>intai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bidirectionale</a:t>
            </a:r>
            <a:r>
              <a:rPr lang="en-US" dirty="0"/>
              <a:t>. </a:t>
            </a:r>
            <a:r>
              <a:rPr lang="en-US" dirty="0" err="1"/>
              <a:t>Apoi</a:t>
            </a:r>
            <a:r>
              <a:rPr lang="en-US" dirty="0"/>
              <a:t> le </a:t>
            </a:r>
            <a:r>
              <a:rPr lang="en-US" dirty="0" err="1"/>
              <a:t>particularizam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obtinem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unidirectionale</a:t>
            </a:r>
            <a:r>
              <a:rPr lang="en-US" dirty="0"/>
              <a:t>: one-to-one bidirectional, many-to-one bidirectional (=one-to-many bidirectional), many-to-many bidirectional, one-to-one unidirectional, many-to-one unidirectional, one-to-many unidirectional, many-to-many unidirectional,.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In </a:t>
            </a:r>
            <a:r>
              <a:rPr lang="en-US" dirty="0" err="1"/>
              <a:t>JPA2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b="1" dirty="0" err="1"/>
              <a:t>tipuri</a:t>
            </a:r>
            <a:r>
              <a:rPr lang="en-US" b="1" dirty="0"/>
              <a:t> de </a:t>
            </a:r>
            <a:r>
              <a:rPr lang="en-US" b="1" dirty="0" err="1"/>
              <a:t>mapari</a:t>
            </a:r>
            <a:r>
              <a:rPr lang="en-US" dirty="0"/>
              <a:t>: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 err="1"/>
              <a:t>Mapari</a:t>
            </a:r>
            <a:r>
              <a:rPr lang="en-US" dirty="0"/>
              <a:t> </a:t>
            </a:r>
            <a:r>
              <a:rPr lang="en-US" b="1" dirty="0"/>
              <a:t>cu o </a:t>
            </a:r>
            <a:r>
              <a:rPr lang="en-US" b="1" dirty="0" err="1"/>
              <a:t>singura</a:t>
            </a:r>
            <a:r>
              <a:rPr lang="en-US" b="1" dirty="0"/>
              <a:t> </a:t>
            </a:r>
            <a:r>
              <a:rPr lang="en-US" b="1" dirty="0" err="1"/>
              <a:t>valoare</a:t>
            </a:r>
            <a:r>
              <a:rPr lang="en-US" dirty="0"/>
              <a:t>:  @</a:t>
            </a:r>
            <a:r>
              <a:rPr lang="en-US" dirty="0" err="1"/>
              <a:t>OneToOne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dirty="0" err="1"/>
              <a:t>ManyToOne</a:t>
            </a:r>
            <a:r>
              <a:rPr lang="en-US" dirty="0"/>
              <a:t>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 err="1"/>
              <a:t>Mapari</a:t>
            </a:r>
            <a:r>
              <a:rPr lang="en-US" dirty="0"/>
              <a:t> </a:t>
            </a:r>
            <a:r>
              <a:rPr lang="en-US" b="1" dirty="0"/>
              <a:t>cu o </a:t>
            </a:r>
            <a:r>
              <a:rPr lang="en-US" b="1" dirty="0" err="1"/>
              <a:t>colectie</a:t>
            </a:r>
            <a:r>
              <a:rPr lang="en-US" b="1" dirty="0"/>
              <a:t> de </a:t>
            </a:r>
            <a:r>
              <a:rPr lang="en-US" b="1" dirty="0" err="1"/>
              <a:t>valori</a:t>
            </a:r>
            <a:r>
              <a:rPr lang="en-US" b="1" dirty="0"/>
              <a:t>:</a:t>
            </a:r>
            <a:r>
              <a:rPr lang="en-US" dirty="0"/>
              <a:t> @</a:t>
            </a:r>
            <a:r>
              <a:rPr lang="en-US" dirty="0" err="1"/>
              <a:t>OneToMany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dirty="0" err="1"/>
              <a:t>ManyToMany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b="1" dirty="0" err="1"/>
              <a:t>JoinColumn</a:t>
            </a:r>
            <a:r>
              <a:rPr lang="en-US" dirty="0"/>
              <a:t> 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preciza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care </a:t>
            </a:r>
            <a:r>
              <a:rPr lang="en-US" dirty="0" err="1"/>
              <a:t>pastreaza</a:t>
            </a:r>
            <a:r>
              <a:rPr lang="en-US" dirty="0"/>
              <a:t> </a:t>
            </a:r>
            <a:r>
              <a:rPr lang="en-US" dirty="0" err="1"/>
              <a:t>relatia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La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mapari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</a:t>
            </a:r>
            <a:r>
              <a:rPr lang="en-US" b="1" dirty="0"/>
              <a:t>cascade=</a:t>
            </a:r>
            <a:r>
              <a:rPr lang="en-US" b="1" dirty="0" err="1"/>
              <a:t>CascadeType</a:t>
            </a:r>
            <a:r>
              <a:rPr lang="en-US" b="1" dirty="0"/>
              <a:t>.___</a:t>
            </a:r>
            <a:r>
              <a:rPr lang="en-US" dirty="0"/>
              <a:t> cu </a:t>
            </a:r>
            <a:r>
              <a:rPr lang="en-US" dirty="0" err="1"/>
              <a:t>una</a:t>
            </a:r>
            <a:r>
              <a:rPr lang="en-US" dirty="0"/>
              <a:t> din </a:t>
            </a:r>
            <a:r>
              <a:rPr lang="en-US" dirty="0" err="1"/>
              <a:t>valorile</a:t>
            </a:r>
            <a:r>
              <a:rPr lang="en-US" dirty="0"/>
              <a:t>:  ALL, PERSIST, MERGE, REMOVE, REFRESH, DETACH. In </a:t>
            </a:r>
            <a:r>
              <a:rPr lang="en-US" dirty="0" err="1"/>
              <a:t>acest</a:t>
            </a:r>
            <a:r>
              <a:rPr lang="en-US" dirty="0"/>
              <a:t> mod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tipurile</a:t>
            </a:r>
            <a:r>
              <a:rPr lang="en-US" dirty="0"/>
              <a:t> de </a:t>
            </a:r>
            <a:r>
              <a:rPr lang="en-US" dirty="0" err="1"/>
              <a:t>operatii</a:t>
            </a:r>
            <a:r>
              <a:rPr lang="en-US" dirty="0"/>
              <a:t> care se </a:t>
            </a:r>
            <a:r>
              <a:rPr lang="en-US" dirty="0" err="1"/>
              <a:t>propaga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entitatile</a:t>
            </a:r>
            <a:r>
              <a:rPr lang="en-US" dirty="0"/>
              <a:t> </a:t>
            </a:r>
            <a:r>
              <a:rPr lang="en-US" dirty="0" err="1"/>
              <a:t>asociate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7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One-to-one bidirectional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32288" y="8382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adresa</a:t>
            </a:r>
            <a:r>
              <a:rPr lang="en-US" dirty="0"/>
              <a:t>. 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.  De </a:t>
            </a:r>
            <a:r>
              <a:rPr lang="en-US" dirty="0" err="1"/>
              <a:t>asemenea</a:t>
            </a:r>
            <a:r>
              <a:rPr lang="en-US" dirty="0"/>
              <a:t>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 de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(la o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o </a:t>
            </a:r>
            <a:r>
              <a:rPr lang="en-US" dirty="0" err="1"/>
              <a:t>singura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),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Address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Address address;            private Person person;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cs typeface="Courier New" pitchFamily="49" charset="0"/>
              </a:rPr>
              <a:t>In </a:t>
            </a:r>
            <a:r>
              <a:rPr lang="en-US" dirty="0" err="1">
                <a:cs typeface="Courier New" pitchFamily="49" charset="0"/>
              </a:rPr>
              <a:t>fapt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Person.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8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Many-to-one bidirectional (= one-to-many bidirectional)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2" y="60960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. Se pot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mappedBy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="person")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ManyToOne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JoinColumn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Collection&lt;Phone&gt; phones;   private Person person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JoinColumn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 De </a:t>
            </a:r>
            <a:r>
              <a:rPr lang="en-US" dirty="0" err="1"/>
              <a:t>fapt</a:t>
            </a:r>
            <a:r>
              <a:rPr lang="en-US" dirty="0"/>
              <a:t>, in DB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b="1" dirty="0"/>
              <a:t>person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foreing</a:t>
            </a:r>
            <a:r>
              <a:rPr lang="en-US" dirty="0"/>
              <a:t> key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a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proprietare</a:t>
            </a:r>
            <a:r>
              <a:rPr lang="en-US" dirty="0"/>
              <a:t>. @</a:t>
            </a:r>
            <a:r>
              <a:rPr lang="en-US" b="1" dirty="0" err="1"/>
              <a:t>OneToMany</a:t>
            </a:r>
            <a:r>
              <a:rPr lang="en-US" dirty="0"/>
              <a:t> </a:t>
            </a:r>
            <a:r>
              <a:rPr lang="en-US" dirty="0" err="1"/>
              <a:t>indica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campul</a:t>
            </a:r>
            <a:r>
              <a:rPr lang="en-US" dirty="0"/>
              <a:t> person de la </a:t>
            </a:r>
            <a:r>
              <a:rPr lang="en-US" dirty="0" err="1"/>
              <a:t>instantele</a:t>
            </a:r>
            <a:r>
              <a:rPr lang="en-US" dirty="0"/>
              <a:t> Phone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colectiei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 err="1">
                <a:latin typeface="Courier New" pitchFamily="49" charset="0"/>
                <a:cs typeface="Courier New" pitchFamily="49" charset="0"/>
              </a:rPr>
              <a:t>person.setPhones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(phones);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phone.setPerson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(person);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9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Many-to-many  bidirectional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carte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care ii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autorii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la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@Entity                            @Entity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Author {              public class Book {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@Id id - - -                       @Id id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[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]      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[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]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private Collection&lt;Book&gt; books;    private Collection&lt;Author&gt; authors;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constructors,             - - - // constructors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- - - // setters, getters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}                                  }</a:t>
            </a:r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preciza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o </a:t>
            </a:r>
            <a:r>
              <a:rPr lang="en-US" dirty="0" err="1"/>
              <a:t>adnotare</a:t>
            </a:r>
            <a:r>
              <a:rPr lang="en-US" dirty="0"/>
              <a:t> @</a:t>
            </a:r>
            <a:r>
              <a:rPr lang="en-US" dirty="0" err="1"/>
              <a:t>JoinTable</a:t>
            </a:r>
            <a:r>
              <a:rPr lang="en-US" dirty="0"/>
              <a:t> (</a:t>
            </a:r>
            <a:r>
              <a:rPr lang="en-US" dirty="0" err="1"/>
              <a:t>altfel</a:t>
            </a:r>
            <a:r>
              <a:rPr lang="en-US" dirty="0"/>
              <a:t> se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JoinTable</a:t>
            </a:r>
            <a:r>
              <a:rPr lang="en-US" dirty="0"/>
              <a:t>!).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adnotam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de la </a:t>
            </a:r>
            <a:r>
              <a:rPr lang="en-US" b="1" dirty="0"/>
              <a:t>Author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adnotarile</a:t>
            </a:r>
            <a:r>
              <a:rPr lang="en-US" dirty="0"/>
              <a:t> complete </a:t>
            </a:r>
            <a:r>
              <a:rPr lang="en-US" dirty="0" err="1"/>
              <a:t>vor</a:t>
            </a:r>
            <a:r>
              <a:rPr lang="en-US" dirty="0"/>
              <a:t> fi: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. . 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Author</a:t>
            </a:r>
            <a:r>
              <a:rPr lang="en-US" sz="1600" b="1" dirty="0">
                <a:latin typeface="Courier New" panose="02070309020205020404" pitchFamily="49" charset="0"/>
                <a:cs typeface="Courier New" pitchFamily="49" charset="0"/>
              </a:rPr>
              <a:t> . . .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(cascade=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CascadeType.ALL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 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(name="AUTHOR_BOOK",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(name="AUTHOR_ID",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inverseJoinColumns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(name="BOOK_ID",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                            </a:t>
            </a:r>
            <a:r>
              <a:rPr lang="en-US" sz="15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="ID")})</a:t>
            </a:r>
          </a:p>
          <a:p>
            <a:pPr eaLnBrk="1" hangingPunct="1"/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/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. . </a:t>
            </a:r>
            <a:r>
              <a:rPr lang="en-US" sz="1600" b="1" dirty="0"/>
              <a:t> </a:t>
            </a:r>
            <a:r>
              <a:rPr lang="en-US" b="1" dirty="0"/>
              <a:t>Book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 .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(cascade=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CascadeType.ALL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mappedBy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="books")</a:t>
            </a:r>
          </a:p>
          <a:p>
            <a:pPr eaLnBrk="1" hangingPunct="1"/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/>
              <a:t>Setarile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</a:t>
            </a:r>
            <a:r>
              <a:rPr lang="en-US" dirty="0" err="1"/>
              <a:t>tipul</a:t>
            </a:r>
            <a:r>
              <a:rPr lang="en-US" dirty="0"/>
              <a:t>: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author.setBooks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(books);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book.setAuthors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(authors);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10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One-to-one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20664" y="121920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adresa</a:t>
            </a:r>
            <a:r>
              <a:rPr lang="en-US" dirty="0"/>
              <a:t>. 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 de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Address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Address address;           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cs typeface="Courier New" pitchFamily="49" charset="0"/>
              </a:rPr>
              <a:t>In </a:t>
            </a:r>
            <a:r>
              <a:rPr lang="en-US" dirty="0" err="1">
                <a:cs typeface="Courier New" pitchFamily="49" charset="0"/>
              </a:rPr>
              <a:t>fapt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Address.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May-to-one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76200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ManyToOne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JoinColumn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private Person person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JoinColumn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primary key ale </a:t>
            </a:r>
            <a:r>
              <a:rPr lang="en-US" b="1" dirty="0"/>
              <a:t>Person</a:t>
            </a:r>
            <a:r>
              <a:rPr lang="en-US" dirty="0"/>
              <a:t>.  De </a:t>
            </a:r>
            <a:r>
              <a:rPr lang="en-US" dirty="0" err="1"/>
              <a:t>fapt</a:t>
            </a:r>
            <a:r>
              <a:rPr lang="en-US" dirty="0"/>
              <a:t>, in DB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b="1" dirty="0"/>
              <a:t>person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foreing</a:t>
            </a:r>
            <a:r>
              <a:rPr lang="en-US" dirty="0"/>
              <a:t> key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a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proprietare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phone.setPerson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(person);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One-to-many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85241" y="423508"/>
            <a:ext cx="90678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. Se </a:t>
            </a:r>
            <a:r>
              <a:rPr lang="en-US" dirty="0" err="1"/>
              <a:t>cer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 </a:t>
            </a:r>
            <a:r>
              <a:rPr lang="en-US" dirty="0" err="1"/>
              <a:t>fara</a:t>
            </a:r>
            <a:r>
              <a:rPr lang="en-US" dirty="0"/>
              <a:t> a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@Id id - - -                        @Id id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- - - // constructors,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Collection&lt;Phone&gt; phones;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 La </a:t>
            </a:r>
            <a:r>
              <a:rPr lang="en-US" dirty="0" err="1"/>
              <a:t>sursa</a:t>
            </a:r>
            <a:r>
              <a:rPr lang="en-US" dirty="0"/>
              <a:t> se pot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coloanele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inverse. 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perechi</a:t>
            </a:r>
            <a:r>
              <a:rPr lang="en-US" dirty="0"/>
              <a:t> de </a:t>
            </a:r>
            <a:r>
              <a:rPr lang="en-US" dirty="0" err="1"/>
              <a:t>adnotari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fi:   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In </a:t>
            </a:r>
            <a:r>
              <a:rPr lang="en-US" b="1" dirty="0">
                <a:cs typeface="Courier New" pitchFamily="49" charset="0"/>
              </a:rPr>
              <a:t>Person: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PERSON_PHONE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PERSON_ID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inverseJoinColumns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PHONE_ID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="ID")})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person.setPhones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(phones);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Many-to-many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129540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Acest</a:t>
            </a:r>
            <a:r>
              <a:rPr lang="en-US" dirty="0"/>
              <a:t> gen de </a:t>
            </a:r>
            <a:r>
              <a:rPr lang="en-US" dirty="0" err="1"/>
              <a:t>relatie</a:t>
            </a:r>
            <a:r>
              <a:rPr lang="en-US" dirty="0"/>
              <a:t> nu </a:t>
            </a:r>
            <a:r>
              <a:rPr lang="en-US" dirty="0" err="1"/>
              <a:t>aduce</a:t>
            </a:r>
            <a:r>
              <a:rPr lang="en-US" dirty="0"/>
              <a:t> un </a:t>
            </a:r>
            <a:r>
              <a:rPr lang="en-US" dirty="0" err="1"/>
              <a:t>prea</a:t>
            </a:r>
            <a:r>
              <a:rPr lang="en-US" dirty="0"/>
              <a:t> mare </a:t>
            </a:r>
            <a:r>
              <a:rPr lang="en-US" dirty="0" err="1"/>
              <a:t>castig</a:t>
            </a:r>
            <a:r>
              <a:rPr lang="en-US" dirty="0"/>
              <a:t>, el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adoptat</a:t>
            </a:r>
            <a:r>
              <a:rPr lang="en-US" dirty="0"/>
              <a:t> in </a:t>
            </a:r>
            <a:r>
              <a:rPr lang="en-US" dirty="0" err="1"/>
              <a:t>JPA2</a:t>
            </a:r>
            <a:r>
              <a:rPr lang="en-US" dirty="0"/>
              <a:t>. Il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prezenta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Definim</a:t>
            </a:r>
            <a:r>
              <a:rPr lang="en-US" dirty="0"/>
              <a:t> o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</a:t>
            </a:r>
            <a:r>
              <a:rPr lang="en-US" dirty="0" err="1"/>
              <a:t>cartile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se </a:t>
            </a:r>
            <a:r>
              <a:rPr lang="en-US" dirty="0" err="1"/>
              <a:t>doreste</a:t>
            </a:r>
            <a:r>
              <a:rPr lang="en-US" dirty="0"/>
              <a:t> explicit </a:t>
            </a:r>
            <a:r>
              <a:rPr lang="en-US" dirty="0" err="1"/>
              <a:t>autorii</a:t>
            </a:r>
            <a:r>
              <a:rPr lang="en-US" dirty="0"/>
              <a:t> </a:t>
            </a:r>
            <a:r>
              <a:rPr lang="en-US" dirty="0" err="1"/>
              <a:t>fiecarei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@Entity                            @Entity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Author {              public class Book {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                            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- - - // constructors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private Collection&lt;Book&gt; books;    - - -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constructors,             - - - // setters, getters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}                                  }</a:t>
            </a:r>
            <a:endParaRPr lang="en-US" dirty="0"/>
          </a:p>
          <a:p>
            <a:pPr eaLnBrk="1" hangingPunct="1"/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/>
              <a:t>Setarile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</a:t>
            </a:r>
            <a:r>
              <a:rPr lang="en-US" dirty="0" err="1"/>
              <a:t>tipul</a:t>
            </a:r>
            <a:r>
              <a:rPr lang="en-US" dirty="0"/>
              <a:t>: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author.setBooks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(books);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2 Context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Entity manager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manager factory </a:t>
            </a:r>
          </a:p>
        </p:txBody>
      </p:sp>
      <p:sp>
        <p:nvSpPr>
          <p:cNvPr id="2" name="Rectangle 1"/>
          <p:cNvSpPr/>
          <p:nvPr/>
        </p:nvSpPr>
        <p:spPr>
          <a:xfrm>
            <a:off x="19373" y="366713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Contextul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defineste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de </a:t>
            </a:r>
            <a:r>
              <a:rPr lang="en-US" dirty="0" err="1"/>
              <a:t>vizibilitate</a:t>
            </a:r>
            <a:r>
              <a:rPr lang="en-US" dirty="0"/>
              <a:t> in care un entity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operat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: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/>
              <a:t>Gestionata</a:t>
            </a:r>
            <a:r>
              <a:rPr lang="en-US" b="1" dirty="0"/>
              <a:t> de container</a:t>
            </a:r>
            <a:r>
              <a:rPr lang="en-US" dirty="0"/>
              <a:t>,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, context </a:t>
            </a:r>
            <a:r>
              <a:rPr lang="en-US" dirty="0" err="1"/>
              <a:t>propagat</a:t>
            </a:r>
            <a:r>
              <a:rPr lang="en-US" dirty="0"/>
              <a:t> in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aplicatiile</a:t>
            </a:r>
            <a:r>
              <a:rPr lang="en-US" dirty="0"/>
              <a:t> din AS. 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/>
              <a:t>Gestionata</a:t>
            </a:r>
            <a:r>
              <a:rPr lang="en-US" b="1" dirty="0"/>
              <a:t> de </a:t>
            </a:r>
            <a:r>
              <a:rPr lang="en-US" b="1" dirty="0" err="1"/>
              <a:t>aplicatie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rar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, </a:t>
            </a:r>
            <a:r>
              <a:rPr lang="en-US" dirty="0" err="1"/>
              <a:t>contextul</a:t>
            </a:r>
            <a:r>
              <a:rPr lang="en-US" dirty="0"/>
              <a:t> nu se </a:t>
            </a:r>
            <a:r>
              <a:rPr lang="en-US" dirty="0" err="1"/>
              <a:t>propaga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gestionat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de </a:t>
            </a:r>
            <a:r>
              <a:rPr lang="en-US" dirty="0" err="1"/>
              <a:t>aplicatie</a:t>
            </a:r>
            <a:r>
              <a:rPr lang="en-US" dirty="0"/>
              <a:t>.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Marcarea</a:t>
            </a:r>
            <a:r>
              <a:rPr lang="en-US" dirty="0"/>
              <a:t> </a:t>
            </a:r>
            <a:r>
              <a:rPr lang="en-US" dirty="0" err="1"/>
              <a:t>contextului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se face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adnotarea</a:t>
            </a:r>
            <a:r>
              <a:rPr lang="en-US" dirty="0"/>
              <a:t> @</a:t>
            </a:r>
            <a:r>
              <a:rPr lang="en-US" b="1" dirty="0" err="1"/>
              <a:t>PersistenceContext</a:t>
            </a:r>
            <a:r>
              <a:rPr lang="en-US" dirty="0"/>
              <a:t>, care are un </a:t>
            </a:r>
            <a:r>
              <a:rPr lang="en-US" dirty="0" err="1"/>
              <a:t>dublu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: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Sa </a:t>
            </a:r>
            <a:r>
              <a:rPr lang="en-US" dirty="0" err="1"/>
              <a:t>injecteze</a:t>
            </a:r>
            <a:r>
              <a:rPr lang="en-US" dirty="0"/>
              <a:t> </a:t>
            </a:r>
            <a:r>
              <a:rPr lang="en-US" b="1" dirty="0" err="1"/>
              <a:t>EntityManager</a:t>
            </a:r>
            <a:endParaRPr lang="en-US" dirty="0"/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Sa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beanului</a:t>
            </a:r>
            <a:r>
              <a:rPr lang="en-US" dirty="0"/>
              <a:t> </a:t>
            </a:r>
            <a:r>
              <a:rPr lang="en-US" dirty="0" err="1"/>
              <a:t>EJB</a:t>
            </a:r>
            <a:r>
              <a:rPr lang="en-US" dirty="0"/>
              <a:t> cu </a:t>
            </a:r>
            <a:r>
              <a:rPr lang="en-US" b="1" dirty="0" err="1"/>
              <a:t>unitatea</a:t>
            </a:r>
            <a:r>
              <a:rPr lang="en-US" b="1" dirty="0"/>
              <a:t> de </a:t>
            </a:r>
            <a:r>
              <a:rPr lang="en-US" b="1" dirty="0" err="1"/>
              <a:t>persistenta</a:t>
            </a: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 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sarcini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Creeaza</a:t>
            </a:r>
            <a:r>
              <a:rPr lang="en-US" dirty="0"/>
              <a:t> (</a:t>
            </a:r>
            <a:r>
              <a:rPr lang="en-US" dirty="0" err="1"/>
              <a:t>persista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Entity </a:t>
            </a:r>
            <a:r>
              <a:rPr lang="en-US" dirty="0" err="1"/>
              <a:t>persistente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Obtine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(</a:t>
            </a:r>
            <a:r>
              <a:rPr lang="en-US" dirty="0" err="1"/>
              <a:t>toate</a:t>
            </a:r>
            <a:r>
              <a:rPr lang="en-US" dirty="0"/>
              <a:t> Entity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chei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JPQL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Interactioneaza</a:t>
            </a:r>
            <a:r>
              <a:rPr lang="en-US" dirty="0"/>
              <a:t> cu </a:t>
            </a:r>
            <a:r>
              <a:rPr lang="en-US" dirty="0" err="1"/>
              <a:t>contextul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EntityManagerFactory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in </a:t>
            </a:r>
            <a:r>
              <a:rPr lang="en-US" dirty="0" err="1"/>
              <a:t>aplicatiile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,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Java SE (nu EE),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construi</a:t>
            </a:r>
            <a:r>
              <a:rPr lang="en-US" dirty="0"/>
              <a:t> </a:t>
            </a:r>
            <a:r>
              <a:rPr lang="en-US" dirty="0" err="1"/>
              <a:t>EntityManager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15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2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utilizare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EntityManager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-35943" y="53340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 (EE):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PersistenceContext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ejbn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manager; 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(SE):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PersistenceContext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ejbn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")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EntityManagerFactiory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emf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manager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emf.createEntityManager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oferite</a:t>
            </a:r>
            <a:r>
              <a:rPr lang="en-US" dirty="0"/>
              <a:t> de </a:t>
            </a:r>
            <a:r>
              <a:rPr lang="en-US" dirty="0" err="1"/>
              <a:t>EntityManager</a:t>
            </a:r>
            <a:r>
              <a:rPr lang="en-US" dirty="0"/>
              <a:t>: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persist(Object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 find(Class&lt;T&gt;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clasaEntity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Object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cheiePrimara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remove(Object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 merge(T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refresh(Object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contains(Object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flush()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Query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sirJPCL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sirJPQL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Class&lt;T&gt;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20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16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3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Cateva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de query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JPQL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25831" y="366713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Entity manager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&lt;Student&gt;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 "select s from Student s 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List&lt;Student&gt;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query.getResultList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&lt;Student&gt;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"select s from Student s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&gt; 4 order be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des",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List&lt;Student&gt;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query.getResultList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Student student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4035)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Query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"update Student s set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:nota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:id");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query.setParameter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("nota", 7);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query.setparameter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("id", 4035);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query.executeUpdate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Student student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4035)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em.remove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(student);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Query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("delete from Student s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4035");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query.executeUpdate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17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4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unitatii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ilor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)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7163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O </a:t>
            </a:r>
            <a:r>
              <a:rPr lang="en-US" dirty="0" err="1"/>
              <a:t>unitate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(UP) </a:t>
            </a:r>
            <a:r>
              <a:rPr lang="en-US" dirty="0" err="1"/>
              <a:t>leaga</a:t>
            </a:r>
            <a:r>
              <a:rPr lang="en-US" dirty="0"/>
              <a:t> un </a:t>
            </a:r>
            <a:r>
              <a:rPr lang="en-US" dirty="0" err="1"/>
              <a:t>grup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de un </a:t>
            </a:r>
            <a:r>
              <a:rPr lang="en-US" dirty="0" err="1"/>
              <a:t>SGBD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UP – </a:t>
            </a:r>
            <a:r>
              <a:rPr lang="en-US" dirty="0" err="1"/>
              <a:t>urile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modulEJB</a:t>
            </a:r>
            <a:r>
              <a:rPr lang="en-US" dirty="0"/>
              <a:t> se </a:t>
            </a:r>
            <a:r>
              <a:rPr lang="en-US" dirty="0" err="1"/>
              <a:t>descriu</a:t>
            </a:r>
            <a:r>
              <a:rPr lang="en-US" dirty="0"/>
              <a:t> 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META-INF/persistence.xml: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</a:t>
            </a:r>
          </a:p>
          <a:p>
            <a:pPr eaLnBrk="1" hangingPunct="1"/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din UP </a:t>
            </a:r>
            <a:r>
              <a:rPr lang="en-US" dirty="0" err="1"/>
              <a:t>sunt</a:t>
            </a:r>
            <a:r>
              <a:rPr lang="en-US" dirty="0"/>
              <a:t>: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numele</a:t>
            </a:r>
            <a:r>
              <a:rPr lang="en-US" dirty="0"/>
              <a:t> UP </a:t>
            </a:r>
            <a:r>
              <a:rPr lang="en-US" dirty="0" err="1"/>
              <a:t>referit</a:t>
            </a:r>
            <a:r>
              <a:rPr lang="en-US" dirty="0"/>
              <a:t> din </a:t>
            </a:r>
            <a:r>
              <a:rPr lang="en-US" dirty="0" err="1"/>
              <a:t>beanurile</a:t>
            </a:r>
            <a:r>
              <a:rPr lang="en-US" dirty="0"/>
              <a:t> </a:t>
            </a:r>
            <a:r>
              <a:rPr lang="en-US" dirty="0" err="1"/>
              <a:t>EJB</a:t>
            </a:r>
            <a:r>
              <a:rPr lang="en-US" dirty="0"/>
              <a:t>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Furnizorul</a:t>
            </a:r>
            <a:r>
              <a:rPr lang="en-US" dirty="0"/>
              <a:t> </a:t>
            </a:r>
            <a:r>
              <a:rPr lang="en-US" dirty="0" err="1"/>
              <a:t>persistentei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JNDI al </a:t>
            </a:r>
            <a:r>
              <a:rPr lang="en-US" dirty="0" err="1"/>
              <a:t>datasource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definit</a:t>
            </a:r>
            <a:r>
              <a:rPr lang="en-US" dirty="0"/>
              <a:t> in AS,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clasele</a:t>
            </a:r>
            <a:r>
              <a:rPr lang="en-US" dirty="0"/>
              <a:t> ale </a:t>
            </a:r>
            <a:r>
              <a:rPr lang="en-US" dirty="0" err="1"/>
              <a:t>caror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persistate</a:t>
            </a:r>
            <a:r>
              <a:rPr lang="en-US" dirty="0"/>
              <a:t> in UP,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proprietati</a:t>
            </a:r>
            <a:r>
              <a:rPr lang="en-US" dirty="0"/>
              <a:t> de </a:t>
            </a:r>
            <a:r>
              <a:rPr lang="en-US" dirty="0" err="1"/>
              <a:t>comportament</a:t>
            </a:r>
            <a:r>
              <a:rPr lang="en-US" dirty="0"/>
              <a:t> al DB (dialect, </a:t>
            </a:r>
            <a:r>
              <a:rPr lang="en-US" dirty="0" err="1"/>
              <a:t>url</a:t>
            </a:r>
            <a:r>
              <a:rPr lang="en-US" dirty="0"/>
              <a:t>, driver, </a:t>
            </a:r>
            <a:r>
              <a:rPr lang="en-US" dirty="0" err="1"/>
              <a:t>creare</a:t>
            </a:r>
            <a:r>
              <a:rPr lang="en-US" dirty="0"/>
              <a:t> de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eaLnBrk="1" hangingPunct="1"/>
            <a:r>
              <a:rPr lang="en-US" dirty="0"/>
              <a:t>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persistence.xml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trebuie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renumite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/>
              <a:t>Implicit </a:t>
            </a:r>
            <a:r>
              <a:rPr lang="en-US" dirty="0" err="1"/>
              <a:t>WildFly</a:t>
            </a:r>
            <a:r>
              <a:rPr lang="en-US" dirty="0"/>
              <a:t> (cu </a:t>
            </a:r>
            <a:r>
              <a:rPr lang="en-US" dirty="0" err="1"/>
              <a:t>H2</a:t>
            </a:r>
            <a:r>
              <a:rPr lang="en-US" dirty="0"/>
              <a:t>). </a:t>
            </a:r>
            <a:r>
              <a:rPr lang="en-US" b="1" dirty="0" err="1"/>
              <a:t>persistenceWF.xml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Implicit </a:t>
            </a:r>
            <a:r>
              <a:rPr lang="en-US" dirty="0" err="1"/>
              <a:t>GlassFish</a:t>
            </a:r>
            <a:r>
              <a:rPr lang="en-US" dirty="0"/>
              <a:t> (cu Derby) </a:t>
            </a:r>
            <a:r>
              <a:rPr lang="en-US" b="1" dirty="0" err="1"/>
              <a:t>persistenceGF.xml</a:t>
            </a:r>
            <a:endParaRPr lang="en-US" b="1" dirty="0"/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WildFly</a:t>
            </a:r>
            <a:r>
              <a:rPr lang="en-US" dirty="0"/>
              <a:t> cu un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persistenceMySqlWF.xml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GlassFish</a:t>
            </a:r>
            <a:r>
              <a:rPr lang="en-US" dirty="0"/>
              <a:t> cu un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persistenceMySqlGF.xml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direct Hibernate,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persistenceMySql_noDSWF.xml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direct Hibernate, </a:t>
            </a:r>
            <a:r>
              <a:rPr lang="en-US" dirty="0" err="1"/>
              <a:t>GlassFish</a:t>
            </a:r>
            <a:r>
              <a:rPr lang="en-US" dirty="0"/>
              <a:t>,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.?? 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75653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&lt;?xml version="1.0" encoding="UTF-8"?&gt;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&lt;persistence version="2.1"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xmlns:xsi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 "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 "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xsi:schemaLocation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&lt;persistence-unit name="ejb6"&gt;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-data-source&gt;…&lt;/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-data-source&gt;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&lt;provider&gt;…&lt;/provider&gt;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&lt;class&gt;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p.entities.IdNameEntity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&lt;/class&gt;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&lt;properties&gt; - - - &lt;/properties&gt;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&lt;/persistence-unit&gt;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&lt;/persistence&gt;</a:t>
            </a:r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18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4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Detalii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privind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pastrarea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schemei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DB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572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Detaliile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legate de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proprietatii</a:t>
            </a:r>
            <a:r>
              <a:rPr lang="en-US" dirty="0"/>
              <a:t> </a:t>
            </a:r>
            <a:r>
              <a:rPr lang="en-US" b="1" dirty="0"/>
              <a:t>hibernate.hbm2ddl.auto</a:t>
            </a:r>
            <a:r>
              <a:rPr lang="en-US" dirty="0"/>
              <a:t> din </a:t>
            </a:r>
            <a:r>
              <a:rPr lang="en-US" b="1" dirty="0"/>
              <a:t>persistence.xml</a:t>
            </a:r>
            <a:r>
              <a:rPr lang="en-US" dirty="0"/>
              <a:t>, care se </a:t>
            </a:r>
            <a:r>
              <a:rPr lang="en-US" dirty="0" err="1"/>
              <a:t>foloseste</a:t>
            </a:r>
            <a:r>
              <a:rPr lang="en-US" dirty="0"/>
              <a:t> la </a:t>
            </a:r>
            <a:r>
              <a:rPr lang="en-US" dirty="0" err="1"/>
              <a:t>crearea</a:t>
            </a:r>
            <a:r>
              <a:rPr lang="en-US" dirty="0"/>
              <a:t> bean-</a:t>
            </a:r>
            <a:r>
              <a:rPr lang="en-US" dirty="0" err="1"/>
              <a:t>urilor</a:t>
            </a:r>
            <a:r>
              <a:rPr lang="en-US" dirty="0"/>
              <a:t> entity.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dirty="0" err="1"/>
              <a:t>creeeaza</a:t>
            </a:r>
            <a:r>
              <a:rPr lang="en-US" dirty="0"/>
              <a:t> schema, </a:t>
            </a:r>
            <a:r>
              <a:rPr lang="en-US" dirty="0" err="1"/>
              <a:t>distrugele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care au </a:t>
            </a:r>
            <a:r>
              <a:rPr lang="en-US" dirty="0" err="1"/>
              <a:t>existat</a:t>
            </a:r>
            <a:r>
              <a:rPr lang="en-US" dirty="0"/>
              <a:t> anterior in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create-drop</a:t>
            </a:r>
            <a:r>
              <a:rPr lang="en-US" dirty="0"/>
              <a:t> </a:t>
            </a:r>
            <a:r>
              <a:rPr lang="en-US" dirty="0" err="1"/>
              <a:t>sterge</a:t>
            </a:r>
            <a:r>
              <a:rPr lang="en-US" dirty="0"/>
              <a:t> schema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/>
              <a:t>sesiunii</a:t>
            </a:r>
            <a:r>
              <a:rPr lang="en-US" dirty="0"/>
              <a:t> (se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in </a:t>
            </a:r>
            <a:r>
              <a:rPr lang="en-US" dirty="0" err="1"/>
              <a:t>faza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).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validate</a:t>
            </a:r>
            <a:r>
              <a:rPr lang="en-US" dirty="0"/>
              <a:t>  </a:t>
            </a:r>
            <a:r>
              <a:rPr lang="en-US" dirty="0" err="1"/>
              <a:t>valideaza</a:t>
            </a:r>
            <a:r>
              <a:rPr lang="en-US" dirty="0"/>
              <a:t> schema </a:t>
            </a:r>
            <a:r>
              <a:rPr lang="en-US" dirty="0" err="1"/>
              <a:t>si</a:t>
            </a:r>
            <a:r>
              <a:rPr lang="en-US" dirty="0"/>
              <a:t> nu face </a:t>
            </a:r>
            <a:r>
              <a:rPr lang="en-US" dirty="0" err="1"/>
              <a:t>modidicari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 (</a:t>
            </a:r>
            <a:r>
              <a:rPr lang="en-US" dirty="0" err="1"/>
              <a:t>ramane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schema, </a:t>
            </a:r>
            <a:r>
              <a:rPr lang="en-US" dirty="0" err="1"/>
              <a:t>raman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nemodificate</a:t>
            </a:r>
            <a:r>
              <a:rPr lang="en-US" dirty="0"/>
              <a:t>).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schemele</a:t>
            </a:r>
            <a:r>
              <a:rPr lang="en-US" dirty="0"/>
              <a:t> nu </a:t>
            </a:r>
            <a:r>
              <a:rPr lang="en-US" dirty="0" err="1"/>
              <a:t>coincid</a:t>
            </a:r>
            <a:r>
              <a:rPr lang="en-US" dirty="0"/>
              <a:t> </a:t>
            </a:r>
            <a:r>
              <a:rPr lang="en-US" dirty="0" err="1"/>
              <a:t>arunca</a:t>
            </a:r>
            <a:r>
              <a:rPr lang="en-US" dirty="0"/>
              <a:t> o </a:t>
            </a:r>
            <a:r>
              <a:rPr lang="en-US" dirty="0" err="1"/>
              <a:t>exceptie</a:t>
            </a:r>
            <a:r>
              <a:rPr lang="en-US" dirty="0"/>
              <a:t>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update</a:t>
            </a:r>
            <a:r>
              <a:rPr lang="en-US" dirty="0"/>
              <a:t> face update la schema.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none</a:t>
            </a:r>
            <a:r>
              <a:rPr lang="en-US" dirty="0"/>
              <a:t> </a:t>
            </a:r>
            <a:r>
              <a:rPr lang="en-US" dirty="0" err="1"/>
              <a:t>nedocumentata</a:t>
            </a:r>
            <a:r>
              <a:rPr lang="en-US" dirty="0"/>
              <a:t>, nu </a:t>
            </a:r>
            <a:r>
              <a:rPr lang="en-US" dirty="0" err="1"/>
              <a:t>actioneaza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tabelelor</a:t>
            </a:r>
            <a:r>
              <a:rPr lang="en-US" dirty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Practica</a:t>
            </a:r>
            <a:r>
              <a:rPr lang="en-US" dirty="0"/>
              <a:t> </a:t>
            </a:r>
            <a:r>
              <a:rPr lang="en-US" dirty="0" err="1"/>
              <a:t>uzuala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La </a:t>
            </a:r>
            <a:r>
              <a:rPr lang="en-US" dirty="0" err="1"/>
              <a:t>primul</a:t>
            </a:r>
            <a:r>
              <a:rPr lang="en-US" dirty="0"/>
              <a:t> deploy se </a:t>
            </a:r>
            <a:r>
              <a:rPr lang="en-US" dirty="0" err="1"/>
              <a:t>pune</a:t>
            </a:r>
            <a:r>
              <a:rPr lang="en-US" dirty="0"/>
              <a:t> </a:t>
            </a:r>
            <a:r>
              <a:rPr lang="en-US" b="1" dirty="0"/>
              <a:t>create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creare</a:t>
            </a:r>
            <a:r>
              <a:rPr lang="en-US" dirty="0"/>
              <a:t>, la </a:t>
            </a:r>
            <a:r>
              <a:rPr lang="en-US" dirty="0" err="1"/>
              <a:t>urmatoarele</a:t>
            </a:r>
            <a:r>
              <a:rPr lang="en-US" dirty="0"/>
              <a:t> deploys </a:t>
            </a: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b="1" dirty="0"/>
              <a:t>hibernate.hbm2ddl.auto</a:t>
            </a:r>
            <a:r>
              <a:rPr lang="en-US" dirty="0"/>
              <a:t> se </a:t>
            </a:r>
            <a:r>
              <a:rPr lang="en-US" dirty="0" err="1"/>
              <a:t>elimina</a:t>
            </a:r>
            <a:r>
              <a:rPr lang="en-US" dirty="0"/>
              <a:t> din </a:t>
            </a:r>
            <a:r>
              <a:rPr lang="en-US" b="1" dirty="0"/>
              <a:t>persistence.xml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pastra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 cu </a:t>
            </a:r>
            <a:r>
              <a:rPr lang="en-US" dirty="0" err="1"/>
              <a:t>persistarile</a:t>
            </a:r>
            <a:r>
              <a:rPr lang="en-US" dirty="0"/>
              <a:t> din </a:t>
            </a:r>
            <a:r>
              <a:rPr lang="en-US" dirty="0" err="1"/>
              <a:t>rularile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Detalii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: 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docs.jboss.org</a:t>
            </a:r>
            <a:r>
              <a:rPr lang="en-US" dirty="0">
                <a:hlinkClick r:id="rId3"/>
              </a:rPr>
              <a:t>/hibernate/core/3.3/reference/en/html/</a:t>
            </a:r>
            <a:r>
              <a:rPr lang="en-US" dirty="0" err="1">
                <a:hlinkClick r:id="rId3"/>
              </a:rPr>
              <a:t>session-configuration.html#configuration-optional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4"/>
              </a:rPr>
              <a:t>http://stackoverflow.com/questions/438146/hibernate-hbm2ddl-auto-possible-values-and-what-they-do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5"/>
              </a:rPr>
              <a:t>http://stackoverflow.com/questions/12043244/hibernate-creating-database-table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6"/>
              </a:rPr>
              <a:t>http://stackoverflow.com/questions/35400503/hibernate-hbm2ddl-auto-value-update-or-none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19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 (1/2)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66713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Exemplele</a:t>
            </a:r>
            <a:r>
              <a:rPr lang="en-US" dirty="0"/>
              <a:t> JPA2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proiecte</a:t>
            </a:r>
            <a:r>
              <a:rPr lang="en-US" dirty="0"/>
              <a:t> </a:t>
            </a:r>
            <a:r>
              <a:rPr lang="en-US" dirty="0" err="1"/>
              <a:t>gradle</a:t>
            </a:r>
            <a:r>
              <a:rPr lang="en-US" dirty="0"/>
              <a:t>, cu </a:t>
            </a:r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in </a:t>
            </a:r>
            <a:r>
              <a:rPr lang="en-US" dirty="0" err="1"/>
              <a:t>pachetele</a:t>
            </a:r>
            <a:r>
              <a:rPr lang="en-US" dirty="0"/>
              <a:t> </a:t>
            </a:r>
            <a:r>
              <a:rPr lang="en-US" b="1" dirty="0" err="1"/>
              <a:t>p.interfaces</a:t>
            </a:r>
            <a:r>
              <a:rPr lang="en-US" dirty="0"/>
              <a:t>, </a:t>
            </a:r>
            <a:r>
              <a:rPr lang="en-US" b="1" dirty="0" err="1"/>
              <a:t>p.beans</a:t>
            </a:r>
            <a:r>
              <a:rPr lang="en-US" b="1" dirty="0"/>
              <a:t>, </a:t>
            </a:r>
            <a:r>
              <a:rPr lang="en-US" b="1" dirty="0" err="1"/>
              <a:t>p.entities</a:t>
            </a:r>
            <a:r>
              <a:rPr lang="en-US" b="1" dirty="0"/>
              <a:t>, </a:t>
            </a:r>
            <a:r>
              <a:rPr lang="en-US" b="1" dirty="0" err="1"/>
              <a:t>p.dtos</a:t>
            </a:r>
            <a:r>
              <a:rPr lang="en-US" b="1" dirty="0"/>
              <a:t>, </a:t>
            </a:r>
            <a:r>
              <a:rPr lang="en-US" b="1" dirty="0" err="1"/>
              <a:t>p.client</a:t>
            </a:r>
            <a:r>
              <a:rPr lang="en-US" dirty="0"/>
              <a:t>.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 in </a:t>
            </a:r>
            <a:r>
              <a:rPr lang="en-US" dirty="0" err="1"/>
              <a:t>jurul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simple: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1jpaCs</a:t>
            </a:r>
            <a:r>
              <a:rPr lang="en-US" dirty="0"/>
              <a:t> care </a:t>
            </a:r>
            <a:r>
              <a:rPr lang="en-US" dirty="0" err="1"/>
              <a:t>ilustreaza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moduri</a:t>
            </a:r>
            <a:r>
              <a:rPr lang="en-US" dirty="0"/>
              <a:t> de </a:t>
            </a:r>
            <a:r>
              <a:rPr lang="en-US" dirty="0" err="1"/>
              <a:t>asigurare</a:t>
            </a:r>
            <a:r>
              <a:rPr lang="en-US" dirty="0"/>
              <a:t> a </a:t>
            </a:r>
            <a:r>
              <a:rPr lang="en-US" dirty="0" err="1"/>
              <a:t>persistentei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exemlifica</a:t>
            </a:r>
            <a:r>
              <a:rPr lang="en-US" dirty="0"/>
              <a:t> </a:t>
            </a:r>
            <a:r>
              <a:rPr lang="en-US" dirty="0" err="1"/>
              <a:t>actiuni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cu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proprietati</a:t>
            </a:r>
            <a:r>
              <a:rPr lang="en-US" dirty="0"/>
              <a:t>: </a:t>
            </a:r>
            <a:r>
              <a:rPr lang="en-US" b="1" dirty="0"/>
              <a:t>id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2jpaCs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de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: </a:t>
            </a:r>
            <a:r>
              <a:rPr lang="en-US" dirty="0" err="1"/>
              <a:t>angajat</a:t>
            </a:r>
            <a:r>
              <a:rPr lang="en-US" dirty="0"/>
              <a:t> (</a:t>
            </a:r>
            <a:r>
              <a:rPr lang="en-US" b="1" dirty="0"/>
              <a:t>Employee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Department</a:t>
            </a:r>
            <a:r>
              <a:rPr lang="en-US" dirty="0"/>
              <a:t> cu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b="1" dirty="0" err="1"/>
              <a:t>OneToMany</a:t>
            </a:r>
            <a:r>
              <a:rPr lang="en-US" dirty="0"/>
              <a:t> </a:t>
            </a:r>
            <a:r>
              <a:rPr lang="en-US" dirty="0" err="1"/>
              <a:t>bidirectionala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</p:txBody>
      </p:sp>
      <p:pic>
        <p:nvPicPr>
          <p:cNvPr id="8" name="Picture 5" descr="Unbenannt_43622330c57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829" y="2394985"/>
            <a:ext cx="4074189" cy="194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4343400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module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asemanatoare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deosebiri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un tip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persistate</a:t>
            </a:r>
            <a:r>
              <a:rPr lang="en-US" dirty="0"/>
              <a:t>, </a:t>
            </a:r>
            <a:r>
              <a:rPr lang="en-US" b="1" dirty="0" err="1"/>
              <a:t>2jpaCs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persistate</a:t>
            </a:r>
            <a:r>
              <a:rPr lang="en-US" dirty="0"/>
              <a:t>, cu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1:n</a:t>
            </a:r>
            <a:r>
              <a:rPr lang="en-US" dirty="0"/>
              <a:t> </a:t>
            </a:r>
            <a:r>
              <a:rPr lang="en-US" dirty="0" err="1"/>
              <a:t>bidirectionala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stablita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, in </a:t>
            </a:r>
            <a:r>
              <a:rPr lang="en-US" b="1" dirty="0" err="1"/>
              <a:t>2jpaCs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generata</a:t>
            </a:r>
            <a:r>
              <a:rPr lang="en-US" dirty="0"/>
              <a:t> automat.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26751"/>
            <a:ext cx="28765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99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20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-1" y="381000"/>
            <a:ext cx="914400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Obiecte</a:t>
            </a:r>
            <a:r>
              <a:rPr lang="en-US" b="1" dirty="0"/>
              <a:t> DTO</a:t>
            </a:r>
            <a:r>
              <a:rPr lang="en-US" dirty="0"/>
              <a:t> (Data Transfer Object). </a:t>
            </a:r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dirty="0" err="1"/>
              <a:t>EntityBean</a:t>
            </a:r>
            <a:r>
              <a:rPr lang="en-US" dirty="0"/>
              <a:t> </a:t>
            </a:r>
            <a:r>
              <a:rPr lang="en-US" b="1" dirty="0"/>
              <a:t>nu pot fi </a:t>
            </a:r>
            <a:r>
              <a:rPr lang="en-US" b="1" dirty="0" err="1"/>
              <a:t>transportate</a:t>
            </a:r>
            <a:r>
              <a:rPr lang="en-US" b="1" dirty="0"/>
              <a:t> remote!</a:t>
            </a:r>
            <a:r>
              <a:rPr lang="en-US" dirty="0"/>
              <a:t> Din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cauza</a:t>
            </a:r>
            <a:r>
              <a:rPr lang="en-US" dirty="0"/>
              <a:t>, se </a:t>
            </a:r>
            <a:r>
              <a:rPr lang="en-US" dirty="0" err="1"/>
              <a:t>construiesc</a:t>
            </a:r>
            <a:r>
              <a:rPr lang="en-US" dirty="0"/>
              <a:t> </a:t>
            </a:r>
            <a:r>
              <a:rPr lang="en-US" dirty="0" err="1"/>
              <a:t>niste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POJO</a:t>
            </a:r>
            <a:r>
              <a:rPr lang="en-US" dirty="0"/>
              <a:t>, </a:t>
            </a:r>
            <a:r>
              <a:rPr lang="en-US" dirty="0" err="1"/>
              <a:t>serializabile</a:t>
            </a:r>
            <a:r>
              <a:rPr lang="en-US" dirty="0"/>
              <a:t>, un </a:t>
            </a:r>
            <a:r>
              <a:rPr lang="en-US" dirty="0" err="1"/>
              <a:t>fel</a:t>
            </a:r>
            <a:r>
              <a:rPr lang="en-US" dirty="0"/>
              <a:t> de clone  (cu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continut</a:t>
            </a:r>
            <a:r>
              <a:rPr lang="en-US" dirty="0"/>
              <a:t>) ale </a:t>
            </a:r>
            <a:r>
              <a:rPr lang="en-US" dirty="0" err="1"/>
              <a:t>obiectelor</a:t>
            </a:r>
            <a:r>
              <a:rPr lang="en-US" dirty="0"/>
              <a:t> Entity Bean. </a:t>
            </a:r>
            <a:r>
              <a:rPr lang="en-US" dirty="0" err="1"/>
              <a:t>Acestea</a:t>
            </a:r>
            <a:r>
              <a:rPr lang="en-US" dirty="0"/>
              <a:t> 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transfer </a:t>
            </a:r>
            <a:r>
              <a:rPr lang="en-US" dirty="0" err="1"/>
              <a:t>intre</a:t>
            </a:r>
            <a:r>
              <a:rPr lang="en-US" dirty="0"/>
              <a:t> server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clientii</a:t>
            </a:r>
            <a:r>
              <a:rPr lang="en-US" dirty="0"/>
              <a:t> remote.</a:t>
            </a:r>
          </a:p>
          <a:p>
            <a:endParaRPr lang="en-US" b="1" dirty="0"/>
          </a:p>
          <a:p>
            <a:r>
              <a:rPr lang="en-US" b="1" dirty="0" err="1"/>
              <a:t>Interfetele</a:t>
            </a:r>
            <a:r>
              <a:rPr lang="en-US" dirty="0"/>
              <a:t>: Se </a:t>
            </a:r>
            <a:r>
              <a:rPr lang="en-US" dirty="0" err="1"/>
              <a:t>definesc</a:t>
            </a:r>
            <a:r>
              <a:rPr lang="en-US" dirty="0"/>
              <a:t> cate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interfete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remote (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din </a:t>
            </a:r>
            <a:r>
              <a:rPr lang="en-US" dirty="0" err="1"/>
              <a:t>urma</a:t>
            </a:r>
            <a:r>
              <a:rPr lang="en-US" dirty="0"/>
              <a:t> se </a:t>
            </a:r>
            <a:r>
              <a:rPr lang="en-US" dirty="0" err="1"/>
              <a:t>termina</a:t>
            </a:r>
            <a:r>
              <a:rPr lang="en-US" dirty="0"/>
              <a:t> in </a:t>
            </a:r>
            <a:r>
              <a:rPr lang="en-US" dirty="0" err="1"/>
              <a:t>exemplele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 cu </a:t>
            </a:r>
            <a:r>
              <a:rPr lang="en-US" b="1" dirty="0"/>
              <a:t>R</a:t>
            </a:r>
            <a:r>
              <a:rPr lang="en-US" dirty="0"/>
              <a:t>). </a:t>
            </a:r>
            <a:r>
              <a:rPr lang="en-US" dirty="0" err="1"/>
              <a:t>Interfetele</a:t>
            </a:r>
            <a:r>
              <a:rPr lang="en-US" dirty="0"/>
              <a:t> locale </a:t>
            </a:r>
            <a:r>
              <a:rPr lang="en-US" dirty="0" err="1"/>
              <a:t>utilizeaza</a:t>
            </a:r>
            <a:r>
              <a:rPr lang="en-US" dirty="0"/>
              <a:t> </a:t>
            </a:r>
            <a:r>
              <a:rPr lang="en-US" dirty="0" err="1"/>
              <a:t>obiectele</a:t>
            </a:r>
            <a:r>
              <a:rPr lang="en-US" dirty="0"/>
              <a:t> Entity Bean,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remote </a:t>
            </a:r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. Am </a:t>
            </a:r>
            <a:r>
              <a:rPr lang="en-US" dirty="0" err="1"/>
              <a:t>convenit</a:t>
            </a:r>
            <a:r>
              <a:rPr lang="en-US" dirty="0"/>
              <a:t> ca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metodelor</a:t>
            </a:r>
            <a:r>
              <a:rPr lang="en-US" dirty="0"/>
              <a:t> din </a:t>
            </a:r>
            <a:r>
              <a:rPr lang="en-US" dirty="0" err="1"/>
              <a:t>interfetele</a:t>
            </a:r>
            <a:r>
              <a:rPr lang="en-US" dirty="0"/>
              <a:t> remote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termine</a:t>
            </a:r>
            <a:r>
              <a:rPr lang="en-US" dirty="0"/>
              <a:t> cu </a:t>
            </a:r>
            <a:r>
              <a:rPr lang="en-US" b="1" dirty="0"/>
              <a:t>R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b="1" dirty="0"/>
              <a:t>Un bean session stateless</a:t>
            </a:r>
            <a:r>
              <a:rPr lang="en-US" dirty="0"/>
              <a:t>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perechea</a:t>
            </a:r>
            <a:r>
              <a:rPr lang="en-US" dirty="0"/>
              <a:t> de </a:t>
            </a:r>
            <a:r>
              <a:rPr lang="en-US" dirty="0" err="1"/>
              <a:t>interfete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. Se </a:t>
            </a:r>
            <a:r>
              <a:rPr lang="en-US" dirty="0" err="1"/>
              <a:t>declara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unitatii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, se </a:t>
            </a:r>
            <a:r>
              <a:rPr lang="en-US" dirty="0" err="1"/>
              <a:t>defineste</a:t>
            </a:r>
            <a:r>
              <a:rPr lang="en-US" dirty="0"/>
              <a:t> un </a:t>
            </a:r>
            <a:r>
              <a:rPr lang="en-US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conversia</a:t>
            </a:r>
            <a:r>
              <a:rPr lang="en-US" dirty="0"/>
              <a:t> </a:t>
            </a:r>
            <a:r>
              <a:rPr lang="en-US" dirty="0" err="1"/>
              <a:t>EntityBeans</a:t>
            </a:r>
            <a:r>
              <a:rPr lang="en-US" dirty="0"/>
              <a:t> la DTO-</a:t>
            </a:r>
            <a:r>
              <a:rPr lang="en-US" dirty="0" err="1"/>
              <a:t>urile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Important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portabilitatea</a:t>
            </a:r>
            <a:r>
              <a:rPr lang="en-US" b="1" dirty="0"/>
              <a:t> </a:t>
            </a:r>
            <a:r>
              <a:rPr lang="en-US" b="1" dirty="0" err="1"/>
              <a:t>intre</a:t>
            </a:r>
            <a:r>
              <a:rPr lang="en-US" b="1" dirty="0"/>
              <a:t> </a:t>
            </a:r>
            <a:r>
              <a:rPr lang="en-US" b="1" dirty="0" err="1"/>
              <a:t>WildFly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GlassFish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/>
              <a:t>persistence.xml</a:t>
            </a:r>
            <a:r>
              <a:rPr lang="en-US" dirty="0"/>
              <a:t> </a:t>
            </a:r>
            <a:r>
              <a:rPr lang="en-US" dirty="0" err="1"/>
              <a:t>difera</a:t>
            </a:r>
            <a:r>
              <a:rPr lang="en-US" dirty="0"/>
              <a:t> - 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comentariile</a:t>
            </a:r>
            <a:r>
              <a:rPr lang="en-US" dirty="0"/>
              <a:t> in </a:t>
            </a:r>
            <a:r>
              <a:rPr lang="en-US" dirty="0" err="1"/>
              <a:t>fisier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2jpaCs</a:t>
            </a:r>
            <a:r>
              <a:rPr lang="en-US" dirty="0"/>
              <a:t>, in care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automata a </a:t>
            </a:r>
            <a:r>
              <a:rPr lang="en-US" dirty="0" err="1"/>
              <a:t>cheii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diferente</a:t>
            </a:r>
            <a:r>
              <a:rPr lang="en-US" dirty="0"/>
              <a:t> la </a:t>
            </a:r>
            <a:r>
              <a:rPr lang="en-US" dirty="0" err="1"/>
              <a:t>adnotarea</a:t>
            </a:r>
            <a:r>
              <a:rPr lang="en-US" dirty="0"/>
              <a:t> @</a:t>
            </a:r>
            <a:r>
              <a:rPr lang="en-US" b="1" dirty="0" err="1"/>
              <a:t>GeneratedValue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initializarile</a:t>
            </a:r>
            <a:r>
              <a:rPr lang="en-US" dirty="0"/>
              <a:t> </a:t>
            </a:r>
            <a:r>
              <a:rPr lang="en-US" dirty="0" err="1"/>
              <a:t>cheilor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comentariile</a:t>
            </a:r>
            <a:r>
              <a:rPr lang="en-US" dirty="0"/>
              <a:t> in </a:t>
            </a:r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descriu</a:t>
            </a:r>
            <a:r>
              <a:rPr lang="en-US" dirty="0"/>
              <a:t>  @</a:t>
            </a:r>
            <a:r>
              <a:rPr lang="en-US" b="1" dirty="0"/>
              <a:t>Entity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6570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1jpaCs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3client1WF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3client1GF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3client1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5240" y="36671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modulEJB</a:t>
            </a:r>
            <a:r>
              <a:rPr lang="en-US" dirty="0"/>
              <a:t> </a:t>
            </a:r>
            <a:r>
              <a:rPr lang="en-US" dirty="0" err="1"/>
              <a:t>combinat</a:t>
            </a:r>
            <a:r>
              <a:rPr lang="en-US" dirty="0"/>
              <a:t> cu un servlet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apeleaza</a:t>
            </a:r>
            <a:r>
              <a:rPr lang="en-US" dirty="0"/>
              <a:t> in </a:t>
            </a:r>
            <a:r>
              <a:rPr lang="en-US" dirty="0" err="1"/>
              <a:t>regim</a:t>
            </a:r>
            <a:r>
              <a:rPr lang="en-US" dirty="0"/>
              <a:t> Local. </a:t>
            </a:r>
          </a:p>
          <a:p>
            <a:endParaRPr lang="en-US" dirty="0"/>
          </a:p>
          <a:p>
            <a:r>
              <a:rPr lang="en-US" dirty="0" err="1"/>
              <a:t>Modulul</a:t>
            </a:r>
            <a:r>
              <a:rPr lang="en-US" dirty="0"/>
              <a:t> </a:t>
            </a:r>
            <a:r>
              <a:rPr lang="en-US" dirty="0" err="1"/>
              <a:t>defineste</a:t>
            </a:r>
            <a:r>
              <a:rPr lang="en-US" dirty="0"/>
              <a:t>:</a:t>
            </a:r>
          </a:p>
          <a:p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b="1" dirty="0" err="1"/>
              <a:t>IdNameEnity</a:t>
            </a:r>
            <a:r>
              <a:rPr lang="en-US" dirty="0"/>
              <a:t> cu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campuri</a:t>
            </a:r>
            <a:r>
              <a:rPr lang="en-US" dirty="0"/>
              <a:t>: </a:t>
            </a:r>
            <a:r>
              <a:rPr lang="en-US" b="1" dirty="0"/>
              <a:t>id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name</a:t>
            </a:r>
            <a:r>
              <a:rPr lang="en-US" dirty="0"/>
              <a:t>. </a:t>
            </a:r>
          </a:p>
          <a:p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b="1" dirty="0" err="1"/>
              <a:t>IdNameBean</a:t>
            </a:r>
            <a:r>
              <a:rPr lang="en-US" dirty="0"/>
              <a:t> de tip Session </a:t>
            </a: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locale </a:t>
            </a:r>
            <a:r>
              <a:rPr lang="en-US" dirty="0" err="1"/>
              <a:t>si</a:t>
            </a:r>
            <a:r>
              <a:rPr lang="en-US" dirty="0"/>
              <a:t> remote: </a:t>
            </a:r>
            <a:r>
              <a:rPr lang="en-US" b="1" dirty="0"/>
              <a:t>find</a:t>
            </a:r>
            <a:r>
              <a:rPr lang="en-US" dirty="0"/>
              <a:t>, </a:t>
            </a:r>
            <a:r>
              <a:rPr lang="en-US" b="1" dirty="0" err="1"/>
              <a:t>findR</a:t>
            </a:r>
            <a:r>
              <a:rPr lang="en-US" dirty="0"/>
              <a:t>, </a:t>
            </a:r>
            <a:r>
              <a:rPr lang="en-US" b="1" dirty="0" err="1"/>
              <a:t>findAll</a:t>
            </a:r>
            <a:r>
              <a:rPr lang="en-US" dirty="0"/>
              <a:t>, </a:t>
            </a:r>
            <a:r>
              <a:rPr lang="en-US" b="1" dirty="0" err="1"/>
              <a:t>findAllR</a:t>
            </a:r>
            <a:r>
              <a:rPr lang="en-US" dirty="0"/>
              <a:t>, </a:t>
            </a:r>
            <a:r>
              <a:rPr lang="en-US" b="1" dirty="0"/>
              <a:t>cud</a:t>
            </a:r>
            <a:r>
              <a:rPr lang="en-US" dirty="0"/>
              <a:t> (Create, Update, Delete)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cudR</a:t>
            </a:r>
            <a:r>
              <a:rPr lang="en-US" dirty="0"/>
              <a:t>.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definite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interfetele</a:t>
            </a:r>
            <a:r>
              <a:rPr lang="en-US" dirty="0"/>
              <a:t> </a:t>
            </a:r>
            <a:r>
              <a:rPr lang="en-US" b="1" dirty="0" err="1"/>
              <a:t>IdName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IdNameR</a:t>
            </a:r>
            <a:r>
              <a:rPr lang="en-US" dirty="0"/>
              <a:t>.</a:t>
            </a:r>
          </a:p>
          <a:p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b="1" dirty="0" err="1"/>
              <a:t>IdNameDTO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copii</a:t>
            </a:r>
            <a:r>
              <a:rPr lang="en-US" dirty="0"/>
              <a:t> </a:t>
            </a:r>
            <a:r>
              <a:rPr lang="en-US" dirty="0" err="1"/>
              <a:t>serializabile</a:t>
            </a:r>
            <a:r>
              <a:rPr lang="en-US" dirty="0"/>
              <a:t> ale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transfer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remote.</a:t>
            </a:r>
          </a:p>
          <a:p>
            <a:r>
              <a:rPr lang="en-US" b="1" dirty="0" err="1"/>
              <a:t>ServletClient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locale ale </a:t>
            </a:r>
            <a:r>
              <a:rPr lang="en-US" dirty="0" err="1"/>
              <a:t>beanului</a:t>
            </a:r>
            <a:r>
              <a:rPr lang="en-US" dirty="0"/>
              <a:t> session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raspunsurile</a:t>
            </a:r>
            <a:r>
              <a:rPr lang="en-US" dirty="0"/>
              <a:t> sub forma de text.</a:t>
            </a:r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asigurarea</a:t>
            </a:r>
            <a:r>
              <a:rPr lang="en-US" dirty="0"/>
              <a:t> </a:t>
            </a:r>
            <a:r>
              <a:rPr lang="en-US" dirty="0" err="1"/>
              <a:t>persistentei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cinci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definesc</a:t>
            </a:r>
            <a:r>
              <a:rPr lang="en-US" dirty="0"/>
              <a:t> DB de </a:t>
            </a:r>
            <a:r>
              <a:rPr lang="en-US" dirty="0" err="1"/>
              <a:t>persistenta</a:t>
            </a:r>
            <a:r>
              <a:rPr lang="en-US" dirty="0"/>
              <a:t>: </a:t>
            </a:r>
            <a:r>
              <a:rPr lang="en-US" dirty="0" err="1"/>
              <a:t>folosind</a:t>
            </a:r>
            <a:r>
              <a:rPr lang="en-US" dirty="0"/>
              <a:t> DB </a:t>
            </a:r>
            <a:r>
              <a:rPr lang="en-US" dirty="0" err="1"/>
              <a:t>implicite</a:t>
            </a:r>
            <a:r>
              <a:rPr lang="en-US" dirty="0"/>
              <a:t> din WF </a:t>
            </a:r>
            <a:r>
              <a:rPr lang="en-US" dirty="0" err="1"/>
              <a:t>si</a:t>
            </a:r>
            <a:r>
              <a:rPr lang="en-US" dirty="0"/>
              <a:t> GF, </a:t>
            </a:r>
            <a:r>
              <a:rPr lang="en-US" dirty="0" err="1"/>
              <a:t>configurand</a:t>
            </a:r>
            <a:r>
              <a:rPr lang="en-US" dirty="0"/>
              <a:t> WF </a:t>
            </a:r>
            <a:r>
              <a:rPr lang="en-US" dirty="0" err="1"/>
              <a:t>si</a:t>
            </a:r>
            <a:r>
              <a:rPr lang="en-US" dirty="0"/>
              <a:t> GF cu </a:t>
            </a:r>
            <a:r>
              <a:rPr lang="en-US" dirty="0" err="1"/>
              <a:t>Datasource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en-US" dirty="0" err="1"/>
              <a:t>MySql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WF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a </a:t>
            </a:r>
            <a:r>
              <a:rPr lang="en-US" dirty="0" err="1"/>
              <a:t>configura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  (cu </a:t>
            </a:r>
            <a:r>
              <a:rPr lang="en-US" dirty="0" err="1"/>
              <a:t>Datasource</a:t>
            </a:r>
            <a:r>
              <a:rPr lang="en-US" dirty="0"/>
              <a:t> specific). </a:t>
            </a:r>
            <a:r>
              <a:rPr lang="en-US" dirty="0" err="1"/>
              <a:t>Pana</a:t>
            </a:r>
            <a:r>
              <a:rPr lang="en-US" dirty="0"/>
              <a:t> in </a:t>
            </a:r>
            <a:r>
              <a:rPr lang="en-US" dirty="0" err="1"/>
              <a:t>prezent</a:t>
            </a:r>
            <a:r>
              <a:rPr lang="en-US" dirty="0"/>
              <a:t>, nu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similar </a:t>
            </a:r>
            <a:r>
              <a:rPr lang="en-US" dirty="0" err="1"/>
              <a:t>pentru</a:t>
            </a:r>
            <a:r>
              <a:rPr lang="en-US" dirty="0"/>
              <a:t> GF.</a:t>
            </a:r>
          </a:p>
          <a:p>
            <a:endParaRPr lang="en-US" b="1" dirty="0"/>
          </a:p>
          <a:p>
            <a:r>
              <a:rPr lang="en-US" b="1" dirty="0" err="1"/>
              <a:t>3client1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program standalone care </a:t>
            </a:r>
            <a:r>
              <a:rPr lang="en-US" dirty="0" err="1"/>
              <a:t>apeleaza</a:t>
            </a:r>
            <a:r>
              <a:rPr lang="en-US" dirty="0"/>
              <a:t> din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b="1" dirty="0" err="1"/>
              <a:t>ServletClient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b="1" dirty="0" err="1"/>
              <a:t>HttpURLConnection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locale ale modulului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raspunsurile</a:t>
            </a:r>
            <a:r>
              <a:rPr lang="en-US" dirty="0"/>
              <a:t>.</a:t>
            </a:r>
            <a:endParaRPr lang="en-US" b="1" dirty="0"/>
          </a:p>
          <a:p>
            <a:endParaRPr lang="en-US" dirty="0"/>
          </a:p>
          <a:p>
            <a:r>
              <a:rPr lang="en-US" b="1" dirty="0" err="1"/>
              <a:t>3client1WF</a:t>
            </a:r>
            <a:r>
              <a:rPr lang="en-US" b="1" dirty="0"/>
              <a:t> </a:t>
            </a:r>
            <a:r>
              <a:rPr lang="en-US" b="1" dirty="0" err="1"/>
              <a:t>3client1GF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programe</a:t>
            </a:r>
            <a:r>
              <a:rPr lang="en-US" dirty="0"/>
              <a:t> standalone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JNDI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remote ale modulului </a:t>
            </a:r>
            <a:r>
              <a:rPr lang="en-US" dirty="0" err="1"/>
              <a:t>EJB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04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2jpaCs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5240" y="366713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2jpaCs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modulEJB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WF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b="1" dirty="0" err="1"/>
              <a:t>DepartmentEntity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EmployeeEntity</a:t>
            </a:r>
            <a:r>
              <a:rPr lang="en-US" dirty="0"/>
              <a:t>, cu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OneToMany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 Este </a:t>
            </a:r>
            <a:r>
              <a:rPr lang="en-US" dirty="0" err="1"/>
              <a:t>combinat</a:t>
            </a:r>
            <a:r>
              <a:rPr lang="en-US" dirty="0"/>
              <a:t> cu un servlet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apeleaza</a:t>
            </a:r>
            <a:r>
              <a:rPr lang="en-US" dirty="0"/>
              <a:t> in </a:t>
            </a:r>
            <a:r>
              <a:rPr lang="en-US" dirty="0" err="1"/>
              <a:t>regim</a:t>
            </a:r>
            <a:r>
              <a:rPr lang="en-US" dirty="0"/>
              <a:t> Local. </a:t>
            </a:r>
          </a:p>
          <a:p>
            <a:endParaRPr lang="en-US" dirty="0"/>
          </a:p>
          <a:p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in </a:t>
            </a:r>
            <a:r>
              <a:rPr lang="en-US" dirty="0" err="1"/>
              <a:t>pachetele</a:t>
            </a:r>
            <a:r>
              <a:rPr lang="en-US" dirty="0"/>
              <a:t> </a:t>
            </a:r>
            <a:r>
              <a:rPr lang="en-US" b="1" dirty="0" err="1"/>
              <a:t>p.interfaces</a:t>
            </a:r>
            <a:r>
              <a:rPr lang="en-US" dirty="0"/>
              <a:t>, </a:t>
            </a:r>
            <a:r>
              <a:rPr lang="en-US" b="1" dirty="0" err="1"/>
              <a:t>p.dtos</a:t>
            </a:r>
            <a:r>
              <a:rPr lang="en-US" b="1" dirty="0"/>
              <a:t>, </a:t>
            </a:r>
            <a:r>
              <a:rPr lang="en-US" b="1" dirty="0" err="1"/>
              <a:t>p.entities</a:t>
            </a:r>
            <a:r>
              <a:rPr lang="en-US" b="1" dirty="0"/>
              <a:t>, </a:t>
            </a:r>
            <a:r>
              <a:rPr lang="en-US" b="1" dirty="0" err="1"/>
              <a:t>p.beans</a:t>
            </a:r>
            <a:r>
              <a:rPr lang="en-US" b="1" dirty="0"/>
              <a:t>, </a:t>
            </a:r>
            <a:r>
              <a:rPr lang="en-US" b="1" dirty="0" err="1"/>
              <a:t>p.clients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 err="1"/>
              <a:t>dtos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sursele</a:t>
            </a:r>
            <a:r>
              <a:rPr lang="en-US" dirty="0"/>
              <a:t> DTO </a:t>
            </a:r>
            <a:r>
              <a:rPr lang="en-US" dirty="0" err="1"/>
              <a:t>pentru</a:t>
            </a:r>
            <a:r>
              <a:rPr lang="en-US" dirty="0"/>
              <a:t> Department </a:t>
            </a:r>
            <a:r>
              <a:rPr lang="en-US" dirty="0" err="1"/>
              <a:t>si</a:t>
            </a:r>
            <a:r>
              <a:rPr lang="en-US" dirty="0"/>
              <a:t> Employee.</a:t>
            </a:r>
          </a:p>
          <a:p>
            <a:endParaRPr lang="en-US" dirty="0"/>
          </a:p>
          <a:p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 </a:t>
            </a:r>
            <a:r>
              <a:rPr lang="en-US" b="1" dirty="0"/>
              <a:t>Facade</a:t>
            </a:r>
            <a:r>
              <a:rPr lang="en-US" dirty="0"/>
              <a:t>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Entity, cat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DTO.</a:t>
            </a:r>
          </a:p>
          <a:p>
            <a:endParaRPr lang="en-US" dirty="0"/>
          </a:p>
          <a:p>
            <a:r>
              <a:rPr lang="en-US" dirty="0" err="1"/>
              <a:t>Interfata</a:t>
            </a:r>
            <a:r>
              <a:rPr lang="en-US" dirty="0"/>
              <a:t> remote </a:t>
            </a:r>
            <a:r>
              <a:rPr lang="en-US" b="1" dirty="0" err="1"/>
              <a:t>FacadeR</a:t>
            </a:r>
            <a:r>
              <a:rPr lang="en-US" dirty="0"/>
              <a:t>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DTO. </a:t>
            </a:r>
            <a:r>
              <a:rPr lang="en-US" dirty="0" err="1"/>
              <a:t>Pe</a:t>
            </a:r>
            <a:r>
              <a:rPr lang="en-US" dirty="0"/>
              <a:t> moment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folosita</a:t>
            </a:r>
            <a:r>
              <a:rPr lang="en-US" dirty="0"/>
              <a:t>, </a:t>
            </a:r>
            <a:r>
              <a:rPr lang="en-US" dirty="0" err="1"/>
              <a:t>lasam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</a:t>
            </a:r>
            <a:r>
              <a:rPr lang="en-US" dirty="0" err="1"/>
              <a:t>cititorului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JNDI care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interfata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b="1" dirty="0" err="1"/>
              <a:t>p.clients</a:t>
            </a:r>
            <a:r>
              <a:rPr lang="en-US" dirty="0"/>
              <a:t> are </a:t>
            </a:r>
            <a:r>
              <a:rPr lang="en-US" dirty="0" err="1"/>
              <a:t>pe</a:t>
            </a:r>
            <a:r>
              <a:rPr lang="en-US" dirty="0"/>
              <a:t> moment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b="1" dirty="0" err="1"/>
              <a:t>ServerClient</a:t>
            </a:r>
            <a:r>
              <a:rPr lang="en-US" dirty="0"/>
              <a:t> 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un Department </a:t>
            </a:r>
            <a:r>
              <a:rPr lang="en-US" dirty="0" err="1"/>
              <a:t>sau</a:t>
            </a:r>
            <a:r>
              <a:rPr lang="en-US" dirty="0"/>
              <a:t> un Employee, </a:t>
            </a:r>
            <a:r>
              <a:rPr lang="en-US" dirty="0" err="1"/>
              <a:t>dupa</a:t>
            </a:r>
            <a:r>
              <a:rPr lang="en-US" dirty="0"/>
              <a:t> care </a:t>
            </a:r>
            <a:r>
              <a:rPr lang="en-US" dirty="0" err="1"/>
              <a:t>afiseaza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departamentelor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angajatilor</a:t>
            </a:r>
            <a:r>
              <a:rPr lang="en-US" dirty="0"/>
              <a:t>.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 Façade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injectata</a:t>
            </a:r>
            <a:r>
              <a:rPr lang="en-US" dirty="0"/>
              <a:t> in el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b="1" dirty="0"/>
              <a:t>@EJB</a:t>
            </a:r>
            <a:r>
              <a:rPr lang="en-US" dirty="0"/>
              <a:t>. Se </a:t>
            </a:r>
            <a:r>
              <a:rPr lang="en-US" dirty="0" err="1"/>
              <a:t>lanseaza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>
                <a:hlinkClick r:id="rId3"/>
              </a:rPr>
              <a:t>http://</a:t>
            </a:r>
            <a:r>
              <a:rPr lang="en-US" b="1" dirty="0" err="1">
                <a:hlinkClick r:id="rId3"/>
              </a:rPr>
              <a:t>adresa:8080</a:t>
            </a:r>
            <a:r>
              <a:rPr lang="en-US" b="1" dirty="0">
                <a:hlinkClick r:id="rId3"/>
              </a:rPr>
              <a:t>/</a:t>
            </a:r>
            <a:r>
              <a:rPr lang="en-US" b="1" dirty="0" err="1">
                <a:hlinkClick r:id="rId3"/>
              </a:rPr>
              <a:t>2jpaCs</a:t>
            </a:r>
            <a:r>
              <a:rPr lang="en-US" b="1" dirty="0">
                <a:hlinkClick r:id="rId3"/>
              </a:rPr>
              <a:t>/client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extins</a:t>
            </a:r>
            <a:r>
              <a:rPr lang="en-US" dirty="0"/>
              <a:t> cu </a:t>
            </a:r>
            <a:r>
              <a:rPr lang="en-US" dirty="0" err="1"/>
              <a:t>partea</a:t>
            </a:r>
            <a:r>
              <a:rPr lang="en-US" dirty="0"/>
              <a:t> de view in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variante</a:t>
            </a:r>
            <a:r>
              <a:rPr lang="en-US" dirty="0"/>
              <a:t>: JSP, JSF, Spring </a:t>
            </a:r>
          </a:p>
        </p:txBody>
      </p:sp>
    </p:spTree>
    <p:extLst>
      <p:ext uri="{BB962C8B-B14F-4D97-AF65-F5344CB8AC3E}">
        <p14:creationId xmlns:p14="http://schemas.microsoft.com/office/powerpoint/2010/main" val="1303627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5.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2jpaCs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comparatie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EJB30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EJB21 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versiune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ant)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4550" y="376225"/>
            <a:ext cx="9148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b="1" dirty="0" err="1"/>
              <a:t>4ant_EJB30vsEJB2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prezentat</a:t>
            </a:r>
            <a:r>
              <a:rPr lang="en-US" dirty="0"/>
              <a:t> un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, similar cu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definit</a:t>
            </a:r>
            <a:r>
              <a:rPr lang="en-US" dirty="0"/>
              <a:t> in </a:t>
            </a:r>
            <a:r>
              <a:rPr lang="en-US" b="1" dirty="0" err="1"/>
              <a:t>e2jpaCs</a:t>
            </a:r>
            <a:r>
              <a:rPr lang="en-US" dirty="0"/>
              <a:t>. </a:t>
            </a:r>
            <a:r>
              <a:rPr lang="en-US" dirty="0" err="1"/>
              <a:t>Implementarile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,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b="1" dirty="0"/>
              <a:t>ant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implementarile</a:t>
            </a:r>
            <a:r>
              <a:rPr lang="en-US" dirty="0"/>
              <a:t> EJB30 (</a:t>
            </a:r>
            <a:r>
              <a:rPr lang="en-US" dirty="0" err="1"/>
              <a:t>apropiata</a:t>
            </a:r>
            <a:r>
              <a:rPr lang="en-US" dirty="0"/>
              <a:t> de EJB32) </a:t>
            </a:r>
            <a:r>
              <a:rPr lang="en-US" dirty="0" err="1"/>
              <a:t>si</a:t>
            </a:r>
            <a:r>
              <a:rPr lang="en-US" dirty="0"/>
              <a:t> EJB21. </a:t>
            </a:r>
            <a:r>
              <a:rPr lang="en-US" dirty="0" err="1"/>
              <a:t>Compararea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texte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claritate</a:t>
            </a:r>
            <a:r>
              <a:rPr lang="en-US" dirty="0"/>
              <a:t> a </a:t>
            </a:r>
            <a:r>
              <a:rPr lang="en-US" dirty="0" err="1"/>
              <a:t>enunturilor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:</a:t>
            </a:r>
            <a:endParaRPr lang="en-US" b="1" dirty="0"/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152400" y="1904999"/>
            <a:ext cx="4038600" cy="2703513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ro-RO" sz="3200" dirty="0" err="1"/>
              <a:t>Varianta</a:t>
            </a:r>
            <a:r>
              <a:rPr lang="en-US" altLang="ro-RO" sz="3200" dirty="0"/>
              <a:t> </a:t>
            </a:r>
            <a:r>
              <a:rPr lang="en-US" altLang="ro-RO" sz="3200" dirty="0" err="1"/>
              <a:t>EJB3.0</a:t>
            </a:r>
            <a:r>
              <a:rPr lang="en-US" altLang="ro-RO" sz="3200" dirty="0"/>
              <a:t>: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/>
              <a:t>   5 </a:t>
            </a:r>
            <a:r>
              <a:rPr lang="en-US" altLang="ro-RO" sz="3200" dirty="0" err="1"/>
              <a:t>fisiere</a:t>
            </a:r>
            <a:r>
              <a:rPr lang="en-US" altLang="ro-RO" sz="3200" dirty="0"/>
              <a:t> java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/>
              <a:t>   1 </a:t>
            </a:r>
            <a:r>
              <a:rPr lang="en-US" altLang="ro-RO" sz="3200" dirty="0" err="1"/>
              <a:t>fisier</a:t>
            </a:r>
            <a:r>
              <a:rPr lang="en-US" altLang="ro-RO" sz="3200" dirty="0"/>
              <a:t> xml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/>
              <a:t>   164 </a:t>
            </a:r>
            <a:r>
              <a:rPr lang="en-US" altLang="ro-RO" sz="3200" dirty="0" err="1"/>
              <a:t>linii</a:t>
            </a:r>
            <a:r>
              <a:rPr lang="en-US" altLang="ro-RO" sz="3200" dirty="0"/>
              <a:t> </a:t>
            </a:r>
            <a:r>
              <a:rPr lang="en-US" altLang="ro-RO" sz="3200" dirty="0" err="1"/>
              <a:t>sursa</a:t>
            </a:r>
            <a:endParaRPr lang="en-US" altLang="ro-RO" sz="3200" dirty="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648200" y="1905000"/>
            <a:ext cx="4495799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ro-RO" sz="3200" dirty="0" err="1">
                <a:latin typeface="Arial" charset="0"/>
              </a:rPr>
              <a:t>Varianta</a:t>
            </a:r>
            <a:r>
              <a:rPr lang="en-US" altLang="ro-RO" sz="3200" dirty="0">
                <a:latin typeface="Arial" charset="0"/>
              </a:rPr>
              <a:t> EJB2.1: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10 </a:t>
            </a:r>
            <a:r>
              <a:rPr lang="en-US" altLang="ro-RO" sz="3200" dirty="0" err="1">
                <a:latin typeface="Arial" charset="0"/>
              </a:rPr>
              <a:t>fisiere</a:t>
            </a:r>
            <a:r>
              <a:rPr lang="en-US" altLang="ro-RO" sz="3200" dirty="0">
                <a:latin typeface="Arial" charset="0"/>
              </a:rPr>
              <a:t> java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3 </a:t>
            </a:r>
            <a:r>
              <a:rPr lang="en-US" altLang="ro-RO" sz="3200" dirty="0" err="1">
                <a:latin typeface="Arial" charset="0"/>
              </a:rPr>
              <a:t>fisiere</a:t>
            </a:r>
            <a:r>
              <a:rPr lang="en-US" altLang="ro-RO" sz="3200" dirty="0">
                <a:latin typeface="Arial" charset="0"/>
              </a:rPr>
              <a:t> xml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441 </a:t>
            </a:r>
            <a:r>
              <a:rPr lang="en-US" altLang="ro-RO" sz="3200" dirty="0" err="1">
                <a:latin typeface="Arial" charset="0"/>
              </a:rPr>
              <a:t>linii</a:t>
            </a:r>
            <a:r>
              <a:rPr lang="en-US" altLang="ro-RO" sz="3200" dirty="0">
                <a:latin typeface="Arial" charset="0"/>
              </a:rPr>
              <a:t> </a:t>
            </a:r>
            <a:r>
              <a:rPr lang="en-US" altLang="ro-RO" sz="3200" dirty="0" err="1">
                <a:latin typeface="Arial" charset="0"/>
              </a:rPr>
              <a:t>sursa</a:t>
            </a:r>
            <a:endParaRPr lang="en-US" altLang="ro-RO" sz="3200" dirty="0">
              <a:latin typeface="Arial" charset="0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1143000" y="4829334"/>
            <a:ext cx="609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 b="1" dirty="0" err="1">
                <a:solidFill>
                  <a:srgbClr val="FF0000"/>
                </a:solidFill>
              </a:rPr>
              <a:t>Vezi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sursele</a:t>
            </a:r>
            <a:r>
              <a:rPr lang="en-US" altLang="en-US" sz="2400" b="1" dirty="0">
                <a:solidFill>
                  <a:srgbClr val="FF0000"/>
                </a:solidFill>
              </a:rPr>
              <a:t> la: Example30 </a:t>
            </a:r>
            <a:r>
              <a:rPr lang="en-US" altLang="en-US" sz="2400" b="1" dirty="0" err="1">
                <a:solidFill>
                  <a:srgbClr val="FF0000"/>
                </a:solidFill>
              </a:rPr>
              <a:t>si</a:t>
            </a:r>
            <a:r>
              <a:rPr lang="en-US" altLang="en-US" sz="2400" b="1" dirty="0">
                <a:solidFill>
                  <a:srgbClr val="FF0000"/>
                </a:solidFill>
              </a:rPr>
              <a:t> Example21</a:t>
            </a:r>
            <a:endParaRPr lang="ro-RO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102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alta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decat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default)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(1/6)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Instalarea</a:t>
            </a:r>
            <a:r>
              <a:rPr lang="en-US" dirty="0"/>
              <a:t>  </a:t>
            </a:r>
            <a:r>
              <a:rPr lang="en-US" b="1" dirty="0" err="1"/>
              <a:t>DataSources</a:t>
            </a:r>
            <a:r>
              <a:rPr lang="en-US" b="1" dirty="0"/>
              <a:t> (DS)</a:t>
            </a:r>
            <a:r>
              <a:rPr lang="en-US" dirty="0"/>
              <a:t> se face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realizata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SGBD</a:t>
            </a:r>
            <a:r>
              <a:rPr lang="en-US" dirty="0"/>
              <a:t> </a:t>
            </a:r>
            <a:r>
              <a:rPr lang="en-US" dirty="0" err="1"/>
              <a:t>dorit</a:t>
            </a:r>
            <a:r>
              <a:rPr lang="en-US" dirty="0"/>
              <a:t> de user, nu </a:t>
            </a:r>
            <a:r>
              <a:rPr lang="en-US" dirty="0" err="1"/>
              <a:t>neaparat</a:t>
            </a:r>
            <a:r>
              <a:rPr lang="en-US" dirty="0"/>
              <a:t> in </a:t>
            </a:r>
            <a:r>
              <a:rPr lang="en-US" dirty="0" err="1"/>
              <a:t>cel</a:t>
            </a:r>
            <a:r>
              <a:rPr lang="en-US" dirty="0"/>
              <a:t> default al AS. Se </a:t>
            </a:r>
            <a:r>
              <a:rPr lang="en-US" dirty="0" err="1"/>
              <a:t>recomanda</a:t>
            </a:r>
            <a:r>
              <a:rPr lang="en-US" dirty="0"/>
              <a:t> ca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operatie</a:t>
            </a:r>
            <a:r>
              <a:rPr lang="en-US" dirty="0"/>
              <a:t> a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i="1" dirty="0" err="1"/>
              <a:t>imediat</a:t>
            </a:r>
            <a:r>
              <a:rPr lang="en-US" i="1" dirty="0"/>
              <a:t> </a:t>
            </a:r>
            <a:r>
              <a:rPr lang="en-US" i="1" dirty="0" err="1"/>
              <a:t>dupa</a:t>
            </a:r>
            <a:r>
              <a:rPr lang="en-US" i="1" dirty="0"/>
              <a:t> </a:t>
            </a:r>
            <a:r>
              <a:rPr lang="en-US" i="1" dirty="0" err="1"/>
              <a:t>instalarea</a:t>
            </a:r>
            <a:r>
              <a:rPr lang="en-US" i="1" dirty="0"/>
              <a:t> </a:t>
            </a:r>
            <a:r>
              <a:rPr lang="en-US" i="1" dirty="0" err="1"/>
              <a:t>wildfly</a:t>
            </a:r>
            <a:r>
              <a:rPr lang="en-US" dirty="0"/>
              <a:t> (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dezarhivarea</a:t>
            </a:r>
            <a:r>
              <a:rPr lang="en-US" dirty="0"/>
              <a:t> </a:t>
            </a:r>
            <a:r>
              <a:rPr lang="en-US" b="1" dirty="0"/>
              <a:t>wildfly-*.zip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director </a:t>
            </a:r>
            <a:r>
              <a:rPr lang="en-US" dirty="0" err="1"/>
              <a:t>indicat</a:t>
            </a:r>
            <a:r>
              <a:rPr lang="en-US" dirty="0"/>
              <a:t> de </a:t>
            </a:r>
            <a:r>
              <a:rPr lang="en-US" dirty="0" err="1"/>
              <a:t>variabila</a:t>
            </a:r>
            <a:r>
              <a:rPr lang="en-US" dirty="0"/>
              <a:t> de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b="1" dirty="0"/>
              <a:t>JBOSS_HOME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/>
              <a:t>instalarii</a:t>
            </a:r>
            <a:r>
              <a:rPr lang="en-US" dirty="0"/>
              <a:t> DS,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compara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cu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instalarii</a:t>
            </a:r>
            <a:r>
              <a:rPr lang="en-US" dirty="0"/>
              <a:t> DS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nevoie</a:t>
            </a:r>
            <a:r>
              <a:rPr lang="en-US" dirty="0"/>
              <a:t> se </a:t>
            </a:r>
            <a:r>
              <a:rPr lang="en-US" dirty="0" err="1"/>
              <a:t>reia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instalare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instalate</a:t>
            </a:r>
            <a:r>
              <a:rPr lang="en-US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conector</a:t>
            </a:r>
            <a:r>
              <a:rPr lang="en-US" dirty="0"/>
              <a:t> </a:t>
            </a:r>
            <a:r>
              <a:rPr lang="en-US" dirty="0" err="1"/>
              <a:t>JDBC</a:t>
            </a:r>
            <a:r>
              <a:rPr lang="en-US" dirty="0"/>
              <a:t>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driver,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datasources</a:t>
            </a:r>
            <a:r>
              <a:rPr lang="en-US" dirty="0"/>
              <a:t>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Instalarea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facuta</a:t>
            </a:r>
            <a:r>
              <a:rPr lang="en-US" dirty="0"/>
              <a:t>: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Operand cu </a:t>
            </a:r>
            <a:r>
              <a:rPr lang="en-US" dirty="0" err="1"/>
              <a:t>utilitarul</a:t>
            </a:r>
            <a:r>
              <a:rPr lang="en-US" dirty="0"/>
              <a:t> </a:t>
            </a:r>
            <a:r>
              <a:rPr lang="en-US" b="1" dirty="0" err="1"/>
              <a:t>jboss</a:t>
            </a:r>
            <a:r>
              <a:rPr lang="en-US" b="1" dirty="0"/>
              <a:t>-cli</a:t>
            </a:r>
            <a:r>
              <a:rPr lang="en-US" dirty="0"/>
              <a:t> la </a:t>
            </a:r>
            <a:r>
              <a:rPr lang="en-US" dirty="0" err="1"/>
              <a:t>linia</a:t>
            </a:r>
            <a:r>
              <a:rPr lang="en-US" dirty="0"/>
              <a:t> de </a:t>
            </a:r>
            <a:r>
              <a:rPr lang="en-US" dirty="0" err="1"/>
              <a:t>comanda</a:t>
            </a:r>
            <a:r>
              <a:rPr lang="en-US" dirty="0"/>
              <a:t>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consolei</a:t>
            </a:r>
            <a:r>
              <a:rPr lang="en-US" dirty="0"/>
              <a:t> web </a:t>
            </a:r>
            <a:r>
              <a:rPr lang="en-US" dirty="0" err="1"/>
              <a:t>WildFly</a:t>
            </a:r>
            <a:r>
              <a:rPr lang="en-US" dirty="0"/>
              <a:t>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detalia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1. In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priveste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2,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pornirea</a:t>
            </a:r>
            <a:r>
              <a:rPr lang="en-US" dirty="0"/>
              <a:t> AS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intai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un user (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utilitarul</a:t>
            </a:r>
            <a:r>
              <a:rPr lang="en-US" dirty="0"/>
              <a:t> add-user). </a:t>
            </a:r>
            <a:r>
              <a:rPr lang="en-US" dirty="0" err="1"/>
              <a:t>Apoi</a:t>
            </a:r>
            <a:r>
              <a:rPr lang="en-US" dirty="0"/>
              <a:t> se </a:t>
            </a:r>
            <a:r>
              <a:rPr lang="en-US" dirty="0" err="1"/>
              <a:t>lanseaza</a:t>
            </a:r>
            <a:r>
              <a:rPr lang="en-US" dirty="0"/>
              <a:t> in browser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localhost:9990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care se </a:t>
            </a:r>
            <a:r>
              <a:rPr lang="en-US" dirty="0" err="1"/>
              <a:t>urmareste</a:t>
            </a:r>
            <a:r>
              <a:rPr lang="en-US" dirty="0"/>
              <a:t> </a:t>
            </a:r>
            <a:r>
              <a:rPr lang="en-US" dirty="0" err="1"/>
              <a:t>dialogul</a:t>
            </a:r>
            <a:r>
              <a:rPr lang="en-US" dirty="0"/>
              <a:t> </a:t>
            </a:r>
            <a:r>
              <a:rPr lang="en-US" dirty="0" err="1"/>
              <a:t>corespunzator</a:t>
            </a:r>
            <a:r>
              <a:rPr lang="en-US" dirty="0"/>
              <a:t> </a:t>
            </a:r>
            <a:r>
              <a:rPr lang="en-US" dirty="0" err="1"/>
              <a:t>definirii</a:t>
            </a:r>
            <a:r>
              <a:rPr lang="en-US" dirty="0"/>
              <a:t> DS. </a:t>
            </a:r>
            <a:r>
              <a:rPr lang="en-US" dirty="0" err="1"/>
              <a:t>Lasam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</a:t>
            </a:r>
            <a:r>
              <a:rPr lang="en-US" dirty="0" err="1"/>
              <a:t>userului</a:t>
            </a:r>
            <a:r>
              <a:rPr lang="en-US" dirty="0"/>
              <a:t> . . 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continuare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exemplificam</a:t>
            </a:r>
            <a:r>
              <a:rPr lang="en-US" dirty="0">
                <a:solidFill>
                  <a:srgbClr val="FF0000"/>
                </a:solidFill>
              </a:rPr>
              <a:t> DS </a:t>
            </a:r>
            <a:r>
              <a:rPr lang="en-US" dirty="0" err="1">
                <a:solidFill>
                  <a:srgbClr val="FF0000"/>
                </a:solidFill>
              </a:rPr>
              <a:t>pentru</a:t>
            </a:r>
            <a:r>
              <a:rPr lang="en-US" dirty="0">
                <a:solidFill>
                  <a:srgbClr val="FF0000"/>
                </a:solidFill>
              </a:rPr>
              <a:t> MySQL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25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(2/6)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Download java </a:t>
            </a:r>
            <a:r>
              <a:rPr lang="en-US" dirty="0" err="1"/>
              <a:t>jdbc</a:t>
            </a:r>
            <a:r>
              <a:rPr lang="en-US" dirty="0"/>
              <a:t> connector </a:t>
            </a:r>
            <a:r>
              <a:rPr lang="en-US" dirty="0" err="1"/>
              <a:t>mysql</a:t>
            </a:r>
            <a:r>
              <a:rPr lang="en-US" dirty="0"/>
              <a:t>: </a:t>
            </a:r>
            <a:r>
              <a:rPr lang="en-US" b="1" dirty="0"/>
              <a:t>mysql-connector-java-*.zip </a:t>
            </a:r>
            <a:r>
              <a:rPr lang="en-US" dirty="0"/>
              <a:t>(</a:t>
            </a:r>
            <a:r>
              <a:rPr lang="en-US" dirty="0" err="1"/>
              <a:t>azi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. 5.1.48),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b="1" dirty="0"/>
              <a:t>mysql-connector-java-*.jar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se </a:t>
            </a:r>
            <a:r>
              <a:rPr lang="en-US" dirty="0" err="1"/>
              <a:t>schimba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/>
              <a:t>mysql-connector-java.jar</a:t>
            </a:r>
            <a:r>
              <a:rPr lang="en-US" dirty="0"/>
              <a:t>. </a:t>
            </a:r>
            <a:r>
              <a:rPr lang="en-US" dirty="0" err="1"/>
              <a:t>Acesta</a:t>
            </a:r>
            <a:r>
              <a:rPr lang="en-US" dirty="0"/>
              <a:t> se </a:t>
            </a:r>
            <a:r>
              <a:rPr lang="en-US" dirty="0" err="1"/>
              <a:t>depune</a:t>
            </a:r>
            <a:r>
              <a:rPr lang="en-US" dirty="0"/>
              <a:t> in </a:t>
            </a:r>
            <a:r>
              <a:rPr lang="en-US" b="1" dirty="0"/>
              <a:t>$</a:t>
            </a:r>
            <a:r>
              <a:rPr lang="en-US" b="1" dirty="0" err="1"/>
              <a:t>JBOSS_HOME</a:t>
            </a:r>
            <a:r>
              <a:rPr lang="en-US" b="1" dirty="0"/>
              <a:t>/bin/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 </a:t>
            </a:r>
            <a:r>
              <a:rPr lang="en-US" dirty="0" err="1"/>
              <a:t>porneste</a:t>
            </a:r>
            <a:r>
              <a:rPr lang="en-US" dirty="0"/>
              <a:t> </a:t>
            </a:r>
            <a:r>
              <a:rPr lang="en-US" dirty="0" err="1"/>
              <a:t>WildFly</a:t>
            </a:r>
            <a:r>
              <a:rPr lang="en-US" dirty="0"/>
              <a:t> (cu </a:t>
            </a:r>
            <a:r>
              <a:rPr lang="en-US" b="1" dirty="0"/>
              <a:t>$JBOSS_HOME/bin/standalone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b="1" dirty="0"/>
              <a:t>MySQL</a:t>
            </a:r>
            <a:r>
              <a:rPr lang="en-US" dirty="0"/>
              <a:t>, se </a:t>
            </a:r>
            <a:r>
              <a:rPr lang="en-US" dirty="0" err="1"/>
              <a:t>lanseaza</a:t>
            </a:r>
            <a:r>
              <a:rPr lang="en-US" dirty="0"/>
              <a:t> din </a:t>
            </a:r>
            <a:r>
              <a:rPr lang="en-US" dirty="0" err="1"/>
              <a:t>directorul</a:t>
            </a:r>
            <a:r>
              <a:rPr lang="en-US" dirty="0"/>
              <a:t> bin </a:t>
            </a:r>
            <a:r>
              <a:rPr lang="en-US" dirty="0" err="1"/>
              <a:t>utilitarul</a:t>
            </a:r>
            <a:r>
              <a:rPr lang="en-US" dirty="0"/>
              <a:t> </a:t>
            </a:r>
            <a:r>
              <a:rPr lang="en-US" b="1" dirty="0"/>
              <a:t>$JBOSS_HOME/bin/jboss-cli.sh -c </a:t>
            </a:r>
            <a:r>
              <a:rPr lang="en-US" dirty="0"/>
              <a:t>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b="1" dirty="0"/>
              <a:t>jboss-cli.bat)</a:t>
            </a:r>
            <a:r>
              <a:rPr lang="en-US" dirty="0"/>
              <a:t>.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b="1" dirty="0"/>
              <a:t>[</a:t>
            </a:r>
            <a:r>
              <a:rPr lang="en-US" b="1" dirty="0" err="1"/>
              <a:t>standalone@localhost:9990</a:t>
            </a:r>
            <a:r>
              <a:rPr lang="en-US" b="1" dirty="0"/>
              <a:t> /] </a:t>
            </a:r>
            <a:r>
              <a:rPr lang="en-US" dirty="0" err="1"/>
              <a:t>si</a:t>
            </a:r>
            <a:r>
              <a:rPr lang="en-US" dirty="0"/>
              <a:t> la el se </a:t>
            </a:r>
            <a:r>
              <a:rPr lang="en-US" dirty="0" err="1"/>
              <a:t>vor</a:t>
            </a:r>
            <a:r>
              <a:rPr lang="en-US" dirty="0"/>
              <a:t> da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comenzi</a:t>
            </a:r>
            <a:r>
              <a:rPr lang="en-US" dirty="0"/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Instalarea</a:t>
            </a:r>
            <a:r>
              <a:rPr lang="en-US" dirty="0"/>
              <a:t> modulului connector, cu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b="1" dirty="0" err="1"/>
              <a:t>com.mysql</a:t>
            </a:r>
            <a:r>
              <a:rPr lang="en-US" dirty="0"/>
              <a:t>,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): </a:t>
            </a:r>
            <a:r>
              <a:rPr lang="en-US" b="1" dirty="0"/>
              <a:t>module add --name=</a:t>
            </a:r>
            <a:r>
              <a:rPr lang="en-US" b="1" dirty="0" err="1"/>
              <a:t>com.mysql</a:t>
            </a:r>
            <a:r>
              <a:rPr lang="en-US" b="1" dirty="0"/>
              <a:t> --resources=mysql-connector-java.jar --dependencies=</a:t>
            </a:r>
            <a:r>
              <a:rPr lang="en-US" b="1" dirty="0" err="1"/>
              <a:t>javax.api,javax.transaction.api</a:t>
            </a:r>
            <a:r>
              <a:rPr lang="en-US" sz="1600" dirty="0"/>
              <a:t> (</a:t>
            </a:r>
            <a:r>
              <a:rPr lang="en-US" sz="1600" dirty="0" err="1"/>
              <a:t>vezi</a:t>
            </a:r>
            <a:r>
              <a:rPr lang="en-US" sz="1600" dirty="0"/>
              <a:t> </a:t>
            </a:r>
            <a:r>
              <a:rPr lang="en-US" sz="1600" dirty="0" err="1"/>
              <a:t>linia</a:t>
            </a:r>
            <a:r>
              <a:rPr lang="en-US" sz="1600" dirty="0"/>
              <a:t> 1 din dswf.txt)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Instalarea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driver, </a:t>
            </a:r>
            <a:r>
              <a:rPr lang="en-US" dirty="0" err="1"/>
              <a:t>numit</a:t>
            </a:r>
            <a:r>
              <a:rPr lang="en-US" dirty="0"/>
              <a:t> </a:t>
            </a:r>
            <a:r>
              <a:rPr lang="en-US" b="1" dirty="0" err="1"/>
              <a:t>mysql</a:t>
            </a:r>
            <a:r>
              <a:rPr lang="en-US" dirty="0"/>
              <a:t>,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, la </a:t>
            </a:r>
            <a:r>
              <a:rPr lang="en-US" dirty="0" err="1"/>
              <a:t>terminare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{</a:t>
            </a:r>
            <a:r>
              <a:rPr lang="en-US" b="1" dirty="0"/>
              <a:t>"outcome" =&gt; "success"}</a:t>
            </a:r>
            <a:r>
              <a:rPr lang="en-US" dirty="0"/>
              <a:t>): </a:t>
            </a:r>
            <a:r>
              <a:rPr lang="en-US" b="1" dirty="0"/>
              <a:t>/subsystem=</a:t>
            </a:r>
            <a:r>
              <a:rPr lang="en-US" b="1" dirty="0" err="1"/>
              <a:t>datasources</a:t>
            </a:r>
            <a:r>
              <a:rPr lang="en-US" b="1" dirty="0"/>
              <a:t>/</a:t>
            </a:r>
            <a:r>
              <a:rPr lang="en-US" b="1" dirty="0" err="1"/>
              <a:t>jdbc</a:t>
            </a:r>
            <a:r>
              <a:rPr lang="en-US" b="1" dirty="0"/>
              <a:t>-driver=</a:t>
            </a:r>
            <a:r>
              <a:rPr lang="en-US" b="1" dirty="0" err="1"/>
              <a:t>mysql</a:t>
            </a:r>
            <a:r>
              <a:rPr lang="en-US" b="1" dirty="0"/>
              <a:t>: add(driver-name=</a:t>
            </a:r>
            <a:r>
              <a:rPr lang="en-US" b="1" dirty="0" err="1"/>
              <a:t>mysql,driver</a:t>
            </a:r>
            <a:r>
              <a:rPr lang="en-US" b="1" dirty="0"/>
              <a:t>-module-name=</a:t>
            </a:r>
            <a:r>
              <a:rPr lang="en-US" b="1" dirty="0" err="1"/>
              <a:t>com.mysql,driver</a:t>
            </a:r>
            <a:r>
              <a:rPr lang="en-US" b="1" dirty="0"/>
              <a:t>-</a:t>
            </a:r>
            <a:r>
              <a:rPr lang="en-US" b="1" dirty="0" err="1"/>
              <a:t>xa</a:t>
            </a:r>
            <a:r>
              <a:rPr lang="en-US" b="1" dirty="0"/>
              <a:t>-</a:t>
            </a:r>
            <a:r>
              <a:rPr lang="en-US" b="1" dirty="0" err="1"/>
              <a:t>datasource</a:t>
            </a:r>
            <a:r>
              <a:rPr lang="en-US" b="1" dirty="0"/>
              <a:t>-class-name=com.mysql.jdbc.jdbc2.optional.MysqlXADataSource)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2 din dswf.txt)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, o </a:t>
            </a:r>
            <a:r>
              <a:rPr lang="en-US" dirty="0" err="1"/>
              <a:t>numim</a:t>
            </a:r>
            <a:r>
              <a:rPr lang="en-US" dirty="0"/>
              <a:t> </a:t>
            </a:r>
            <a:r>
              <a:rPr lang="en-US" b="1" dirty="0" err="1"/>
              <a:t>MySqlDS</a:t>
            </a:r>
            <a:r>
              <a:rPr lang="en-US" dirty="0"/>
              <a:t>, </a:t>
            </a:r>
            <a:r>
              <a:rPr lang="en-US" dirty="0" err="1"/>
              <a:t>mydb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 </a:t>
            </a:r>
            <a:r>
              <a:rPr lang="en-US" dirty="0" err="1"/>
              <a:t>asociate</a:t>
            </a:r>
            <a:r>
              <a:rPr lang="en-US" dirty="0"/>
              <a:t>(</a:t>
            </a:r>
            <a:r>
              <a:rPr lang="en-US" dirty="0" err="1"/>
              <a:t>noi</a:t>
            </a:r>
            <a:r>
              <a:rPr lang="en-US" dirty="0"/>
              <a:t> 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test), optional (</a:t>
            </a:r>
            <a:r>
              <a:rPr lang="en-US" dirty="0" err="1"/>
              <a:t>noi</a:t>
            </a:r>
            <a:r>
              <a:rPr lang="en-US" dirty="0"/>
              <a:t> nu le-am </a:t>
            </a:r>
            <a:r>
              <a:rPr lang="en-US" dirty="0" err="1"/>
              <a:t>folosit</a:t>
            </a:r>
            <a:r>
              <a:rPr lang="en-US" dirty="0"/>
              <a:t>) </a:t>
            </a:r>
            <a:r>
              <a:rPr lang="en-US" dirty="0" err="1"/>
              <a:t>userul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parola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DB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): </a:t>
            </a:r>
            <a:r>
              <a:rPr lang="en-US" b="1" dirty="0"/>
              <a:t>data-source add --name=</a:t>
            </a:r>
            <a:r>
              <a:rPr lang="en-US" b="1" dirty="0" err="1"/>
              <a:t>MySqlDS</a:t>
            </a:r>
            <a:r>
              <a:rPr lang="en-US" b="1" dirty="0"/>
              <a:t> --driver-name=</a:t>
            </a:r>
            <a:r>
              <a:rPr lang="en-US" b="1" dirty="0" err="1"/>
              <a:t>mysql</a:t>
            </a:r>
            <a:r>
              <a:rPr lang="en-US" b="1" dirty="0"/>
              <a:t> --</a:t>
            </a:r>
            <a:r>
              <a:rPr lang="en-US" b="1" dirty="0" err="1"/>
              <a:t>jndi</a:t>
            </a:r>
            <a:r>
              <a:rPr lang="en-US" b="1" dirty="0"/>
              <a:t>-name=</a:t>
            </a:r>
            <a:r>
              <a:rPr lang="en-US" b="1" dirty="0" err="1"/>
              <a:t>java:jboss</a:t>
            </a:r>
            <a:r>
              <a:rPr lang="en-US" b="1" dirty="0"/>
              <a:t>/</a:t>
            </a:r>
            <a:r>
              <a:rPr lang="en-US" b="1" dirty="0" err="1"/>
              <a:t>datasources</a:t>
            </a:r>
            <a:r>
              <a:rPr lang="en-US" b="1" dirty="0"/>
              <a:t>/</a:t>
            </a:r>
            <a:r>
              <a:rPr lang="en-US" b="1" dirty="0" err="1"/>
              <a:t>MySqlDS</a:t>
            </a:r>
            <a:r>
              <a:rPr lang="en-US" b="1" dirty="0"/>
              <a:t> --connection-</a:t>
            </a:r>
            <a:r>
              <a:rPr lang="en-US" b="1" dirty="0" err="1"/>
              <a:t>url</a:t>
            </a:r>
            <a:r>
              <a:rPr lang="en-US" b="1" dirty="0"/>
              <a:t>=</a:t>
            </a:r>
            <a:r>
              <a:rPr lang="en-US" b="1" dirty="0" err="1"/>
              <a:t>jdbc:mysql</a:t>
            </a:r>
            <a:r>
              <a:rPr lang="en-US" b="1" dirty="0"/>
              <a:t>://localhost:3306/</a:t>
            </a:r>
            <a:r>
              <a:rPr lang="en-US" b="1" dirty="0" err="1"/>
              <a:t>mydb</a:t>
            </a:r>
            <a:r>
              <a:rPr lang="en-US" b="1" dirty="0"/>
              <a:t> --user-name=</a:t>
            </a:r>
            <a:r>
              <a:rPr lang="en-US" b="1" dirty="0" err="1"/>
              <a:t>myuser</a:t>
            </a:r>
            <a:r>
              <a:rPr lang="en-US" b="1" dirty="0"/>
              <a:t> --password=password --enabled=true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3 din dswf.txt)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b="1" dirty="0"/>
              <a:t> $</a:t>
            </a:r>
            <a:r>
              <a:rPr lang="en-US" b="1" dirty="0" err="1"/>
              <a:t>JBOSS_HOME</a:t>
            </a:r>
            <a:r>
              <a:rPr lang="en-US" b="1" dirty="0"/>
              <a:t>/bin/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r>
              <a:rPr lang="en-US" dirty="0"/>
              <a:t>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68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26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(3/6)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Daca</a:t>
            </a:r>
            <a:r>
              <a:rPr lang="en-US" sz="1600" dirty="0"/>
              <a:t> se </a:t>
            </a:r>
            <a:r>
              <a:rPr lang="en-US" sz="1600" dirty="0" err="1"/>
              <a:t>doreste</a:t>
            </a:r>
            <a:r>
              <a:rPr lang="en-US" sz="1600" dirty="0"/>
              <a:t>, </a:t>
            </a:r>
            <a:r>
              <a:rPr lang="en-US" sz="1600" dirty="0" err="1"/>
              <a:t>pasii</a:t>
            </a:r>
            <a:r>
              <a:rPr lang="en-US" sz="1600" dirty="0"/>
              <a:t> 3-4-5 se pot </a:t>
            </a:r>
            <a:r>
              <a:rPr lang="en-US" sz="1600" dirty="0" err="1"/>
              <a:t>comasa</a:t>
            </a:r>
            <a:r>
              <a:rPr lang="en-US" sz="1600" dirty="0"/>
              <a:t>: se </a:t>
            </a:r>
            <a:r>
              <a:rPr lang="en-US" sz="1600" dirty="0" err="1"/>
              <a:t>creaza</a:t>
            </a:r>
            <a:r>
              <a:rPr lang="en-US" sz="1600" dirty="0"/>
              <a:t> un </a:t>
            </a:r>
            <a:r>
              <a:rPr lang="en-US" sz="1600" dirty="0" err="1"/>
              <a:t>fisier</a:t>
            </a:r>
            <a:r>
              <a:rPr lang="en-US" sz="1600" dirty="0"/>
              <a:t> text, </a:t>
            </a:r>
            <a:r>
              <a:rPr lang="en-US" sz="1600" dirty="0" err="1"/>
              <a:t>sa</a:t>
            </a:r>
            <a:r>
              <a:rPr lang="en-US" sz="1600" dirty="0"/>
              <a:t> </a:t>
            </a:r>
            <a:r>
              <a:rPr lang="en-US" sz="1600" dirty="0" err="1"/>
              <a:t>zicem</a:t>
            </a:r>
            <a:r>
              <a:rPr lang="en-US" sz="1600" dirty="0"/>
              <a:t> </a:t>
            </a:r>
            <a:r>
              <a:rPr lang="en-US" sz="1600" b="1" dirty="0"/>
              <a:t>dswf.tx</a:t>
            </a:r>
            <a:r>
              <a:rPr lang="en-US" sz="1600" dirty="0"/>
              <a:t>t, cu </a:t>
            </a:r>
            <a:r>
              <a:rPr lang="en-US" sz="1600" dirty="0" err="1"/>
              <a:t>cele</a:t>
            </a:r>
            <a:r>
              <a:rPr lang="en-US" sz="1600" dirty="0"/>
              <a:t> </a:t>
            </a:r>
            <a:r>
              <a:rPr lang="en-US" sz="1600" dirty="0" err="1"/>
              <a:t>trei</a:t>
            </a:r>
            <a:r>
              <a:rPr lang="en-US" sz="1600" dirty="0"/>
              <a:t> </a:t>
            </a:r>
            <a:r>
              <a:rPr lang="en-US" sz="1600" dirty="0" err="1"/>
              <a:t>linii</a:t>
            </a:r>
            <a:r>
              <a:rPr lang="en-US" sz="1600" dirty="0"/>
              <a:t> de </a:t>
            </a:r>
            <a:r>
              <a:rPr lang="en-US" sz="1600" dirty="0" err="1"/>
              <a:t>intrare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se </a:t>
            </a:r>
            <a:r>
              <a:rPr lang="en-US" sz="1600" dirty="0" err="1"/>
              <a:t>depune</a:t>
            </a:r>
            <a:r>
              <a:rPr lang="en-US" sz="1600" dirty="0"/>
              <a:t> </a:t>
            </a:r>
            <a:r>
              <a:rPr lang="en-US" sz="1600" dirty="0" err="1"/>
              <a:t>in$JBOSS_HOME</a:t>
            </a:r>
            <a:r>
              <a:rPr lang="en-US" sz="1600" dirty="0"/>
              <a:t>/bin </a:t>
            </a:r>
            <a:r>
              <a:rPr lang="en-US" sz="1600" dirty="0" err="1"/>
              <a:t>Apoi</a:t>
            </a:r>
            <a:r>
              <a:rPr lang="en-US" sz="1600" dirty="0"/>
              <a:t> se </a:t>
            </a:r>
            <a:r>
              <a:rPr lang="en-US" sz="1600" dirty="0" err="1"/>
              <a:t>lanseaza</a:t>
            </a:r>
            <a:r>
              <a:rPr lang="en-US" sz="1600" dirty="0"/>
              <a:t> </a:t>
            </a:r>
            <a:r>
              <a:rPr lang="en-US" sz="1600" dirty="0" err="1"/>
              <a:t>comanda</a:t>
            </a:r>
            <a:r>
              <a:rPr lang="en-US" sz="1600" dirty="0"/>
              <a:t>: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 err="1"/>
              <a:t>jboss</a:t>
            </a:r>
            <a:r>
              <a:rPr lang="en-US" sz="1600" b="1" dirty="0"/>
              <a:t>-cli -c &lt;dswf.txt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 err="1"/>
              <a:t>Dupa</a:t>
            </a:r>
            <a:r>
              <a:rPr lang="en-US" sz="1600" dirty="0"/>
              <a:t> </a:t>
            </a:r>
            <a:r>
              <a:rPr lang="en-US" sz="1600" dirty="0" err="1"/>
              <a:t>terminare</a:t>
            </a:r>
            <a:r>
              <a:rPr lang="en-US" sz="1600" dirty="0"/>
              <a:t>, la </a:t>
            </a:r>
            <a:r>
              <a:rPr lang="en-US" sz="1600" dirty="0" err="1"/>
              <a:t>punctul</a:t>
            </a:r>
            <a:r>
              <a:rPr lang="en-US" sz="1600" dirty="0"/>
              <a:t> 6 se </a:t>
            </a:r>
            <a:r>
              <a:rPr lang="en-US" sz="1600" dirty="0" err="1"/>
              <a:t>poate</a:t>
            </a:r>
            <a:r>
              <a:rPr lang="en-US" sz="1600" dirty="0"/>
              <a:t> </a:t>
            </a:r>
            <a:r>
              <a:rPr lang="en-US" sz="1600" dirty="0" err="1"/>
              <a:t>sterge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/>
              <a:t>dswf.tx</a:t>
            </a:r>
            <a:r>
              <a:rPr lang="en-US" sz="1600" dirty="0"/>
              <a:t>t.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/>
              <a:t>In </a:t>
            </a:r>
            <a:r>
              <a:rPr lang="en-US" sz="1600" dirty="0" err="1"/>
              <a:t>exemplul</a:t>
            </a:r>
            <a:r>
              <a:rPr lang="en-US" sz="1600" dirty="0"/>
              <a:t> </a:t>
            </a:r>
            <a:r>
              <a:rPr lang="en-US" sz="1600" dirty="0" err="1"/>
              <a:t>nostru</a:t>
            </a:r>
            <a:r>
              <a:rPr lang="en-US" sz="1600" dirty="0"/>
              <a:t>,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 err="1"/>
              <a:t>dsw.tx</a:t>
            </a:r>
            <a:r>
              <a:rPr lang="en-US" sz="1600" dirty="0" err="1"/>
              <a:t>t</a:t>
            </a:r>
            <a:r>
              <a:rPr lang="en-US" sz="1600" dirty="0"/>
              <a:t> are </a:t>
            </a:r>
            <a:r>
              <a:rPr lang="en-US" sz="1600" dirty="0" err="1"/>
              <a:t>continutul</a:t>
            </a:r>
            <a:r>
              <a:rPr lang="en-US" sz="1600" dirty="0"/>
              <a:t> (</a:t>
            </a:r>
            <a:r>
              <a:rPr lang="en-US" sz="1600" dirty="0" err="1"/>
              <a:t>fiind</a:t>
            </a:r>
            <a:r>
              <a:rPr lang="en-US" sz="1600" dirty="0"/>
              <a:t> </a:t>
            </a:r>
            <a:r>
              <a:rPr lang="en-US" sz="1600" dirty="0" err="1"/>
              <a:t>linii</a:t>
            </a:r>
            <a:r>
              <a:rPr lang="en-US" sz="1600" dirty="0"/>
              <a:t> lungi, prima </a:t>
            </a:r>
            <a:r>
              <a:rPr lang="en-US" sz="1600" dirty="0" err="1"/>
              <a:t>linie</a:t>
            </a:r>
            <a:r>
              <a:rPr lang="en-US" sz="1600" dirty="0"/>
              <a:t> o </a:t>
            </a:r>
            <a:r>
              <a:rPr lang="en-US" sz="1600" dirty="0" err="1"/>
              <a:t>scriem</a:t>
            </a:r>
            <a:r>
              <a:rPr lang="en-US" sz="1600" dirty="0"/>
              <a:t> </a:t>
            </a:r>
            <a:r>
              <a:rPr lang="en-US" sz="1600" dirty="0" err="1"/>
              <a:t>aici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randuri</a:t>
            </a:r>
            <a:r>
              <a:rPr lang="en-US" sz="1600" dirty="0"/>
              <a:t>, a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patru</a:t>
            </a:r>
            <a:r>
              <a:rPr lang="en-US" sz="1600" dirty="0"/>
              <a:t>, </a:t>
            </a:r>
            <a:r>
              <a:rPr lang="en-US" sz="1600" dirty="0" err="1"/>
              <a:t>iar</a:t>
            </a:r>
            <a:r>
              <a:rPr lang="en-US" sz="1600" dirty="0"/>
              <a:t> a </a:t>
            </a:r>
            <a:r>
              <a:rPr lang="en-US" sz="1600" dirty="0" err="1"/>
              <a:t>treia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trei</a:t>
            </a:r>
            <a:r>
              <a:rPr lang="en-US" sz="1600" dirty="0"/>
              <a:t> </a:t>
            </a:r>
            <a:r>
              <a:rPr lang="en-US" sz="1600" dirty="0" err="1"/>
              <a:t>randuri</a:t>
            </a:r>
            <a:r>
              <a:rPr lang="en-US" sz="1600" dirty="0"/>
              <a:t>):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add --name=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--resources=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--dependencies=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javax.api,javax.transaction.api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/subsystem=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-driver=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add(driver-name=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mysql,driver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-module-name=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com.mysql,driver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-class-name=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com.mysql.jdbc.jdbc2.optional.MysqlXADataSource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data-source add --name=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--driver-name=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java:jboss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--connection-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localhost:3306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/test --enabled=true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504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27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(4/6)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Comparatia</a:t>
            </a:r>
            <a:r>
              <a:rPr lang="en-US" dirty="0"/>
              <a:t> (cu </a:t>
            </a:r>
            <a:r>
              <a:rPr lang="en-US" dirty="0" err="1"/>
              <a:t>TotalCommander</a:t>
            </a:r>
            <a:r>
              <a:rPr lang="en-US" dirty="0"/>
              <a:t>)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wildfly-21.0.0.zip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$JBOSS_HOME are ca </a:t>
            </a:r>
            <a:r>
              <a:rPr lang="en-US" dirty="0" err="1"/>
              <a:t>rezultat</a:t>
            </a:r>
            <a:r>
              <a:rPr lang="en-US" dirty="0"/>
              <a:t>:.</a:t>
            </a:r>
          </a:p>
          <a:p>
            <a:r>
              <a:rPr lang="en-US" dirty="0"/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924782"/>
            <a:ext cx="7772400" cy="54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84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28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(5/6)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In </a:t>
            </a:r>
            <a:r>
              <a:rPr lang="en-US" sz="1600" dirty="0" err="1"/>
              <a:t>esenta</a:t>
            </a:r>
            <a:r>
              <a:rPr lang="en-US" sz="1600" dirty="0"/>
              <a:t>, se </a:t>
            </a:r>
            <a:r>
              <a:rPr lang="en-US" sz="1600" dirty="0" err="1"/>
              <a:t>modifica</a:t>
            </a:r>
            <a:r>
              <a:rPr lang="en-US" sz="1600" dirty="0"/>
              <a:t> un </a:t>
            </a:r>
            <a:r>
              <a:rPr lang="en-US" sz="1600" dirty="0" err="1"/>
              <a:t>fisier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apar</a:t>
            </a:r>
            <a:r>
              <a:rPr lang="en-US" sz="1600" dirty="0"/>
              <a:t> </a:t>
            </a:r>
            <a:r>
              <a:rPr lang="en-US" sz="1600" dirty="0" err="1"/>
              <a:t>alte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fisiere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. </a:t>
            </a:r>
            <a:r>
              <a:rPr lang="en-US" sz="1600" dirty="0" err="1"/>
              <a:t>Astfel</a:t>
            </a:r>
            <a:r>
              <a:rPr lang="en-US" sz="1600" dirty="0"/>
              <a:t>,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modificat</a:t>
            </a:r>
            <a:r>
              <a:rPr lang="en-US" sz="1600" dirty="0"/>
              <a:t> </a:t>
            </a:r>
            <a:r>
              <a:rPr lang="en-US" sz="1600" dirty="0" err="1"/>
              <a:t>fisierul</a:t>
            </a:r>
            <a:r>
              <a:rPr lang="en-US" sz="1600" dirty="0"/>
              <a:t>:</a:t>
            </a:r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/standalone/configuration/</a:t>
            </a:r>
            <a:r>
              <a:rPr lang="en-US" sz="1600" b="1" dirty="0" err="1"/>
              <a:t>standalone.xml</a:t>
            </a:r>
            <a:endParaRPr lang="en-US" sz="1600" b="1" dirty="0"/>
          </a:p>
          <a:p>
            <a:r>
              <a:rPr lang="en-US" sz="1600" dirty="0"/>
              <a:t>In </a:t>
            </a:r>
            <a:r>
              <a:rPr lang="en-US" sz="1600" dirty="0" err="1"/>
              <a:t>acesta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introduse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elementele</a:t>
            </a:r>
            <a:r>
              <a:rPr lang="en-US" sz="1600" dirty="0"/>
              <a:t> xml: &lt;</a:t>
            </a:r>
            <a:r>
              <a:rPr lang="en-US" sz="1600" b="1" dirty="0" err="1"/>
              <a:t>datasource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&lt;</a:t>
            </a:r>
            <a:r>
              <a:rPr lang="en-US" sz="1600" b="1" dirty="0"/>
              <a:t>driver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&lt;server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urn:jboss:domain:10.0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&lt;profile&gt;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&lt;subsystem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urn:jboss:domain:datasources:5.0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java:jboss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pool-name="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enabled="true"&gt;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&lt;connection-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localhost:3306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/test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&lt;/connection-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&lt;driver&gt;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&lt;/driver&gt;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&lt;drivers&gt;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&lt;driver 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module="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-class&gt;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com.mysql.jdbc.jdbc2.optional.MysqlXADataSource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-class&gt;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&lt;/driver&gt;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</p:txBody>
      </p:sp>
    </p:spTree>
    <p:extLst>
      <p:ext uri="{BB962C8B-B14F-4D97-AF65-F5344CB8AC3E}">
        <p14:creationId xmlns:p14="http://schemas.microsoft.com/office/powerpoint/2010/main" val="2005614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29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(6/6)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 err="1"/>
              <a:t>Apar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fisiere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:</a:t>
            </a:r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/modules/com/</a:t>
            </a:r>
            <a:r>
              <a:rPr lang="en-US" sz="1600" b="1" dirty="0" err="1"/>
              <a:t>mysql</a:t>
            </a:r>
            <a:r>
              <a:rPr lang="en-US" sz="1600" b="1" dirty="0"/>
              <a:t>/main/</a:t>
            </a:r>
            <a:r>
              <a:rPr lang="en-US" sz="1600" b="1" dirty="0" err="1"/>
              <a:t>module.xml</a:t>
            </a:r>
            <a:endParaRPr lang="en-US" sz="1600" b="1" dirty="0"/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/modules/com/</a:t>
            </a:r>
            <a:r>
              <a:rPr lang="en-US" sz="1600" b="1" dirty="0" err="1"/>
              <a:t>mysql</a:t>
            </a:r>
            <a:r>
              <a:rPr lang="en-US" sz="1600" b="1" dirty="0"/>
              <a:t>/main/</a:t>
            </a:r>
            <a:r>
              <a:rPr lang="en-US" sz="1600" b="1" dirty="0" err="1"/>
              <a:t>mysql</a:t>
            </a:r>
            <a:r>
              <a:rPr lang="en-US" sz="1600" b="1" dirty="0"/>
              <a:t>-connector-</a:t>
            </a:r>
            <a:r>
              <a:rPr lang="en-US" sz="1600" b="1" dirty="0" err="1"/>
              <a:t>java.jar</a:t>
            </a:r>
            <a:endParaRPr lang="en-US" sz="1600" b="1" dirty="0"/>
          </a:p>
          <a:p>
            <a:endParaRPr lang="en-US" sz="1600" dirty="0"/>
          </a:p>
          <a:p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 err="1"/>
              <a:t>module.xml</a:t>
            </a:r>
            <a:r>
              <a:rPr lang="en-US" sz="1600" dirty="0"/>
              <a:t> are </a:t>
            </a:r>
            <a:r>
              <a:rPr lang="en-US" sz="1600" dirty="0" err="1"/>
              <a:t>continutul</a:t>
            </a:r>
            <a:r>
              <a:rPr lang="en-US" sz="1600" dirty="0"/>
              <a:t>: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&lt;?xml version='1.0' encoding='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-8'?&gt;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urn:jboss:module:1.1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&lt;resources&gt;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&lt;resource-root path="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&lt;/resources&gt;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&lt;dependencies&gt;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&lt;module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javax.api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&lt;module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javax.transaction.api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&lt;/dependencies&gt;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&lt;/module&gt;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(Evident, cu </a:t>
            </a:r>
            <a:r>
              <a:rPr lang="en-US" sz="1600" dirty="0" err="1">
                <a:solidFill>
                  <a:srgbClr val="FF0000"/>
                </a:solidFill>
              </a:rPr>
              <a:t>putina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rabdare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dirty="0" err="1">
                <a:solidFill>
                  <a:srgbClr val="FF0000"/>
                </a:solidFill>
              </a:rPr>
              <a:t>utilizatorul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poate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inlocuiasca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actiunile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jboss</a:t>
            </a:r>
            <a:r>
              <a:rPr lang="en-US" sz="1600" dirty="0">
                <a:solidFill>
                  <a:srgbClr val="FF0000"/>
                </a:solidFill>
              </a:rPr>
              <a:t>-cli </a:t>
            </a:r>
            <a:r>
              <a:rPr lang="en-US" sz="1600" dirty="0" err="1">
                <a:solidFill>
                  <a:srgbClr val="FF0000"/>
                </a:solidFill>
              </a:rPr>
              <a:t>efectuand</a:t>
            </a:r>
            <a:r>
              <a:rPr lang="en-US" sz="1600" dirty="0">
                <a:solidFill>
                  <a:srgbClr val="FF0000"/>
                </a:solidFill>
              </a:rPr>
              <a:t> manual </a:t>
            </a:r>
            <a:r>
              <a:rPr lang="en-US" sz="1600" dirty="0" err="1">
                <a:solidFill>
                  <a:srgbClr val="FF0000"/>
                </a:solidFill>
              </a:rPr>
              <a:t>modificarile</a:t>
            </a:r>
            <a:r>
              <a:rPr lang="en-US" sz="1600" dirty="0">
                <a:solidFill>
                  <a:srgbClr val="FF0000"/>
                </a:solidFill>
              </a:rPr>
              <a:t> de </a:t>
            </a:r>
            <a:r>
              <a:rPr lang="en-US" sz="1600" dirty="0" err="1">
                <a:solidFill>
                  <a:srgbClr val="FF0000"/>
                </a:solidFill>
              </a:rPr>
              <a:t>mai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sus</a:t>
            </a:r>
            <a:r>
              <a:rPr lang="en-US" sz="1600" dirty="0">
                <a:solidFill>
                  <a:srgbClr val="FF0000"/>
                </a:solidFill>
              </a:rPr>
              <a:t>).</a:t>
            </a:r>
          </a:p>
          <a:p>
            <a:r>
              <a:rPr lang="en-US" sz="1600" dirty="0"/>
              <a:t> </a:t>
            </a:r>
          </a:p>
          <a:p>
            <a:pPr lvl="0"/>
            <a:r>
              <a:rPr lang="en-US" sz="1600" dirty="0" err="1"/>
              <a:t>Restul</a:t>
            </a:r>
            <a:r>
              <a:rPr lang="en-US" sz="1600" dirty="0"/>
              <a:t> </a:t>
            </a:r>
            <a:r>
              <a:rPr lang="en-US" sz="1600" dirty="0" err="1"/>
              <a:t>modificarilor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neesentiale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user, </a:t>
            </a:r>
            <a:r>
              <a:rPr lang="en-US" sz="1600" dirty="0" err="1"/>
              <a:t>ele</a:t>
            </a:r>
            <a:r>
              <a:rPr lang="en-US" sz="1600" dirty="0"/>
              <a:t> tin </a:t>
            </a:r>
            <a:r>
              <a:rPr lang="en-US" sz="1600" dirty="0" err="1"/>
              <a:t>doar</a:t>
            </a:r>
            <a:r>
              <a:rPr lang="en-US" sz="1600" dirty="0"/>
              <a:t> de AS-</a:t>
            </a:r>
            <a:r>
              <a:rPr lang="en-US" sz="1600" dirty="0" err="1"/>
              <a:t>wildfly</a:t>
            </a:r>
            <a:r>
              <a:rPr lang="en-US" sz="1600" dirty="0"/>
              <a:t> care in principal  </a:t>
            </a:r>
            <a:r>
              <a:rPr lang="en-US" sz="1600" dirty="0" err="1"/>
              <a:t>isi</a:t>
            </a:r>
            <a:r>
              <a:rPr lang="en-US" sz="1600" dirty="0"/>
              <a:t> </a:t>
            </a:r>
            <a:r>
              <a:rPr lang="en-US" sz="1600" dirty="0" err="1"/>
              <a:t>intretine</a:t>
            </a:r>
            <a:r>
              <a:rPr lang="en-US" sz="1600" dirty="0"/>
              <a:t> o </a:t>
            </a:r>
            <a:r>
              <a:rPr lang="en-US" sz="1600" dirty="0" err="1"/>
              <a:t>istorie</a:t>
            </a:r>
            <a:r>
              <a:rPr lang="en-US" sz="1600" dirty="0"/>
              <a:t> a </a:t>
            </a:r>
            <a:r>
              <a:rPr lang="en-US" sz="1600" dirty="0" err="1"/>
              <a:t>modificarilor</a:t>
            </a:r>
            <a:r>
              <a:rPr lang="en-US" sz="1600" dirty="0"/>
              <a:t> </a:t>
            </a:r>
            <a:r>
              <a:rPr lang="en-US" sz="1600" dirty="0" err="1"/>
              <a:t>facute</a:t>
            </a:r>
            <a:r>
              <a:rPr lang="en-US" sz="1600" dirty="0"/>
              <a:t> </a:t>
            </a:r>
            <a:r>
              <a:rPr lang="en-US" sz="1600" dirty="0" err="1"/>
              <a:t>asupra</a:t>
            </a:r>
            <a:r>
              <a:rPr lang="en-US" sz="1600" dirty="0"/>
              <a:t> </a:t>
            </a:r>
            <a:r>
              <a:rPr lang="en-US" sz="1600" dirty="0" err="1"/>
              <a:t>fisierului</a:t>
            </a:r>
            <a:r>
              <a:rPr lang="en-US" sz="1600" dirty="0"/>
              <a:t> </a:t>
            </a:r>
            <a:r>
              <a:rPr lang="en-US" sz="1600" b="1" dirty="0" err="1"/>
              <a:t>standalone.xml</a:t>
            </a:r>
            <a:r>
              <a:rPr lang="en-US" sz="1600" b="1" dirty="0"/>
              <a:t>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5614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30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(1/3)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7540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GlassFish</a:t>
            </a:r>
            <a:r>
              <a:rPr lang="en-US" dirty="0"/>
              <a:t>, ca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MySQL. </a:t>
            </a:r>
            <a:r>
              <a:rPr lang="en-US" dirty="0" err="1"/>
              <a:t>Scenariul</a:t>
            </a:r>
            <a:r>
              <a:rPr lang="en-US" dirty="0"/>
              <a:t> se </a:t>
            </a:r>
            <a:r>
              <a:rPr lang="en-US" dirty="0" err="1"/>
              <a:t>deruleaza</a:t>
            </a:r>
            <a:r>
              <a:rPr lang="en-US" dirty="0"/>
              <a:t> in 5 </a:t>
            </a:r>
            <a:r>
              <a:rPr lang="en-US" dirty="0" err="1"/>
              <a:t>pasi</a:t>
            </a:r>
            <a:r>
              <a:rPr lang="en-US" dirty="0"/>
              <a:t>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downloadeaza</a:t>
            </a:r>
            <a:r>
              <a:rPr lang="en-US" dirty="0"/>
              <a:t> </a:t>
            </a:r>
            <a:r>
              <a:rPr lang="en-US" b="1" dirty="0"/>
              <a:t>mysql-connector-java*.zip </a:t>
            </a:r>
            <a:r>
              <a:rPr lang="en-US" dirty="0"/>
              <a:t>(ultima </a:t>
            </a:r>
            <a:r>
              <a:rPr lang="en-US" dirty="0" err="1"/>
              <a:t>versiune</a:t>
            </a:r>
            <a:r>
              <a:rPr lang="en-US" dirty="0"/>
              <a:t>) din care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b="1" dirty="0"/>
              <a:t>mysql-connector-java-*.jar</a:t>
            </a:r>
            <a:r>
              <a:rPr lang="en-US" dirty="0"/>
              <a:t>, </a:t>
            </a:r>
            <a:r>
              <a:rPr lang="en-US" dirty="0" err="1"/>
              <a:t>schimba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/>
              <a:t>mysql-connector-java.jar</a:t>
            </a:r>
            <a:r>
              <a:rPr lang="en-US" dirty="0"/>
              <a:t>. Se </a:t>
            </a:r>
            <a:r>
              <a:rPr lang="en-US" dirty="0" err="1"/>
              <a:t>depune</a:t>
            </a:r>
            <a:r>
              <a:rPr lang="en-US" dirty="0"/>
              <a:t> </a:t>
            </a:r>
            <a:r>
              <a:rPr lang="en-US" b="1" dirty="0"/>
              <a:t>$GLASSFISH_HOME/glassfish/lib/mysql-connector-java.jar</a:t>
            </a:r>
            <a:r>
              <a:rPr lang="en-US" dirty="0"/>
              <a:t>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porneste</a:t>
            </a:r>
            <a:r>
              <a:rPr lang="en-US" dirty="0"/>
              <a:t> </a:t>
            </a:r>
            <a:r>
              <a:rPr lang="en-US" dirty="0" err="1"/>
              <a:t>GlassFish</a:t>
            </a:r>
            <a:r>
              <a:rPr lang="en-US" dirty="0"/>
              <a:t> (cu </a:t>
            </a:r>
            <a:r>
              <a:rPr lang="en-US" b="1" dirty="0"/>
              <a:t>$GLASSFISH_HOME/glassfish/</a:t>
            </a:r>
            <a:r>
              <a:rPr lang="en-US" b="1" dirty="0" err="1"/>
              <a:t>asadmin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b="1" dirty="0"/>
              <a:t>MySQL</a:t>
            </a:r>
            <a:r>
              <a:rPr lang="en-US" dirty="0"/>
              <a:t>,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 La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asadmin</a:t>
            </a:r>
            <a:r>
              <a:rPr lang="en-US" dirty="0"/>
              <a:t> se </a:t>
            </a:r>
            <a:r>
              <a:rPr lang="en-US" dirty="0" err="1"/>
              <a:t>lanseaza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connection pool:</a:t>
            </a:r>
            <a:endParaRPr lang="en-US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-connection-pool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restype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javax.sql.DataSource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datasourceclassname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com.mysql.jdbc.jdbc2.optional.MysqlDataSource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--property "user=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the_user:password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secret:url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\\: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\\://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localhost\\:3306/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rubus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Caracterul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‘:’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trebuie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evitat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‘\\:’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deoarece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delimitator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diverse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proprietati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2.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vezi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prima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linie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dsgf.txt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 La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asadmin</a:t>
            </a:r>
            <a:r>
              <a:rPr lang="en-US" dirty="0"/>
              <a:t> se </a:t>
            </a:r>
            <a:r>
              <a:rPr lang="en-US" dirty="0" err="1"/>
              <a:t>lanseaza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JNDI: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create-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-resource --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connectionpoolid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vezi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linie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dsgf.txt)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90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(2/3)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75404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$GLASSFISH/glassfish/lib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Pasii</a:t>
            </a:r>
            <a:r>
              <a:rPr lang="en-US" dirty="0"/>
              <a:t> 3 </a:t>
            </a:r>
            <a:r>
              <a:rPr lang="en-US" dirty="0" err="1"/>
              <a:t>si</a:t>
            </a:r>
            <a:r>
              <a:rPr lang="en-US" dirty="0"/>
              <a:t> 4 se pot </a:t>
            </a:r>
            <a:r>
              <a:rPr lang="en-US" dirty="0" err="1"/>
              <a:t>lansa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dsgf.txt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punand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intrare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linii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\glassfish\bin&gt;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start-domain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Waiting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start .................................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Successfully started the domain 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domain  Location: 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\glassfish\domains\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File: 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\glassfish\domains\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\logs\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server.log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Admin Port: 4848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start-domain executed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\glassfish\bin&gt;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dsgf.txt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 "exit" to exit and "help" for online help.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connection pool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create-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-connection-pool executed successfully.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resource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create-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-resource executed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multimode executed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836770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(3/3) </a:t>
            </a:r>
          </a:p>
        </p:txBody>
      </p:sp>
      <p:sp>
        <p:nvSpPr>
          <p:cNvPr id="2" name="Rectangle 1"/>
          <p:cNvSpPr/>
          <p:nvPr/>
        </p:nvSpPr>
        <p:spPr>
          <a:xfrm>
            <a:off x="7189" y="45720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consola</a:t>
            </a:r>
            <a:r>
              <a:rPr lang="en-US" dirty="0"/>
              <a:t> web: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Download </a:t>
            </a:r>
            <a:r>
              <a:rPr lang="en-US" dirty="0" err="1"/>
              <a:t>conectorul</a:t>
            </a:r>
            <a:r>
              <a:rPr lang="en-US" dirty="0"/>
              <a:t> (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recent) 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copiaza</a:t>
            </a:r>
            <a:r>
              <a:rPr lang="en-US" dirty="0"/>
              <a:t> in </a:t>
            </a:r>
            <a:r>
              <a:rPr lang="en-US" b="1" dirty="0"/>
              <a:t>$</a:t>
            </a:r>
            <a:r>
              <a:rPr lang="en-US" b="1" dirty="0" err="1"/>
              <a:t>GLASSFISH_HOME</a:t>
            </a:r>
            <a:r>
              <a:rPr lang="en-US" b="1" dirty="0"/>
              <a:t>/glassfish/lib/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Start </a:t>
            </a:r>
            <a:r>
              <a:rPr lang="en-US" b="1" dirty="0" err="1"/>
              <a:t>MySql</a:t>
            </a:r>
            <a:r>
              <a:rPr lang="en-US" dirty="0"/>
              <a:t>, start </a:t>
            </a:r>
            <a:r>
              <a:rPr lang="en-US" b="1" dirty="0" err="1"/>
              <a:t>GlassFish</a:t>
            </a:r>
            <a:r>
              <a:rPr lang="en-US" dirty="0"/>
              <a:t>, start </a:t>
            </a:r>
            <a:r>
              <a:rPr lang="en-US" dirty="0" err="1"/>
              <a:t>consola</a:t>
            </a:r>
            <a:r>
              <a:rPr lang="en-US" dirty="0"/>
              <a:t>:  </a:t>
            </a:r>
            <a:r>
              <a:rPr lang="en-US" b="1" dirty="0">
                <a:cs typeface="Courier New" pitchFamily="49" charset="0"/>
              </a:rPr>
              <a:t>http://</a:t>
            </a:r>
            <a:r>
              <a:rPr lang="en-US" b="1" dirty="0" err="1">
                <a:cs typeface="Courier New" pitchFamily="49" charset="0"/>
              </a:rPr>
              <a:t>localhost:4848</a:t>
            </a:r>
            <a:r>
              <a:rPr lang="en-US" b="1" dirty="0"/>
              <a:t>/.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se </a:t>
            </a:r>
            <a:r>
              <a:rPr lang="en-US" dirty="0" err="1"/>
              <a:t>cere</a:t>
            </a:r>
            <a:r>
              <a:rPr lang="en-US" dirty="0"/>
              <a:t>,  in </a:t>
            </a:r>
            <a:r>
              <a:rPr lang="en-US" dirty="0" err="1"/>
              <a:t>consola</a:t>
            </a:r>
            <a:r>
              <a:rPr lang="en-US" dirty="0"/>
              <a:t> se intra cu user </a:t>
            </a:r>
            <a:r>
              <a:rPr lang="en-US" b="1" dirty="0"/>
              <a:t>admin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password </a:t>
            </a:r>
            <a:r>
              <a:rPr lang="en-US" b="1" dirty="0" err="1"/>
              <a:t>adminadmin</a:t>
            </a:r>
            <a:endParaRPr lang="en-US" b="1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Open  </a:t>
            </a:r>
            <a:r>
              <a:rPr lang="en-US" b="1" dirty="0"/>
              <a:t>Resources</a:t>
            </a:r>
            <a:r>
              <a:rPr lang="en-US" dirty="0"/>
              <a:t> -&gt; </a:t>
            </a:r>
            <a:r>
              <a:rPr lang="en-US" b="1" dirty="0" err="1"/>
              <a:t>JDBC</a:t>
            </a:r>
            <a:r>
              <a:rPr lang="en-US" dirty="0"/>
              <a:t> -&gt; </a:t>
            </a:r>
            <a:r>
              <a:rPr lang="en-US" b="1" dirty="0" err="1"/>
              <a:t>ConnectionPools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click </a:t>
            </a:r>
            <a:r>
              <a:rPr lang="en-US" b="1" dirty="0"/>
              <a:t>New</a:t>
            </a:r>
            <a:r>
              <a:rPr lang="en-US" dirty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Pune un </a:t>
            </a:r>
            <a:r>
              <a:rPr lang="en-US" dirty="0" err="1"/>
              <a:t>nume</a:t>
            </a:r>
            <a:r>
              <a:rPr lang="en-US" dirty="0"/>
              <a:t> in  </a:t>
            </a:r>
            <a:r>
              <a:rPr lang="en-US" b="1" dirty="0" err="1"/>
              <a:t>PoolName</a:t>
            </a:r>
            <a:r>
              <a:rPr lang="en-US" dirty="0"/>
              <a:t>: (de </a:t>
            </a:r>
            <a:r>
              <a:rPr lang="en-US" dirty="0" err="1"/>
              <a:t>exemplu</a:t>
            </a:r>
            <a:r>
              <a:rPr lang="en-US" dirty="0"/>
              <a:t>) </a:t>
            </a:r>
            <a:r>
              <a:rPr lang="en-US" b="1" dirty="0" err="1"/>
              <a:t>MySqlPool</a:t>
            </a:r>
            <a:r>
              <a:rPr lang="en-US" dirty="0"/>
              <a:t>,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ResourceType</a:t>
            </a:r>
            <a:r>
              <a:rPr lang="en-US" dirty="0"/>
              <a:t>: </a:t>
            </a:r>
            <a:r>
              <a:rPr lang="en-US" b="1" dirty="0" err="1"/>
              <a:t>javax.sql.DataSource</a:t>
            </a:r>
            <a:r>
              <a:rPr lang="en-US" dirty="0"/>
              <a:t>, 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DatabaseDriverVendor</a:t>
            </a:r>
            <a:r>
              <a:rPr lang="en-US" dirty="0"/>
              <a:t>: </a:t>
            </a:r>
            <a:r>
              <a:rPr lang="en-US" b="1" dirty="0"/>
              <a:t>MySQL</a:t>
            </a:r>
            <a:r>
              <a:rPr lang="en-US" dirty="0"/>
              <a:t>,  click </a:t>
            </a:r>
            <a:r>
              <a:rPr lang="en-US" b="1" dirty="0"/>
              <a:t>Next</a:t>
            </a:r>
            <a:r>
              <a:rPr lang="en-US" dirty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aparuta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urmari</a:t>
            </a:r>
            <a:r>
              <a:rPr lang="en-US" dirty="0"/>
              <a:t> </a:t>
            </a:r>
            <a:r>
              <a:rPr lang="en-US" dirty="0" err="1"/>
              <a:t>setarea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proprietati</a:t>
            </a:r>
            <a:r>
              <a:rPr lang="en-US" dirty="0"/>
              <a:t> ale DB,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necesitati</a:t>
            </a:r>
            <a:r>
              <a:rPr lang="en-US" dirty="0"/>
              <a:t>: </a:t>
            </a:r>
            <a:r>
              <a:rPr lang="en-US" b="1" dirty="0" err="1"/>
              <a:t>ServerName</a:t>
            </a:r>
            <a:r>
              <a:rPr lang="en-US" dirty="0"/>
              <a:t> (</a:t>
            </a:r>
            <a:r>
              <a:rPr lang="en-US" dirty="0" err="1"/>
              <a:t>localhost</a:t>
            </a:r>
            <a:r>
              <a:rPr lang="en-US" dirty="0"/>
              <a:t>), </a:t>
            </a:r>
            <a:r>
              <a:rPr lang="en-US" b="1" dirty="0" err="1"/>
              <a:t>DatabaseName</a:t>
            </a:r>
            <a:r>
              <a:rPr lang="en-US" dirty="0"/>
              <a:t> (test), </a:t>
            </a:r>
            <a:r>
              <a:rPr lang="en-US" b="1" dirty="0"/>
              <a:t>user</a:t>
            </a:r>
            <a:r>
              <a:rPr lang="en-US" dirty="0"/>
              <a:t> (eventual), </a:t>
            </a:r>
            <a:r>
              <a:rPr lang="en-US" b="1" dirty="0"/>
              <a:t>password</a:t>
            </a:r>
            <a:r>
              <a:rPr lang="en-US" dirty="0"/>
              <a:t> (eventual),  </a:t>
            </a:r>
            <a:r>
              <a:rPr lang="en-US" b="1" dirty="0"/>
              <a:t>port</a:t>
            </a:r>
            <a:r>
              <a:rPr lang="en-US" dirty="0"/>
              <a:t> (3306) </a:t>
            </a:r>
            <a:r>
              <a:rPr lang="en-US" b="1" dirty="0"/>
              <a:t>URL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Url</a:t>
            </a:r>
            <a:r>
              <a:rPr lang="en-US" dirty="0"/>
              <a:t> (</a:t>
            </a:r>
            <a:r>
              <a:rPr lang="en-US" dirty="0" err="1"/>
              <a:t>jdbc:mysql</a:t>
            </a:r>
            <a:r>
              <a:rPr lang="en-US" dirty="0"/>
              <a:t>://</a:t>
            </a:r>
            <a:r>
              <a:rPr lang="en-US" dirty="0" err="1"/>
              <a:t>localhost:3306</a:t>
            </a:r>
            <a:r>
              <a:rPr lang="en-US" dirty="0"/>
              <a:t>/test), click </a:t>
            </a:r>
            <a:r>
              <a:rPr lang="en-US" b="1" dirty="0"/>
              <a:t>Finish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Click ping (</a:t>
            </a:r>
            <a:r>
              <a:rPr lang="en-US" dirty="0" err="1"/>
              <a:t>pentru</a:t>
            </a:r>
            <a:r>
              <a:rPr lang="en-US" dirty="0"/>
              <a:t> control).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obtina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b="1" dirty="0"/>
              <a:t>Ping Succeeded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La </a:t>
            </a:r>
            <a:r>
              <a:rPr lang="en-US" dirty="0" err="1"/>
              <a:t>ConnectionPool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se </a:t>
            </a:r>
            <a:r>
              <a:rPr lang="en-US" dirty="0" err="1"/>
              <a:t>creaza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JDBC</a:t>
            </a:r>
            <a:r>
              <a:rPr lang="en-US" dirty="0"/>
              <a:t>: Open  </a:t>
            </a:r>
            <a:r>
              <a:rPr lang="en-US" b="1" dirty="0"/>
              <a:t>Resources</a:t>
            </a:r>
            <a:r>
              <a:rPr lang="en-US" dirty="0"/>
              <a:t> -&gt; </a:t>
            </a:r>
            <a:r>
              <a:rPr lang="en-US" b="1" dirty="0" err="1"/>
              <a:t>JDBC</a:t>
            </a:r>
            <a:r>
              <a:rPr lang="en-US" dirty="0"/>
              <a:t> -&gt;</a:t>
            </a:r>
            <a:r>
              <a:rPr lang="en-US" b="1" dirty="0" err="1"/>
              <a:t>JDBCResources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click </a:t>
            </a:r>
            <a:r>
              <a:rPr lang="en-US" b="1" dirty="0"/>
              <a:t>New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Pune un </a:t>
            </a:r>
            <a:r>
              <a:rPr lang="en-US" dirty="0" err="1"/>
              <a:t>nume</a:t>
            </a:r>
            <a:r>
              <a:rPr lang="en-US" dirty="0"/>
              <a:t> in  </a:t>
            </a:r>
            <a:r>
              <a:rPr lang="en-US" b="1" dirty="0" err="1"/>
              <a:t>JNDIName</a:t>
            </a:r>
            <a:r>
              <a:rPr lang="en-US" dirty="0"/>
              <a:t>: (de </a:t>
            </a:r>
            <a:r>
              <a:rPr lang="en-US" dirty="0" err="1"/>
              <a:t>exemplu</a:t>
            </a:r>
            <a:r>
              <a:rPr lang="en-US" dirty="0"/>
              <a:t>) </a:t>
            </a:r>
            <a:r>
              <a:rPr lang="en-US" b="1" dirty="0" err="1"/>
              <a:t>mysql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PoolName</a:t>
            </a:r>
            <a:r>
              <a:rPr lang="en-US" dirty="0"/>
              <a:t>: </a:t>
            </a:r>
            <a:r>
              <a:rPr lang="en-US" b="1" dirty="0" err="1"/>
              <a:t>MySqlPool</a:t>
            </a:r>
            <a:r>
              <a:rPr lang="en-US" dirty="0"/>
              <a:t>  (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) click </a:t>
            </a:r>
            <a:r>
              <a:rPr lang="en-US" b="1" dirty="0"/>
              <a:t>Ok</a:t>
            </a:r>
            <a:r>
              <a:rPr lang="en-US" dirty="0"/>
              <a:t>.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terminata</a:t>
            </a:r>
            <a:r>
              <a:rPr lang="en-US" dirty="0"/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11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  <p:pic>
        <p:nvPicPr>
          <p:cNvPr id="7" name="Picture 9" descr="questionmar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09600"/>
            <a:ext cx="5562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147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05.11.2025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</p:spTree>
    <p:extLst>
      <p:ext uri="{BB962C8B-B14F-4D97-AF65-F5344CB8AC3E}">
        <p14:creationId xmlns:p14="http://schemas.microsoft.com/office/powerpoint/2010/main" val="47849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67fba6aa4b17e667eced50403a993aec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f9580e09431f531cb957aa4b42decfe8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560ba9-541b-4abe-8009-15c2be7e61e6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0e77c9-1a0d-4ee8-b1f5-4ac48c790630">
      <Terms xmlns="http://schemas.microsoft.com/office/infopath/2007/PartnerControls"/>
    </lcf76f155ced4ddcb4097134ff3c332f>
    <TaxCatchAll xmlns="db97ba85-579e-411b-948c-311c2e42328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B11C2-2786-488C-BA7F-89EA81EC40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0e77c9-1a0d-4ee8-b1f5-4ac48c790630"/>
    <ds:schemaRef ds:uri="db97ba85-579e-411b-948c-311c2e423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6C492-8304-41B3-B970-547DAD7AD225}">
  <ds:schemaRefs>
    <ds:schemaRef ds:uri="http://schemas.microsoft.com/office/2006/metadata/properties"/>
    <ds:schemaRef ds:uri="http://schemas.microsoft.com/office/infopath/2007/PartnerControls"/>
    <ds:schemaRef ds:uri="fa0e77c9-1a0d-4ee8-b1f5-4ac48c790630"/>
    <ds:schemaRef ds:uri="db97ba85-579e-411b-948c-311c2e42328f"/>
  </ds:schemaRefs>
</ds:datastoreItem>
</file>

<file path=customXml/itemProps3.xml><?xml version="1.0" encoding="utf-8"?>
<ds:datastoreItem xmlns:ds="http://schemas.openxmlformats.org/officeDocument/2006/customXml" ds:itemID="{E83699E7-725E-4AB3-AC4D-E1CB5DED19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4361</TotalTime>
  <Words>4885</Words>
  <Application>Microsoft Office PowerPoint</Application>
  <PresentationFormat>On-screen Show (4:3)</PresentationFormat>
  <Paragraphs>550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HTTP: prezentare generala</dc:title>
  <dc:creator>florin</dc:creator>
  <cp:lastModifiedBy>flori</cp:lastModifiedBy>
  <cp:revision>482</cp:revision>
  <dcterms:created xsi:type="dcterms:W3CDTF">2010-02-26T05:05:29Z</dcterms:created>
  <dcterms:modified xsi:type="dcterms:W3CDTF">2025-11-05T10:50:56Z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  <property fmtid="{D5CDD505-2E9C-101B-9397-08002B2CF9AE}" pid="3" name="MediaServiceImageTags">
    <vt:lpwstr/>
  </property>
</Properties>
</file>