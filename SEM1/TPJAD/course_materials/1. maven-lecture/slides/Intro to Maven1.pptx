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8" r:id="rId3"/>
    <p:sldMasterId id="2147483649" r:id="rId4"/>
    <p:sldMasterId id="2147483650" r:id="rId5"/>
    <p:sldMasterId id="2147483651" r:id="rId6"/>
    <p:sldMasterId id="2147483652" r:id="rId7"/>
  </p:sldMasterIdLst>
  <p:notesMasterIdLst>
    <p:notesMasterId r:id="rId44"/>
  </p:notesMasterIdLst>
  <p:sldIdLst>
    <p:sldId id="256" r:id="rId8"/>
    <p:sldId id="258" r:id="rId9"/>
    <p:sldId id="259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5" r:id="rId42"/>
    <p:sldId id="296" r:id="rId43"/>
  </p:sldIdLst>
  <p:sldSz cx="13004800" cy="9753600"/>
  <p:notesSz cx="6858000" cy="9144000"/>
  <p:defaultTextStyle>
    <a:defPPr>
      <a:defRPr lang="en-US"/>
    </a:defPPr>
    <a:lvl1pPr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1pPr>
    <a:lvl2pPr marL="342900" indent="1143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2pPr>
    <a:lvl3pPr marL="685800" indent="2286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3pPr>
    <a:lvl4pPr marL="1028700" indent="3429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4pPr>
    <a:lvl5pPr marL="1371600" indent="457200" algn="l" defTabSz="584200" rtl="0" eaLnBrk="0" fontAlgn="base" hangingPunct="0">
      <a:spcBef>
        <a:spcPct val="0"/>
      </a:spcBef>
      <a:spcAft>
        <a:spcPct val="0"/>
      </a:spcAft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5pPr>
    <a:lvl6pPr marL="22860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6pPr>
    <a:lvl7pPr marL="27432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7pPr>
    <a:lvl8pPr marL="32004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8pPr>
    <a:lvl9pPr marL="3657600" algn="l" defTabSz="914400" rtl="0" eaLnBrk="1" latinLnBrk="0" hangingPunct="1">
      <a:defRPr sz="4200" kern="1200">
        <a:solidFill>
          <a:srgbClr val="FFFFFF"/>
        </a:solidFill>
        <a:latin typeface="Helvetica Light" charset="0"/>
        <a:ea typeface="Helvetica Light" charset="0"/>
        <a:cs typeface="Helvetica Light" charset="0"/>
        <a:sym typeface="Helvetica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94"/>
  </p:normalViewPr>
  <p:slideViewPr>
    <p:cSldViewPr>
      <p:cViewPr varScale="1">
        <p:scale>
          <a:sx n="85" d="100"/>
          <a:sy n="85" d="100"/>
        </p:scale>
        <p:origin x="1664" y="18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5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84C4DDD2-A596-6D3D-57E7-61082EFB833C}"/>
              </a:ext>
            </a:extLst>
          </p:cNvPr>
          <p:cNvSpPr>
            <a:spLocks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3DA372F-4877-D2C7-7654-F94A05E8A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>
                <a:sym typeface="Noteworthy Bold" panose="02000400000000000000" pitchFamily="2" charset="77"/>
              </a:rPr>
              <a:t>Click to edit Master text styles</a:t>
            </a:r>
          </a:p>
          <a:p>
            <a:pPr lvl="1"/>
            <a:r>
              <a:rPr lang="en-US" altLang="en-US" noProof="0">
                <a:sym typeface="Noteworthy Bold" panose="02000400000000000000" pitchFamily="2" charset="77"/>
              </a:rPr>
              <a:t>Second level</a:t>
            </a:r>
          </a:p>
          <a:p>
            <a:pPr lvl="2"/>
            <a:r>
              <a:rPr lang="en-US" altLang="en-US" noProof="0">
                <a:sym typeface="Noteworthy Bold" panose="02000400000000000000" pitchFamily="2" charset="77"/>
              </a:rPr>
              <a:t>Third level</a:t>
            </a:r>
          </a:p>
          <a:p>
            <a:pPr lvl="3"/>
            <a:r>
              <a:rPr lang="en-US" altLang="en-US" noProof="0">
                <a:sym typeface="Noteworthy Bold" panose="02000400000000000000" pitchFamily="2" charset="77"/>
              </a:rPr>
              <a:t>Fourth level</a:t>
            </a:r>
          </a:p>
          <a:p>
            <a:pPr lvl="4"/>
            <a:r>
              <a:rPr lang="en-US" altLang="en-US" noProof="0">
                <a:sym typeface="Noteworthy Bold" panose="02000400000000000000" pitchFamily="2" charset="77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1pPr>
    <a:lvl2pPr marL="3429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2pPr>
    <a:lvl3pPr marL="6858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3pPr>
    <a:lvl4pPr marL="10287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4pPr>
    <a:lvl5pPr marL="13716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panose="02000400000000000000" pitchFamily="2" charset="77"/>
        <a:ea typeface="Noteworthy Bold" panose="02000400000000000000" pitchFamily="2" charset="77"/>
        <a:cs typeface="Noteworthy Bold" panose="02000400000000000000" pitchFamily="2" charset="77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222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143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672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5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835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577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40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6375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260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15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8988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7398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78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7488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763" y="2597150"/>
            <a:ext cx="5532437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7150"/>
            <a:ext cx="553243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3139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2168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262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350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025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0759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143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7513" y="254000"/>
            <a:ext cx="2803525" cy="853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4000"/>
            <a:ext cx="8261350" cy="85312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0662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0280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41857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9901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656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4379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7314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5256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42111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36688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7688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6892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0646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6469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59367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241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47056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23404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6768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57075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88682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50811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55760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27790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15415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862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763" y="2597150"/>
            <a:ext cx="5532437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7150"/>
            <a:ext cx="553243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8574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21755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121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9034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5720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panose="020B0403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0347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97150"/>
            <a:ext cx="11217275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14828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7513" y="2597150"/>
            <a:ext cx="2803525" cy="647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763" y="2597150"/>
            <a:ext cx="8261350" cy="6470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402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A494C4A2-9082-81FA-0B2C-722CBDC79C27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D9140BF-C078-5710-ACEC-FDA6CC3C12C5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charset="0"/>
              </a:rPr>
              <a:t>Second level</a:t>
            </a:r>
          </a:p>
          <a:p>
            <a:pPr lvl="2"/>
            <a:r>
              <a:rPr lang="en-US" altLang="en-US">
                <a:sym typeface="Helvetica Light" charset="0"/>
              </a:rPr>
              <a:t>Third level</a:t>
            </a:r>
          </a:p>
          <a:p>
            <a:pPr lvl="3"/>
            <a:r>
              <a:rPr lang="en-US" altLang="en-US">
                <a:sym typeface="Helvetica Light" charset="0"/>
              </a:rPr>
              <a:t>Fourth level</a:t>
            </a:r>
          </a:p>
          <a:p>
            <a:pPr lvl="4"/>
            <a:r>
              <a:rPr lang="en-US" altLang="en-US">
                <a:sym typeface="Helvetica Light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414ADE9D-7AB7-9EA4-2D7D-519BBB4AC2D1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ED72796C-6E28-34E2-C9D5-908B61785499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C0933D4-D8EC-829F-B5BD-014FCDF5A1E2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charset="0"/>
              </a:rPr>
              <a:t>Second level</a:t>
            </a:r>
          </a:p>
          <a:p>
            <a:pPr lvl="2"/>
            <a:r>
              <a:rPr lang="en-US" altLang="en-US">
                <a:sym typeface="Helvetica Light" charset="0"/>
              </a:rPr>
              <a:t>Third level</a:t>
            </a:r>
          </a:p>
          <a:p>
            <a:pPr lvl="3"/>
            <a:r>
              <a:rPr lang="en-US" altLang="en-US">
                <a:sym typeface="Helvetica Light" charset="0"/>
              </a:rPr>
              <a:t>Fourth level</a:t>
            </a:r>
          </a:p>
          <a:p>
            <a:pPr lvl="4"/>
            <a:r>
              <a:rPr lang="en-US" altLang="en-US">
                <a:sym typeface="Helvetica Light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97F647C1-00D9-046F-132E-9787A9D2E593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4AEAE9F-0351-7E27-50E5-9BE823A0B185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charset="0"/>
              </a:rPr>
              <a:t>Second level</a:t>
            </a:r>
          </a:p>
          <a:p>
            <a:pPr lvl="2"/>
            <a:r>
              <a:rPr lang="en-US" altLang="en-US">
                <a:sym typeface="Helvetica Light" charset="0"/>
              </a:rPr>
              <a:t>Third level</a:t>
            </a:r>
          </a:p>
          <a:p>
            <a:pPr lvl="3"/>
            <a:r>
              <a:rPr lang="en-US" altLang="en-US">
                <a:sym typeface="Helvetica Light" charset="0"/>
              </a:rPr>
              <a:t>Fourth level</a:t>
            </a:r>
          </a:p>
          <a:p>
            <a:pPr lvl="4"/>
            <a:r>
              <a:rPr lang="en-US" altLang="en-US">
                <a:sym typeface="Helvetica Light" charset="0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2A2AA823-2164-C528-5D56-66812838F60B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charset="0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 kern="1200">
          <a:solidFill>
            <a:srgbClr val="FFFFFF"/>
          </a:solidFill>
          <a:latin typeface="+mj-lt"/>
          <a:ea typeface="+mj-ea"/>
          <a:cs typeface="+mj-cs"/>
          <a:sym typeface="Helvetica Light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FFFFFF"/>
          </a:solidFill>
          <a:latin typeface="Helvetica Light" panose="020B0403020202020204" pitchFamily="34" charset="0"/>
          <a:ea typeface="Helvetica Light" panose="020B0403020202020204" pitchFamily="34" charset="0"/>
          <a:cs typeface="Helvetica Light" panose="020B0403020202020204" pitchFamily="34" charset="0"/>
          <a:sym typeface="Helvetica Light" panose="020B0403020202020204" pitchFamily="34" charset="0"/>
        </a:defRPr>
      </a:lvl9pPr>
    </p:titleStyle>
    <p:bodyStyle>
      <a:lvl1pPr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1pPr>
      <a:lvl2pPr marL="3429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2pPr>
      <a:lvl3pPr marL="6858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3pPr>
      <a:lvl4pPr marL="10287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4pPr>
      <a:lvl5pPr marL="1371600" algn="l" defTabSz="584200" rtl="0" eaLnBrk="0" fontAlgn="base" hangingPunct="0">
        <a:spcBef>
          <a:spcPts val="4200"/>
        </a:spcBef>
        <a:spcAft>
          <a:spcPct val="0"/>
        </a:spcAft>
        <a:defRPr sz="3800" kern="1200">
          <a:solidFill>
            <a:srgbClr val="FFFFFF"/>
          </a:solidFill>
          <a:latin typeface="+mn-lt"/>
          <a:ea typeface="+mn-ea"/>
          <a:cs typeface="+mn-cs"/>
          <a:sym typeface="Helvetica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maven.apache.org/POM/4.0.0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>
            <a:extLst>
              <a:ext uri="{FF2B5EF4-FFF2-40B4-BE49-F238E27FC236}">
                <a16:creationId xmlns:a16="http://schemas.microsoft.com/office/drawing/2014/main" id="{A1C0CDCF-F492-B1C7-E99E-8F1C3D8E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6208" b="-76208"/>
          <a:stretch>
            <a:fillRect/>
          </a:stretch>
        </p:blipFill>
        <p:spPr bwMode="auto">
          <a:xfrm>
            <a:off x="3454400" y="1803400"/>
            <a:ext cx="6096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7291A9C1-E452-DB68-260E-4E5CF6B5B775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1270000" y="5149850"/>
            <a:ext cx="10464800" cy="1701800"/>
          </a:xfrm>
        </p:spPr>
        <p:txBody>
          <a:bodyPr/>
          <a:lstStyle/>
          <a:p>
            <a:pPr eaLnBrk="1"/>
            <a:r>
              <a:rPr lang="en-US" altLang="en-US"/>
              <a:t>Intro to Maven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CBDB47EB-DF07-C329-F687-1EC23F46E76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Agenda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2F107F9A-E5F9-A928-F9C1-49A6E3A76B22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Why Maven?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The Maven Way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 Basics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Multi-Module Projects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Web Projects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Integration Testing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Clean/Advanced Maven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id="{46487000-4FCE-0566-124F-79753112BF4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What Is Maven?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D84C16E2-F41F-4D2C-7ECB-9891D5EBA6D3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Build tool (focused on JVM)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Convention over configuration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Structured project model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Build code reuse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A7B62D65-1BB8-B16A-2630-81AD52AA0D99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Why Maven?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23F7D8E-67B6-D42B-F0A7-CAA16FDBC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844800"/>
            <a:ext cx="5080000" cy="40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921131E5-416C-049B-1880-2E16AE433EE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Regular Structure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3072038C-FC92-94AE-C39C-CB110B7B8B69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Approachable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Machine-readable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Codifies good practice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Supports collective ownership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07242102-0D41-971B-0DFC-E437AC4A5F5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Good Practices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1F0D5CA-749A-FB0F-9AD8-D46D5B10AD4A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Separate code, tests, resources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Platform independence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Declarative dependency management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Share resources via dependencies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Predictable directory structure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Test built artifacts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59D9DCFF-3B0D-94EF-A66D-0882BA99D94F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Why Not Maven?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59FB9F98-FC95-F2CC-9E6E-8DCDCCAA55A9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General automation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Legacy code with intricate build incantations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Might be able to bridge with AntRun or custom plugins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62B17435-F0A2-3352-D4E8-74D984EAC9D7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The Maven Way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982A5DB-DAC7-0715-1E34-479FB81BBBAE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Don't fight Maven. You'll lose.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 is a box that turns source code into build artifacts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First, try to see how your problem fits into Maven's worldview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Next, you might want to write a plugin or use AntRun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If you're still struggling, you may want to consider another tool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EF15072D-854F-F5AB-6BEC-6A8FACDA47ED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Maven Basics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A70376FE-5CA6-E71A-DBFF-F9E36B7C426A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algn="ctr" eaLnBrk="1">
              <a:spcBef>
                <a:spcPct val="0"/>
              </a:spcBef>
            </a:pPr>
            <a:endParaRPr lang="en-US" altLang="en-US" sz="320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343BE4A2-61E3-8CCF-9F21-81322A85696D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Creating a New Project</a:t>
            </a:r>
          </a:p>
        </p:txBody>
      </p:sp>
      <p:sp>
        <p:nvSpPr>
          <p:cNvPr id="16386" name="AutoShape 2">
            <a:extLst>
              <a:ext uri="{FF2B5EF4-FFF2-40B4-BE49-F238E27FC236}">
                <a16:creationId xmlns:a16="http://schemas.microsoft.com/office/drawing/2014/main" id="{35C3D359-8CF5-8F23-4CBE-8307DE9362EE}"/>
              </a:ext>
            </a:extLst>
          </p:cNvPr>
          <p:cNvSpPr>
            <a:spLocks/>
          </p:cNvSpPr>
          <p:nvPr/>
        </p:nvSpPr>
        <p:spPr bwMode="auto">
          <a:xfrm>
            <a:off x="728663" y="2995613"/>
            <a:ext cx="11545887" cy="37592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&lt;?xml version="1.0" encoding="UTF-8"?&gt;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&lt;project xmlns="http://maven.apache.org/POM/4.0.0"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       xmlns:xsi="http://www.w3.org/2001/XMLSchema-instance"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       xsi:schemaLocation="</a:t>
            </a:r>
            <a:r>
              <a:rPr lang="en-US" altLang="en-US" sz="2000" u="sng">
                <a:latin typeface="Courier" charset="0"/>
                <a:ea typeface="Courier" charset="0"/>
                <a:cs typeface="Courier" charset="0"/>
                <a:sym typeface="Courier" charset="0"/>
                <a:hlinkClick r:id="rId2"/>
              </a:rPr>
              <a:t>http://maven.apache.org/POM/4.0.0</a:t>
            </a:r>
            <a:endParaRPr lang="en-US" altLang="en-US" sz="2000">
              <a:latin typeface="Courier" charset="0"/>
              <a:ea typeface="Courier" charset="0"/>
              <a:cs typeface="Courier" charset="0"/>
              <a:sym typeface="Courier" charset="0"/>
            </a:endParaRP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                           http://maven.apache.org/xsd/maven-4.0.0.xsd"&gt;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&lt;modelVersion&gt;4.0.0&lt;/modelVersion&gt;</a:t>
            </a:r>
          </a:p>
          <a:p>
            <a:pPr eaLnBrk="1"/>
            <a:endParaRPr lang="en-US" altLang="en-US" sz="2000">
              <a:latin typeface="Courier" charset="0"/>
              <a:ea typeface="Courier" charset="0"/>
              <a:cs typeface="Courier" charset="0"/>
              <a:sym typeface="Courier" charset="0"/>
            </a:endParaRP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&lt;groupId&gt;com.example.maventraining&lt;/groupId&gt;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&lt;artifactId&gt;simple&lt;/artifactId&gt;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  &lt;version&gt;1.0-SNAPSHOT&lt;/version&gt;</a:t>
            </a:r>
          </a:p>
          <a:p>
            <a:pPr eaLnBrk="1"/>
            <a:r>
              <a:rPr lang="en-US" altLang="en-US" sz="2000">
                <a:latin typeface="Courier" charset="0"/>
                <a:ea typeface="Courier" charset="0"/>
                <a:cs typeface="Courier" charset="0"/>
                <a:sym typeface="Courier" charset="0"/>
              </a:rPr>
              <a:t>&lt;/project&gt;</a:t>
            </a:r>
          </a:p>
        </p:txBody>
      </p:sp>
      <p:sp>
        <p:nvSpPr>
          <p:cNvPr id="16387" name="TextBox 2">
            <a:extLst>
              <a:ext uri="{FF2B5EF4-FFF2-40B4-BE49-F238E27FC236}">
                <a16:creationId xmlns:a16="http://schemas.microsoft.com/office/drawing/2014/main" id="{1B890995-E71D-2AB1-C6F8-550FA16A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7283450"/>
            <a:ext cx="1275080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r>
              <a:rPr lang="en-US" altLang="en-US" sz="3200"/>
              <a:t>mvn archetype:generate -DgroupId=com.mycompany.app -DartifactId=my-app -DarchetypeArtifactId=maven-archetype-quickstart -DarchetypeVersion=1.5 -DinteractiveMode=false</a:t>
            </a:r>
          </a:p>
          <a:p>
            <a:pPr algn="ctr" eaLnBrk="1"/>
            <a:endParaRPr lang="en-US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8789DA1C-1F0E-6BAA-74F3-AEE2C35A9AC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Running Maven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79FFBA41-EBA6-617B-C41E-E8E96F496E6F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eaLnBrk="1">
              <a:spcBef>
                <a:spcPts val="3200"/>
              </a:spcBef>
            </a:pPr>
            <a:r>
              <a:rPr lang="en-US" altLang="en-US" sz="33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mvn &lt;phase or goal&gt; [&lt;phase or goal&gt;...]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AFFA45EB-1679-D700-4F90-563793BAE5FE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Maven Lifecycles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3A2F8C7B-E6B3-E098-15B1-F0261D992691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Clean  - handles project cleaning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Default – handles project deployment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Site – handles the creation of the project’s website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7006A7B2-8965-647D-AA1D-9E52977064CD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1284288" y="1588"/>
            <a:ext cx="10464800" cy="1854200"/>
          </a:xfrm>
        </p:spPr>
        <p:txBody>
          <a:bodyPr/>
          <a:lstStyle/>
          <a:p>
            <a:pPr eaLnBrk="1"/>
            <a:r>
              <a:rPr lang="en-US" altLang="en-US" sz="6700"/>
              <a:t>Default Lifecycle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661F9-99B5-AAFA-C041-DD3B1E12F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371600"/>
            <a:ext cx="12344400" cy="7848600"/>
          </a:xfrm>
        </p:spPr>
        <p:txBody>
          <a:bodyPr/>
          <a:lstStyle/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Validate</a:t>
            </a:r>
            <a:r>
              <a:rPr lang="en-US" sz="2400" dirty="0">
                <a:sym typeface="Helvetica Light" panose="020B0403020202020204" pitchFamily="34" charset="0"/>
              </a:rPr>
              <a:t> – Checks that the project structure and configuration are correct.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ym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Compile</a:t>
            </a:r>
            <a:r>
              <a:rPr lang="en-US" sz="2400" dirty="0">
                <a:sym typeface="Helvetica Light" panose="020B0403020202020204" pitchFamily="34" charset="0"/>
              </a:rPr>
              <a:t> – Compiles the project’s source code.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Test</a:t>
            </a:r>
            <a:r>
              <a:rPr lang="en-US" sz="2400" dirty="0">
                <a:sym typeface="Helvetica Light" panose="020B0403020202020204" pitchFamily="34" charset="0"/>
              </a:rPr>
              <a:t> – Runs unit tests using a suitable testing framework.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Package</a:t>
            </a:r>
            <a:r>
              <a:rPr lang="en-US" sz="2400" dirty="0">
                <a:sym typeface="Helvetica Light" panose="020B0403020202020204" pitchFamily="34" charset="0"/>
              </a:rPr>
              <a:t> – Packages the compiled code into its distributable format (e.g., JAR, WAR).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Integration-test</a:t>
            </a:r>
            <a:r>
              <a:rPr lang="en-US" sz="2400" dirty="0">
                <a:sym typeface="Helvetica Light" panose="020B0403020202020204" pitchFamily="34" charset="0"/>
              </a:rPr>
              <a:t> – Deploys the package to an environment and runs integration tests.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Verify</a:t>
            </a:r>
            <a:r>
              <a:rPr lang="en-US" sz="2400" dirty="0">
                <a:sym typeface="Helvetica Light" panose="020B0403020202020204" pitchFamily="34" charset="0"/>
              </a:rPr>
              <a:t> – Runs checks to ensure the package meets quality standards and criteria.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ym typeface="Helvetica Light" panose="020B0403020202020204" pitchFamily="34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Install</a:t>
            </a:r>
            <a:r>
              <a:rPr lang="en-US" sz="2400" dirty="0">
                <a:sym typeface="Helvetica Light" panose="020B0403020202020204" pitchFamily="34" charset="0"/>
              </a:rPr>
              <a:t> – Installs the package into the local Maven repository for use in other projects.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FF00"/>
                </a:solidFill>
                <a:sym typeface="Helvetica Light" panose="020B0403020202020204" pitchFamily="34" charset="0"/>
              </a:rPr>
              <a:t>Deploy</a:t>
            </a:r>
            <a:r>
              <a:rPr lang="en-US" sz="2400" dirty="0">
                <a:sym typeface="Helvetica Light" panose="020B0403020202020204" pitchFamily="34" charset="0"/>
              </a:rPr>
              <a:t> – Copies the final package to a remote repository for sharing with others.</a:t>
            </a: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  <a:p>
            <a:pPr>
              <a:defRPr/>
            </a:pPr>
            <a:endParaRPr lang="en-US" sz="2400" dirty="0">
              <a:sym typeface="Helvetica Light" panose="020B0403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>
            <a:extLst>
              <a:ext uri="{FF2B5EF4-FFF2-40B4-BE49-F238E27FC236}">
                <a16:creationId xmlns:a16="http://schemas.microsoft.com/office/drawing/2014/main" id="{033AA641-FFD0-81B6-D71A-4C062E8E2B3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6800"/>
              <a:t>Dependency Management</a:t>
            </a:r>
            <a:endParaRPr lang="en-US" altLang="en-US"/>
          </a:p>
        </p:txBody>
      </p:sp>
      <p:sp>
        <p:nvSpPr>
          <p:cNvPr id="20482" name="AutoShape 2">
            <a:extLst>
              <a:ext uri="{FF2B5EF4-FFF2-40B4-BE49-F238E27FC236}">
                <a16:creationId xmlns:a16="http://schemas.microsoft.com/office/drawing/2014/main" id="{B17EC9A5-7AA7-2AEC-977F-51F0876D8E8D}"/>
              </a:ext>
            </a:extLst>
          </p:cNvPr>
          <p:cNvSpPr>
            <a:spLocks/>
          </p:cNvSpPr>
          <p:nvPr/>
        </p:nvSpPr>
        <p:spPr bwMode="auto">
          <a:xfrm>
            <a:off x="2671763" y="2768600"/>
            <a:ext cx="8116887" cy="42164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&lt;dependencies&gt;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&lt;dependency&gt;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&lt;groupId&gt;junit&lt;/groupId&gt;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&lt;artifactId&gt;junit&lt;/artifactId&gt;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&lt;version&gt;4.11&lt;/version&gt;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  &lt;scope&gt;test&lt;/scope&gt;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  &lt;/dependency&gt;</a:t>
            </a:r>
          </a:p>
          <a:p>
            <a:pPr eaLnBrk="1"/>
            <a:r>
              <a:rPr lang="en-US" altLang="en-US" sz="3000">
                <a:latin typeface="Courier" charset="0"/>
                <a:ea typeface="Courier" charset="0"/>
                <a:cs typeface="Courier" charset="0"/>
                <a:sym typeface="Courier" charset="0"/>
              </a:rPr>
              <a:t>&lt;/dependencies&gt;</a:t>
            </a:r>
          </a:p>
        </p:txBody>
      </p:sp>
      <p:grpSp>
        <p:nvGrpSpPr>
          <p:cNvPr id="22531" name="Group 3">
            <a:extLst>
              <a:ext uri="{FF2B5EF4-FFF2-40B4-BE49-F238E27FC236}">
                <a16:creationId xmlns:a16="http://schemas.microsoft.com/office/drawing/2014/main" id="{138633C7-961B-476E-6CB2-8A2CB75E1B38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7099300"/>
            <a:ext cx="11060113" cy="1447800"/>
            <a:chOff x="0" y="0"/>
            <a:chExt cx="871" cy="114"/>
          </a:xfrm>
        </p:grpSpPr>
        <p:sp>
          <p:nvSpPr>
            <p:cNvPr id="20484" name="AutoShape 4">
              <a:extLst>
                <a:ext uri="{FF2B5EF4-FFF2-40B4-BE49-F238E27FC236}">
                  <a16:creationId xmlns:a16="http://schemas.microsoft.com/office/drawing/2014/main" id="{BC5BCDCA-6C68-C8CC-992B-CAE54A211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71" cy="114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1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6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1pPr>
              <a:lvl2pPr marL="742950" indent="-28575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2pPr>
              <a:lvl3pPr marL="1143000" indent="-22860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3pPr>
              <a:lvl4pPr marL="1600200" indent="-22860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4pPr>
              <a:lvl5pPr marL="2057400" indent="-228600"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5pPr>
              <a:lvl6pPr marL="25146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6pPr>
              <a:lvl7pPr marL="29718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7pPr>
              <a:lvl8pPr marL="34290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8pPr>
              <a:lvl9pPr marL="3886200" indent="-228600" defTabSz="584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FFFFFF"/>
                  </a:solidFill>
                  <a:latin typeface="Helvetica Light" charset="0"/>
                  <a:ea typeface="Helvetica Light" charset="0"/>
                  <a:cs typeface="Helvetica Light" charset="0"/>
                  <a:sym typeface="Helvetica Light" charset="0"/>
                </a:defRPr>
              </a:lvl9pPr>
            </a:lstStyle>
            <a:p>
              <a:pPr algn="ctr" eaLnBrk="1"/>
              <a:r>
                <a:rPr lang="en-US" altLang="en-US"/>
                <a:t>Coordinates: groupId, artifactId, version, and optional scope</a:t>
              </a:r>
            </a:p>
          </p:txBody>
        </p:sp>
        <p:pic>
          <p:nvPicPr>
            <p:cNvPr id="20485" name="Picture 5">
              <a:extLst>
                <a:ext uri="{FF2B5EF4-FFF2-40B4-BE49-F238E27FC236}">
                  <a16:creationId xmlns:a16="http://schemas.microsoft.com/office/drawing/2014/main" id="{D604BB29-DA9D-1037-E87B-6BD6658CA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" y="-3"/>
              <a:ext cx="878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7517B3D8-88F8-1C79-91B9-268046DE82EA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Dependency Scopes</a:t>
            </a: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0F66DD0-6472-D76B-D6F5-20CD2ADFBC0E}"/>
              </a:ext>
            </a:extLst>
          </p:cNvPr>
          <p:cNvSpPr>
            <a:spLocks/>
          </p:cNvSpPr>
          <p:nvPr>
            <p:ph type="body" idx="1"/>
          </p:nvPr>
        </p:nvSpPr>
        <p:spPr>
          <a:xfrm>
            <a:off x="1270000" y="2057400"/>
            <a:ext cx="10464800" cy="7442200"/>
          </a:xfrm>
        </p:spPr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compile (default) </a:t>
            </a:r>
            <a:r>
              <a:rPr lang="en-US" altLang="en-US" sz="2400"/>
              <a:t>– Available in all build phases and included in the final artifact.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provided</a:t>
            </a:r>
            <a:r>
              <a:rPr lang="en-US" altLang="en-US" sz="2400"/>
              <a:t> – Needed for compilation but expected to be provided by the runtime environment (e.g., a servlet container (Tomcat, Jetty etc.).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runtime</a:t>
            </a:r>
            <a:r>
              <a:rPr lang="en-US" altLang="en-US" sz="2400"/>
              <a:t> – Not required for compilation but needed at runtime execution.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test</a:t>
            </a:r>
            <a:r>
              <a:rPr lang="en-US" altLang="en-US" sz="2400"/>
              <a:t> – Available only for test compilation and execution, not in the final artifact.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system</a:t>
            </a:r>
            <a:r>
              <a:rPr lang="en-US" altLang="en-US" sz="2400"/>
              <a:t> – Similar to provided, but you must explicitly provide the JAR from the local file system.</a:t>
            </a:r>
          </a:p>
          <a:p>
            <a:pPr marL="571500" indent="-571500" eaLnBrk="1">
              <a:buFontTx/>
              <a:buChar char="•"/>
            </a:pPr>
            <a:r>
              <a:rPr lang="en-US" altLang="en-US" sz="2400" b="1">
                <a:solidFill>
                  <a:srgbClr val="FFFF00"/>
                </a:solidFill>
              </a:rPr>
              <a:t>import</a:t>
            </a:r>
            <a:r>
              <a:rPr lang="en-US" altLang="en-US" sz="2400"/>
              <a:t> – Used only in &lt;dependencyManagement&gt; to import dependencies from another POM.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C3A81E42-ADB8-003C-63AF-1C3FCA55AD82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Snapshot Versions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5EE1E6B-D690-B729-0131-768114DF8B03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Good for intra-project dependencies during development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Will check for updates each time you build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Will break your build eventually outside a single source tree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x.x-SNAPSHOT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8C2DAE4C-6BFD-E9A7-D419-DFA78B59A963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Release versions</a:t>
            </a: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58435519-C290-734D-5EB9-0A223326E774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Generated by the release 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Assumed immutable (cached aggressively)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DB8A79B7-0070-751A-CB12-5E1DA63133C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Directory Layout</a:t>
            </a:r>
          </a:p>
        </p:txBody>
      </p:sp>
      <p:graphicFrame>
        <p:nvGraphicFramePr>
          <p:cNvPr id="26626" name="Group 2">
            <a:extLst>
              <a:ext uri="{FF2B5EF4-FFF2-40B4-BE49-F238E27FC236}">
                <a16:creationId xmlns:a16="http://schemas.microsoft.com/office/drawing/2014/main" id="{27994E87-838B-A61F-5D6E-ABF3422F8BBA}"/>
              </a:ext>
            </a:extLst>
          </p:cNvPr>
          <p:cNvGraphicFramePr>
            <a:graphicFrameLocks noGrp="1"/>
          </p:cNvGraphicFramePr>
          <p:nvPr/>
        </p:nvGraphicFramePr>
        <p:xfrm>
          <a:off x="1211263" y="2747963"/>
          <a:ext cx="10582275" cy="6181725"/>
        </p:xfrm>
        <a:graphic>
          <a:graphicData uri="http://schemas.openxmlformats.org/drawingml/2006/table">
            <a:tbl>
              <a:tblPr/>
              <a:tblGrid>
                <a:gridCol w="5291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1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src/main/java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Application/Library 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src/main/resources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Application/Library 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src/main/webapp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Web application 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src/test/java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Test 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src/test/resources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Test 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288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target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l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urier New" panose="02070309020205020404" pitchFamily="49" charset="0"/>
                          <a:ea typeface="Courier New" panose="02070309020205020404" pitchFamily="49" charset="0"/>
                          <a:cs typeface="Courier New" panose="02070309020205020404" pitchFamily="49" charset="0"/>
                          <a:sym typeface="Courier New" panose="02070309020205020404" pitchFamily="49" charset="0"/>
                        </a:rPr>
                        <a:t>Build output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3B36574-0A0C-5F42-DDA4-2A3542B19AE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Super POM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647C0607-D5D4-54BE-4E35-25E648EC3DE3}"/>
              </a:ext>
            </a:extLst>
          </p:cNvPr>
          <p:cNvSpPr>
            <a:spLocks/>
          </p:cNvSpPr>
          <p:nvPr>
            <p:ph type="body" idx="1"/>
          </p:nvPr>
        </p:nvSpPr>
        <p:spPr>
          <a:xfrm>
            <a:off x="1270000" y="2768600"/>
            <a:ext cx="10464800" cy="5715000"/>
          </a:xfrm>
        </p:spPr>
        <p:txBody>
          <a:bodyPr/>
          <a:lstStyle/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The POM from which all other POMs inherit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Look here for defaults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http://maven.apache.org/ref/3.0.4/maven-model-builder/super-pom.html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DB66425F-111E-323F-D4DD-17FF20AEFAFF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Exercise</a:t>
            </a: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A06A36A8-80B7-A0AA-837C-9DEA7A2032B8}"/>
              </a:ext>
            </a:extLst>
          </p:cNvPr>
          <p:cNvSpPr>
            <a:spLocks/>
          </p:cNvSpPr>
          <p:nvPr/>
        </p:nvSpPr>
        <p:spPr bwMode="auto">
          <a:xfrm>
            <a:off x="1270000" y="3749675"/>
            <a:ext cx="10464800" cy="323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algn="ctr" eaLnBrk="1"/>
            <a:r>
              <a:rPr lang="en-US" altLang="en-US" sz="3200"/>
              <a:t>Build a simple library that outputs "Hello, World!". Write a HelloWorld class that outputs a String and a test that invokes it. Build and test your project with Maven.</a:t>
            </a:r>
            <a:endParaRPr lang="en-US" altLang="en-US" sz="280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930F466E-938A-77B2-3D40-6953A8935A1E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More Basics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ADF7DDE0-2B54-E340-9321-59447908755F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algn="ctr" eaLnBrk="1">
              <a:spcBef>
                <a:spcPct val="0"/>
              </a:spcBef>
            </a:pPr>
            <a:r>
              <a:rPr lang="en-US" altLang="en-US" sz="6000"/>
              <a:t>Plugins</a:t>
            </a:r>
          </a:p>
          <a:p>
            <a:pPr algn="ctr" eaLnBrk="1">
              <a:spcBef>
                <a:spcPct val="0"/>
              </a:spcBef>
            </a:pPr>
            <a:r>
              <a:rPr lang="en-US" altLang="en-US" sz="6000"/>
              <a:t>Packaging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>
            <a:extLst>
              <a:ext uri="{FF2B5EF4-FFF2-40B4-BE49-F238E27FC236}">
                <a16:creationId xmlns:a16="http://schemas.microsoft.com/office/drawing/2014/main" id="{2C3998F9-C440-579E-8257-F8E60AE7E0A9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Plugins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9EB1B5F8-7FC8-14A2-990C-A68FBCD2ABC4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Maven's main unit of modularity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How most of Maven's functionality is implemented and configured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11DD9466-1B40-482A-3C3F-EC23AEF3BD20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Plugin Configuration</a:t>
            </a:r>
          </a:p>
        </p:txBody>
      </p:sp>
      <p:sp>
        <p:nvSpPr>
          <p:cNvPr id="29698" name="AutoShape 2">
            <a:extLst>
              <a:ext uri="{FF2B5EF4-FFF2-40B4-BE49-F238E27FC236}">
                <a16:creationId xmlns:a16="http://schemas.microsoft.com/office/drawing/2014/main" id="{9678D287-7E70-2C5D-544F-B3BEA3755FBF}"/>
              </a:ext>
            </a:extLst>
          </p:cNvPr>
          <p:cNvSpPr>
            <a:spLocks/>
          </p:cNvSpPr>
          <p:nvPr/>
        </p:nvSpPr>
        <p:spPr bwMode="auto">
          <a:xfrm>
            <a:off x="385763" y="2768600"/>
            <a:ext cx="12109450" cy="5715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&lt;build&gt;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&lt;plugins&gt;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&lt;plugin&gt;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&lt;artifactId&gt;maven-compiler-plugin&lt;/artifactId&gt;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&lt;version&gt;3.1&lt;/version&gt;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&lt;configuration&gt;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  &lt;source&gt;21&lt;/source&gt;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  &lt;target&gt;21&lt;/target&gt;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  &lt;/configuration&gt;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&lt;/plugin&gt;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&lt;/plugins&gt;</a:t>
            </a:r>
          </a:p>
          <a:p>
            <a:pPr eaLnBrk="1"/>
            <a:r>
              <a:rPr lang="en-US" altLang="en-US" sz="30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&lt;/build&gt;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>
            <a:extLst>
              <a:ext uri="{FF2B5EF4-FFF2-40B4-BE49-F238E27FC236}">
                <a16:creationId xmlns:a16="http://schemas.microsoft.com/office/drawing/2014/main" id="{E7E0890E-DC1D-3562-009A-D1D3922525BA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Built-In Plugins</a:t>
            </a: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8006500-6F0B-D171-38FB-973F0389DCA3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maven-compiler-plugin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maven-surefire-plugin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maven-dependency-plugin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maven-release-plugin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>
            <a:extLst>
              <a:ext uri="{FF2B5EF4-FFF2-40B4-BE49-F238E27FC236}">
                <a16:creationId xmlns:a16="http://schemas.microsoft.com/office/drawing/2014/main" id="{A69F7540-7713-D513-0638-B70BC7326DB9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Common Plugins</a:t>
            </a: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868651F-A593-12E8-FCCE-232DF1E3724F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AntRun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Cargo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Jasmine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Exec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PMD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Cobertura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Findbugs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>
            <a:extLst>
              <a:ext uri="{FF2B5EF4-FFF2-40B4-BE49-F238E27FC236}">
                <a16:creationId xmlns:a16="http://schemas.microsoft.com/office/drawing/2014/main" id="{13B17045-151F-D902-8593-8815321FEE1D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Packaging</a:t>
            </a: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6F7E7C9-B209-860F-885B-51FCA165B2F2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Defines the artifact type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Binds goals to phases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Core values: pom, jar, maven-plugin, ejb, war, ear, rar, par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Default is jar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4049D895-4A94-DBD8-54EB-A20D968F875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5300"/>
              <a:t>Packaging Binds Goals to Phases</a:t>
            </a:r>
            <a:endParaRPr lang="en-US" altLang="en-US"/>
          </a:p>
        </p:txBody>
      </p:sp>
      <p:graphicFrame>
        <p:nvGraphicFramePr>
          <p:cNvPr id="35842" name="Group 2">
            <a:extLst>
              <a:ext uri="{FF2B5EF4-FFF2-40B4-BE49-F238E27FC236}">
                <a16:creationId xmlns:a16="http://schemas.microsoft.com/office/drawing/2014/main" id="{81AFB375-7B27-3858-2C38-4E62DE5A9729}"/>
              </a:ext>
            </a:extLst>
          </p:cNvPr>
          <p:cNvGraphicFramePr>
            <a:graphicFrameLocks noGrp="1"/>
          </p:cNvGraphicFramePr>
          <p:nvPr/>
        </p:nvGraphicFramePr>
        <p:xfrm>
          <a:off x="1631950" y="2789238"/>
          <a:ext cx="9740900" cy="5672137"/>
        </p:xfrm>
        <a:graphic>
          <a:graphicData uri="http://schemas.openxmlformats.org/drawingml/2006/table">
            <a:tbl>
              <a:tblPr/>
              <a:tblGrid>
                <a:gridCol w="487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Phase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86B0"/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Goal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8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process-resources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resources:resources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compiler:compile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process-test-resources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resources:testResources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test-compile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compiler:testCompile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test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surefire:test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package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jar:jar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install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install:install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0237"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deploy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1pPr>
                      <a:lvl2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2pPr>
                      <a:lvl3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3pPr>
                      <a:lvl4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4pPr>
                      <a:lvl5pPr algn="l" defTabSz="0">
                        <a:spcBef>
                          <a:spcPts val="4200"/>
                        </a:spcBef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5pPr>
                      <a:lvl6pPr marL="18288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6pPr>
                      <a:lvl7pPr marL="22860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7pPr>
                      <a:lvl8pPr marL="27432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8pPr>
                      <a:lvl9pPr marL="3200400" defTabSz="0" fontAlgn="base" hangingPunct="0">
                        <a:spcBef>
                          <a:spcPts val="4200"/>
                        </a:spcBef>
                        <a:spcAft>
                          <a:spcPct val="0"/>
                        </a:spcAft>
                        <a:defRPr sz="3400">
                          <a:solidFill>
                            <a:srgbClr val="FFFFFF"/>
                          </a:solidFill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defRPr>
                      </a:lvl9pPr>
                    </a:lstStyle>
                    <a:p>
                      <a:pPr marL="0" marR="0" lvl="0" indent="0" algn="ctr" defTabSz="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 Light" panose="020B0403020202020204" pitchFamily="34" charset="0"/>
                          <a:ea typeface="Helvetica Light" panose="020B0403020202020204" pitchFamily="34" charset="0"/>
                          <a:cs typeface="Helvetica Light" panose="020B0403020202020204" pitchFamily="34" charset="0"/>
                          <a:sym typeface="Helvetica Light" panose="020B0403020202020204" pitchFamily="34" charset="0"/>
                        </a:rPr>
                        <a:t>deploy:deploy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Helvetica Light" panose="020B0403020202020204" pitchFamily="34" charset="0"/>
                        <a:ea typeface="Helvetica Light" panose="020B0403020202020204" pitchFamily="34" charset="0"/>
                        <a:cs typeface="Helvetica Light" panose="020B0403020202020204" pitchFamily="34" charset="0"/>
                        <a:sym typeface="Helvetica Light" panose="020B0403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miter lim="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B93C0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1">
            <a:extLst>
              <a:ext uri="{FF2B5EF4-FFF2-40B4-BE49-F238E27FC236}">
                <a16:creationId xmlns:a16="http://schemas.microsoft.com/office/drawing/2014/main" id="{135470A9-98B5-7653-CC6D-940CF8078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9224" b="-39224"/>
          <a:stretch>
            <a:fillRect/>
          </a:stretch>
        </p:blipFill>
        <p:spPr bwMode="auto">
          <a:xfrm>
            <a:off x="6346825" y="990600"/>
            <a:ext cx="6489700" cy="865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18" name="Rectangle 2">
            <a:extLst>
              <a:ext uri="{FF2B5EF4-FFF2-40B4-BE49-F238E27FC236}">
                <a16:creationId xmlns:a16="http://schemas.microsoft.com/office/drawing/2014/main" id="{22A38748-3506-708F-15F9-68BF31528BC7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Multi-Module Maven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65C3E86-2011-7107-7F80-864C18ADFD3D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Why?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How?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Dependence vs. Inheritance</a:t>
            </a:r>
          </a:p>
          <a:p>
            <a:pPr marL="420688" indent="-420688" eaLnBrk="1">
              <a:spcBef>
                <a:spcPts val="3200"/>
              </a:spcBef>
              <a:buFontTx/>
              <a:buChar char="•"/>
            </a:pPr>
            <a:r>
              <a:rPr lang="en-US" altLang="en-US" sz="2800"/>
              <a:t>Naming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>
            <a:extLst>
              <a:ext uri="{FF2B5EF4-FFF2-40B4-BE49-F238E27FC236}">
                <a16:creationId xmlns:a16="http://schemas.microsoft.com/office/drawing/2014/main" id="{18393B2D-A6B7-176C-A24C-97B0C60C2F45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Why Multiple Modules?</a:t>
            </a: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A599A81E-6931-BD54-60A5-95CD55710990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Group related functionality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Isolate unrelated functionality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Organize dependencies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Unit for sharing code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Unit of packaging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>
            <a:extLst>
              <a:ext uri="{FF2B5EF4-FFF2-40B4-BE49-F238E27FC236}">
                <a16:creationId xmlns:a16="http://schemas.microsoft.com/office/drawing/2014/main" id="{6B0136D1-2571-A6B0-C7D8-DED92DF71352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Multi-Modules: How</a:t>
            </a: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570E1EF-8C08-B642-1E34-4DFB8611708B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Top-level pom packaging with modules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Optional parent in sub-modules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>
            <a:extLst>
              <a:ext uri="{FF2B5EF4-FFF2-40B4-BE49-F238E27FC236}">
                <a16:creationId xmlns:a16="http://schemas.microsoft.com/office/drawing/2014/main" id="{12A97971-AA71-7C06-C571-3B64408B787E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Modules</a:t>
            </a:r>
          </a:p>
        </p:txBody>
      </p:sp>
      <p:sp>
        <p:nvSpPr>
          <p:cNvPr id="37890" name="AutoShape 2">
            <a:extLst>
              <a:ext uri="{FF2B5EF4-FFF2-40B4-BE49-F238E27FC236}">
                <a16:creationId xmlns:a16="http://schemas.microsoft.com/office/drawing/2014/main" id="{A7FE58BC-F2C7-0FC3-2BD2-132342C8B4EF}"/>
              </a:ext>
            </a:extLst>
          </p:cNvPr>
          <p:cNvSpPr>
            <a:spLocks/>
          </p:cNvSpPr>
          <p:nvPr/>
        </p:nvSpPr>
        <p:spPr bwMode="auto">
          <a:xfrm>
            <a:off x="1163638" y="3300413"/>
            <a:ext cx="10504487" cy="31496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&lt;modules&gt;</a:t>
            </a:r>
          </a:p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&lt;module&gt;hello-util&lt;/module&gt;</a:t>
            </a:r>
          </a:p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&lt;module&gt;hello-service&lt;/module&gt;</a:t>
            </a:r>
          </a:p>
          <a:p>
            <a:pPr eaLnBrk="1"/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&lt;/modules&gt;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>
            <a:extLst>
              <a:ext uri="{FF2B5EF4-FFF2-40B4-BE49-F238E27FC236}">
                <a16:creationId xmlns:a16="http://schemas.microsoft.com/office/drawing/2014/main" id="{B4C43FFD-747E-0FF6-2955-6F1A89ABAE4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Parent</a:t>
            </a:r>
          </a:p>
        </p:txBody>
      </p:sp>
      <p:sp>
        <p:nvSpPr>
          <p:cNvPr id="38914" name="AutoShape 2">
            <a:extLst>
              <a:ext uri="{FF2B5EF4-FFF2-40B4-BE49-F238E27FC236}">
                <a16:creationId xmlns:a16="http://schemas.microsoft.com/office/drawing/2014/main" id="{BE85A0B5-881F-9509-3C0D-5DC3D50C1877}"/>
              </a:ext>
            </a:extLst>
          </p:cNvPr>
          <p:cNvSpPr>
            <a:spLocks/>
          </p:cNvSpPr>
          <p:nvPr/>
        </p:nvSpPr>
        <p:spPr bwMode="auto">
          <a:xfrm>
            <a:off x="1216025" y="3611563"/>
            <a:ext cx="10456863" cy="25273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5pPr>
            <a:lvl6pPr marL="25146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6pPr>
            <a:lvl7pPr marL="29718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7pPr>
            <a:lvl8pPr marL="34290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8pPr>
            <a:lvl9pPr marL="3886200" indent="-228600" defTabSz="584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Helvetica Light" panose="020B0403020202020204" charset="0"/>
                <a:ea typeface="Helvetica Light" panose="020B0403020202020204" charset="0"/>
                <a:cs typeface="Helvetica Light" panose="020B0403020202020204" charset="0"/>
                <a:sym typeface="Helvetica Light" panose="020B0403020202020204" charset="0"/>
              </a:defRPr>
            </a:lvl9pPr>
          </a:lstStyle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&lt;parent&gt;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&lt;groupId&gt;com.example.maventraining&lt;/groupId&gt;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&lt;artifactId&gt;hello&lt;/artifactId&gt;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   &lt;version&gt;1.0-SNAPSHOT&lt;/version&gt;</a:t>
            </a:r>
          </a:p>
          <a:p>
            <a:pPr eaLnBrk="1"/>
            <a:r>
              <a:rPr lang="en-US" altLang="en-US" sz="280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&lt;/parent&gt;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>
            <a:extLst>
              <a:ext uri="{FF2B5EF4-FFF2-40B4-BE49-F238E27FC236}">
                <a16:creationId xmlns:a16="http://schemas.microsoft.com/office/drawing/2014/main" id="{03CA09E2-A0EA-7703-FE33-4BEC2545A27C}"/>
              </a:ext>
            </a:extLst>
          </p:cNvPr>
          <p:cNvSpPr>
            <a:spLocks/>
          </p:cNvSpPr>
          <p:nvPr>
            <p:ph type="title"/>
          </p:nvPr>
        </p:nvSpPr>
        <p:spPr>
          <a:xfrm>
            <a:off x="1270000" y="0"/>
            <a:ext cx="10464800" cy="2438400"/>
          </a:xfrm>
        </p:spPr>
        <p:txBody>
          <a:bodyPr/>
          <a:lstStyle/>
          <a:p>
            <a:pPr eaLnBrk="1"/>
            <a:r>
              <a:rPr lang="en-US" altLang="en-US"/>
              <a:t>Dependence vs. Inheritance</a:t>
            </a: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39F2A43-063D-EC62-4F28-5E0AA4D0B5B9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Use dependencies to share code, resources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Use inheritance to aggregate common settings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>
            <a:extLst>
              <a:ext uri="{FF2B5EF4-FFF2-40B4-BE49-F238E27FC236}">
                <a16:creationId xmlns:a16="http://schemas.microsoft.com/office/drawing/2014/main" id="{93920726-8D49-0CDE-E482-8420E85DE9C1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Naming</a:t>
            </a: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741162CC-77A7-3158-4DE7-C47B8EB00BFF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"There are only two hard things in Computer Science: naming, cache invalidation, and off-by-one errors." - almost Phil Karlton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All modules are top-level, referenced by groupId-artifactId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http://maven.apache.org/guides/mini/guide-naming-conventions.html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>
            <a:extLst>
              <a:ext uri="{FF2B5EF4-FFF2-40B4-BE49-F238E27FC236}">
                <a16:creationId xmlns:a16="http://schemas.microsoft.com/office/drawing/2014/main" id="{072A3D46-54C2-14B0-3195-728E9ADB588C}"/>
              </a:ext>
            </a:extLst>
          </p:cNvPr>
          <p:cNvSpPr>
            <a:spLocks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/>
              <a:t>Web Modules</a:t>
            </a: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F095030-DFD6-D7AB-DD11-216FD9E5C02A}"/>
              </a:ext>
            </a:extLst>
          </p:cNvPr>
          <p:cNvSpPr>
            <a:spLocks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>
              <a:buFontTx/>
              <a:buChar char="•"/>
            </a:pPr>
            <a:r>
              <a:rPr lang="en-US" altLang="en-US"/>
              <a:t>war packaging</a:t>
            </a:r>
          </a:p>
          <a:p>
            <a:pPr marL="571500" indent="-571500" eaLnBrk="1">
              <a:buFontTx/>
              <a:buChar char="•"/>
            </a:pPr>
            <a:r>
              <a:rPr lang="en-US" altLang="en-US"/>
              <a:t>Static resources in </a:t>
            </a:r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src/main/webapp</a:t>
            </a:r>
          </a:p>
          <a:p>
            <a:pPr marL="571500" indent="-571500" eaLnBrk="1">
              <a:buFontTx/>
              <a:buChar char="•"/>
            </a:pPr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web.xml </a:t>
            </a:r>
            <a:r>
              <a:rPr lang="en-US" altLang="en-US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in</a:t>
            </a:r>
            <a:r>
              <a:rPr lang="en-US" altLang="en-US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 src/main/webapp/WEB-INF</a:t>
            </a:r>
            <a:endParaRPr lang="en-US" altLang="en-US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72B231F3-8653-8DBA-BD64-89D4C4F2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42464D"/>
      </a:dk1>
      <a:lt1>
        <a:srgbClr val="FFFFFF"/>
      </a:lt1>
      <a:dk2>
        <a:srgbClr val="000000"/>
      </a:dk2>
      <a:lt2>
        <a:srgbClr val="D4D6D9"/>
      </a:lt2>
      <a:accent1>
        <a:srgbClr val="094EB3"/>
      </a:accent1>
      <a:accent2>
        <a:srgbClr val="1B8D14"/>
      </a:accent2>
      <a:accent3>
        <a:srgbClr val="AAAAAA"/>
      </a:accent3>
      <a:accent4>
        <a:srgbClr val="DADADA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94EB3"/>
            </a:gs>
            <a:gs pos="100000">
              <a:srgbClr val="002967"/>
            </a:gs>
          </a:gsLst>
          <a:lin ang="5400000"/>
        </a:gradFill>
        <a:ln>
          <a:noFill/>
        </a:ln>
        <a:effectLst>
          <a:outerShdw blurRad="50800" dist="12700" dir="16200000" algn="ctr" rotWithShape="0">
            <a:srgbClr val="000000">
              <a:alpha val="50000"/>
            </a:srgbClr>
          </a:outerShdw>
        </a:effectLst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Helvetica Light" panose="020B0403020202020204" pitchFamily="34" charset="0"/>
            <a:ea typeface="Helvetica Light" panose="020B0403020202020204" pitchFamily="34" charset="0"/>
            <a:cs typeface="Helvetica Light" panose="020B0403020202020204" pitchFamily="34" charset="0"/>
            <a:sym typeface="Helvetica Light" panose="020B0403020202020204" pitchFamily="34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572E2D"/>
      </a:dk1>
      <a:lt1>
        <a:srgbClr val="2A5657"/>
      </a:lt1>
      <a:dk2>
        <a:srgbClr val="42464D"/>
      </a:dk2>
      <a:lt2>
        <a:srgbClr val="D4D6D9"/>
      </a:lt2>
      <a:accent1>
        <a:srgbClr val="094EB3"/>
      </a:accent1>
      <a:accent2>
        <a:srgbClr val="1B8D14"/>
      </a:accent2>
      <a:accent3>
        <a:srgbClr val="ACB4B4"/>
      </a:accent3>
      <a:accent4>
        <a:srgbClr val="492625"/>
      </a:accent4>
      <a:accent5>
        <a:srgbClr val="AAB2D6"/>
      </a:accent5>
      <a:accent6>
        <a:srgbClr val="177F11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dbc7724bece657e3dac172e2cd787ffe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bf2fa36b7386756a3798963ea62f5279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560ba9-541b-4abe-8009-15c2be7e61e6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353500-9EEE-49FF-8189-31A8AEAA53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0e77c9-1a0d-4ee8-b1f5-4ac48c790630"/>
    <ds:schemaRef ds:uri="db97ba85-579e-411b-948c-311c2e423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9BB711-2956-43BF-987D-8A1573E815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1129</Words>
  <Application>Microsoft Office PowerPoint</Application>
  <PresentationFormat>Egyéni</PresentationFormat>
  <Paragraphs>207</Paragraphs>
  <Slides>36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5</vt:i4>
      </vt:variant>
      <vt:variant>
        <vt:lpstr>Diacímek</vt:lpstr>
      </vt:variant>
      <vt:variant>
        <vt:i4>36</vt:i4>
      </vt:variant>
    </vt:vector>
  </HeadingPairs>
  <TitlesOfParts>
    <vt:vector size="41" baseType="lpstr">
      <vt:lpstr>Office Theme</vt:lpstr>
      <vt:lpstr>Office Theme</vt:lpstr>
      <vt:lpstr>Office Theme</vt:lpstr>
      <vt:lpstr>Office Theme</vt:lpstr>
      <vt:lpstr>Office Theme</vt:lpstr>
      <vt:lpstr>Intro to Maven</vt:lpstr>
      <vt:lpstr>Agenda</vt:lpstr>
      <vt:lpstr>What Is Maven?</vt:lpstr>
      <vt:lpstr>Why Maven?</vt:lpstr>
      <vt:lpstr>Regular Structure</vt:lpstr>
      <vt:lpstr>Good Practices</vt:lpstr>
      <vt:lpstr>Why Not Maven?</vt:lpstr>
      <vt:lpstr>The Maven Way</vt:lpstr>
      <vt:lpstr>Maven Basics</vt:lpstr>
      <vt:lpstr>Creating a New Project</vt:lpstr>
      <vt:lpstr>Running Maven</vt:lpstr>
      <vt:lpstr>Maven Lifecycles</vt:lpstr>
      <vt:lpstr>Default Lifecycle</vt:lpstr>
      <vt:lpstr>Dependency Management</vt:lpstr>
      <vt:lpstr>Dependency Scopes</vt:lpstr>
      <vt:lpstr>Snapshot Versions</vt:lpstr>
      <vt:lpstr>Release versions</vt:lpstr>
      <vt:lpstr>Directory Layout</vt:lpstr>
      <vt:lpstr>Super POM</vt:lpstr>
      <vt:lpstr>Exercise</vt:lpstr>
      <vt:lpstr>More Basics</vt:lpstr>
      <vt:lpstr>Plugins</vt:lpstr>
      <vt:lpstr>Plugin Configuration</vt:lpstr>
      <vt:lpstr>Built-In Plugins</vt:lpstr>
      <vt:lpstr>Common Plugins</vt:lpstr>
      <vt:lpstr>Packaging</vt:lpstr>
      <vt:lpstr>Packaging Binds Goals to Phases</vt:lpstr>
      <vt:lpstr>Multi-Module Maven</vt:lpstr>
      <vt:lpstr>Why Multiple Modules?</vt:lpstr>
      <vt:lpstr>Multi-Modules: How</vt:lpstr>
      <vt:lpstr>Modules</vt:lpstr>
      <vt:lpstr>Parent</vt:lpstr>
      <vt:lpstr>Dependence vs. Inheritance</vt:lpstr>
      <vt:lpstr>Naming</vt:lpstr>
      <vt:lpstr>Web Modules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Ioan Bădărînză</cp:lastModifiedBy>
  <cp:revision>13</cp:revision>
  <dcterms:modified xsi:type="dcterms:W3CDTF">2025-10-25T14:52:02Z</dcterms:modified>
</cp:coreProperties>
</file>