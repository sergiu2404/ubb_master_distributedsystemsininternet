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26.xml" ContentType="application/vnd.openxmlformats-officedocument.presentationml.slide+xml"/>
  <Override PartName="/ppt/slides/slide1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15.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23.xml" ContentType="application/vnd.openxmlformats-officedocument.presentationml.slide+xml"/>
  <Override PartName="/ppt/slides/slide19.xml" ContentType="application/vnd.openxmlformats-officedocument.presentationml.slide+xml"/>
  <Override PartName="/ppt/slides/slide16.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26.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5.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handoutMasterIdLst>
    <p:handoutMasterId r:id="rId29"/>
  </p:handoutMasterIdLst>
  <p:sldIdLst>
    <p:sldId id="371" r:id="rId2"/>
    <p:sldId id="374" r:id="rId3"/>
    <p:sldId id="377" r:id="rId4"/>
    <p:sldId id="378" r:id="rId5"/>
    <p:sldId id="379" r:id="rId6"/>
    <p:sldId id="387" r:id="rId7"/>
    <p:sldId id="388" r:id="rId8"/>
    <p:sldId id="380" r:id="rId9"/>
    <p:sldId id="395" r:id="rId10"/>
    <p:sldId id="394" r:id="rId11"/>
    <p:sldId id="396" r:id="rId12"/>
    <p:sldId id="397" r:id="rId13"/>
    <p:sldId id="381" r:id="rId14"/>
    <p:sldId id="391" r:id="rId15"/>
    <p:sldId id="393" r:id="rId16"/>
    <p:sldId id="399" r:id="rId17"/>
    <p:sldId id="400" r:id="rId18"/>
    <p:sldId id="401" r:id="rId19"/>
    <p:sldId id="402" r:id="rId20"/>
    <p:sldId id="404" r:id="rId21"/>
    <p:sldId id="405" r:id="rId22"/>
    <p:sldId id="406" r:id="rId23"/>
    <p:sldId id="390" r:id="rId24"/>
    <p:sldId id="398" r:id="rId25"/>
    <p:sldId id="375" r:id="rId26"/>
    <p:sldId id="376" r:id="rId2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Default Section" id="{B15AB4BF-585A-4C80-8C5E-D9B90714B97F}">
          <p14:sldIdLst>
            <p14:sldId id="371"/>
            <p14:sldId id="374"/>
            <p14:sldId id="377"/>
            <p14:sldId id="378"/>
            <p14:sldId id="379"/>
            <p14:sldId id="387"/>
            <p14:sldId id="388"/>
            <p14:sldId id="380"/>
            <p14:sldId id="395"/>
            <p14:sldId id="394"/>
            <p14:sldId id="396"/>
            <p14:sldId id="397"/>
            <p14:sldId id="381"/>
            <p14:sldId id="391"/>
            <p14:sldId id="393"/>
            <p14:sldId id="399"/>
            <p14:sldId id="400"/>
            <p14:sldId id="401"/>
            <p14:sldId id="402"/>
            <p14:sldId id="404"/>
            <p14:sldId id="405"/>
            <p14:sldId id="406"/>
            <p14:sldId id="390"/>
            <p14:sldId id="398"/>
            <p14:sldId id="375"/>
            <p14:sldId id="37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46" autoAdjust="0"/>
    <p:restoredTop sz="94717" autoAdjust="0"/>
  </p:normalViewPr>
  <p:slideViewPr>
    <p:cSldViewPr>
      <p:cViewPr varScale="1">
        <p:scale>
          <a:sx n="58" d="100"/>
          <a:sy n="58" d="100"/>
        </p:scale>
        <p:origin x="-78" y="-24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openxmlformats.org/officeDocument/2006/relationships/customXml" Target="../customXml/item2.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6C446B50-EBCC-4549-B913-78C31A5715D4}" type="datetimeFigureOut">
              <a:rPr lang="en-US"/>
              <a:pPr>
                <a:defRPr/>
              </a:pPr>
              <a:t>11/2/2023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B44EF314-D17D-42F0-A4EA-2B5F4C42C413}" type="slidenum">
              <a:rPr lang="en-US"/>
              <a:pPr>
                <a:defRPr/>
              </a:pPr>
              <a:t>‹#›</a:t>
            </a:fld>
            <a:endParaRPr lang="en-US"/>
          </a:p>
        </p:txBody>
      </p:sp>
    </p:spTree>
    <p:extLst>
      <p:ext uri="{BB962C8B-B14F-4D97-AF65-F5344CB8AC3E}">
        <p14:creationId xmlns:p14="http://schemas.microsoft.com/office/powerpoint/2010/main" val="302935158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514D0E8A-F903-4BFC-AAE4-071EBECB2044}" type="datetimeFigureOut">
              <a:rPr lang="en-US"/>
              <a:pPr>
                <a:defRPr/>
              </a:pPr>
              <a:t>11/2/2023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85BF1447-E096-4932-96A5-57CCAFD72984}" type="slidenum">
              <a:rPr lang="en-US"/>
              <a:pPr>
                <a:defRPr/>
              </a:pPr>
              <a:t>‹#›</a:t>
            </a:fld>
            <a:endParaRPr lang="en-US"/>
          </a:p>
        </p:txBody>
      </p:sp>
    </p:spTree>
    <p:extLst>
      <p:ext uri="{BB962C8B-B14F-4D97-AF65-F5344CB8AC3E}">
        <p14:creationId xmlns:p14="http://schemas.microsoft.com/office/powerpoint/2010/main" val="4241676347"/>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p:spPr>
      </p:sp>
      <p:sp>
        <p:nvSpPr>
          <p:cNvPr id="921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ro-RO"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bwMode="auto">
          <a:noFill/>
          <a:ln>
            <a:solidFill>
              <a:srgbClr val="000000"/>
            </a:solidFill>
            <a:miter lim="800000"/>
            <a:headEnd/>
            <a:tailEnd/>
          </a:ln>
        </p:spPr>
      </p:sp>
      <p:sp>
        <p:nvSpPr>
          <p:cNvPr id="931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ro-RO"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p:spPr>
      </p:sp>
      <p:sp>
        <p:nvSpPr>
          <p:cNvPr id="942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ro-RO"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p:spPr>
      </p:sp>
      <p:sp>
        <p:nvSpPr>
          <p:cNvPr id="9523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ro-RO"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p:spPr>
      </p:sp>
      <p:sp>
        <p:nvSpPr>
          <p:cNvPr id="962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ro-RO"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p:spPr>
      </p:sp>
      <p:sp>
        <p:nvSpPr>
          <p:cNvPr id="962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ro-RO"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5A75E47-11DF-41CD-B4DC-1E2CC3B1BAC3}" type="datetime1">
              <a:rPr lang="ro-RO"/>
              <a:pPr>
                <a:defRPr/>
              </a:pPr>
              <a:t>02.11.2023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F54D20E-36F9-4F27-B041-4D28D47D87BD}" type="slidenum">
              <a:rPr lang="en-US"/>
              <a:pPr>
                <a:defRPr/>
              </a:pPr>
              <a:t>‹#›</a:t>
            </a:fld>
            <a:endParaRPr lang="en-US"/>
          </a:p>
        </p:txBody>
      </p:sp>
    </p:spTree>
    <p:extLst>
      <p:ext uri="{BB962C8B-B14F-4D97-AF65-F5344CB8AC3E}">
        <p14:creationId xmlns:p14="http://schemas.microsoft.com/office/powerpoint/2010/main" val="3162951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50170C99-798F-4B77-8525-B6B1A68C542F}" type="datetime1">
              <a:rPr lang="ro-RO"/>
              <a:pPr>
                <a:defRPr/>
              </a:pPr>
              <a:t>02.11.2023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7EEC160-630B-43EC-9EBD-26D39DBB31B8}" type="slidenum">
              <a:rPr lang="en-US"/>
              <a:pPr>
                <a:defRPr/>
              </a:pPr>
              <a:t>‹#›</a:t>
            </a:fld>
            <a:endParaRPr lang="en-US"/>
          </a:p>
        </p:txBody>
      </p:sp>
    </p:spTree>
    <p:extLst>
      <p:ext uri="{BB962C8B-B14F-4D97-AF65-F5344CB8AC3E}">
        <p14:creationId xmlns:p14="http://schemas.microsoft.com/office/powerpoint/2010/main" val="15614441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A32EA27-4E63-4B72-A22C-4A41B554A709}" type="datetime1">
              <a:rPr lang="ro-RO"/>
              <a:pPr>
                <a:defRPr/>
              </a:pPr>
              <a:t>02.11.2023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A1C9EEC-B89F-4F8E-980B-CC1F4770925F}" type="slidenum">
              <a:rPr lang="en-US"/>
              <a:pPr>
                <a:defRPr/>
              </a:pPr>
              <a:t>‹#›</a:t>
            </a:fld>
            <a:endParaRPr lang="en-US"/>
          </a:p>
        </p:txBody>
      </p:sp>
    </p:spTree>
    <p:extLst>
      <p:ext uri="{BB962C8B-B14F-4D97-AF65-F5344CB8AC3E}">
        <p14:creationId xmlns:p14="http://schemas.microsoft.com/office/powerpoint/2010/main" val="3636967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9DC02068-6A82-465E-9AA1-37F23B374125}" type="datetime1">
              <a:rPr lang="ro-RO"/>
              <a:pPr>
                <a:defRPr/>
              </a:pPr>
              <a:t>02.11.2023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BAA941E-C710-4599-A526-A0D1465B0297}" type="slidenum">
              <a:rPr lang="en-US"/>
              <a:pPr>
                <a:defRPr/>
              </a:pPr>
              <a:t>‹#›</a:t>
            </a:fld>
            <a:endParaRPr lang="en-US"/>
          </a:p>
        </p:txBody>
      </p:sp>
    </p:spTree>
    <p:extLst>
      <p:ext uri="{BB962C8B-B14F-4D97-AF65-F5344CB8AC3E}">
        <p14:creationId xmlns:p14="http://schemas.microsoft.com/office/powerpoint/2010/main" val="30479702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161FBCDC-DD36-4C9B-9459-7594B816EA70}" type="datetime1">
              <a:rPr lang="ro-RO"/>
              <a:pPr>
                <a:defRPr/>
              </a:pPr>
              <a:t>02.11.2023</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7FE29FF-8F5F-4A5B-9DCB-A5593FF608A9}" type="slidenum">
              <a:rPr lang="en-US"/>
              <a:pPr>
                <a:defRPr/>
              </a:pPr>
              <a:t>‹#›</a:t>
            </a:fld>
            <a:endParaRPr lang="en-US"/>
          </a:p>
        </p:txBody>
      </p:sp>
    </p:spTree>
    <p:extLst>
      <p:ext uri="{BB962C8B-B14F-4D97-AF65-F5344CB8AC3E}">
        <p14:creationId xmlns:p14="http://schemas.microsoft.com/office/powerpoint/2010/main" val="2360312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43664E29-04AA-42F6-82BD-B739C63AA4C7}" type="datetime1">
              <a:rPr lang="ro-RO"/>
              <a:pPr>
                <a:defRPr/>
              </a:pPr>
              <a:t>02.11.2023</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CB1F437-345C-473B-872F-2EE25B976ED9}" type="slidenum">
              <a:rPr lang="en-US"/>
              <a:pPr>
                <a:defRPr/>
              </a:pPr>
              <a:t>‹#›</a:t>
            </a:fld>
            <a:endParaRPr lang="en-US"/>
          </a:p>
        </p:txBody>
      </p:sp>
    </p:spTree>
    <p:extLst>
      <p:ext uri="{BB962C8B-B14F-4D97-AF65-F5344CB8AC3E}">
        <p14:creationId xmlns:p14="http://schemas.microsoft.com/office/powerpoint/2010/main" val="2689923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39534AB-BFF8-4218-BBBB-983CAE0B0C6C}" type="datetime1">
              <a:rPr lang="ro-RO"/>
              <a:pPr>
                <a:defRPr/>
              </a:pPr>
              <a:t>02.11.2023</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2F1092BF-3E6B-4DF9-BB30-4F6CEC4F7472}" type="slidenum">
              <a:rPr lang="en-US"/>
              <a:pPr>
                <a:defRPr/>
              </a:pPr>
              <a:t>‹#›</a:t>
            </a:fld>
            <a:endParaRPr lang="en-US"/>
          </a:p>
        </p:txBody>
      </p:sp>
    </p:spTree>
    <p:extLst>
      <p:ext uri="{BB962C8B-B14F-4D97-AF65-F5344CB8AC3E}">
        <p14:creationId xmlns:p14="http://schemas.microsoft.com/office/powerpoint/2010/main" val="4188975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95A4BAC-04EA-4A36-8BBD-A7524A61B525}" type="datetime1">
              <a:rPr lang="ro-RO"/>
              <a:pPr>
                <a:defRPr/>
              </a:pPr>
              <a:t>02.11.2023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E187381-B7F6-431C-A51A-F2F02051187E}" type="slidenum">
              <a:rPr lang="en-US"/>
              <a:pPr>
                <a:defRPr/>
              </a:pPr>
              <a:t>‹#›</a:t>
            </a:fld>
            <a:endParaRPr lang="en-US"/>
          </a:p>
        </p:txBody>
      </p:sp>
    </p:spTree>
    <p:extLst>
      <p:ext uri="{BB962C8B-B14F-4D97-AF65-F5344CB8AC3E}">
        <p14:creationId xmlns:p14="http://schemas.microsoft.com/office/powerpoint/2010/main" val="13648280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5E25F6B-7528-402F-AD9F-BAB886339EE5}" type="datetime1">
              <a:rPr lang="ro-RO"/>
              <a:pPr>
                <a:defRPr/>
              </a:pPr>
              <a:t>02.11.2023</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7ADE576-5DEB-47C2-8D44-98945CBD5F51}" type="slidenum">
              <a:rPr lang="en-US"/>
              <a:pPr>
                <a:defRPr/>
              </a:pPr>
              <a:t>‹#›</a:t>
            </a:fld>
            <a:endParaRPr lang="en-US"/>
          </a:p>
        </p:txBody>
      </p:sp>
    </p:spTree>
    <p:extLst>
      <p:ext uri="{BB962C8B-B14F-4D97-AF65-F5344CB8AC3E}">
        <p14:creationId xmlns:p14="http://schemas.microsoft.com/office/powerpoint/2010/main" val="3503542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E74CFCB-691A-4A3C-921B-9FFF6B0B59C0}" type="datetime1">
              <a:rPr lang="ro-RO"/>
              <a:pPr>
                <a:defRPr/>
              </a:pPr>
              <a:t>02.11.2023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6BF83E8-4ADD-4B1D-B7EA-F2A47D9E090B}" type="slidenum">
              <a:rPr lang="en-US"/>
              <a:pPr>
                <a:defRPr/>
              </a:pPr>
              <a:t>‹#›</a:t>
            </a:fld>
            <a:endParaRPr lang="en-US"/>
          </a:p>
        </p:txBody>
      </p:sp>
    </p:spTree>
    <p:extLst>
      <p:ext uri="{BB962C8B-B14F-4D97-AF65-F5344CB8AC3E}">
        <p14:creationId xmlns:p14="http://schemas.microsoft.com/office/powerpoint/2010/main" val="586057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D19A652-83DF-4311-B4A1-900FE9437C69}" type="datetime1">
              <a:rPr lang="ro-RO"/>
              <a:pPr>
                <a:defRPr/>
              </a:pPr>
              <a:t>02.11.2023</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6B9FF3F-B42D-4A27-94EB-0B0BE2060E4B}" type="slidenum">
              <a:rPr lang="en-US"/>
              <a:pPr>
                <a:defRPr/>
              </a:pPr>
              <a:t>‹#›</a:t>
            </a:fld>
            <a:endParaRPr lang="en-US"/>
          </a:p>
        </p:txBody>
      </p:sp>
    </p:spTree>
    <p:extLst>
      <p:ext uri="{BB962C8B-B14F-4D97-AF65-F5344CB8AC3E}">
        <p14:creationId xmlns:p14="http://schemas.microsoft.com/office/powerpoint/2010/main" val="3415659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4099"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017141E8-33FF-45C2-819B-9E7015E51387}" type="datetime1">
              <a:rPr lang="ro-RO"/>
              <a:pPr>
                <a:defRPr/>
              </a:pPr>
              <a:t>02.11.2023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92F29C45-B3A1-4D71-9EF3-A524C24DD47B}"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localhost:8080/3ejbCs/client"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localhost:8080/ejb3cs2/client"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localhost:8080/3ejbCs/client"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hyperlink" Target="http://localhost:8080/ejb3cs2/client"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10.e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hyperlink" Target="https://glassfish.java.net/docs/4.0/mq-dev-guide-java.pdf"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hyperlink" Target="http://www.mastertheboss.com/jboss-server/jboss-jms/how-to-code-a-remote-jms-client-for-wildfly-8"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1</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smtClean="0">
                <a:solidFill>
                  <a:srgbClr val="FF0000"/>
                </a:solidFill>
                <a:latin typeface="Calibri" pitchFamily="34" charset="0"/>
              </a:rPr>
              <a:t>Ce</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este</a:t>
            </a:r>
            <a:r>
              <a:rPr lang="en-US" altLang="en-US" dirty="0" smtClean="0">
                <a:solidFill>
                  <a:srgbClr val="FF0000"/>
                </a:solidFill>
                <a:latin typeface="Calibri" pitchFamily="34" charset="0"/>
              </a:rPr>
              <a:t> Enterprise Java Beans (</a:t>
            </a:r>
            <a:r>
              <a:rPr lang="en-US" altLang="en-US" dirty="0" err="1" smtClean="0">
                <a:solidFill>
                  <a:srgbClr val="FF0000"/>
                </a:solidFill>
                <a:latin typeface="Calibri" pitchFamily="34" charset="0"/>
              </a:rPr>
              <a:t>EJB</a:t>
            </a:r>
            <a:r>
              <a:rPr lang="en-US" altLang="en-US" dirty="0" smtClean="0">
                <a:solidFill>
                  <a:srgbClr val="FF0000"/>
                </a:solidFill>
                <a:latin typeface="Calibri" pitchFamily="34" charset="0"/>
              </a:rPr>
              <a:t>) </a:t>
            </a:r>
            <a:endParaRPr lang="en-US" altLang="en-US" dirty="0">
              <a:solidFill>
                <a:srgbClr val="FF0000"/>
              </a:solidFill>
              <a:latin typeface="Calibri" pitchFamily="34" charset="0"/>
            </a:endParaRPr>
          </a:p>
        </p:txBody>
      </p:sp>
      <p:sp>
        <p:nvSpPr>
          <p:cNvPr id="2" name="Rectangle 1"/>
          <p:cNvSpPr/>
          <p:nvPr/>
        </p:nvSpPr>
        <p:spPr>
          <a:xfrm>
            <a:off x="12032" y="405892"/>
            <a:ext cx="9144000" cy="6555641"/>
          </a:xfrm>
          <a:prstGeom prst="rect">
            <a:avLst/>
          </a:prstGeom>
        </p:spPr>
        <p:txBody>
          <a:bodyPr wrap="square">
            <a:spAutoFit/>
          </a:bodyPr>
          <a:lstStyle/>
          <a:p>
            <a:pPr fontAlgn="auto">
              <a:spcBef>
                <a:spcPts val="0"/>
              </a:spcBef>
              <a:spcAft>
                <a:spcPts val="0"/>
              </a:spcAft>
              <a:buFont typeface="Wingdings 2"/>
              <a:buNone/>
              <a:defRPr/>
            </a:pPr>
            <a:r>
              <a:rPr lang="en-US" sz="2000" b="1" dirty="0" err="1"/>
              <a:t>EJB-urile</a:t>
            </a:r>
            <a:r>
              <a:rPr lang="en-US" sz="2000" dirty="0"/>
              <a:t> </a:t>
            </a:r>
            <a:r>
              <a:rPr lang="en-US" sz="2000" dirty="0" err="1"/>
              <a:t>sunt</a:t>
            </a:r>
            <a:r>
              <a:rPr lang="en-US" sz="2000" dirty="0"/>
              <a:t> </a:t>
            </a:r>
            <a:r>
              <a:rPr lang="en-US" sz="2000" dirty="0" err="1"/>
              <a:t>componente</a:t>
            </a:r>
            <a:r>
              <a:rPr lang="en-US" sz="2000" dirty="0"/>
              <a:t> server-side care </a:t>
            </a:r>
            <a:r>
              <a:rPr lang="en-US" sz="2000" dirty="0" err="1"/>
              <a:t>incapsuleaza</a:t>
            </a:r>
            <a:r>
              <a:rPr lang="en-US" sz="2000" dirty="0"/>
              <a:t> business-</a:t>
            </a:r>
            <a:r>
              <a:rPr lang="en-US" sz="2000" dirty="0" err="1"/>
              <a:t>ul</a:t>
            </a:r>
            <a:r>
              <a:rPr lang="en-US" sz="2000" dirty="0"/>
              <a:t> </a:t>
            </a:r>
            <a:r>
              <a:rPr lang="en-US" sz="2000" dirty="0" smtClean="0"/>
              <a:t>logic (</a:t>
            </a:r>
            <a:r>
              <a:rPr lang="en-US" sz="2000" dirty="0" err="1" smtClean="0"/>
              <a:t>codul</a:t>
            </a:r>
            <a:r>
              <a:rPr lang="en-US" sz="2000" dirty="0" smtClean="0"/>
              <a:t> care </a:t>
            </a:r>
            <a:r>
              <a:rPr lang="en-US" sz="2000" dirty="0" err="1" smtClean="0"/>
              <a:t>realizeaza</a:t>
            </a:r>
            <a:r>
              <a:rPr lang="en-US" sz="2000" dirty="0" smtClean="0"/>
              <a:t> </a:t>
            </a:r>
            <a:r>
              <a:rPr lang="en-US" sz="2000" dirty="0" err="1" smtClean="0"/>
              <a:t>actiunile</a:t>
            </a:r>
            <a:r>
              <a:rPr lang="en-US" sz="2000" dirty="0" smtClean="0"/>
              <a:t> </a:t>
            </a:r>
            <a:r>
              <a:rPr lang="en-US" sz="2000" dirty="0" err="1" smtClean="0"/>
              <a:t>specifice</a:t>
            </a:r>
            <a:r>
              <a:rPr lang="en-US" sz="2000" dirty="0" smtClean="0"/>
              <a:t> ale </a:t>
            </a:r>
            <a:r>
              <a:rPr lang="en-US" sz="2000" dirty="0" err="1" smtClean="0"/>
              <a:t>aplicatiei</a:t>
            </a:r>
            <a:r>
              <a:rPr lang="en-US" sz="2000" dirty="0" smtClean="0"/>
              <a:t>). </a:t>
            </a:r>
            <a:r>
              <a:rPr lang="en-US" sz="2000" dirty="0" err="1" smtClean="0"/>
              <a:t>Ele</a:t>
            </a:r>
            <a:r>
              <a:rPr lang="en-US" sz="2000" dirty="0" smtClean="0"/>
              <a:t> </a:t>
            </a:r>
            <a:r>
              <a:rPr lang="en-US" sz="2000" dirty="0" err="1"/>
              <a:t>sunt</a:t>
            </a:r>
            <a:r>
              <a:rPr lang="en-US" sz="2000" dirty="0"/>
              <a:t> </a:t>
            </a:r>
            <a:r>
              <a:rPr lang="en-US" sz="2000" dirty="0" err="1"/>
              <a:t>gestionate</a:t>
            </a:r>
            <a:r>
              <a:rPr lang="en-US" sz="2000" dirty="0"/>
              <a:t> run-time de </a:t>
            </a:r>
            <a:r>
              <a:rPr lang="en-US" sz="2000" dirty="0" err="1"/>
              <a:t>catre</a:t>
            </a:r>
            <a:r>
              <a:rPr lang="en-US" sz="2000" dirty="0"/>
              <a:t> </a:t>
            </a:r>
            <a:r>
              <a:rPr lang="en-US" sz="2000" dirty="0" err="1"/>
              <a:t>containerul</a:t>
            </a:r>
            <a:r>
              <a:rPr lang="en-US" sz="2000" dirty="0"/>
              <a:t> </a:t>
            </a:r>
            <a:r>
              <a:rPr lang="en-US" sz="2000" dirty="0" err="1"/>
              <a:t>EJB</a:t>
            </a:r>
            <a:r>
              <a:rPr lang="en-US" sz="2000" dirty="0"/>
              <a:t>, care le </a:t>
            </a:r>
            <a:r>
              <a:rPr lang="en-US" sz="2000" dirty="0" err="1"/>
              <a:t>asigura</a:t>
            </a:r>
            <a:r>
              <a:rPr lang="en-US" sz="2000" dirty="0"/>
              <a:t> o </a:t>
            </a:r>
            <a:r>
              <a:rPr lang="en-US" sz="2000" dirty="0" err="1"/>
              <a:t>serie</a:t>
            </a:r>
            <a:r>
              <a:rPr lang="en-US" sz="2000" dirty="0"/>
              <a:t> de </a:t>
            </a:r>
            <a:r>
              <a:rPr lang="en-US" sz="2000" dirty="0" err="1"/>
              <a:t>servicii</a:t>
            </a:r>
            <a:r>
              <a:rPr lang="en-US" sz="2000" dirty="0"/>
              <a:t> </a:t>
            </a:r>
            <a:r>
              <a:rPr lang="en-US" sz="2000" dirty="0" smtClean="0"/>
              <a:t>/ </a:t>
            </a:r>
            <a:r>
              <a:rPr lang="en-US" sz="2000" dirty="0" err="1" smtClean="0"/>
              <a:t>facilitati</a:t>
            </a:r>
            <a:r>
              <a:rPr lang="en-US" sz="2000" dirty="0" smtClean="0"/>
              <a:t> cum </a:t>
            </a:r>
            <a:r>
              <a:rPr lang="en-US" sz="2000" dirty="0" err="1"/>
              <a:t>ar</a:t>
            </a:r>
            <a:r>
              <a:rPr lang="en-US" sz="2000" dirty="0"/>
              <a:t> fi: </a:t>
            </a:r>
            <a:r>
              <a:rPr lang="en-US" sz="2000" dirty="0" err="1"/>
              <a:t>securitate</a:t>
            </a:r>
            <a:r>
              <a:rPr lang="en-US" sz="2000" dirty="0"/>
              <a:t>, </a:t>
            </a:r>
            <a:r>
              <a:rPr lang="en-US" sz="2000" dirty="0" err="1"/>
              <a:t>gestiune</a:t>
            </a:r>
            <a:r>
              <a:rPr lang="en-US" sz="2000" dirty="0"/>
              <a:t> </a:t>
            </a:r>
            <a:r>
              <a:rPr lang="en-US" sz="2000" dirty="0" err="1"/>
              <a:t>tranzactionala</a:t>
            </a:r>
            <a:r>
              <a:rPr lang="en-US" sz="2000" dirty="0"/>
              <a:t>, </a:t>
            </a:r>
            <a:r>
              <a:rPr lang="en-US" sz="2000" dirty="0" err="1"/>
              <a:t>persistenta</a:t>
            </a:r>
            <a:r>
              <a:rPr lang="en-US" sz="2000" dirty="0"/>
              <a:t>, </a:t>
            </a:r>
            <a:r>
              <a:rPr lang="en-US" sz="2000" dirty="0" err="1"/>
              <a:t>gestiunea</a:t>
            </a:r>
            <a:r>
              <a:rPr lang="en-US" sz="2000" dirty="0"/>
              <a:t> </a:t>
            </a:r>
            <a:r>
              <a:rPr lang="en-US" sz="2000" dirty="0" err="1"/>
              <a:t>starilor</a:t>
            </a:r>
            <a:r>
              <a:rPr lang="en-US" sz="2000" dirty="0"/>
              <a:t>, </a:t>
            </a:r>
            <a:r>
              <a:rPr lang="en-US" sz="2000" dirty="0" err="1"/>
              <a:t>suport</a:t>
            </a:r>
            <a:r>
              <a:rPr lang="en-US" sz="2000" dirty="0"/>
              <a:t> </a:t>
            </a:r>
            <a:r>
              <a:rPr lang="en-US" sz="2000" dirty="0" err="1"/>
              <a:t>pentru</a:t>
            </a:r>
            <a:r>
              <a:rPr lang="en-US" sz="2000" dirty="0"/>
              <a:t> </a:t>
            </a:r>
            <a:r>
              <a:rPr lang="en-US" sz="2000" dirty="0" err="1"/>
              <a:t>concurenta</a:t>
            </a:r>
            <a:r>
              <a:rPr lang="en-US" sz="2000" dirty="0"/>
              <a:t>, </a:t>
            </a:r>
            <a:r>
              <a:rPr lang="en-US" sz="2000" dirty="0" err="1"/>
              <a:t>interceptori</a:t>
            </a:r>
            <a:r>
              <a:rPr lang="en-US" sz="2000" dirty="0"/>
              <a:t> la </a:t>
            </a:r>
            <a:r>
              <a:rPr lang="en-US" sz="2000" dirty="0" err="1"/>
              <a:t>evenimente</a:t>
            </a:r>
            <a:r>
              <a:rPr lang="en-US" sz="2000" dirty="0"/>
              <a:t>, </a:t>
            </a:r>
            <a:r>
              <a:rPr lang="en-US" sz="2000" dirty="0" err="1"/>
              <a:t>conexiune</a:t>
            </a:r>
            <a:r>
              <a:rPr lang="en-US" sz="2000" dirty="0"/>
              <a:t> la </a:t>
            </a:r>
            <a:r>
              <a:rPr lang="en-US" sz="2000" dirty="0" err="1"/>
              <a:t>mesagerie</a:t>
            </a:r>
            <a:r>
              <a:rPr lang="en-US" sz="2000" dirty="0"/>
              <a:t>, </a:t>
            </a:r>
            <a:r>
              <a:rPr lang="en-US" sz="2000" dirty="0" err="1"/>
              <a:t>injectarea</a:t>
            </a:r>
            <a:r>
              <a:rPr lang="en-US" sz="2000" dirty="0"/>
              <a:t> </a:t>
            </a:r>
            <a:r>
              <a:rPr lang="en-US" sz="2000" dirty="0" err="1"/>
              <a:t>dependentelor</a:t>
            </a:r>
            <a:r>
              <a:rPr lang="en-US" sz="2000" dirty="0"/>
              <a:t>, </a:t>
            </a:r>
            <a:r>
              <a:rPr lang="en-US" sz="2000" dirty="0" err="1"/>
              <a:t>acces</a:t>
            </a:r>
            <a:r>
              <a:rPr lang="en-US" sz="2000" dirty="0"/>
              <a:t> de la </a:t>
            </a:r>
            <a:r>
              <a:rPr lang="en-US" sz="2000" dirty="0" err="1"/>
              <a:t>distanta</a:t>
            </a:r>
            <a:r>
              <a:rPr lang="en-US" sz="2000" dirty="0"/>
              <a:t> etc.</a:t>
            </a:r>
          </a:p>
          <a:p>
            <a:pPr fontAlgn="auto">
              <a:spcBef>
                <a:spcPts val="0"/>
              </a:spcBef>
              <a:spcAft>
                <a:spcPts val="0"/>
              </a:spcAft>
              <a:buFont typeface="Wingdings 2"/>
              <a:buNone/>
              <a:defRPr/>
            </a:pPr>
            <a:r>
              <a:rPr lang="en-US" sz="2000" dirty="0"/>
              <a:t>Formal, </a:t>
            </a:r>
            <a:r>
              <a:rPr lang="en-US" sz="2000" b="1" dirty="0" smtClean="0"/>
              <a:t>un </a:t>
            </a:r>
            <a:r>
              <a:rPr lang="en-US" sz="2000" b="1" dirty="0"/>
              <a:t>bean </a:t>
            </a:r>
            <a:r>
              <a:rPr lang="en-US" sz="2000" b="1" dirty="0" err="1"/>
              <a:t>EJB</a:t>
            </a:r>
            <a:r>
              <a:rPr lang="en-US" sz="2000" b="1" dirty="0"/>
              <a:t> </a:t>
            </a:r>
            <a:r>
              <a:rPr lang="en-US" sz="2000" b="1" dirty="0" err="1"/>
              <a:t>este</a:t>
            </a:r>
            <a:r>
              <a:rPr lang="en-US" sz="2000" b="1" dirty="0"/>
              <a:t> un </a:t>
            </a:r>
            <a:r>
              <a:rPr lang="en-US" sz="2000" b="1" dirty="0" err="1"/>
              <a:t>POJO</a:t>
            </a:r>
            <a:r>
              <a:rPr lang="en-US" sz="2000" b="1" dirty="0"/>
              <a:t> </a:t>
            </a:r>
            <a:r>
              <a:rPr lang="en-US" sz="2000" b="1" dirty="0" err="1"/>
              <a:t>precedat</a:t>
            </a:r>
            <a:r>
              <a:rPr lang="en-US" sz="2000" b="1" dirty="0"/>
              <a:t> de </a:t>
            </a:r>
            <a:r>
              <a:rPr lang="en-US" sz="2000" b="1" dirty="0" err="1"/>
              <a:t>adnotari</a:t>
            </a:r>
            <a:r>
              <a:rPr lang="en-US" sz="2000" b="1" dirty="0"/>
              <a:t> </a:t>
            </a:r>
            <a:r>
              <a:rPr lang="en-US" sz="2000" b="1" dirty="0" err="1"/>
              <a:t>specifice</a:t>
            </a:r>
            <a:r>
              <a:rPr lang="en-US" sz="2000" dirty="0"/>
              <a:t>. </a:t>
            </a:r>
            <a:endParaRPr lang="en-US" sz="2000" dirty="0" smtClean="0"/>
          </a:p>
          <a:p>
            <a:pPr fontAlgn="auto">
              <a:spcBef>
                <a:spcPts val="0"/>
              </a:spcBef>
              <a:spcAft>
                <a:spcPts val="0"/>
              </a:spcAft>
              <a:buFont typeface="Wingdings 2"/>
              <a:buNone/>
              <a:defRPr/>
            </a:pPr>
            <a:r>
              <a:rPr lang="en-US" sz="2000" dirty="0" err="1" smtClean="0"/>
              <a:t>Tipuri</a:t>
            </a:r>
            <a:r>
              <a:rPr lang="en-US" sz="2000" dirty="0" smtClean="0"/>
              <a:t> </a:t>
            </a:r>
            <a:r>
              <a:rPr lang="en-US" sz="2000" dirty="0"/>
              <a:t>de </a:t>
            </a:r>
            <a:r>
              <a:rPr lang="en-US" sz="2000" dirty="0" err="1" smtClean="0"/>
              <a:t>beanuri</a:t>
            </a:r>
            <a:r>
              <a:rPr lang="en-US" sz="2000" dirty="0" smtClean="0"/>
              <a:t> </a:t>
            </a:r>
            <a:r>
              <a:rPr lang="en-US" sz="2000" dirty="0" err="1" smtClean="0"/>
              <a:t>EJB</a:t>
            </a:r>
            <a:r>
              <a:rPr lang="en-US" sz="2000" dirty="0" smtClean="0"/>
              <a:t>: </a:t>
            </a:r>
          </a:p>
          <a:p>
            <a:pPr fontAlgn="auto">
              <a:spcBef>
                <a:spcPts val="0"/>
              </a:spcBef>
              <a:spcAft>
                <a:spcPts val="0"/>
              </a:spcAft>
              <a:buFont typeface="Wingdings 2"/>
              <a:buNone/>
              <a:defRPr/>
            </a:pPr>
            <a:endParaRPr lang="en-US" sz="2000" dirty="0"/>
          </a:p>
          <a:p>
            <a:pPr marL="342900" lvl="2" indent="-342900" fontAlgn="auto">
              <a:spcBef>
                <a:spcPts val="0"/>
              </a:spcBef>
              <a:spcAft>
                <a:spcPts val="0"/>
              </a:spcAft>
              <a:buFont typeface="Arial" pitchFamily="34" charset="0"/>
              <a:buChar char="•"/>
              <a:defRPr/>
            </a:pPr>
            <a:r>
              <a:rPr lang="en-US" sz="2000" b="1" i="1" u="sng" dirty="0"/>
              <a:t>Session beans </a:t>
            </a:r>
            <a:r>
              <a:rPr lang="en-US" sz="2000" dirty="0"/>
              <a:t>(</a:t>
            </a:r>
            <a:r>
              <a:rPr lang="en-US" sz="2000" dirty="0" err="1"/>
              <a:t>componente</a:t>
            </a:r>
            <a:r>
              <a:rPr lang="en-US" sz="2000" dirty="0"/>
              <a:t>  de </a:t>
            </a:r>
            <a:r>
              <a:rPr lang="en-US" sz="2000" dirty="0" err="1"/>
              <a:t>actiuni</a:t>
            </a:r>
            <a:r>
              <a:rPr lang="en-US" sz="2000" dirty="0"/>
              <a:t> </a:t>
            </a:r>
            <a:r>
              <a:rPr lang="en-US" sz="2000" dirty="0" smtClean="0"/>
              <a:t>– </a:t>
            </a:r>
            <a:r>
              <a:rPr lang="en-US" sz="2000" dirty="0" err="1" smtClean="0"/>
              <a:t>verbe</a:t>
            </a:r>
            <a:r>
              <a:rPr lang="en-US" sz="2000" dirty="0"/>
              <a:t>) </a:t>
            </a:r>
            <a:r>
              <a:rPr lang="en-US" sz="2000" dirty="0" err="1"/>
              <a:t>ofera</a:t>
            </a:r>
            <a:r>
              <a:rPr lang="en-US" sz="2000" dirty="0"/>
              <a:t> </a:t>
            </a:r>
            <a:r>
              <a:rPr lang="en-US" sz="2000" dirty="0" err="1"/>
              <a:t>servicii</a:t>
            </a:r>
            <a:r>
              <a:rPr lang="en-US" sz="2000" dirty="0"/>
              <a:t> </a:t>
            </a:r>
            <a:r>
              <a:rPr lang="en-US" sz="2000" dirty="0" err="1"/>
              <a:t>pentru</a:t>
            </a:r>
            <a:r>
              <a:rPr lang="en-US" sz="2000" dirty="0"/>
              <a:t> </a:t>
            </a:r>
            <a:r>
              <a:rPr lang="en-US" sz="2000" dirty="0" err="1"/>
              <a:t>clienti</a:t>
            </a:r>
            <a:r>
              <a:rPr lang="en-US" sz="2000" dirty="0"/>
              <a:t> </a:t>
            </a:r>
            <a:r>
              <a:rPr lang="en-US" sz="2000" dirty="0" err="1"/>
              <a:t>si</a:t>
            </a:r>
            <a:r>
              <a:rPr lang="en-US" sz="2000" dirty="0"/>
              <a:t> </a:t>
            </a:r>
            <a:r>
              <a:rPr lang="en-US" sz="2000" dirty="0" err="1"/>
              <a:t>gestioneaza</a:t>
            </a:r>
            <a:r>
              <a:rPr lang="en-US" sz="2000" dirty="0"/>
              <a:t> business-</a:t>
            </a:r>
            <a:r>
              <a:rPr lang="en-US" sz="2000" dirty="0" err="1"/>
              <a:t>ul</a:t>
            </a:r>
            <a:r>
              <a:rPr lang="en-US" sz="2000" dirty="0"/>
              <a:t> </a:t>
            </a:r>
            <a:r>
              <a:rPr lang="en-US" sz="2000" dirty="0" err="1"/>
              <a:t>folosind</a:t>
            </a:r>
            <a:r>
              <a:rPr lang="en-US" sz="2000" dirty="0"/>
              <a:t> </a:t>
            </a:r>
            <a:r>
              <a:rPr lang="en-US" sz="2000" dirty="0" err="1"/>
              <a:t>interactiuni</a:t>
            </a:r>
            <a:r>
              <a:rPr lang="en-US" sz="2000" dirty="0"/>
              <a:t> cu </a:t>
            </a:r>
            <a:r>
              <a:rPr lang="en-US" sz="2000" dirty="0" err="1"/>
              <a:t>alte</a:t>
            </a:r>
            <a:r>
              <a:rPr lang="en-US" sz="2000" dirty="0"/>
              <a:t> </a:t>
            </a:r>
            <a:r>
              <a:rPr lang="en-US" sz="2000" dirty="0" err="1"/>
              <a:t>componente</a:t>
            </a:r>
            <a:r>
              <a:rPr lang="en-US" sz="2000" dirty="0"/>
              <a:t> </a:t>
            </a:r>
            <a:r>
              <a:rPr lang="en-US" sz="2000" dirty="0" err="1"/>
              <a:t>EJB</a:t>
            </a:r>
            <a:r>
              <a:rPr lang="en-US" sz="2000" dirty="0"/>
              <a:t> </a:t>
            </a:r>
            <a:r>
              <a:rPr lang="en-US" sz="2000" dirty="0" err="1"/>
              <a:t>sau</a:t>
            </a:r>
            <a:r>
              <a:rPr lang="en-US" sz="2000" dirty="0"/>
              <a:t> </a:t>
            </a:r>
            <a:r>
              <a:rPr lang="en-US" sz="2000" dirty="0" err="1"/>
              <a:t>servicii</a:t>
            </a:r>
            <a:r>
              <a:rPr lang="en-US" sz="2000" dirty="0"/>
              <a:t> web.  </a:t>
            </a:r>
            <a:r>
              <a:rPr lang="en-US" sz="2000" dirty="0" err="1"/>
              <a:t>Actiunea</a:t>
            </a:r>
            <a:r>
              <a:rPr lang="en-US" sz="2000" dirty="0"/>
              <a:t> </a:t>
            </a:r>
            <a:r>
              <a:rPr lang="en-US" sz="2000" dirty="0" err="1"/>
              <a:t>lor</a:t>
            </a:r>
            <a:r>
              <a:rPr lang="en-US" sz="2000" dirty="0"/>
              <a:t> </a:t>
            </a:r>
            <a:r>
              <a:rPr lang="en-US" sz="2000" dirty="0" err="1"/>
              <a:t>este</a:t>
            </a:r>
            <a:r>
              <a:rPr lang="en-US" sz="2000" dirty="0"/>
              <a:t> </a:t>
            </a:r>
            <a:r>
              <a:rPr lang="en-US" sz="2000" dirty="0" err="1"/>
              <a:t>declansata</a:t>
            </a:r>
            <a:r>
              <a:rPr lang="en-US" sz="2000" dirty="0"/>
              <a:t> </a:t>
            </a:r>
            <a:r>
              <a:rPr lang="en-US" sz="2000" dirty="0" err="1" smtClean="0"/>
              <a:t>sincron</a:t>
            </a:r>
            <a:r>
              <a:rPr lang="en-US" sz="2000" dirty="0" smtClean="0"/>
              <a:t> </a:t>
            </a:r>
            <a:r>
              <a:rPr lang="en-US" sz="2000" dirty="0" err="1" smtClean="0"/>
              <a:t>printr</a:t>
            </a:r>
            <a:r>
              <a:rPr lang="en-US" sz="2000" dirty="0" smtClean="0"/>
              <a:t>-un </a:t>
            </a:r>
            <a:r>
              <a:rPr lang="en-US" sz="2000" dirty="0" err="1"/>
              <a:t>apel</a:t>
            </a:r>
            <a:r>
              <a:rPr lang="en-US" sz="2000" dirty="0"/>
              <a:t> de </a:t>
            </a:r>
            <a:r>
              <a:rPr lang="en-US" sz="2000" dirty="0" err="1"/>
              <a:t>metoda</a:t>
            </a:r>
            <a:r>
              <a:rPr lang="en-US" sz="2000" dirty="0"/>
              <a:t> de </a:t>
            </a:r>
            <a:r>
              <a:rPr lang="en-US" sz="2000" dirty="0" err="1"/>
              <a:t>catre</a:t>
            </a:r>
            <a:r>
              <a:rPr lang="en-US" sz="2000" dirty="0"/>
              <a:t> un client. </a:t>
            </a:r>
            <a:r>
              <a:rPr lang="en-US" sz="2000" dirty="0" err="1"/>
              <a:t>Tipurile</a:t>
            </a:r>
            <a:r>
              <a:rPr lang="en-US" sz="2000" dirty="0"/>
              <a:t> de session </a:t>
            </a:r>
            <a:r>
              <a:rPr lang="en-US" sz="2000" dirty="0" smtClean="0"/>
              <a:t>bean </a:t>
            </a:r>
            <a:r>
              <a:rPr lang="en-US" sz="2000" dirty="0" err="1" smtClean="0"/>
              <a:t>sunt</a:t>
            </a:r>
            <a:r>
              <a:rPr lang="en-US" sz="2000" dirty="0" smtClean="0"/>
              <a:t>:</a:t>
            </a:r>
          </a:p>
          <a:p>
            <a:pPr marL="1257300" lvl="4" indent="-342900" fontAlgn="auto">
              <a:spcBef>
                <a:spcPts val="0"/>
              </a:spcBef>
              <a:spcAft>
                <a:spcPts val="0"/>
              </a:spcAft>
              <a:buFont typeface="Wingdings" pitchFamily="2" charset="2"/>
              <a:buChar char="q"/>
              <a:defRPr/>
            </a:pPr>
            <a:r>
              <a:rPr lang="en-US" sz="2000" b="1" dirty="0" err="1"/>
              <a:t>s</a:t>
            </a:r>
            <a:r>
              <a:rPr lang="en-US" sz="2000" b="1" dirty="0" err="1" smtClean="0"/>
              <a:t>tateful</a:t>
            </a:r>
            <a:r>
              <a:rPr lang="en-US" sz="2000" b="1" dirty="0" smtClean="0"/>
              <a:t>  (</a:t>
            </a:r>
            <a:r>
              <a:rPr lang="en-US" sz="2000" dirty="0" err="1" smtClean="0"/>
              <a:t>prefixat</a:t>
            </a:r>
            <a:r>
              <a:rPr lang="en-US" sz="2000" dirty="0" smtClean="0"/>
              <a:t> cu </a:t>
            </a:r>
            <a:r>
              <a:rPr lang="en-US" sz="2000" dirty="0" err="1" smtClean="0"/>
              <a:t>adnotarea</a:t>
            </a:r>
            <a:r>
              <a:rPr lang="en-US" sz="2000" dirty="0" smtClean="0"/>
              <a:t> </a:t>
            </a:r>
            <a:r>
              <a:rPr lang="en-US" sz="2000" b="1" dirty="0" smtClean="0"/>
              <a:t>@</a:t>
            </a:r>
            <a:r>
              <a:rPr lang="en-US" sz="2000" b="1" dirty="0" err="1" smtClean="0"/>
              <a:t>Stateful</a:t>
            </a:r>
            <a:r>
              <a:rPr lang="en-US" sz="2000" b="1" dirty="0" smtClean="0"/>
              <a:t>) </a:t>
            </a:r>
          </a:p>
          <a:p>
            <a:pPr marL="1257300" lvl="4" indent="-342900" fontAlgn="auto">
              <a:spcBef>
                <a:spcPts val="0"/>
              </a:spcBef>
              <a:spcAft>
                <a:spcPts val="0"/>
              </a:spcAft>
              <a:buFont typeface="Wingdings" pitchFamily="2" charset="2"/>
              <a:buChar char="q"/>
              <a:defRPr/>
            </a:pPr>
            <a:r>
              <a:rPr lang="en-US" sz="2000" b="1" dirty="0"/>
              <a:t>s</a:t>
            </a:r>
            <a:r>
              <a:rPr lang="en-US" sz="2000" b="1" dirty="0" smtClean="0"/>
              <a:t>tateless (</a:t>
            </a:r>
            <a:r>
              <a:rPr lang="en-US" sz="2000" dirty="0" err="1"/>
              <a:t>prefixat</a:t>
            </a:r>
            <a:r>
              <a:rPr lang="en-US" sz="2000" dirty="0"/>
              <a:t> cu </a:t>
            </a:r>
            <a:r>
              <a:rPr lang="en-US" sz="2000" dirty="0" err="1" smtClean="0"/>
              <a:t>adnotarea</a:t>
            </a:r>
            <a:r>
              <a:rPr lang="en-US" sz="2000" dirty="0" smtClean="0"/>
              <a:t> </a:t>
            </a:r>
            <a:r>
              <a:rPr lang="en-US" sz="2000" b="1" dirty="0" smtClean="0"/>
              <a:t>@Stateless) </a:t>
            </a:r>
          </a:p>
          <a:p>
            <a:pPr marL="1257300" lvl="4" indent="-342900" fontAlgn="auto">
              <a:spcBef>
                <a:spcPts val="0"/>
              </a:spcBef>
              <a:spcAft>
                <a:spcPts val="0"/>
              </a:spcAft>
              <a:buFont typeface="Wingdings" pitchFamily="2" charset="2"/>
              <a:buChar char="q"/>
              <a:defRPr/>
            </a:pPr>
            <a:r>
              <a:rPr lang="en-US" sz="2000" b="1" dirty="0"/>
              <a:t>s</a:t>
            </a:r>
            <a:r>
              <a:rPr lang="en-US" sz="2000" b="1" dirty="0" smtClean="0"/>
              <a:t>ingleton (</a:t>
            </a:r>
            <a:r>
              <a:rPr lang="en-US" sz="2000" dirty="0" err="1"/>
              <a:t>prefixat</a:t>
            </a:r>
            <a:r>
              <a:rPr lang="en-US" sz="2000" dirty="0"/>
              <a:t> cu </a:t>
            </a:r>
            <a:r>
              <a:rPr lang="en-US" sz="2000" dirty="0" err="1" smtClean="0"/>
              <a:t>adnotarea</a:t>
            </a:r>
            <a:r>
              <a:rPr lang="en-US" sz="2000" dirty="0" smtClean="0"/>
              <a:t> </a:t>
            </a:r>
            <a:r>
              <a:rPr lang="en-US" sz="2000" b="1" dirty="0" smtClean="0"/>
              <a:t>@Singleton)</a:t>
            </a:r>
            <a:endParaRPr lang="en-US" sz="2000" b="1" dirty="0"/>
          </a:p>
          <a:p>
            <a:pPr marL="342900" lvl="2" indent="-342900" fontAlgn="auto">
              <a:spcBef>
                <a:spcPts val="0"/>
              </a:spcBef>
              <a:spcAft>
                <a:spcPts val="0"/>
              </a:spcAft>
              <a:buFont typeface="Arial" pitchFamily="34" charset="0"/>
              <a:buChar char="•"/>
              <a:defRPr/>
            </a:pPr>
            <a:endParaRPr lang="en-US" sz="2000" b="1" i="1" u="sng" dirty="0" smtClean="0"/>
          </a:p>
          <a:p>
            <a:pPr marL="342900" lvl="2" indent="-342900" fontAlgn="auto">
              <a:spcBef>
                <a:spcPts val="0"/>
              </a:spcBef>
              <a:spcAft>
                <a:spcPts val="0"/>
              </a:spcAft>
              <a:buFont typeface="Arial" pitchFamily="34" charset="0"/>
              <a:buChar char="•"/>
              <a:defRPr/>
            </a:pPr>
            <a:r>
              <a:rPr lang="en-US" sz="2000" b="1" i="1" u="sng" dirty="0" smtClean="0"/>
              <a:t>Message-driven </a:t>
            </a:r>
            <a:r>
              <a:rPr lang="en-US" sz="2000" b="1" i="1" u="sng" dirty="0"/>
              <a:t>beans </a:t>
            </a:r>
            <a:r>
              <a:rPr lang="en-US" sz="2000" b="1" i="1" u="sng" dirty="0" smtClean="0"/>
              <a:t> </a:t>
            </a:r>
            <a:r>
              <a:rPr lang="en-US" sz="2000" b="1" dirty="0" smtClean="0"/>
              <a:t>(</a:t>
            </a:r>
            <a:r>
              <a:rPr lang="en-US" sz="2000" dirty="0" err="1"/>
              <a:t>prefixat</a:t>
            </a:r>
            <a:r>
              <a:rPr lang="en-US" sz="2000" dirty="0"/>
              <a:t> cu </a:t>
            </a:r>
            <a:r>
              <a:rPr lang="en-US" sz="2000" dirty="0" err="1" smtClean="0"/>
              <a:t>adnotarea</a:t>
            </a:r>
            <a:r>
              <a:rPr lang="en-US" sz="2000" dirty="0" smtClean="0"/>
              <a:t> </a:t>
            </a:r>
            <a:r>
              <a:rPr lang="en-US" sz="2000" b="1" dirty="0" smtClean="0"/>
              <a:t>@</a:t>
            </a:r>
            <a:r>
              <a:rPr lang="en-US" sz="2000" b="1" dirty="0" err="1" smtClean="0"/>
              <a:t>MessageDriven</a:t>
            </a:r>
            <a:r>
              <a:rPr lang="en-US" sz="2000" b="1" dirty="0" smtClean="0"/>
              <a:t>)</a:t>
            </a:r>
            <a:r>
              <a:rPr lang="en-US" sz="2000" dirty="0" smtClean="0"/>
              <a:t> </a:t>
            </a:r>
            <a:r>
              <a:rPr lang="en-US" sz="2000" dirty="0" err="1" smtClean="0"/>
              <a:t>sunt</a:t>
            </a:r>
            <a:r>
              <a:rPr lang="en-US" sz="2000" dirty="0" smtClean="0"/>
              <a:t> </a:t>
            </a:r>
            <a:r>
              <a:rPr lang="en-US" sz="2000" dirty="0" err="1" smtClean="0"/>
              <a:t>similare</a:t>
            </a:r>
            <a:r>
              <a:rPr lang="en-US" sz="2000" dirty="0" smtClean="0"/>
              <a:t> cu session beans stateless </a:t>
            </a:r>
            <a:r>
              <a:rPr lang="en-US" sz="2000" dirty="0" err="1" smtClean="0"/>
              <a:t>si</a:t>
            </a:r>
            <a:r>
              <a:rPr lang="en-US" sz="2000" dirty="0" smtClean="0"/>
              <a:t> </a:t>
            </a:r>
            <a:r>
              <a:rPr lang="en-US" sz="2000" dirty="0" err="1" smtClean="0"/>
              <a:t>sunt</a:t>
            </a:r>
            <a:r>
              <a:rPr lang="en-US" sz="2000" dirty="0" smtClean="0"/>
              <a:t> </a:t>
            </a:r>
            <a:r>
              <a:rPr lang="en-US" sz="2000" dirty="0" err="1" smtClean="0"/>
              <a:t>conectate</a:t>
            </a:r>
            <a:r>
              <a:rPr lang="en-US" sz="2000" dirty="0" smtClean="0"/>
              <a:t> la o </a:t>
            </a:r>
            <a:r>
              <a:rPr lang="en-US" sz="2000" dirty="0" err="1" smtClean="0"/>
              <a:t>coada</a:t>
            </a:r>
            <a:r>
              <a:rPr lang="en-US" sz="2000" dirty="0" smtClean="0"/>
              <a:t> </a:t>
            </a:r>
            <a:r>
              <a:rPr lang="en-US" sz="2000" dirty="0" err="1" smtClean="0"/>
              <a:t>dintr</a:t>
            </a:r>
            <a:r>
              <a:rPr lang="en-US" sz="2000" dirty="0" smtClean="0"/>
              <a:t>-un </a:t>
            </a:r>
            <a:r>
              <a:rPr lang="en-US" sz="2000" dirty="0" err="1" smtClean="0"/>
              <a:t>sistem</a:t>
            </a:r>
            <a:r>
              <a:rPr lang="en-US" sz="2000" dirty="0" smtClean="0"/>
              <a:t> de </a:t>
            </a:r>
            <a:r>
              <a:rPr lang="en-US" sz="2000" dirty="0" err="1" smtClean="0"/>
              <a:t>mesagerie</a:t>
            </a:r>
            <a:r>
              <a:rPr lang="en-US" sz="2000" dirty="0" smtClean="0"/>
              <a:t> (JMS </a:t>
            </a:r>
            <a:r>
              <a:rPr lang="en-US" sz="2000" dirty="0" err="1" smtClean="0"/>
              <a:t>sau</a:t>
            </a:r>
            <a:r>
              <a:rPr lang="en-US" sz="2000" dirty="0" smtClean="0"/>
              <a:t> </a:t>
            </a:r>
            <a:r>
              <a:rPr lang="en-US" sz="2000" dirty="0" err="1" smtClean="0"/>
              <a:t>STOMPEST</a:t>
            </a:r>
            <a:r>
              <a:rPr lang="en-US" sz="2000" dirty="0" smtClean="0"/>
              <a:t>). </a:t>
            </a:r>
            <a:r>
              <a:rPr lang="en-US" sz="2000" dirty="0" err="1" smtClean="0"/>
              <a:t>Actiunea</a:t>
            </a:r>
            <a:r>
              <a:rPr lang="en-US" sz="2000" dirty="0" smtClean="0"/>
              <a:t> </a:t>
            </a:r>
            <a:r>
              <a:rPr lang="en-US" sz="2000" dirty="0" err="1" smtClean="0"/>
              <a:t>este</a:t>
            </a:r>
            <a:r>
              <a:rPr lang="en-US" sz="2000" dirty="0" smtClean="0"/>
              <a:t> </a:t>
            </a:r>
            <a:r>
              <a:rPr lang="en-US" sz="2000" dirty="0" err="1" smtClean="0"/>
              <a:t>declansata</a:t>
            </a:r>
            <a:endParaRPr lang="en-US" sz="2000" dirty="0" smtClean="0"/>
          </a:p>
          <a:p>
            <a:pPr marL="0" lvl="2" fontAlgn="auto">
              <a:spcBef>
                <a:spcPts val="0"/>
              </a:spcBef>
              <a:spcAft>
                <a:spcPts val="0"/>
              </a:spcAft>
              <a:defRPr/>
            </a:pPr>
            <a:r>
              <a:rPr lang="en-US" sz="2000" dirty="0"/>
              <a:t> </a:t>
            </a:r>
            <a:r>
              <a:rPr lang="en-US" sz="2000" dirty="0" smtClean="0"/>
              <a:t>          </a:t>
            </a:r>
            <a:r>
              <a:rPr lang="en-US" sz="2000" dirty="0" err="1" smtClean="0"/>
              <a:t>asincron</a:t>
            </a:r>
            <a:r>
              <a:rPr lang="en-US" sz="2000" dirty="0" smtClean="0"/>
              <a:t> la un </a:t>
            </a:r>
            <a:r>
              <a:rPr lang="en-US" sz="2000" dirty="0" err="1" smtClean="0"/>
              <a:t>mesaj</a:t>
            </a:r>
            <a:r>
              <a:rPr lang="en-US" sz="2000" dirty="0" smtClean="0"/>
              <a:t> </a:t>
            </a:r>
            <a:r>
              <a:rPr lang="en-US" sz="2000" dirty="0" err="1" smtClean="0"/>
              <a:t>nou</a:t>
            </a:r>
            <a:r>
              <a:rPr lang="en-US" sz="2000" dirty="0" smtClean="0"/>
              <a:t> in </a:t>
            </a:r>
            <a:r>
              <a:rPr lang="en-US" sz="2000" dirty="0" err="1" smtClean="0"/>
              <a:t>coada</a:t>
            </a:r>
            <a:r>
              <a:rPr lang="en-US" sz="2000" dirty="0" smtClean="0"/>
              <a:t>, </a:t>
            </a:r>
            <a:r>
              <a:rPr lang="en-US" sz="2000" dirty="0" err="1" smtClean="0"/>
              <a:t>prin</a:t>
            </a:r>
            <a:r>
              <a:rPr lang="en-US" sz="2000" dirty="0" smtClean="0"/>
              <a:t> </a:t>
            </a:r>
            <a:r>
              <a:rPr lang="en-US" sz="2000" dirty="0" err="1" smtClean="0"/>
              <a:t>metoda</a:t>
            </a:r>
            <a:r>
              <a:rPr lang="en-US" sz="2000" dirty="0" smtClean="0"/>
              <a:t> </a:t>
            </a:r>
            <a:r>
              <a:rPr lang="en-US" sz="2000" b="1" dirty="0" err="1" smtClean="0"/>
              <a:t>onMessage</a:t>
            </a:r>
            <a:r>
              <a:rPr lang="en-US" sz="2000" dirty="0" smtClean="0"/>
              <a:t>.</a:t>
            </a:r>
            <a:endParaRPr lang="en-US" sz="2000" dirty="0"/>
          </a:p>
        </p:txBody>
      </p:sp>
    </p:spTree>
    <p:extLst>
      <p:ext uri="{BB962C8B-B14F-4D97-AF65-F5344CB8AC3E}">
        <p14:creationId xmlns:p14="http://schemas.microsoft.com/office/powerpoint/2010/main" val="42320822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2</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smtClean="0">
                <a:solidFill>
                  <a:srgbClr val="FF0000"/>
                </a:solidFill>
                <a:latin typeface="Calibri" pitchFamily="34" charset="0"/>
              </a:rPr>
              <a:t>Arhitectura</a:t>
            </a:r>
            <a:r>
              <a:rPr lang="en-US" altLang="en-US" dirty="0" smtClean="0">
                <a:solidFill>
                  <a:srgbClr val="FF0000"/>
                </a:solidFill>
                <a:latin typeface="Calibri" pitchFamily="34" charset="0"/>
              </a:rPr>
              <a:t> JavaEE8 cu EJB3.2 </a:t>
            </a:r>
            <a:endParaRPr lang="en-US" altLang="en-US" dirty="0">
              <a:solidFill>
                <a:srgbClr val="FF0000"/>
              </a:solidFill>
              <a:latin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68353"/>
            <a:ext cx="6477000" cy="650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951472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3</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smtClean="0">
                <a:solidFill>
                  <a:srgbClr val="FF0000"/>
                </a:solidFill>
                <a:latin typeface="Calibri" pitchFamily="34" charset="0"/>
              </a:rPr>
              <a:t>Componente</a:t>
            </a:r>
            <a:r>
              <a:rPr lang="en-US" altLang="en-US" dirty="0" smtClean="0">
                <a:solidFill>
                  <a:srgbClr val="FF0000"/>
                </a:solidFill>
                <a:latin typeface="Calibri" pitchFamily="34" charset="0"/>
              </a:rPr>
              <a:t> session beans </a:t>
            </a:r>
            <a:endParaRPr lang="en-US" altLang="en-US" dirty="0">
              <a:solidFill>
                <a:srgbClr val="FF0000"/>
              </a:solidFill>
              <a:latin typeface="Calibri" pitchFamily="34" charset="0"/>
            </a:endParaRPr>
          </a:p>
        </p:txBody>
      </p:sp>
      <p:sp>
        <p:nvSpPr>
          <p:cNvPr id="2" name="Rectangle 1"/>
          <p:cNvSpPr/>
          <p:nvPr/>
        </p:nvSpPr>
        <p:spPr>
          <a:xfrm>
            <a:off x="0" y="383317"/>
            <a:ext cx="9144000" cy="5940088"/>
          </a:xfrm>
          <a:prstGeom prst="rect">
            <a:avLst/>
          </a:prstGeom>
        </p:spPr>
        <p:txBody>
          <a:bodyPr wrap="square">
            <a:spAutoFit/>
          </a:bodyPr>
          <a:lstStyle/>
          <a:p>
            <a:pPr fontAlgn="auto">
              <a:spcBef>
                <a:spcPts val="0"/>
              </a:spcBef>
              <a:spcAft>
                <a:spcPts val="0"/>
              </a:spcAft>
              <a:defRPr/>
            </a:pPr>
            <a:r>
              <a:rPr lang="en-US" sz="2000" dirty="0"/>
              <a:t>Un </a:t>
            </a:r>
            <a:r>
              <a:rPr lang="en-US" sz="2000" dirty="0" err="1"/>
              <a:t>astfel</a:t>
            </a:r>
            <a:r>
              <a:rPr lang="en-US" sz="2000" dirty="0"/>
              <a:t> de </a:t>
            </a:r>
            <a:r>
              <a:rPr lang="en-US" sz="2000" dirty="0" err="1" smtClean="0"/>
              <a:t>EJB</a:t>
            </a:r>
            <a:r>
              <a:rPr lang="en-US" sz="2000" dirty="0" smtClean="0"/>
              <a:t> </a:t>
            </a:r>
            <a:r>
              <a:rPr lang="en-US" sz="2000" dirty="0" err="1"/>
              <a:t>este</a:t>
            </a:r>
            <a:r>
              <a:rPr lang="en-US" sz="2000" dirty="0"/>
              <a:t> </a:t>
            </a:r>
            <a:r>
              <a:rPr lang="en-US" sz="2000" dirty="0" err="1"/>
              <a:t>compus</a:t>
            </a:r>
            <a:r>
              <a:rPr lang="en-US" sz="2000" dirty="0"/>
              <a:t> din</a:t>
            </a:r>
            <a:r>
              <a:rPr lang="en-US" sz="2000" dirty="0" smtClean="0"/>
              <a:t>:</a:t>
            </a:r>
          </a:p>
          <a:p>
            <a:pPr fontAlgn="auto">
              <a:spcBef>
                <a:spcPts val="0"/>
              </a:spcBef>
              <a:spcAft>
                <a:spcPts val="0"/>
              </a:spcAft>
              <a:defRPr/>
            </a:pPr>
            <a:endParaRPr lang="en-US" sz="2000" dirty="0"/>
          </a:p>
          <a:p>
            <a:pPr marL="342900" indent="-342900" fontAlgn="auto">
              <a:spcBef>
                <a:spcPts val="0"/>
              </a:spcBef>
              <a:spcAft>
                <a:spcPts val="0"/>
              </a:spcAft>
              <a:buFont typeface="Arial" pitchFamily="34" charset="0"/>
              <a:buChar char="•"/>
              <a:defRPr/>
            </a:pPr>
            <a:r>
              <a:rPr lang="en-US" sz="2000" b="1" dirty="0" err="1" smtClean="0"/>
              <a:t>Interfata</a:t>
            </a:r>
            <a:r>
              <a:rPr lang="en-US" sz="2000" b="1" dirty="0" smtClean="0"/>
              <a:t>(</a:t>
            </a:r>
            <a:r>
              <a:rPr lang="en-US" sz="2000" b="1" dirty="0" err="1" smtClean="0"/>
              <a:t>interfete</a:t>
            </a:r>
            <a:r>
              <a:rPr lang="en-US" sz="2000" b="1" dirty="0"/>
              <a:t>)</a:t>
            </a:r>
            <a:r>
              <a:rPr lang="en-US" sz="2000" dirty="0"/>
              <a:t> business. </a:t>
            </a:r>
            <a:r>
              <a:rPr lang="en-US" sz="2000" dirty="0" err="1"/>
              <a:t>Interfetele</a:t>
            </a:r>
            <a:r>
              <a:rPr lang="en-US" sz="2000" dirty="0"/>
              <a:t> </a:t>
            </a:r>
            <a:r>
              <a:rPr lang="en-US" sz="2000" dirty="0" err="1"/>
              <a:t>contin</a:t>
            </a:r>
            <a:r>
              <a:rPr lang="en-US" sz="2000" dirty="0"/>
              <a:t> </a:t>
            </a:r>
            <a:r>
              <a:rPr lang="en-US" sz="2000" dirty="0" err="1"/>
              <a:t>prototipurile</a:t>
            </a:r>
            <a:r>
              <a:rPr lang="en-US" sz="2000" dirty="0"/>
              <a:t> </a:t>
            </a:r>
            <a:r>
              <a:rPr lang="en-US" sz="2000" dirty="0" err="1"/>
              <a:t>metodelor</a:t>
            </a:r>
            <a:r>
              <a:rPr lang="en-US" sz="2000" dirty="0"/>
              <a:t> de business, </a:t>
            </a:r>
            <a:r>
              <a:rPr lang="en-US" sz="2000" dirty="0" err="1"/>
              <a:t>vizibile</a:t>
            </a:r>
            <a:r>
              <a:rPr lang="en-US" sz="2000" dirty="0"/>
              <a:t> de </a:t>
            </a:r>
            <a:r>
              <a:rPr lang="en-US" sz="2000" dirty="0" err="1"/>
              <a:t>catre</a:t>
            </a:r>
            <a:r>
              <a:rPr lang="en-US" sz="2000" dirty="0"/>
              <a:t> client </a:t>
            </a:r>
            <a:r>
              <a:rPr lang="en-US" sz="2000" dirty="0" err="1"/>
              <a:t>si</a:t>
            </a:r>
            <a:r>
              <a:rPr lang="en-US" sz="2000" dirty="0"/>
              <a:t> </a:t>
            </a:r>
            <a:r>
              <a:rPr lang="en-US" sz="2000" dirty="0" err="1"/>
              <a:t>implementate</a:t>
            </a:r>
            <a:r>
              <a:rPr lang="en-US" sz="2000" dirty="0"/>
              <a:t> de </a:t>
            </a:r>
            <a:r>
              <a:rPr lang="en-US" sz="2000" dirty="0" err="1"/>
              <a:t>catre</a:t>
            </a:r>
            <a:r>
              <a:rPr lang="en-US" sz="2000" dirty="0"/>
              <a:t> </a:t>
            </a:r>
            <a:r>
              <a:rPr lang="en-US" sz="2000" dirty="0" err="1"/>
              <a:t>clasa</a:t>
            </a:r>
            <a:r>
              <a:rPr lang="en-US" sz="2000" dirty="0"/>
              <a:t> bean. </a:t>
            </a:r>
            <a:r>
              <a:rPr lang="en-US" sz="2000" dirty="0" err="1"/>
              <a:t>Tipurile</a:t>
            </a:r>
            <a:r>
              <a:rPr lang="en-US" sz="2000" dirty="0"/>
              <a:t> de </a:t>
            </a:r>
            <a:r>
              <a:rPr lang="en-US" sz="2000" dirty="0" err="1"/>
              <a:t>interfete</a:t>
            </a:r>
            <a:r>
              <a:rPr lang="en-US" sz="2000" dirty="0"/>
              <a:t>:</a:t>
            </a:r>
          </a:p>
          <a:p>
            <a:pPr marL="800100" lvl="1" indent="-342900" fontAlgn="auto">
              <a:spcBef>
                <a:spcPts val="0"/>
              </a:spcBef>
              <a:spcAft>
                <a:spcPts val="0"/>
              </a:spcAft>
              <a:buFont typeface="Arial" pitchFamily="34" charset="0"/>
              <a:buChar char="•"/>
              <a:defRPr/>
            </a:pPr>
            <a:r>
              <a:rPr lang="en-US" sz="2000" dirty="0" err="1"/>
              <a:t>interfete</a:t>
            </a:r>
            <a:r>
              <a:rPr lang="en-US" sz="2000" dirty="0"/>
              <a:t> </a:t>
            </a:r>
            <a:r>
              <a:rPr lang="en-US" sz="2000" b="1" dirty="0"/>
              <a:t>@Remote</a:t>
            </a:r>
            <a:r>
              <a:rPr lang="en-US" sz="2000" dirty="0"/>
              <a:t> – </a:t>
            </a:r>
            <a:r>
              <a:rPr lang="en-US" sz="2000" dirty="0" err="1"/>
              <a:t>accesibile</a:t>
            </a:r>
            <a:r>
              <a:rPr lang="en-US" sz="2000" dirty="0"/>
              <a:t> </a:t>
            </a:r>
            <a:r>
              <a:rPr lang="en-US" sz="2000" dirty="0" err="1"/>
              <a:t>clientilor</a:t>
            </a:r>
            <a:r>
              <a:rPr lang="en-US" sz="2000" dirty="0"/>
              <a:t> de la </a:t>
            </a:r>
            <a:r>
              <a:rPr lang="en-US" sz="2000" dirty="0" err="1"/>
              <a:t>distanta</a:t>
            </a:r>
            <a:endParaRPr lang="en-US" sz="2000" dirty="0"/>
          </a:p>
          <a:p>
            <a:pPr marL="800100" lvl="1" indent="-342900" fontAlgn="auto">
              <a:spcBef>
                <a:spcPts val="0"/>
              </a:spcBef>
              <a:spcAft>
                <a:spcPts val="0"/>
              </a:spcAft>
              <a:buFont typeface="Arial" pitchFamily="34" charset="0"/>
              <a:buChar char="•"/>
              <a:defRPr/>
            </a:pPr>
            <a:r>
              <a:rPr lang="en-US" sz="2000" dirty="0" err="1"/>
              <a:t>interfete</a:t>
            </a:r>
            <a:r>
              <a:rPr lang="en-US" sz="2000" dirty="0"/>
              <a:t> </a:t>
            </a:r>
            <a:r>
              <a:rPr lang="en-US" sz="2000" b="1" dirty="0"/>
              <a:t>@Local</a:t>
            </a:r>
            <a:r>
              <a:rPr lang="en-US" sz="2000" dirty="0"/>
              <a:t> – </a:t>
            </a:r>
            <a:r>
              <a:rPr lang="en-US" sz="2000" dirty="0" err="1"/>
              <a:t>accesibile</a:t>
            </a:r>
            <a:r>
              <a:rPr lang="en-US" sz="2000" dirty="0"/>
              <a:t> </a:t>
            </a:r>
            <a:r>
              <a:rPr lang="en-US" sz="2000" dirty="0" err="1"/>
              <a:t>clientilor</a:t>
            </a:r>
            <a:r>
              <a:rPr lang="en-US" sz="2000" dirty="0"/>
              <a:t> </a:t>
            </a:r>
            <a:r>
              <a:rPr lang="en-US" sz="2000" dirty="0" err="1"/>
              <a:t>locali</a:t>
            </a:r>
            <a:r>
              <a:rPr lang="en-US" sz="2000" dirty="0"/>
              <a:t> ( din container)</a:t>
            </a:r>
          </a:p>
          <a:p>
            <a:pPr marL="800100" lvl="1" indent="-342900" fontAlgn="auto">
              <a:spcBef>
                <a:spcPts val="0"/>
              </a:spcBef>
              <a:spcAft>
                <a:spcPts val="0"/>
              </a:spcAft>
              <a:buFont typeface="Arial" pitchFamily="34" charset="0"/>
              <a:buChar char="•"/>
              <a:defRPr/>
            </a:pPr>
            <a:r>
              <a:rPr lang="en-US" sz="2000" b="1" dirty="0" err="1"/>
              <a:t>fara</a:t>
            </a:r>
            <a:r>
              <a:rPr lang="en-US" sz="2000" b="1" dirty="0"/>
              <a:t> </a:t>
            </a:r>
            <a:r>
              <a:rPr lang="en-US" sz="2000" b="1" dirty="0" err="1"/>
              <a:t>interfete</a:t>
            </a:r>
            <a:r>
              <a:rPr lang="en-US" sz="2000" b="1" dirty="0"/>
              <a:t> </a:t>
            </a:r>
            <a:r>
              <a:rPr lang="en-US" sz="2000" dirty="0"/>
              <a:t>– </a:t>
            </a:r>
            <a:r>
              <a:rPr lang="en-US" sz="2000" dirty="0" err="1"/>
              <a:t>acces</a:t>
            </a:r>
            <a:r>
              <a:rPr lang="en-US" sz="2000" dirty="0"/>
              <a:t> local la </a:t>
            </a:r>
            <a:r>
              <a:rPr lang="en-US" sz="2000" dirty="0" err="1"/>
              <a:t>toate</a:t>
            </a:r>
            <a:r>
              <a:rPr lang="en-US" sz="2000" dirty="0"/>
              <a:t> </a:t>
            </a:r>
            <a:r>
              <a:rPr lang="en-US" sz="2000" dirty="0" err="1"/>
              <a:t>metodele</a:t>
            </a:r>
            <a:r>
              <a:rPr lang="en-US" sz="2000" dirty="0"/>
              <a:t> </a:t>
            </a:r>
            <a:r>
              <a:rPr lang="en-US" sz="2000" dirty="0" err="1"/>
              <a:t>publice</a:t>
            </a:r>
            <a:r>
              <a:rPr lang="en-US" sz="2000" dirty="0"/>
              <a:t> </a:t>
            </a:r>
            <a:r>
              <a:rPr lang="en-US" sz="2000" dirty="0" err="1"/>
              <a:t>oferite</a:t>
            </a:r>
            <a:r>
              <a:rPr lang="en-US" sz="2000" dirty="0"/>
              <a:t> de </a:t>
            </a:r>
            <a:r>
              <a:rPr lang="en-US" sz="2000" dirty="0" err="1"/>
              <a:t>clasa</a:t>
            </a:r>
            <a:r>
              <a:rPr lang="en-US" sz="2000" dirty="0"/>
              <a:t> </a:t>
            </a:r>
            <a:r>
              <a:rPr lang="en-US" sz="2000" dirty="0" smtClean="0"/>
              <a:t>bean</a:t>
            </a:r>
          </a:p>
          <a:p>
            <a:pPr lvl="1" fontAlgn="auto">
              <a:spcBef>
                <a:spcPts val="0"/>
              </a:spcBef>
              <a:spcAft>
                <a:spcPts val="0"/>
              </a:spcAft>
              <a:defRPr/>
            </a:pPr>
            <a:endParaRPr lang="en-US" sz="2000" dirty="0"/>
          </a:p>
          <a:p>
            <a:pPr marL="342900" indent="-342900" fontAlgn="auto">
              <a:spcBef>
                <a:spcPts val="0"/>
              </a:spcBef>
              <a:spcAft>
                <a:spcPts val="0"/>
              </a:spcAft>
              <a:buFont typeface="Arial" pitchFamily="34" charset="0"/>
              <a:buChar char="•"/>
              <a:defRPr/>
            </a:pPr>
            <a:r>
              <a:rPr lang="en-US" sz="2000" b="1" dirty="0" err="1" smtClean="0"/>
              <a:t>Clasa</a:t>
            </a:r>
            <a:r>
              <a:rPr lang="en-US" sz="2000" b="1" dirty="0" smtClean="0"/>
              <a:t> </a:t>
            </a:r>
            <a:r>
              <a:rPr lang="en-US" sz="2000" b="1" dirty="0"/>
              <a:t>bean</a:t>
            </a:r>
            <a:r>
              <a:rPr lang="en-US" sz="2000" dirty="0"/>
              <a:t> care </a:t>
            </a:r>
            <a:r>
              <a:rPr lang="en-US" sz="2000" dirty="0" err="1"/>
              <a:t>implementeaza</a:t>
            </a:r>
            <a:r>
              <a:rPr lang="en-US" sz="2000" dirty="0"/>
              <a:t> </a:t>
            </a:r>
            <a:r>
              <a:rPr lang="en-US" sz="2000" dirty="0" err="1"/>
              <a:t>metodele</a:t>
            </a:r>
            <a:r>
              <a:rPr lang="en-US" sz="2000" dirty="0"/>
              <a:t> de </a:t>
            </a:r>
            <a:r>
              <a:rPr lang="en-US" sz="2000" dirty="0" smtClean="0"/>
              <a:t>business. Este </a:t>
            </a:r>
            <a:r>
              <a:rPr lang="en-US" sz="2000" dirty="0" err="1" smtClean="0"/>
              <a:t>prefixata</a:t>
            </a:r>
            <a:r>
              <a:rPr lang="en-US" sz="2000" dirty="0" smtClean="0"/>
              <a:t>, </a:t>
            </a:r>
            <a:r>
              <a:rPr lang="en-US" sz="2000" dirty="0" err="1"/>
              <a:t>dupa</a:t>
            </a:r>
            <a:r>
              <a:rPr lang="en-US" sz="2000" dirty="0"/>
              <a:t> </a:t>
            </a:r>
            <a:r>
              <a:rPr lang="en-US" sz="2000" dirty="0" err="1"/>
              <a:t>caz</a:t>
            </a:r>
            <a:r>
              <a:rPr lang="en-US" sz="2000" dirty="0"/>
              <a:t>, de @</a:t>
            </a:r>
            <a:r>
              <a:rPr lang="en-US" sz="2000" b="1" dirty="0" err="1"/>
              <a:t>Stateful</a:t>
            </a:r>
            <a:r>
              <a:rPr lang="en-US" sz="2000" dirty="0"/>
              <a:t> @</a:t>
            </a:r>
            <a:r>
              <a:rPr lang="en-US" sz="2000" b="1" dirty="0"/>
              <a:t>Stateless</a:t>
            </a:r>
            <a:r>
              <a:rPr lang="en-US" sz="2000" dirty="0"/>
              <a:t> @</a:t>
            </a:r>
            <a:r>
              <a:rPr lang="en-US" sz="2000" b="1" dirty="0"/>
              <a:t>Singleton</a:t>
            </a:r>
            <a:r>
              <a:rPr lang="en-US" sz="2000" dirty="0"/>
              <a:t>.</a:t>
            </a:r>
          </a:p>
          <a:p>
            <a:pPr marL="342900" indent="-342900" fontAlgn="auto">
              <a:spcBef>
                <a:spcPts val="0"/>
              </a:spcBef>
              <a:spcAft>
                <a:spcPts val="0"/>
              </a:spcAft>
              <a:defRPr/>
            </a:pPr>
            <a:endParaRPr lang="en-US" sz="2000" dirty="0"/>
          </a:p>
          <a:p>
            <a:pPr marL="342900" indent="-342900" fontAlgn="auto">
              <a:spcBef>
                <a:spcPts val="0"/>
              </a:spcBef>
              <a:spcAft>
                <a:spcPts val="0"/>
              </a:spcAft>
              <a:defRPr/>
            </a:pPr>
            <a:r>
              <a:rPr lang="en-US" sz="2000" dirty="0" err="1"/>
              <a:t>Adnotarile</a:t>
            </a:r>
            <a:r>
              <a:rPr lang="en-US" sz="2000" dirty="0"/>
              <a:t> @</a:t>
            </a:r>
            <a:r>
              <a:rPr lang="en-US" sz="2000" b="1" dirty="0"/>
              <a:t>Remote</a:t>
            </a:r>
            <a:r>
              <a:rPr lang="en-US" sz="2000" dirty="0"/>
              <a:t> </a:t>
            </a:r>
            <a:r>
              <a:rPr lang="en-US" sz="2000" dirty="0" err="1"/>
              <a:t>si</a:t>
            </a:r>
            <a:r>
              <a:rPr lang="en-US" sz="2000" dirty="0"/>
              <a:t> / </a:t>
            </a:r>
            <a:r>
              <a:rPr lang="en-US" sz="2000" dirty="0" err="1"/>
              <a:t>sau</a:t>
            </a:r>
            <a:r>
              <a:rPr lang="en-US" sz="2000" dirty="0"/>
              <a:t> @</a:t>
            </a:r>
            <a:r>
              <a:rPr lang="en-US" sz="2000" b="1" dirty="0" smtClean="0"/>
              <a:t>Local</a:t>
            </a:r>
            <a:r>
              <a:rPr lang="en-US" sz="2000" dirty="0" smtClean="0"/>
              <a:t> </a:t>
            </a:r>
            <a:r>
              <a:rPr lang="en-US" sz="2000" dirty="0" err="1" smtClean="0"/>
              <a:t>indica</a:t>
            </a:r>
            <a:r>
              <a:rPr lang="en-US" sz="2000" dirty="0" smtClean="0"/>
              <a:t> </a:t>
            </a:r>
            <a:r>
              <a:rPr lang="en-US" sz="2000" dirty="0" err="1" smtClean="0"/>
              <a:t>tipul</a:t>
            </a:r>
            <a:r>
              <a:rPr lang="en-US" sz="2000" dirty="0" smtClean="0"/>
              <a:t> de </a:t>
            </a:r>
            <a:r>
              <a:rPr lang="en-US" sz="2000" dirty="0" err="1" smtClean="0"/>
              <a:t>interfata</a:t>
            </a:r>
            <a:r>
              <a:rPr lang="en-US" sz="2000" dirty="0" smtClean="0"/>
              <a:t> </a:t>
            </a:r>
            <a:r>
              <a:rPr lang="en-US" sz="2000" dirty="0" err="1" smtClean="0"/>
              <a:t>folosit</a:t>
            </a:r>
            <a:r>
              <a:rPr lang="en-US" sz="2000" dirty="0" smtClean="0"/>
              <a:t>. </a:t>
            </a:r>
            <a:r>
              <a:rPr lang="en-US" sz="2000" dirty="0" err="1" smtClean="0"/>
              <a:t>Ele</a:t>
            </a:r>
            <a:r>
              <a:rPr lang="en-US" sz="2000" dirty="0" smtClean="0"/>
              <a:t> pot </a:t>
            </a:r>
            <a:r>
              <a:rPr lang="en-US" sz="2000" dirty="0" err="1" smtClean="0"/>
              <a:t>sa</a:t>
            </a:r>
            <a:r>
              <a:rPr lang="en-US" sz="2000" dirty="0" smtClean="0"/>
              <a:t> </a:t>
            </a:r>
            <a:r>
              <a:rPr lang="en-US" sz="2000" dirty="0" err="1" smtClean="0"/>
              <a:t>apara</a:t>
            </a:r>
            <a:r>
              <a:rPr lang="en-US" sz="2000" dirty="0" smtClean="0"/>
              <a:t>:</a:t>
            </a:r>
            <a:endParaRPr lang="en-US" sz="2000" dirty="0"/>
          </a:p>
          <a:p>
            <a:pPr marL="1257300" lvl="2" indent="-342900" fontAlgn="auto">
              <a:spcBef>
                <a:spcPts val="0"/>
              </a:spcBef>
              <a:spcAft>
                <a:spcPts val="0"/>
              </a:spcAft>
              <a:buFont typeface="Arial" pitchFamily="34" charset="0"/>
              <a:buChar char="•"/>
              <a:defRPr/>
            </a:pPr>
            <a:r>
              <a:rPr lang="en-US" sz="2000" dirty="0" err="1" smtClean="0"/>
              <a:t>Ca</a:t>
            </a:r>
            <a:r>
              <a:rPr lang="en-US" sz="2000" dirty="0" smtClean="0"/>
              <a:t> prefix la </a:t>
            </a:r>
            <a:r>
              <a:rPr lang="en-US" sz="2000" dirty="0" err="1" smtClean="0"/>
              <a:t>definirea</a:t>
            </a:r>
            <a:r>
              <a:rPr lang="en-US" sz="2000" dirty="0" smtClean="0"/>
              <a:t> </a:t>
            </a:r>
            <a:r>
              <a:rPr lang="en-US" sz="2000" dirty="0" err="1"/>
              <a:t>fiecarei</a:t>
            </a:r>
            <a:r>
              <a:rPr lang="en-US" sz="2000" dirty="0"/>
              <a:t> </a:t>
            </a:r>
            <a:r>
              <a:rPr lang="en-US" sz="2000" dirty="0" err="1"/>
              <a:t>interfete</a:t>
            </a:r>
            <a:r>
              <a:rPr lang="en-US" sz="2000" dirty="0"/>
              <a:t>, </a:t>
            </a:r>
          </a:p>
          <a:p>
            <a:pPr marL="1257300" lvl="2" indent="-342900" fontAlgn="auto">
              <a:spcBef>
                <a:spcPts val="0"/>
              </a:spcBef>
              <a:spcAft>
                <a:spcPts val="0"/>
              </a:spcAft>
              <a:buFont typeface="Arial" pitchFamily="34" charset="0"/>
              <a:buChar char="•"/>
              <a:defRPr/>
            </a:pPr>
            <a:r>
              <a:rPr lang="en-US" sz="2000" dirty="0" err="1" smtClean="0"/>
              <a:t>Ca</a:t>
            </a:r>
            <a:r>
              <a:rPr lang="en-US" sz="2000" dirty="0" smtClean="0"/>
              <a:t> prefix al </a:t>
            </a:r>
            <a:r>
              <a:rPr lang="en-US" sz="2000" dirty="0"/>
              <a:t>bean-</a:t>
            </a:r>
            <a:r>
              <a:rPr lang="en-US" sz="2000" dirty="0" err="1"/>
              <a:t>ul</a:t>
            </a:r>
            <a:r>
              <a:rPr lang="en-US" sz="2000" dirty="0"/>
              <a:t> </a:t>
            </a:r>
            <a:r>
              <a:rPr lang="en-US" sz="2000" dirty="0" err="1"/>
              <a:t>implementator</a:t>
            </a:r>
            <a:r>
              <a:rPr lang="en-US" sz="2000" dirty="0"/>
              <a:t> cu @</a:t>
            </a:r>
            <a:r>
              <a:rPr lang="en-US" sz="2000" b="1" dirty="0"/>
              <a:t>Remote(</a:t>
            </a:r>
            <a:r>
              <a:rPr lang="en-US" sz="2000" b="1" dirty="0" err="1"/>
              <a:t>numeInterfata</a:t>
            </a:r>
            <a:r>
              <a:rPr lang="en-US" sz="2000" dirty="0"/>
              <a:t>) </a:t>
            </a:r>
            <a:r>
              <a:rPr lang="en-US" sz="2000" dirty="0" err="1"/>
              <a:t>si</a:t>
            </a:r>
            <a:r>
              <a:rPr lang="en-US" sz="2000" dirty="0"/>
              <a:t> / </a:t>
            </a:r>
            <a:r>
              <a:rPr lang="en-US" sz="2000" dirty="0" err="1"/>
              <a:t>sau</a:t>
            </a:r>
            <a:r>
              <a:rPr lang="en-US" sz="2000" dirty="0"/>
              <a:t> @</a:t>
            </a:r>
            <a:r>
              <a:rPr lang="en-US" sz="2000" b="1" dirty="0"/>
              <a:t>Local(</a:t>
            </a:r>
            <a:r>
              <a:rPr lang="en-US" sz="2000" b="1" dirty="0" err="1"/>
              <a:t>numeInterfata</a:t>
            </a:r>
            <a:r>
              <a:rPr lang="en-US" sz="2000" dirty="0" smtClean="0"/>
              <a:t>), </a:t>
            </a:r>
            <a:r>
              <a:rPr lang="en-US" sz="2000" dirty="0" err="1" smtClean="0"/>
              <a:t>caz</a:t>
            </a:r>
            <a:r>
              <a:rPr lang="en-US" sz="2000" dirty="0" smtClean="0"/>
              <a:t> in care </a:t>
            </a:r>
            <a:r>
              <a:rPr lang="en-US" sz="2000" dirty="0" err="1" smtClean="0"/>
              <a:t>interfetele</a:t>
            </a:r>
            <a:r>
              <a:rPr lang="en-US" sz="2000" dirty="0" smtClean="0"/>
              <a:t> </a:t>
            </a:r>
            <a:r>
              <a:rPr lang="en-US" sz="2000" dirty="0"/>
              <a:t>nu </a:t>
            </a:r>
            <a:r>
              <a:rPr lang="en-US" sz="2000" dirty="0" err="1"/>
              <a:t>sunt</a:t>
            </a:r>
            <a:r>
              <a:rPr lang="en-US" sz="2000" dirty="0"/>
              <a:t> </a:t>
            </a:r>
            <a:r>
              <a:rPr lang="en-US" sz="2000" dirty="0" err="1" smtClean="0"/>
              <a:t>prefixate</a:t>
            </a:r>
            <a:r>
              <a:rPr lang="en-US" sz="2000" dirty="0" smtClean="0"/>
              <a:t>.</a:t>
            </a:r>
            <a:endParaRPr lang="en-US" sz="2000" dirty="0"/>
          </a:p>
        </p:txBody>
      </p:sp>
    </p:spTree>
    <p:extLst>
      <p:ext uri="{BB962C8B-B14F-4D97-AF65-F5344CB8AC3E}">
        <p14:creationId xmlns:p14="http://schemas.microsoft.com/office/powerpoint/2010/main" val="2446861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4</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smtClean="0">
                <a:solidFill>
                  <a:srgbClr val="FF0000"/>
                </a:solidFill>
                <a:latin typeface="Calibri" pitchFamily="34" charset="0"/>
              </a:rPr>
              <a:t>Exemple</a:t>
            </a:r>
            <a:r>
              <a:rPr lang="en-US" altLang="en-US" dirty="0" smtClean="0">
                <a:solidFill>
                  <a:srgbClr val="FF0000"/>
                </a:solidFill>
                <a:latin typeface="Calibri" pitchFamily="34" charset="0"/>
              </a:rPr>
              <a:t> de </a:t>
            </a:r>
            <a:r>
              <a:rPr lang="en-US" altLang="en-US" dirty="0" err="1" smtClean="0">
                <a:solidFill>
                  <a:srgbClr val="FF0000"/>
                </a:solidFill>
                <a:latin typeface="Calibri" pitchFamily="34" charset="0"/>
              </a:rPr>
              <a:t>precizare</a:t>
            </a:r>
            <a:r>
              <a:rPr lang="en-US" altLang="en-US" dirty="0" smtClean="0">
                <a:solidFill>
                  <a:srgbClr val="FF0000"/>
                </a:solidFill>
                <a:latin typeface="Calibri" pitchFamily="34" charset="0"/>
              </a:rPr>
              <a:t> a </a:t>
            </a:r>
            <a:r>
              <a:rPr lang="en-US" altLang="en-US" dirty="0" err="1" smtClean="0">
                <a:solidFill>
                  <a:srgbClr val="FF0000"/>
                </a:solidFill>
                <a:latin typeface="Calibri" pitchFamily="34" charset="0"/>
              </a:rPr>
              <a:t>tipurilor</a:t>
            </a:r>
            <a:r>
              <a:rPr lang="en-US" altLang="en-US" dirty="0" smtClean="0">
                <a:solidFill>
                  <a:srgbClr val="FF0000"/>
                </a:solidFill>
                <a:latin typeface="Calibri" pitchFamily="34" charset="0"/>
              </a:rPr>
              <a:t> de </a:t>
            </a:r>
            <a:r>
              <a:rPr lang="en-US" altLang="en-US" dirty="0" err="1" smtClean="0">
                <a:solidFill>
                  <a:srgbClr val="FF0000"/>
                </a:solidFill>
                <a:latin typeface="Calibri" pitchFamily="34" charset="0"/>
              </a:rPr>
              <a:t>interfete</a:t>
            </a:r>
            <a:r>
              <a:rPr lang="en-US" altLang="en-US" dirty="0" smtClean="0">
                <a:solidFill>
                  <a:srgbClr val="FF0000"/>
                </a:solidFill>
                <a:latin typeface="Calibri" pitchFamily="34" charset="0"/>
              </a:rPr>
              <a:t> </a:t>
            </a:r>
            <a:endParaRPr lang="en-US" altLang="en-US" dirty="0">
              <a:solidFill>
                <a:srgbClr val="FF0000"/>
              </a:solidFill>
              <a:latin typeface="Calibri" pitchFamily="34" charset="0"/>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42" y="366713"/>
            <a:ext cx="4724400" cy="359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2590800"/>
            <a:ext cx="3143250" cy="250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4974474"/>
            <a:ext cx="5257800"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 name="Elbow Connector 9"/>
          <p:cNvCxnSpPr/>
          <p:nvPr/>
        </p:nvCxnSpPr>
        <p:spPr>
          <a:xfrm rot="5400000">
            <a:off x="259556" y="2088357"/>
            <a:ext cx="6491289" cy="3048000"/>
          </a:xfrm>
          <a:prstGeom prst="bentConnector3">
            <a:avLst>
              <a:gd name="adj1" fmla="val 55931"/>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68617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5</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smtClean="0">
                <a:solidFill>
                  <a:srgbClr val="FF0000"/>
                </a:solidFill>
                <a:latin typeface="Calibri" pitchFamily="34" charset="0"/>
              </a:rPr>
              <a:t>Stateful</a:t>
            </a:r>
            <a:r>
              <a:rPr lang="en-US" altLang="en-US" dirty="0" smtClean="0">
                <a:solidFill>
                  <a:srgbClr val="FF0000"/>
                </a:solidFill>
                <a:latin typeface="Calibri" pitchFamily="34" charset="0"/>
              </a:rPr>
              <a:t> bean, </a:t>
            </a:r>
            <a:r>
              <a:rPr lang="en-US" altLang="en-US" dirty="0" err="1" smtClean="0">
                <a:solidFill>
                  <a:srgbClr val="FF0000"/>
                </a:solidFill>
                <a:latin typeface="Calibri" pitchFamily="34" charset="0"/>
              </a:rPr>
              <a:t>ciclu</a:t>
            </a:r>
            <a:r>
              <a:rPr lang="en-US" altLang="en-US" dirty="0" smtClean="0">
                <a:solidFill>
                  <a:srgbClr val="FF0000"/>
                </a:solidFill>
                <a:latin typeface="Calibri" pitchFamily="34" charset="0"/>
              </a:rPr>
              <a:t> de </a:t>
            </a:r>
            <a:r>
              <a:rPr lang="en-US" altLang="en-US" dirty="0" err="1" smtClean="0">
                <a:solidFill>
                  <a:srgbClr val="FF0000"/>
                </a:solidFill>
                <a:latin typeface="Calibri" pitchFamily="34" charset="0"/>
              </a:rPr>
              <a:t>viata</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interceptori</a:t>
            </a:r>
            <a:r>
              <a:rPr lang="en-US" altLang="en-US" dirty="0" smtClean="0">
                <a:solidFill>
                  <a:srgbClr val="FF0000"/>
                </a:solidFill>
                <a:latin typeface="Calibri" pitchFamily="34" charset="0"/>
              </a:rPr>
              <a:t> </a:t>
            </a:r>
            <a:endParaRPr lang="en-US" altLang="en-US" dirty="0">
              <a:solidFill>
                <a:srgbClr val="FF0000"/>
              </a:solidFill>
              <a:latin typeface="Calibri"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146" y="1614080"/>
            <a:ext cx="5880670" cy="3592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6"/>
          <p:cNvSpPr txBox="1">
            <a:spLocks noChangeArrowheads="1"/>
          </p:cNvSpPr>
          <p:nvPr/>
        </p:nvSpPr>
        <p:spPr bwMode="auto">
          <a:xfrm>
            <a:off x="0" y="366714"/>
            <a:ext cx="9144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Gill Sans MT" pitchFamily="34" charset="0"/>
              </a:defRPr>
            </a:lvl1pPr>
            <a:lvl2pPr marL="742950" indent="-285750">
              <a:defRPr>
                <a:solidFill>
                  <a:schemeClr val="tx1"/>
                </a:solidFill>
                <a:latin typeface="Gill Sans MT" pitchFamily="34" charset="0"/>
              </a:defRPr>
            </a:lvl2pPr>
            <a:lvl3pPr marL="1143000" indent="-228600">
              <a:defRPr>
                <a:solidFill>
                  <a:schemeClr val="tx1"/>
                </a:solidFill>
                <a:latin typeface="Gill Sans MT" pitchFamily="34" charset="0"/>
              </a:defRPr>
            </a:lvl3pPr>
            <a:lvl4pPr marL="1600200" indent="-228600">
              <a:defRPr>
                <a:solidFill>
                  <a:schemeClr val="tx1"/>
                </a:solidFill>
                <a:latin typeface="Gill Sans MT" pitchFamily="34" charset="0"/>
              </a:defRPr>
            </a:lvl4pPr>
            <a:lvl5pPr marL="2057400" indent="-228600">
              <a:defRPr>
                <a:solidFill>
                  <a:schemeClr val="tx1"/>
                </a:solidFill>
                <a:latin typeface="Gill Sans MT" pitchFamily="34" charset="0"/>
              </a:defRPr>
            </a:lvl5pPr>
            <a:lvl6pPr marL="2514600" indent="-228600" fontAlgn="base">
              <a:spcBef>
                <a:spcPct val="0"/>
              </a:spcBef>
              <a:spcAft>
                <a:spcPct val="0"/>
              </a:spcAft>
              <a:defRPr>
                <a:solidFill>
                  <a:schemeClr val="tx1"/>
                </a:solidFill>
                <a:latin typeface="Gill Sans MT" pitchFamily="34" charset="0"/>
              </a:defRPr>
            </a:lvl6pPr>
            <a:lvl7pPr marL="2971800" indent="-228600" fontAlgn="base">
              <a:spcBef>
                <a:spcPct val="0"/>
              </a:spcBef>
              <a:spcAft>
                <a:spcPct val="0"/>
              </a:spcAft>
              <a:defRPr>
                <a:solidFill>
                  <a:schemeClr val="tx1"/>
                </a:solidFill>
                <a:latin typeface="Gill Sans MT" pitchFamily="34" charset="0"/>
              </a:defRPr>
            </a:lvl7pPr>
            <a:lvl8pPr marL="3429000" indent="-228600" fontAlgn="base">
              <a:spcBef>
                <a:spcPct val="0"/>
              </a:spcBef>
              <a:spcAft>
                <a:spcPct val="0"/>
              </a:spcAft>
              <a:defRPr>
                <a:solidFill>
                  <a:schemeClr val="tx1"/>
                </a:solidFill>
                <a:latin typeface="Gill Sans MT" pitchFamily="34" charset="0"/>
              </a:defRPr>
            </a:lvl8pPr>
            <a:lvl9pPr marL="3886200" indent="-228600" fontAlgn="base">
              <a:spcBef>
                <a:spcPct val="0"/>
              </a:spcBef>
              <a:spcAft>
                <a:spcPct val="0"/>
              </a:spcAft>
              <a:defRPr>
                <a:solidFill>
                  <a:schemeClr val="tx1"/>
                </a:solidFill>
                <a:latin typeface="Gill Sans MT" pitchFamily="34" charset="0"/>
              </a:defRPr>
            </a:lvl9pPr>
          </a:lstStyle>
          <a:p>
            <a:r>
              <a:rPr lang="en-US" sz="2000" b="1" dirty="0" err="1"/>
              <a:t>Stateful</a:t>
            </a:r>
            <a:r>
              <a:rPr lang="en-US" sz="2000" b="1" dirty="0"/>
              <a:t> </a:t>
            </a:r>
            <a:r>
              <a:rPr lang="en-US" sz="2000" b="1" dirty="0" smtClean="0"/>
              <a:t>bean</a:t>
            </a:r>
            <a:r>
              <a:rPr lang="en-US" sz="2000" dirty="0" smtClean="0"/>
              <a:t> </a:t>
            </a:r>
            <a:r>
              <a:rPr lang="en-US" sz="2000" dirty="0" err="1"/>
              <a:t>pastreaza</a:t>
            </a:r>
            <a:r>
              <a:rPr lang="en-US" sz="2000" dirty="0"/>
              <a:t> </a:t>
            </a:r>
            <a:r>
              <a:rPr lang="en-US" sz="2000" dirty="0" err="1"/>
              <a:t>legatura</a:t>
            </a:r>
            <a:r>
              <a:rPr lang="en-US" sz="2000" dirty="0"/>
              <a:t> cu </a:t>
            </a:r>
            <a:r>
              <a:rPr lang="en-US" sz="2000" dirty="0" err="1"/>
              <a:t>fiecare</a:t>
            </a:r>
            <a:r>
              <a:rPr lang="en-US" sz="2000" dirty="0"/>
              <a:t> client in </a:t>
            </a:r>
            <a:r>
              <a:rPr lang="en-US" sz="2000" dirty="0" smtClean="0"/>
              <a:t>parte. </a:t>
            </a:r>
            <a:r>
              <a:rPr lang="en-US" sz="2000" dirty="0" err="1" smtClean="0"/>
              <a:t>Proprietatile</a:t>
            </a:r>
            <a:r>
              <a:rPr lang="en-US" sz="2000" dirty="0" smtClean="0"/>
              <a:t> (fields) din </a:t>
            </a:r>
            <a:r>
              <a:rPr lang="en-US" sz="2000" dirty="0" err="1"/>
              <a:t>clasa</a:t>
            </a:r>
            <a:r>
              <a:rPr lang="en-US" sz="2000" dirty="0"/>
              <a:t> </a:t>
            </a:r>
            <a:r>
              <a:rPr lang="en-US" sz="2000" i="1" dirty="0" err="1" smtClean="0"/>
              <a:t>sunt</a:t>
            </a:r>
            <a:r>
              <a:rPr lang="en-US" sz="2000" i="1" dirty="0" smtClean="0"/>
              <a:t> </a:t>
            </a:r>
            <a:r>
              <a:rPr lang="en-US" sz="2000" i="1" dirty="0" err="1" smtClean="0"/>
              <a:t>pastrate</a:t>
            </a:r>
            <a:r>
              <a:rPr lang="en-US" sz="2000" i="1" dirty="0" smtClean="0"/>
              <a:t> </a:t>
            </a:r>
            <a:r>
              <a:rPr lang="en-US" sz="2000" i="1" dirty="0" err="1" smtClean="0"/>
              <a:t>intre</a:t>
            </a:r>
            <a:r>
              <a:rPr lang="en-US" sz="2000" i="1" dirty="0" smtClean="0"/>
              <a:t> </a:t>
            </a:r>
            <a:r>
              <a:rPr lang="en-US" sz="2000" i="1" dirty="0" err="1"/>
              <a:t>mai</a:t>
            </a:r>
            <a:r>
              <a:rPr lang="en-US" sz="2000" i="1" dirty="0"/>
              <a:t> </a:t>
            </a:r>
            <a:r>
              <a:rPr lang="en-US" sz="2000" i="1" dirty="0" err="1"/>
              <a:t>multe</a:t>
            </a:r>
            <a:r>
              <a:rPr lang="en-US" sz="2000" i="1" dirty="0"/>
              <a:t> </a:t>
            </a:r>
            <a:r>
              <a:rPr lang="en-US" sz="2000" i="1" dirty="0" err="1"/>
              <a:t>apeluri</a:t>
            </a:r>
            <a:r>
              <a:rPr lang="en-US" sz="2000" i="1" dirty="0"/>
              <a:t> consecutive ale </a:t>
            </a:r>
            <a:r>
              <a:rPr lang="en-US" sz="2000" i="1" dirty="0" err="1"/>
              <a:t>clientului</a:t>
            </a:r>
            <a:r>
              <a:rPr lang="en-US" sz="2000" dirty="0"/>
              <a:t>. </a:t>
            </a:r>
            <a:endParaRPr lang="en-US" sz="2000" dirty="0" smtClean="0"/>
          </a:p>
          <a:p>
            <a:r>
              <a:rPr lang="en-US" sz="2000" b="1" dirty="0" err="1" smtClean="0"/>
              <a:t>Ciclul</a:t>
            </a:r>
            <a:r>
              <a:rPr lang="en-US" sz="2000" b="1" dirty="0" smtClean="0"/>
              <a:t> de </a:t>
            </a:r>
            <a:r>
              <a:rPr lang="en-US" sz="2000" b="1" dirty="0" err="1" smtClean="0"/>
              <a:t>viata</a:t>
            </a:r>
            <a:r>
              <a:rPr lang="en-US" sz="2000" b="1" dirty="0" smtClean="0"/>
              <a:t> </a:t>
            </a:r>
            <a:r>
              <a:rPr lang="en-US" sz="2000" dirty="0" smtClean="0"/>
              <a:t>al </a:t>
            </a:r>
            <a:r>
              <a:rPr lang="en-US" sz="2000" dirty="0" err="1" smtClean="0"/>
              <a:t>unui</a:t>
            </a:r>
            <a:r>
              <a:rPr lang="en-US" sz="2000" dirty="0" smtClean="0"/>
              <a:t> </a:t>
            </a:r>
            <a:r>
              <a:rPr lang="en-US" sz="2000" dirty="0" err="1" smtClean="0"/>
              <a:t>astfel</a:t>
            </a:r>
            <a:r>
              <a:rPr lang="en-US" sz="2000" dirty="0" smtClean="0"/>
              <a:t> de bean </a:t>
            </a:r>
            <a:r>
              <a:rPr lang="en-US" sz="2000" dirty="0" err="1" smtClean="0"/>
              <a:t>este</a:t>
            </a:r>
            <a:r>
              <a:rPr lang="en-US" sz="2000" dirty="0" smtClean="0"/>
              <a:t>:</a:t>
            </a:r>
            <a:endParaRPr lang="en-US" sz="2000" dirty="0"/>
          </a:p>
        </p:txBody>
      </p:sp>
      <p:sp>
        <p:nvSpPr>
          <p:cNvPr id="9" name="TextBox 6"/>
          <p:cNvSpPr txBox="1">
            <a:spLocks noChangeArrowheads="1"/>
          </p:cNvSpPr>
          <p:nvPr/>
        </p:nvSpPr>
        <p:spPr bwMode="auto">
          <a:xfrm>
            <a:off x="0" y="5206928"/>
            <a:ext cx="9131968"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Gill Sans MT" pitchFamily="34" charset="0"/>
              </a:defRPr>
            </a:lvl1pPr>
            <a:lvl2pPr marL="742950" indent="-285750">
              <a:defRPr>
                <a:solidFill>
                  <a:schemeClr val="tx1"/>
                </a:solidFill>
                <a:latin typeface="Gill Sans MT" pitchFamily="34" charset="0"/>
              </a:defRPr>
            </a:lvl2pPr>
            <a:lvl3pPr marL="1143000" indent="-228600">
              <a:defRPr>
                <a:solidFill>
                  <a:schemeClr val="tx1"/>
                </a:solidFill>
                <a:latin typeface="Gill Sans MT" pitchFamily="34" charset="0"/>
              </a:defRPr>
            </a:lvl3pPr>
            <a:lvl4pPr marL="1600200" indent="-228600">
              <a:defRPr>
                <a:solidFill>
                  <a:schemeClr val="tx1"/>
                </a:solidFill>
                <a:latin typeface="Gill Sans MT" pitchFamily="34" charset="0"/>
              </a:defRPr>
            </a:lvl4pPr>
            <a:lvl5pPr marL="2057400" indent="-228600">
              <a:defRPr>
                <a:solidFill>
                  <a:schemeClr val="tx1"/>
                </a:solidFill>
                <a:latin typeface="Gill Sans MT" pitchFamily="34" charset="0"/>
              </a:defRPr>
            </a:lvl5pPr>
            <a:lvl6pPr marL="2514600" indent="-228600" fontAlgn="base">
              <a:spcBef>
                <a:spcPct val="0"/>
              </a:spcBef>
              <a:spcAft>
                <a:spcPct val="0"/>
              </a:spcAft>
              <a:defRPr>
                <a:solidFill>
                  <a:schemeClr val="tx1"/>
                </a:solidFill>
                <a:latin typeface="Gill Sans MT" pitchFamily="34" charset="0"/>
              </a:defRPr>
            </a:lvl6pPr>
            <a:lvl7pPr marL="2971800" indent="-228600" fontAlgn="base">
              <a:spcBef>
                <a:spcPct val="0"/>
              </a:spcBef>
              <a:spcAft>
                <a:spcPct val="0"/>
              </a:spcAft>
              <a:defRPr>
                <a:solidFill>
                  <a:schemeClr val="tx1"/>
                </a:solidFill>
                <a:latin typeface="Gill Sans MT" pitchFamily="34" charset="0"/>
              </a:defRPr>
            </a:lvl7pPr>
            <a:lvl8pPr marL="3429000" indent="-228600" fontAlgn="base">
              <a:spcBef>
                <a:spcPct val="0"/>
              </a:spcBef>
              <a:spcAft>
                <a:spcPct val="0"/>
              </a:spcAft>
              <a:defRPr>
                <a:solidFill>
                  <a:schemeClr val="tx1"/>
                </a:solidFill>
                <a:latin typeface="Gill Sans MT" pitchFamily="34" charset="0"/>
              </a:defRPr>
            </a:lvl8pPr>
            <a:lvl9pPr marL="3886200" indent="-228600" fontAlgn="base">
              <a:spcBef>
                <a:spcPct val="0"/>
              </a:spcBef>
              <a:spcAft>
                <a:spcPct val="0"/>
              </a:spcAft>
              <a:defRPr>
                <a:solidFill>
                  <a:schemeClr val="tx1"/>
                </a:solidFill>
                <a:latin typeface="Gill Sans MT" pitchFamily="34" charset="0"/>
              </a:defRPr>
            </a:lvl9pPr>
          </a:lstStyle>
          <a:p>
            <a:r>
              <a:rPr lang="en-US" sz="2000" b="1" dirty="0" err="1" smtClean="0">
                <a:solidFill>
                  <a:srgbClr val="FF0000"/>
                </a:solidFill>
              </a:rPr>
              <a:t>Interceptori</a:t>
            </a:r>
            <a:r>
              <a:rPr lang="en-US" sz="2000" dirty="0">
                <a:solidFill>
                  <a:srgbClr val="FF0000"/>
                </a:solidFill>
              </a:rPr>
              <a:t> </a:t>
            </a:r>
            <a:r>
              <a:rPr lang="en-US" sz="2000" dirty="0" smtClean="0">
                <a:solidFill>
                  <a:srgbClr val="FF0000"/>
                </a:solidFill>
              </a:rPr>
              <a:t>(</a:t>
            </a:r>
            <a:r>
              <a:rPr lang="en-US" sz="2000" dirty="0" err="1" smtClean="0">
                <a:solidFill>
                  <a:srgbClr val="FF0000"/>
                </a:solidFill>
              </a:rPr>
              <a:t>optionali</a:t>
            </a:r>
            <a:r>
              <a:rPr lang="en-US" sz="2000" dirty="0" smtClean="0">
                <a:solidFill>
                  <a:srgbClr val="FF0000"/>
                </a:solidFill>
              </a:rPr>
              <a:t>)</a:t>
            </a:r>
            <a:r>
              <a:rPr lang="en-US" sz="2000" dirty="0">
                <a:solidFill>
                  <a:srgbClr val="FF0000"/>
                </a:solidFill>
              </a:rPr>
              <a:t> </a:t>
            </a:r>
            <a:r>
              <a:rPr lang="en-US" sz="2000" dirty="0" err="1">
                <a:solidFill>
                  <a:srgbClr val="FF0000"/>
                </a:solidFill>
              </a:rPr>
              <a:t>sunt</a:t>
            </a:r>
            <a:r>
              <a:rPr lang="en-US" sz="2000" dirty="0">
                <a:solidFill>
                  <a:srgbClr val="FF0000"/>
                </a:solidFill>
              </a:rPr>
              <a:t> </a:t>
            </a:r>
            <a:r>
              <a:rPr lang="en-US" sz="2000" dirty="0" err="1">
                <a:solidFill>
                  <a:srgbClr val="FF0000"/>
                </a:solidFill>
              </a:rPr>
              <a:t>metode</a:t>
            </a:r>
            <a:r>
              <a:rPr lang="en-US" sz="2000" dirty="0">
                <a:solidFill>
                  <a:srgbClr val="FF0000"/>
                </a:solidFill>
              </a:rPr>
              <a:t> in </a:t>
            </a:r>
            <a:r>
              <a:rPr lang="en-US" sz="2000" dirty="0" err="1">
                <a:solidFill>
                  <a:srgbClr val="FF0000"/>
                </a:solidFill>
              </a:rPr>
              <a:t>beanul</a:t>
            </a:r>
            <a:r>
              <a:rPr lang="en-US" sz="2000" dirty="0">
                <a:solidFill>
                  <a:srgbClr val="FF0000"/>
                </a:solidFill>
              </a:rPr>
              <a:t> </a:t>
            </a:r>
            <a:r>
              <a:rPr lang="en-US" sz="2000" dirty="0" err="1">
                <a:solidFill>
                  <a:srgbClr val="FF0000"/>
                </a:solidFill>
              </a:rPr>
              <a:t>implementator</a:t>
            </a:r>
            <a:r>
              <a:rPr lang="en-US" sz="2000" dirty="0">
                <a:solidFill>
                  <a:srgbClr val="FF0000"/>
                </a:solidFill>
              </a:rPr>
              <a:t>, </a:t>
            </a:r>
            <a:r>
              <a:rPr lang="en-US" sz="2000" dirty="0" err="1">
                <a:solidFill>
                  <a:srgbClr val="FF0000"/>
                </a:solidFill>
              </a:rPr>
              <a:t>prefixate</a:t>
            </a:r>
            <a:r>
              <a:rPr lang="en-US" sz="2000" dirty="0">
                <a:solidFill>
                  <a:srgbClr val="FF0000"/>
                </a:solidFill>
              </a:rPr>
              <a:t> cu</a:t>
            </a:r>
            <a:r>
              <a:rPr lang="en-US" sz="2000" dirty="0" smtClean="0">
                <a:solidFill>
                  <a:srgbClr val="FF0000"/>
                </a:solidFill>
              </a:rPr>
              <a:t>:</a:t>
            </a:r>
            <a:endParaRPr lang="en-US" sz="2000" b="1" dirty="0" smtClean="0">
              <a:solidFill>
                <a:srgbClr val="FF0000"/>
              </a:solidFill>
            </a:endParaRPr>
          </a:p>
          <a:p>
            <a:r>
              <a:rPr lang="en-US" sz="2000" dirty="0" smtClean="0">
                <a:solidFill>
                  <a:srgbClr val="FF0000"/>
                </a:solidFill>
              </a:rPr>
              <a:t>@</a:t>
            </a:r>
            <a:r>
              <a:rPr lang="en-US" sz="2000" b="1" dirty="0" err="1" smtClean="0">
                <a:solidFill>
                  <a:srgbClr val="FF0000"/>
                </a:solidFill>
              </a:rPr>
              <a:t>PostConstruct</a:t>
            </a:r>
            <a:r>
              <a:rPr lang="en-US" sz="2000" dirty="0" smtClean="0">
                <a:solidFill>
                  <a:srgbClr val="FF0000"/>
                </a:solidFill>
              </a:rPr>
              <a:t> </a:t>
            </a:r>
            <a:r>
              <a:rPr lang="en-US" sz="2000" dirty="0" err="1" smtClean="0">
                <a:solidFill>
                  <a:srgbClr val="FF0000"/>
                </a:solidFill>
              </a:rPr>
              <a:t>prefixeaza</a:t>
            </a:r>
            <a:r>
              <a:rPr lang="en-US" sz="2000" dirty="0" smtClean="0">
                <a:solidFill>
                  <a:srgbClr val="FF0000"/>
                </a:solidFill>
              </a:rPr>
              <a:t> o </a:t>
            </a:r>
            <a:r>
              <a:rPr lang="en-US" sz="2000" dirty="0" err="1" smtClean="0">
                <a:solidFill>
                  <a:srgbClr val="FF0000"/>
                </a:solidFill>
              </a:rPr>
              <a:t>metoda</a:t>
            </a:r>
            <a:r>
              <a:rPr lang="en-US" sz="2000" dirty="0" smtClean="0">
                <a:solidFill>
                  <a:srgbClr val="FF0000"/>
                </a:solidFill>
              </a:rPr>
              <a:t> </a:t>
            </a:r>
            <a:r>
              <a:rPr lang="en-US" sz="2000" dirty="0" err="1" smtClean="0">
                <a:solidFill>
                  <a:srgbClr val="FF0000"/>
                </a:solidFill>
              </a:rPr>
              <a:t>ce</a:t>
            </a:r>
            <a:r>
              <a:rPr lang="en-US" sz="2000" dirty="0" smtClean="0">
                <a:solidFill>
                  <a:srgbClr val="FF0000"/>
                </a:solidFill>
              </a:rPr>
              <a:t> </a:t>
            </a:r>
            <a:r>
              <a:rPr lang="en-US" sz="2000" dirty="0" err="1" smtClean="0">
                <a:solidFill>
                  <a:srgbClr val="FF0000"/>
                </a:solidFill>
              </a:rPr>
              <a:t>actioneaza</a:t>
            </a:r>
            <a:r>
              <a:rPr lang="en-US" sz="2000" dirty="0" smtClean="0">
                <a:solidFill>
                  <a:srgbClr val="FF0000"/>
                </a:solidFill>
              </a:rPr>
              <a:t> </a:t>
            </a:r>
            <a:r>
              <a:rPr lang="en-US" sz="2000" dirty="0" err="1" smtClean="0">
                <a:solidFill>
                  <a:srgbClr val="FF0000"/>
                </a:solidFill>
              </a:rPr>
              <a:t>dupa</a:t>
            </a:r>
            <a:r>
              <a:rPr lang="en-US" sz="2000" dirty="0" smtClean="0">
                <a:solidFill>
                  <a:srgbClr val="FF0000"/>
                </a:solidFill>
              </a:rPr>
              <a:t> </a:t>
            </a:r>
            <a:r>
              <a:rPr lang="en-US" sz="2000" dirty="0" err="1" smtClean="0">
                <a:solidFill>
                  <a:srgbClr val="FF0000"/>
                </a:solidFill>
              </a:rPr>
              <a:t>creare</a:t>
            </a:r>
            <a:r>
              <a:rPr lang="en-US" sz="2000" dirty="0" smtClean="0">
                <a:solidFill>
                  <a:srgbClr val="FF0000"/>
                </a:solidFill>
              </a:rPr>
              <a:t> </a:t>
            </a:r>
            <a:r>
              <a:rPr lang="en-US" sz="2000" dirty="0" err="1" smtClean="0">
                <a:solidFill>
                  <a:srgbClr val="FF0000"/>
                </a:solidFill>
              </a:rPr>
              <a:t>si</a:t>
            </a:r>
            <a:r>
              <a:rPr lang="en-US" sz="2000" dirty="0" smtClean="0">
                <a:solidFill>
                  <a:srgbClr val="FF0000"/>
                </a:solidFill>
              </a:rPr>
              <a:t> </a:t>
            </a:r>
            <a:r>
              <a:rPr lang="en-US" sz="2000" dirty="0" err="1" smtClean="0">
                <a:solidFill>
                  <a:srgbClr val="FF0000"/>
                </a:solidFill>
              </a:rPr>
              <a:t>inainte</a:t>
            </a:r>
            <a:r>
              <a:rPr lang="en-US" sz="2000" dirty="0" smtClean="0">
                <a:solidFill>
                  <a:srgbClr val="FF0000"/>
                </a:solidFill>
              </a:rPr>
              <a:t> de </a:t>
            </a:r>
            <a:r>
              <a:rPr lang="en-US" sz="2000" b="1" dirty="0" err="1" smtClean="0">
                <a:solidFill>
                  <a:srgbClr val="FF0000"/>
                </a:solidFill>
              </a:rPr>
              <a:t>init.</a:t>
            </a:r>
            <a:r>
              <a:rPr lang="en-US" sz="2000" dirty="0" smtClean="0">
                <a:solidFill>
                  <a:srgbClr val="FF0000"/>
                </a:solidFill>
              </a:rPr>
              <a:t> </a:t>
            </a:r>
            <a:r>
              <a:rPr lang="en-US" sz="2000" dirty="0">
                <a:solidFill>
                  <a:srgbClr val="FF0000"/>
                </a:solidFill>
              </a:rPr>
              <a:t>@</a:t>
            </a:r>
            <a:r>
              <a:rPr lang="en-US" sz="2000" b="1" dirty="0" err="1" smtClean="0">
                <a:solidFill>
                  <a:srgbClr val="FF0000"/>
                </a:solidFill>
              </a:rPr>
              <a:t>PreDestroy</a:t>
            </a:r>
            <a:r>
              <a:rPr lang="en-US" sz="2000" dirty="0" smtClean="0">
                <a:solidFill>
                  <a:srgbClr val="FF0000"/>
                </a:solidFill>
              </a:rPr>
              <a:t> </a:t>
            </a:r>
            <a:r>
              <a:rPr lang="en-US" sz="2000" dirty="0" err="1">
                <a:solidFill>
                  <a:srgbClr val="FF0000"/>
                </a:solidFill>
              </a:rPr>
              <a:t>prefixeaza</a:t>
            </a:r>
            <a:r>
              <a:rPr lang="en-US" sz="2000" dirty="0">
                <a:solidFill>
                  <a:srgbClr val="FF0000"/>
                </a:solidFill>
              </a:rPr>
              <a:t> o </a:t>
            </a:r>
            <a:r>
              <a:rPr lang="en-US" sz="2000" dirty="0" err="1">
                <a:solidFill>
                  <a:srgbClr val="FF0000"/>
                </a:solidFill>
              </a:rPr>
              <a:t>metoda</a:t>
            </a:r>
            <a:r>
              <a:rPr lang="en-US" sz="2000" dirty="0">
                <a:solidFill>
                  <a:srgbClr val="FF0000"/>
                </a:solidFill>
              </a:rPr>
              <a:t> </a:t>
            </a:r>
            <a:r>
              <a:rPr lang="en-US" sz="2000" dirty="0" err="1">
                <a:solidFill>
                  <a:srgbClr val="FF0000"/>
                </a:solidFill>
              </a:rPr>
              <a:t>ce</a:t>
            </a:r>
            <a:r>
              <a:rPr lang="en-US" sz="2000" dirty="0">
                <a:solidFill>
                  <a:srgbClr val="FF0000"/>
                </a:solidFill>
              </a:rPr>
              <a:t> </a:t>
            </a:r>
            <a:r>
              <a:rPr lang="en-US" sz="2000" dirty="0" err="1">
                <a:solidFill>
                  <a:srgbClr val="FF0000"/>
                </a:solidFill>
              </a:rPr>
              <a:t>actioneaza</a:t>
            </a:r>
            <a:r>
              <a:rPr lang="en-US" sz="2000" dirty="0">
                <a:solidFill>
                  <a:srgbClr val="FF0000"/>
                </a:solidFill>
              </a:rPr>
              <a:t> </a:t>
            </a:r>
            <a:r>
              <a:rPr lang="en-US" sz="2000" dirty="0" err="1" smtClean="0">
                <a:solidFill>
                  <a:srgbClr val="FF0000"/>
                </a:solidFill>
              </a:rPr>
              <a:t>inainte</a:t>
            </a:r>
            <a:r>
              <a:rPr lang="en-US" sz="2000" dirty="0" smtClean="0">
                <a:solidFill>
                  <a:srgbClr val="FF0000"/>
                </a:solidFill>
              </a:rPr>
              <a:t> </a:t>
            </a:r>
            <a:r>
              <a:rPr lang="en-US" sz="2000" dirty="0">
                <a:solidFill>
                  <a:srgbClr val="FF0000"/>
                </a:solidFill>
              </a:rPr>
              <a:t>de </a:t>
            </a:r>
            <a:r>
              <a:rPr lang="en-US" sz="2000" b="1" dirty="0" smtClean="0">
                <a:solidFill>
                  <a:srgbClr val="FF0000"/>
                </a:solidFill>
              </a:rPr>
              <a:t>remove.</a:t>
            </a:r>
            <a:r>
              <a:rPr lang="en-US" sz="2000" dirty="0" smtClean="0">
                <a:solidFill>
                  <a:srgbClr val="FF0000"/>
                </a:solidFill>
              </a:rPr>
              <a:t> @</a:t>
            </a:r>
            <a:r>
              <a:rPr lang="en-US" sz="2000" b="1" dirty="0" err="1" smtClean="0">
                <a:solidFill>
                  <a:srgbClr val="FF0000"/>
                </a:solidFill>
              </a:rPr>
              <a:t>PrePasivate</a:t>
            </a:r>
            <a:r>
              <a:rPr lang="en-US" sz="2000" dirty="0" smtClean="0">
                <a:solidFill>
                  <a:srgbClr val="FF0000"/>
                </a:solidFill>
              </a:rPr>
              <a:t> </a:t>
            </a:r>
            <a:r>
              <a:rPr lang="en-US" sz="2000" dirty="0" err="1">
                <a:solidFill>
                  <a:srgbClr val="FF0000"/>
                </a:solidFill>
              </a:rPr>
              <a:t>prefixeaza</a:t>
            </a:r>
            <a:r>
              <a:rPr lang="en-US" sz="2000" dirty="0">
                <a:solidFill>
                  <a:srgbClr val="FF0000"/>
                </a:solidFill>
              </a:rPr>
              <a:t> o </a:t>
            </a:r>
            <a:r>
              <a:rPr lang="en-US" sz="2000" dirty="0" err="1">
                <a:solidFill>
                  <a:srgbClr val="FF0000"/>
                </a:solidFill>
              </a:rPr>
              <a:t>metoda</a:t>
            </a:r>
            <a:r>
              <a:rPr lang="en-US" sz="2000" dirty="0">
                <a:solidFill>
                  <a:srgbClr val="FF0000"/>
                </a:solidFill>
              </a:rPr>
              <a:t> </a:t>
            </a:r>
            <a:r>
              <a:rPr lang="en-US" sz="2000" dirty="0" err="1">
                <a:solidFill>
                  <a:srgbClr val="FF0000"/>
                </a:solidFill>
              </a:rPr>
              <a:t>ce</a:t>
            </a:r>
            <a:r>
              <a:rPr lang="en-US" sz="2000" dirty="0">
                <a:solidFill>
                  <a:srgbClr val="FF0000"/>
                </a:solidFill>
              </a:rPr>
              <a:t> </a:t>
            </a:r>
            <a:r>
              <a:rPr lang="en-US" sz="2000" dirty="0" err="1">
                <a:solidFill>
                  <a:srgbClr val="FF0000"/>
                </a:solidFill>
              </a:rPr>
              <a:t>actioneaza</a:t>
            </a:r>
            <a:r>
              <a:rPr lang="en-US" sz="2000" dirty="0">
                <a:solidFill>
                  <a:srgbClr val="FF0000"/>
                </a:solidFill>
              </a:rPr>
              <a:t> </a:t>
            </a:r>
            <a:r>
              <a:rPr lang="en-US" sz="2000" dirty="0" err="1" smtClean="0">
                <a:solidFill>
                  <a:srgbClr val="FF0000"/>
                </a:solidFill>
              </a:rPr>
              <a:t>inainte</a:t>
            </a:r>
            <a:r>
              <a:rPr lang="en-US" sz="2000" dirty="0" smtClean="0">
                <a:solidFill>
                  <a:srgbClr val="FF0000"/>
                </a:solidFill>
              </a:rPr>
              <a:t> de </a:t>
            </a:r>
            <a:r>
              <a:rPr lang="en-US" sz="2000" dirty="0" err="1" smtClean="0">
                <a:solidFill>
                  <a:srgbClr val="FF0000"/>
                </a:solidFill>
              </a:rPr>
              <a:t>pasivare</a:t>
            </a:r>
            <a:r>
              <a:rPr lang="en-US" sz="2000" dirty="0" smtClean="0">
                <a:solidFill>
                  <a:srgbClr val="FF0000"/>
                </a:solidFill>
              </a:rPr>
              <a:t>.</a:t>
            </a:r>
            <a:endParaRPr lang="en-US" sz="2000" b="1" dirty="0" smtClean="0">
              <a:solidFill>
                <a:srgbClr val="FF0000"/>
              </a:solidFill>
            </a:endParaRPr>
          </a:p>
          <a:p>
            <a:r>
              <a:rPr lang="en-US" sz="2000" dirty="0">
                <a:solidFill>
                  <a:srgbClr val="FF0000"/>
                </a:solidFill>
              </a:rPr>
              <a:t>@</a:t>
            </a:r>
            <a:r>
              <a:rPr lang="en-US" sz="2000" b="1" dirty="0" err="1">
                <a:solidFill>
                  <a:srgbClr val="FF0000"/>
                </a:solidFill>
              </a:rPr>
              <a:t>PostActivate</a:t>
            </a:r>
            <a:r>
              <a:rPr lang="en-US" sz="2000" dirty="0">
                <a:solidFill>
                  <a:srgbClr val="FF0000"/>
                </a:solidFill>
              </a:rPr>
              <a:t> </a:t>
            </a:r>
            <a:r>
              <a:rPr lang="en-US" sz="2000" dirty="0" err="1">
                <a:solidFill>
                  <a:srgbClr val="FF0000"/>
                </a:solidFill>
              </a:rPr>
              <a:t>prefixeaza</a:t>
            </a:r>
            <a:r>
              <a:rPr lang="en-US" sz="2000" dirty="0">
                <a:solidFill>
                  <a:srgbClr val="FF0000"/>
                </a:solidFill>
              </a:rPr>
              <a:t> o </a:t>
            </a:r>
            <a:r>
              <a:rPr lang="en-US" sz="2000" dirty="0" err="1">
                <a:solidFill>
                  <a:srgbClr val="FF0000"/>
                </a:solidFill>
              </a:rPr>
              <a:t>metoda</a:t>
            </a:r>
            <a:r>
              <a:rPr lang="en-US" sz="2000" dirty="0">
                <a:solidFill>
                  <a:srgbClr val="FF0000"/>
                </a:solidFill>
              </a:rPr>
              <a:t> </a:t>
            </a:r>
            <a:r>
              <a:rPr lang="en-US" sz="2000" dirty="0" err="1">
                <a:solidFill>
                  <a:srgbClr val="FF0000"/>
                </a:solidFill>
              </a:rPr>
              <a:t>ce</a:t>
            </a:r>
            <a:r>
              <a:rPr lang="en-US" sz="2000" dirty="0">
                <a:solidFill>
                  <a:srgbClr val="FF0000"/>
                </a:solidFill>
              </a:rPr>
              <a:t> </a:t>
            </a:r>
            <a:r>
              <a:rPr lang="en-US" sz="2000" dirty="0" err="1">
                <a:solidFill>
                  <a:srgbClr val="FF0000"/>
                </a:solidFill>
              </a:rPr>
              <a:t>actioneaza</a:t>
            </a:r>
            <a:r>
              <a:rPr lang="en-US" sz="2000" dirty="0">
                <a:solidFill>
                  <a:srgbClr val="FF0000"/>
                </a:solidFill>
              </a:rPr>
              <a:t> </a:t>
            </a:r>
            <a:r>
              <a:rPr lang="en-US" sz="2000" dirty="0" err="1">
                <a:solidFill>
                  <a:srgbClr val="FF0000"/>
                </a:solidFill>
              </a:rPr>
              <a:t>imediat</a:t>
            </a:r>
            <a:r>
              <a:rPr lang="en-US" sz="2000" dirty="0">
                <a:solidFill>
                  <a:srgbClr val="FF0000"/>
                </a:solidFill>
              </a:rPr>
              <a:t> </a:t>
            </a:r>
            <a:r>
              <a:rPr lang="en-US" sz="2000" dirty="0" err="1">
                <a:solidFill>
                  <a:srgbClr val="FF0000"/>
                </a:solidFill>
              </a:rPr>
              <a:t>dupa</a:t>
            </a:r>
            <a:r>
              <a:rPr lang="en-US" sz="2000" dirty="0">
                <a:solidFill>
                  <a:srgbClr val="FF0000"/>
                </a:solidFill>
              </a:rPr>
              <a:t> </a:t>
            </a:r>
            <a:r>
              <a:rPr lang="en-US" sz="2000" dirty="0" err="1">
                <a:solidFill>
                  <a:srgbClr val="FF0000"/>
                </a:solidFill>
              </a:rPr>
              <a:t>activare</a:t>
            </a:r>
            <a:r>
              <a:rPr lang="en-US" sz="2000" dirty="0">
                <a:solidFill>
                  <a:srgbClr val="FF0000"/>
                </a:solidFill>
              </a:rPr>
              <a:t>.</a:t>
            </a:r>
            <a:r>
              <a:rPr lang="en-US" sz="2000" dirty="0" smtClean="0">
                <a:solidFill>
                  <a:srgbClr val="FF0000"/>
                </a:solidFill>
              </a:rPr>
              <a:t> </a:t>
            </a:r>
            <a:endParaRPr lang="en-US" sz="2000" dirty="0">
              <a:solidFill>
                <a:srgbClr val="FF0000"/>
              </a:solidFill>
            </a:endParaRPr>
          </a:p>
        </p:txBody>
      </p:sp>
    </p:spTree>
    <p:extLst>
      <p:ext uri="{BB962C8B-B14F-4D97-AF65-F5344CB8AC3E}">
        <p14:creationId xmlns:p14="http://schemas.microsoft.com/office/powerpoint/2010/main" val="2446861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6</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smtClean="0">
                <a:solidFill>
                  <a:srgbClr val="FF0000"/>
                </a:solidFill>
                <a:latin typeface="Calibri" pitchFamily="34" charset="0"/>
              </a:rPr>
              <a:t>Stateless beans; </a:t>
            </a:r>
            <a:r>
              <a:rPr lang="en-US" altLang="en-US" dirty="0" err="1" smtClean="0">
                <a:solidFill>
                  <a:srgbClr val="FF0000"/>
                </a:solidFill>
                <a:latin typeface="Calibri" pitchFamily="34" charset="0"/>
              </a:rPr>
              <a:t>singeltons</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ciclu</a:t>
            </a:r>
            <a:r>
              <a:rPr lang="en-US" altLang="en-US" dirty="0" smtClean="0">
                <a:solidFill>
                  <a:srgbClr val="FF0000"/>
                </a:solidFill>
                <a:latin typeface="Calibri" pitchFamily="34" charset="0"/>
              </a:rPr>
              <a:t> de </a:t>
            </a:r>
            <a:r>
              <a:rPr lang="en-US" altLang="en-US" dirty="0" err="1" smtClean="0">
                <a:solidFill>
                  <a:srgbClr val="FF0000"/>
                </a:solidFill>
                <a:latin typeface="Calibri" pitchFamily="34" charset="0"/>
              </a:rPr>
              <a:t>viata</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interceptori</a:t>
            </a:r>
            <a:r>
              <a:rPr lang="en-US" altLang="en-US" dirty="0" smtClean="0">
                <a:solidFill>
                  <a:srgbClr val="FF0000"/>
                </a:solidFill>
                <a:latin typeface="Calibri" pitchFamily="34" charset="0"/>
              </a:rPr>
              <a:t> </a:t>
            </a:r>
            <a:endParaRPr lang="en-US" altLang="en-US" dirty="0">
              <a:solidFill>
                <a:srgbClr val="FF0000"/>
              </a:solidFill>
              <a:latin typeface="Calibri" pitchFamily="34" charset="0"/>
            </a:endParaRPr>
          </a:p>
        </p:txBody>
      </p:sp>
      <p:sp>
        <p:nvSpPr>
          <p:cNvPr id="9" name="TextBox 6"/>
          <p:cNvSpPr txBox="1">
            <a:spLocks noChangeArrowheads="1"/>
          </p:cNvSpPr>
          <p:nvPr/>
        </p:nvSpPr>
        <p:spPr bwMode="auto">
          <a:xfrm>
            <a:off x="12032" y="3976261"/>
            <a:ext cx="913196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Gill Sans MT" pitchFamily="34" charset="0"/>
              </a:defRPr>
            </a:lvl1pPr>
            <a:lvl2pPr marL="742950" indent="-285750">
              <a:defRPr>
                <a:solidFill>
                  <a:schemeClr val="tx1"/>
                </a:solidFill>
                <a:latin typeface="Gill Sans MT" pitchFamily="34" charset="0"/>
              </a:defRPr>
            </a:lvl2pPr>
            <a:lvl3pPr marL="1143000" indent="-228600">
              <a:defRPr>
                <a:solidFill>
                  <a:schemeClr val="tx1"/>
                </a:solidFill>
                <a:latin typeface="Gill Sans MT" pitchFamily="34" charset="0"/>
              </a:defRPr>
            </a:lvl3pPr>
            <a:lvl4pPr marL="1600200" indent="-228600">
              <a:defRPr>
                <a:solidFill>
                  <a:schemeClr val="tx1"/>
                </a:solidFill>
                <a:latin typeface="Gill Sans MT" pitchFamily="34" charset="0"/>
              </a:defRPr>
            </a:lvl4pPr>
            <a:lvl5pPr marL="2057400" indent="-228600">
              <a:defRPr>
                <a:solidFill>
                  <a:schemeClr val="tx1"/>
                </a:solidFill>
                <a:latin typeface="Gill Sans MT" pitchFamily="34" charset="0"/>
              </a:defRPr>
            </a:lvl5pPr>
            <a:lvl6pPr marL="2514600" indent="-228600" fontAlgn="base">
              <a:spcBef>
                <a:spcPct val="0"/>
              </a:spcBef>
              <a:spcAft>
                <a:spcPct val="0"/>
              </a:spcAft>
              <a:defRPr>
                <a:solidFill>
                  <a:schemeClr val="tx1"/>
                </a:solidFill>
                <a:latin typeface="Gill Sans MT" pitchFamily="34" charset="0"/>
              </a:defRPr>
            </a:lvl6pPr>
            <a:lvl7pPr marL="2971800" indent="-228600" fontAlgn="base">
              <a:spcBef>
                <a:spcPct val="0"/>
              </a:spcBef>
              <a:spcAft>
                <a:spcPct val="0"/>
              </a:spcAft>
              <a:defRPr>
                <a:solidFill>
                  <a:schemeClr val="tx1"/>
                </a:solidFill>
                <a:latin typeface="Gill Sans MT" pitchFamily="34" charset="0"/>
              </a:defRPr>
            </a:lvl7pPr>
            <a:lvl8pPr marL="3429000" indent="-228600" fontAlgn="base">
              <a:spcBef>
                <a:spcPct val="0"/>
              </a:spcBef>
              <a:spcAft>
                <a:spcPct val="0"/>
              </a:spcAft>
              <a:defRPr>
                <a:solidFill>
                  <a:schemeClr val="tx1"/>
                </a:solidFill>
                <a:latin typeface="Gill Sans MT" pitchFamily="34" charset="0"/>
              </a:defRPr>
            </a:lvl8pPr>
            <a:lvl9pPr marL="3886200" indent="-228600" fontAlgn="base">
              <a:spcBef>
                <a:spcPct val="0"/>
              </a:spcBef>
              <a:spcAft>
                <a:spcPct val="0"/>
              </a:spcAft>
              <a:defRPr>
                <a:solidFill>
                  <a:schemeClr val="tx1"/>
                </a:solidFill>
                <a:latin typeface="Gill Sans MT" pitchFamily="34" charset="0"/>
              </a:defRPr>
            </a:lvl9pPr>
          </a:lstStyle>
          <a:p>
            <a:r>
              <a:rPr lang="en-US" sz="2000" b="1" dirty="0" err="1" smtClean="0">
                <a:solidFill>
                  <a:srgbClr val="FF0000"/>
                </a:solidFill>
              </a:rPr>
              <a:t>Interceptori</a:t>
            </a:r>
            <a:r>
              <a:rPr lang="en-US" sz="2000" dirty="0">
                <a:solidFill>
                  <a:srgbClr val="FF0000"/>
                </a:solidFill>
              </a:rPr>
              <a:t> </a:t>
            </a:r>
            <a:r>
              <a:rPr lang="en-US" sz="2000" dirty="0" smtClean="0">
                <a:solidFill>
                  <a:srgbClr val="FF0000"/>
                </a:solidFill>
              </a:rPr>
              <a:t>(</a:t>
            </a:r>
            <a:r>
              <a:rPr lang="en-US" sz="2000" dirty="0" err="1" smtClean="0">
                <a:solidFill>
                  <a:srgbClr val="FF0000"/>
                </a:solidFill>
              </a:rPr>
              <a:t>optionali</a:t>
            </a:r>
            <a:r>
              <a:rPr lang="en-US" sz="2000" dirty="0" smtClean="0">
                <a:solidFill>
                  <a:srgbClr val="FF0000"/>
                </a:solidFill>
              </a:rPr>
              <a:t>) </a:t>
            </a:r>
            <a:r>
              <a:rPr lang="en-US" sz="2000" dirty="0" err="1" smtClean="0">
                <a:solidFill>
                  <a:srgbClr val="FF0000"/>
                </a:solidFill>
              </a:rPr>
              <a:t>sunt</a:t>
            </a:r>
            <a:r>
              <a:rPr lang="en-US" sz="2000" dirty="0" smtClean="0">
                <a:solidFill>
                  <a:srgbClr val="FF0000"/>
                </a:solidFill>
              </a:rPr>
              <a:t> </a:t>
            </a:r>
            <a:r>
              <a:rPr lang="en-US" sz="2000" dirty="0" err="1" smtClean="0">
                <a:solidFill>
                  <a:srgbClr val="FF0000"/>
                </a:solidFill>
              </a:rPr>
              <a:t>metode</a:t>
            </a:r>
            <a:r>
              <a:rPr lang="en-US" sz="2000" dirty="0" smtClean="0">
                <a:solidFill>
                  <a:srgbClr val="FF0000"/>
                </a:solidFill>
              </a:rPr>
              <a:t> in </a:t>
            </a:r>
            <a:r>
              <a:rPr lang="en-US" sz="2000" dirty="0" err="1" smtClean="0">
                <a:solidFill>
                  <a:srgbClr val="FF0000"/>
                </a:solidFill>
              </a:rPr>
              <a:t>beanul</a:t>
            </a:r>
            <a:r>
              <a:rPr lang="en-US" sz="2000" dirty="0" smtClean="0">
                <a:solidFill>
                  <a:srgbClr val="FF0000"/>
                </a:solidFill>
              </a:rPr>
              <a:t> </a:t>
            </a:r>
            <a:r>
              <a:rPr lang="en-US" sz="2000" dirty="0" err="1" smtClean="0">
                <a:solidFill>
                  <a:srgbClr val="FF0000"/>
                </a:solidFill>
              </a:rPr>
              <a:t>implementator</a:t>
            </a:r>
            <a:r>
              <a:rPr lang="en-US" sz="2000" dirty="0" smtClean="0">
                <a:solidFill>
                  <a:srgbClr val="FF0000"/>
                </a:solidFill>
              </a:rPr>
              <a:t>, </a:t>
            </a:r>
            <a:r>
              <a:rPr lang="en-US" sz="2000" dirty="0" err="1" smtClean="0">
                <a:solidFill>
                  <a:srgbClr val="FF0000"/>
                </a:solidFill>
              </a:rPr>
              <a:t>prefixate</a:t>
            </a:r>
            <a:r>
              <a:rPr lang="en-US" sz="2000" dirty="0" smtClean="0">
                <a:solidFill>
                  <a:srgbClr val="FF0000"/>
                </a:solidFill>
              </a:rPr>
              <a:t> cu:</a:t>
            </a:r>
            <a:endParaRPr lang="en-US" sz="2000" b="1" dirty="0" smtClean="0">
              <a:solidFill>
                <a:srgbClr val="FF0000"/>
              </a:solidFill>
            </a:endParaRPr>
          </a:p>
          <a:p>
            <a:r>
              <a:rPr lang="en-US" sz="2000" dirty="0" smtClean="0">
                <a:solidFill>
                  <a:srgbClr val="FF0000"/>
                </a:solidFill>
              </a:rPr>
              <a:t>@</a:t>
            </a:r>
            <a:r>
              <a:rPr lang="en-US" sz="2000" b="1" dirty="0" err="1" smtClean="0">
                <a:solidFill>
                  <a:srgbClr val="FF0000"/>
                </a:solidFill>
              </a:rPr>
              <a:t>PostConstruct</a:t>
            </a:r>
            <a:r>
              <a:rPr lang="en-US" sz="2000" dirty="0" smtClean="0">
                <a:solidFill>
                  <a:srgbClr val="FF0000"/>
                </a:solidFill>
              </a:rPr>
              <a:t> </a:t>
            </a:r>
            <a:r>
              <a:rPr lang="en-US" sz="2000" dirty="0" err="1" smtClean="0">
                <a:solidFill>
                  <a:srgbClr val="FF0000"/>
                </a:solidFill>
              </a:rPr>
              <a:t>prefixeaza</a:t>
            </a:r>
            <a:r>
              <a:rPr lang="en-US" sz="2000" dirty="0" smtClean="0">
                <a:solidFill>
                  <a:srgbClr val="FF0000"/>
                </a:solidFill>
              </a:rPr>
              <a:t> o </a:t>
            </a:r>
            <a:r>
              <a:rPr lang="en-US" sz="2000" dirty="0" err="1" smtClean="0">
                <a:solidFill>
                  <a:srgbClr val="FF0000"/>
                </a:solidFill>
              </a:rPr>
              <a:t>metoda</a:t>
            </a:r>
            <a:r>
              <a:rPr lang="en-US" sz="2000" dirty="0" smtClean="0">
                <a:solidFill>
                  <a:srgbClr val="FF0000"/>
                </a:solidFill>
              </a:rPr>
              <a:t> </a:t>
            </a:r>
            <a:r>
              <a:rPr lang="en-US" sz="2000" dirty="0" err="1" smtClean="0">
                <a:solidFill>
                  <a:srgbClr val="FF0000"/>
                </a:solidFill>
              </a:rPr>
              <a:t>ce</a:t>
            </a:r>
            <a:r>
              <a:rPr lang="en-US" sz="2000" dirty="0" smtClean="0">
                <a:solidFill>
                  <a:srgbClr val="FF0000"/>
                </a:solidFill>
              </a:rPr>
              <a:t> </a:t>
            </a:r>
            <a:r>
              <a:rPr lang="en-US" sz="2000" dirty="0" err="1" smtClean="0">
                <a:solidFill>
                  <a:srgbClr val="FF0000"/>
                </a:solidFill>
              </a:rPr>
              <a:t>actioneaza</a:t>
            </a:r>
            <a:r>
              <a:rPr lang="en-US" sz="2000" dirty="0" smtClean="0">
                <a:solidFill>
                  <a:srgbClr val="FF0000"/>
                </a:solidFill>
              </a:rPr>
              <a:t> </a:t>
            </a:r>
            <a:r>
              <a:rPr lang="en-US" sz="2000" dirty="0" err="1" smtClean="0">
                <a:solidFill>
                  <a:srgbClr val="FF0000"/>
                </a:solidFill>
              </a:rPr>
              <a:t>dupa</a:t>
            </a:r>
            <a:r>
              <a:rPr lang="en-US" sz="2000" dirty="0" smtClean="0">
                <a:solidFill>
                  <a:srgbClr val="FF0000"/>
                </a:solidFill>
              </a:rPr>
              <a:t> </a:t>
            </a:r>
            <a:r>
              <a:rPr lang="en-US" sz="2000" dirty="0" err="1" smtClean="0">
                <a:solidFill>
                  <a:srgbClr val="FF0000"/>
                </a:solidFill>
              </a:rPr>
              <a:t>creare</a:t>
            </a:r>
            <a:r>
              <a:rPr lang="en-US" sz="2000" dirty="0" smtClean="0">
                <a:solidFill>
                  <a:srgbClr val="FF0000"/>
                </a:solidFill>
              </a:rPr>
              <a:t> </a:t>
            </a:r>
            <a:r>
              <a:rPr lang="en-US" sz="2000" dirty="0" err="1" smtClean="0">
                <a:solidFill>
                  <a:srgbClr val="FF0000"/>
                </a:solidFill>
              </a:rPr>
              <a:t>si</a:t>
            </a:r>
            <a:r>
              <a:rPr lang="en-US" sz="2000" dirty="0" smtClean="0">
                <a:solidFill>
                  <a:srgbClr val="FF0000"/>
                </a:solidFill>
              </a:rPr>
              <a:t> </a:t>
            </a:r>
            <a:r>
              <a:rPr lang="en-US" sz="2000" dirty="0" err="1" smtClean="0">
                <a:solidFill>
                  <a:srgbClr val="FF0000"/>
                </a:solidFill>
              </a:rPr>
              <a:t>inainte</a:t>
            </a:r>
            <a:r>
              <a:rPr lang="en-US" sz="2000" dirty="0" smtClean="0">
                <a:solidFill>
                  <a:srgbClr val="FF0000"/>
                </a:solidFill>
              </a:rPr>
              <a:t> de </a:t>
            </a:r>
            <a:r>
              <a:rPr lang="en-US" sz="2000" b="1" dirty="0" err="1" smtClean="0">
                <a:solidFill>
                  <a:srgbClr val="FF0000"/>
                </a:solidFill>
              </a:rPr>
              <a:t>init.</a:t>
            </a:r>
            <a:r>
              <a:rPr lang="en-US" sz="2000" dirty="0" smtClean="0">
                <a:solidFill>
                  <a:srgbClr val="FF0000"/>
                </a:solidFill>
              </a:rPr>
              <a:t> </a:t>
            </a:r>
            <a:r>
              <a:rPr lang="en-US" sz="2000" dirty="0">
                <a:solidFill>
                  <a:srgbClr val="FF0000"/>
                </a:solidFill>
              </a:rPr>
              <a:t>@</a:t>
            </a:r>
            <a:r>
              <a:rPr lang="en-US" sz="2000" b="1" dirty="0" err="1" smtClean="0">
                <a:solidFill>
                  <a:srgbClr val="FF0000"/>
                </a:solidFill>
              </a:rPr>
              <a:t>PreDestroy</a:t>
            </a:r>
            <a:r>
              <a:rPr lang="en-US" sz="2000" dirty="0" smtClean="0">
                <a:solidFill>
                  <a:srgbClr val="FF0000"/>
                </a:solidFill>
              </a:rPr>
              <a:t> </a:t>
            </a:r>
            <a:r>
              <a:rPr lang="en-US" sz="2000" dirty="0" err="1">
                <a:solidFill>
                  <a:srgbClr val="FF0000"/>
                </a:solidFill>
              </a:rPr>
              <a:t>prefixeaza</a:t>
            </a:r>
            <a:r>
              <a:rPr lang="en-US" sz="2000" dirty="0">
                <a:solidFill>
                  <a:srgbClr val="FF0000"/>
                </a:solidFill>
              </a:rPr>
              <a:t> o </a:t>
            </a:r>
            <a:r>
              <a:rPr lang="en-US" sz="2000" dirty="0" err="1">
                <a:solidFill>
                  <a:srgbClr val="FF0000"/>
                </a:solidFill>
              </a:rPr>
              <a:t>metoda</a:t>
            </a:r>
            <a:r>
              <a:rPr lang="en-US" sz="2000" dirty="0">
                <a:solidFill>
                  <a:srgbClr val="FF0000"/>
                </a:solidFill>
              </a:rPr>
              <a:t> </a:t>
            </a:r>
            <a:r>
              <a:rPr lang="en-US" sz="2000" dirty="0" err="1">
                <a:solidFill>
                  <a:srgbClr val="FF0000"/>
                </a:solidFill>
              </a:rPr>
              <a:t>ce</a:t>
            </a:r>
            <a:r>
              <a:rPr lang="en-US" sz="2000" dirty="0">
                <a:solidFill>
                  <a:srgbClr val="FF0000"/>
                </a:solidFill>
              </a:rPr>
              <a:t> </a:t>
            </a:r>
            <a:r>
              <a:rPr lang="en-US" sz="2000" dirty="0" err="1">
                <a:solidFill>
                  <a:srgbClr val="FF0000"/>
                </a:solidFill>
              </a:rPr>
              <a:t>actioneaza</a:t>
            </a:r>
            <a:r>
              <a:rPr lang="en-US" sz="2000" dirty="0">
                <a:solidFill>
                  <a:srgbClr val="FF0000"/>
                </a:solidFill>
              </a:rPr>
              <a:t> </a:t>
            </a:r>
            <a:r>
              <a:rPr lang="en-US" sz="2000" dirty="0" err="1" smtClean="0">
                <a:solidFill>
                  <a:srgbClr val="FF0000"/>
                </a:solidFill>
              </a:rPr>
              <a:t>inainte</a:t>
            </a:r>
            <a:r>
              <a:rPr lang="en-US" sz="2000" dirty="0" smtClean="0">
                <a:solidFill>
                  <a:srgbClr val="FF0000"/>
                </a:solidFill>
              </a:rPr>
              <a:t> </a:t>
            </a:r>
            <a:r>
              <a:rPr lang="en-US" sz="2000" dirty="0">
                <a:solidFill>
                  <a:srgbClr val="FF0000"/>
                </a:solidFill>
              </a:rPr>
              <a:t>de </a:t>
            </a:r>
            <a:r>
              <a:rPr lang="en-US" sz="2000" b="1" dirty="0" smtClean="0">
                <a:solidFill>
                  <a:srgbClr val="FF0000"/>
                </a:solidFill>
              </a:rPr>
              <a:t>remove.</a:t>
            </a:r>
            <a:r>
              <a:rPr lang="en-US" sz="2000" dirty="0" smtClean="0">
                <a:solidFill>
                  <a:srgbClr val="FF0000"/>
                </a:solidFill>
              </a:rPr>
              <a:t> </a:t>
            </a:r>
            <a:endParaRPr lang="en-US" sz="2000" dirty="0">
              <a:solidFill>
                <a:srgbClr val="FF0000"/>
              </a:solidFill>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007" y="2021643"/>
            <a:ext cx="6886993" cy="18549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6"/>
          <p:cNvSpPr txBox="1">
            <a:spLocks noChangeArrowheads="1"/>
          </p:cNvSpPr>
          <p:nvPr/>
        </p:nvSpPr>
        <p:spPr bwMode="auto">
          <a:xfrm>
            <a:off x="0" y="366713"/>
            <a:ext cx="91440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Gill Sans MT" pitchFamily="34" charset="0"/>
              </a:defRPr>
            </a:lvl1pPr>
            <a:lvl2pPr marL="742950" indent="-285750">
              <a:defRPr>
                <a:solidFill>
                  <a:schemeClr val="tx1"/>
                </a:solidFill>
                <a:latin typeface="Gill Sans MT" pitchFamily="34" charset="0"/>
              </a:defRPr>
            </a:lvl2pPr>
            <a:lvl3pPr marL="1143000" indent="-228600">
              <a:defRPr>
                <a:solidFill>
                  <a:schemeClr val="tx1"/>
                </a:solidFill>
                <a:latin typeface="Gill Sans MT" pitchFamily="34" charset="0"/>
              </a:defRPr>
            </a:lvl3pPr>
            <a:lvl4pPr marL="1600200" indent="-228600">
              <a:defRPr>
                <a:solidFill>
                  <a:schemeClr val="tx1"/>
                </a:solidFill>
                <a:latin typeface="Gill Sans MT" pitchFamily="34" charset="0"/>
              </a:defRPr>
            </a:lvl4pPr>
            <a:lvl5pPr marL="2057400" indent="-228600">
              <a:defRPr>
                <a:solidFill>
                  <a:schemeClr val="tx1"/>
                </a:solidFill>
                <a:latin typeface="Gill Sans MT" pitchFamily="34" charset="0"/>
              </a:defRPr>
            </a:lvl5pPr>
            <a:lvl6pPr marL="2514600" indent="-228600" fontAlgn="base">
              <a:spcBef>
                <a:spcPct val="0"/>
              </a:spcBef>
              <a:spcAft>
                <a:spcPct val="0"/>
              </a:spcAft>
              <a:defRPr>
                <a:solidFill>
                  <a:schemeClr val="tx1"/>
                </a:solidFill>
                <a:latin typeface="Gill Sans MT" pitchFamily="34" charset="0"/>
              </a:defRPr>
            </a:lvl6pPr>
            <a:lvl7pPr marL="2971800" indent="-228600" fontAlgn="base">
              <a:spcBef>
                <a:spcPct val="0"/>
              </a:spcBef>
              <a:spcAft>
                <a:spcPct val="0"/>
              </a:spcAft>
              <a:defRPr>
                <a:solidFill>
                  <a:schemeClr val="tx1"/>
                </a:solidFill>
                <a:latin typeface="Gill Sans MT" pitchFamily="34" charset="0"/>
              </a:defRPr>
            </a:lvl7pPr>
            <a:lvl8pPr marL="3429000" indent="-228600" fontAlgn="base">
              <a:spcBef>
                <a:spcPct val="0"/>
              </a:spcBef>
              <a:spcAft>
                <a:spcPct val="0"/>
              </a:spcAft>
              <a:defRPr>
                <a:solidFill>
                  <a:schemeClr val="tx1"/>
                </a:solidFill>
                <a:latin typeface="Gill Sans MT" pitchFamily="34" charset="0"/>
              </a:defRPr>
            </a:lvl8pPr>
            <a:lvl9pPr marL="3886200" indent="-228600" fontAlgn="base">
              <a:spcBef>
                <a:spcPct val="0"/>
              </a:spcBef>
              <a:spcAft>
                <a:spcPct val="0"/>
              </a:spcAft>
              <a:defRPr>
                <a:solidFill>
                  <a:schemeClr val="tx1"/>
                </a:solidFill>
                <a:latin typeface="Gill Sans MT" pitchFamily="34" charset="0"/>
              </a:defRPr>
            </a:lvl9pPr>
          </a:lstStyle>
          <a:p>
            <a:r>
              <a:rPr lang="en-US" sz="2000" b="1" dirty="0"/>
              <a:t>Stateless</a:t>
            </a:r>
            <a:r>
              <a:rPr lang="en-US" sz="2000" dirty="0"/>
              <a:t> beans </a:t>
            </a:r>
            <a:r>
              <a:rPr lang="en-US" sz="2000" dirty="0" err="1"/>
              <a:t>si</a:t>
            </a:r>
            <a:r>
              <a:rPr lang="en-US" sz="2000" dirty="0"/>
              <a:t> </a:t>
            </a:r>
            <a:r>
              <a:rPr lang="en-US" sz="2000" b="1" dirty="0"/>
              <a:t>singletons</a:t>
            </a:r>
            <a:r>
              <a:rPr lang="en-US" sz="2000" dirty="0"/>
              <a:t> nu </a:t>
            </a:r>
            <a:r>
              <a:rPr lang="en-US" sz="2000" dirty="0" err="1"/>
              <a:t>intretin</a:t>
            </a:r>
            <a:r>
              <a:rPr lang="en-US" sz="2000" dirty="0"/>
              <a:t> </a:t>
            </a:r>
            <a:r>
              <a:rPr lang="en-US" sz="2000" dirty="0" err="1"/>
              <a:t>stari</a:t>
            </a:r>
            <a:r>
              <a:rPr lang="en-US" sz="2000" dirty="0"/>
              <a:t> cu </a:t>
            </a:r>
            <a:r>
              <a:rPr lang="en-US" sz="2000" dirty="0" err="1"/>
              <a:t>clientii</a:t>
            </a:r>
            <a:r>
              <a:rPr lang="en-US" sz="2000" dirty="0"/>
              <a:t>. </a:t>
            </a:r>
            <a:r>
              <a:rPr lang="en-US" sz="2000" dirty="0" err="1"/>
              <a:t>Apelurile</a:t>
            </a:r>
            <a:r>
              <a:rPr lang="en-US" sz="2000" dirty="0"/>
              <a:t> </a:t>
            </a:r>
            <a:r>
              <a:rPr lang="en-US" sz="2000" dirty="0" err="1"/>
              <a:t>metodelor</a:t>
            </a:r>
            <a:r>
              <a:rPr lang="en-US" sz="2000" dirty="0"/>
              <a:t> </a:t>
            </a:r>
            <a:r>
              <a:rPr lang="en-US" sz="2000" dirty="0" err="1"/>
              <a:t>lor</a:t>
            </a:r>
            <a:r>
              <a:rPr lang="en-US" sz="2000" dirty="0"/>
              <a:t> </a:t>
            </a:r>
            <a:r>
              <a:rPr lang="en-US" sz="2000" dirty="0" err="1"/>
              <a:t>sunt</a:t>
            </a:r>
            <a:r>
              <a:rPr lang="en-US" sz="2000" dirty="0"/>
              <a:t> </a:t>
            </a:r>
            <a:r>
              <a:rPr lang="en-US" sz="2000" dirty="0" err="1"/>
              <a:t>independente</a:t>
            </a:r>
            <a:r>
              <a:rPr lang="en-US" sz="2000" dirty="0"/>
              <a:t> </a:t>
            </a:r>
            <a:r>
              <a:rPr lang="en-US" sz="2000" dirty="0" err="1"/>
              <a:t>unele</a:t>
            </a:r>
            <a:r>
              <a:rPr lang="en-US" sz="2000" dirty="0"/>
              <a:t> de </a:t>
            </a:r>
            <a:r>
              <a:rPr lang="en-US" sz="2000" dirty="0" err="1"/>
              <a:t>altele</a:t>
            </a:r>
            <a:r>
              <a:rPr lang="en-US" sz="2000" dirty="0"/>
              <a:t> </a:t>
            </a:r>
            <a:r>
              <a:rPr lang="en-US" sz="2000" dirty="0" err="1"/>
              <a:t>si</a:t>
            </a:r>
            <a:r>
              <a:rPr lang="en-US" sz="2000" dirty="0"/>
              <a:t> nu </a:t>
            </a:r>
            <a:r>
              <a:rPr lang="en-US" sz="2000" dirty="0" err="1"/>
              <a:t>depind</a:t>
            </a:r>
            <a:r>
              <a:rPr lang="en-US" sz="2000" dirty="0"/>
              <a:t> </a:t>
            </a:r>
            <a:r>
              <a:rPr lang="en-US" sz="2000" dirty="0" err="1"/>
              <a:t>nici</a:t>
            </a:r>
            <a:r>
              <a:rPr lang="en-US" sz="2000" dirty="0"/>
              <a:t> de </a:t>
            </a:r>
            <a:r>
              <a:rPr lang="en-US" sz="2000" dirty="0" err="1"/>
              <a:t>clienti</a:t>
            </a:r>
            <a:r>
              <a:rPr lang="en-US" sz="2000" dirty="0"/>
              <a:t>.</a:t>
            </a:r>
          </a:p>
          <a:p>
            <a:r>
              <a:rPr lang="en-US" sz="2000" b="1" dirty="0"/>
              <a:t>Singleton</a:t>
            </a:r>
            <a:r>
              <a:rPr lang="en-US" sz="2000" dirty="0"/>
              <a:t> </a:t>
            </a:r>
            <a:r>
              <a:rPr lang="en-US" sz="2000" dirty="0" err="1"/>
              <a:t>este</a:t>
            </a:r>
            <a:r>
              <a:rPr lang="en-US" sz="2000" dirty="0"/>
              <a:t> un bean </a:t>
            </a:r>
            <a:r>
              <a:rPr lang="en-US" sz="2000" dirty="0" err="1"/>
              <a:t>pentru</a:t>
            </a:r>
            <a:r>
              <a:rPr lang="en-US" sz="2000" dirty="0"/>
              <a:t> care </a:t>
            </a:r>
            <a:r>
              <a:rPr lang="en-US" sz="2000" dirty="0" err="1"/>
              <a:t>containerul</a:t>
            </a:r>
            <a:r>
              <a:rPr lang="en-US" sz="2000" dirty="0"/>
              <a:t> </a:t>
            </a:r>
            <a:r>
              <a:rPr lang="en-US" sz="2000" dirty="0" err="1"/>
              <a:t>pastreaza</a:t>
            </a:r>
            <a:r>
              <a:rPr lang="en-US" sz="2000" dirty="0"/>
              <a:t> o </a:t>
            </a:r>
            <a:r>
              <a:rPr lang="en-US" sz="2000" dirty="0" err="1"/>
              <a:t>singura</a:t>
            </a:r>
            <a:r>
              <a:rPr lang="en-US" sz="2000" dirty="0"/>
              <a:t> </a:t>
            </a:r>
            <a:r>
              <a:rPr lang="en-US" sz="2000" dirty="0" err="1"/>
              <a:t>instanta</a:t>
            </a:r>
            <a:r>
              <a:rPr lang="en-US" sz="2000" dirty="0"/>
              <a:t> </a:t>
            </a:r>
            <a:r>
              <a:rPr lang="en-US" sz="2000" dirty="0" err="1"/>
              <a:t>pentru</a:t>
            </a:r>
            <a:r>
              <a:rPr lang="en-US" sz="2000" dirty="0"/>
              <a:t> </a:t>
            </a:r>
            <a:r>
              <a:rPr lang="en-US" sz="2000" dirty="0" err="1"/>
              <a:t>intreaga</a:t>
            </a:r>
            <a:r>
              <a:rPr lang="en-US" sz="2000" dirty="0"/>
              <a:t> </a:t>
            </a:r>
            <a:r>
              <a:rPr lang="en-US" sz="2000" dirty="0" err="1"/>
              <a:t>aplicatie</a:t>
            </a:r>
            <a:r>
              <a:rPr lang="en-US" sz="2000" dirty="0"/>
              <a:t>.</a:t>
            </a:r>
          </a:p>
          <a:p>
            <a:r>
              <a:rPr lang="en-US" sz="2000" b="1" dirty="0" err="1"/>
              <a:t>Ciclul</a:t>
            </a:r>
            <a:r>
              <a:rPr lang="en-US" sz="2000" b="1" dirty="0"/>
              <a:t> </a:t>
            </a:r>
            <a:r>
              <a:rPr lang="en-US" sz="2000" b="1" dirty="0" err="1"/>
              <a:t>lor</a:t>
            </a:r>
            <a:r>
              <a:rPr lang="en-US" sz="2000" b="1" dirty="0"/>
              <a:t> de </a:t>
            </a:r>
            <a:r>
              <a:rPr lang="en-US" sz="2000" b="1" dirty="0" err="1"/>
              <a:t>viata</a:t>
            </a:r>
            <a:r>
              <a:rPr lang="en-US" sz="2000" b="1" dirty="0"/>
              <a:t> </a:t>
            </a:r>
            <a:r>
              <a:rPr lang="en-US" sz="2000" dirty="0" err="1"/>
              <a:t>este</a:t>
            </a:r>
            <a:r>
              <a:rPr lang="en-US" sz="2000" dirty="0"/>
              <a:t>:</a:t>
            </a:r>
          </a:p>
        </p:txBody>
      </p:sp>
    </p:spTree>
    <p:extLst>
      <p:ext uri="{BB962C8B-B14F-4D97-AF65-F5344CB8AC3E}">
        <p14:creationId xmlns:p14="http://schemas.microsoft.com/office/powerpoint/2010/main" val="8790082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7</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smtClean="0">
                <a:solidFill>
                  <a:srgbClr val="FF0000"/>
                </a:solidFill>
                <a:latin typeface="Calibri" pitchFamily="34" charset="0"/>
              </a:rPr>
              <a:t>MessageDriven</a:t>
            </a:r>
            <a:r>
              <a:rPr lang="en-US" altLang="en-US" dirty="0" smtClean="0">
                <a:solidFill>
                  <a:srgbClr val="FF0000"/>
                </a:solidFill>
                <a:latin typeface="Calibri" pitchFamily="34" charset="0"/>
              </a:rPr>
              <a:t> beans, </a:t>
            </a:r>
            <a:r>
              <a:rPr lang="en-US" altLang="en-US" dirty="0" err="1" smtClean="0">
                <a:solidFill>
                  <a:srgbClr val="FF0000"/>
                </a:solidFill>
                <a:latin typeface="Calibri" pitchFamily="34" charset="0"/>
              </a:rPr>
              <a:t>ciclu</a:t>
            </a:r>
            <a:r>
              <a:rPr lang="en-US" altLang="en-US" dirty="0" smtClean="0">
                <a:solidFill>
                  <a:srgbClr val="FF0000"/>
                </a:solidFill>
                <a:latin typeface="Calibri" pitchFamily="34" charset="0"/>
              </a:rPr>
              <a:t> de </a:t>
            </a:r>
            <a:r>
              <a:rPr lang="en-US" altLang="en-US" dirty="0" err="1" smtClean="0">
                <a:solidFill>
                  <a:srgbClr val="FF0000"/>
                </a:solidFill>
                <a:latin typeface="Calibri" pitchFamily="34" charset="0"/>
              </a:rPr>
              <a:t>viata</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interceptori</a:t>
            </a:r>
            <a:r>
              <a:rPr lang="en-US" altLang="en-US" dirty="0" smtClean="0">
                <a:solidFill>
                  <a:srgbClr val="FF0000"/>
                </a:solidFill>
                <a:latin typeface="Calibri" pitchFamily="34" charset="0"/>
              </a:rPr>
              <a:t> </a:t>
            </a:r>
            <a:endParaRPr lang="en-US" altLang="en-US" dirty="0">
              <a:solidFill>
                <a:srgbClr val="FF0000"/>
              </a:solidFill>
              <a:latin typeface="Calibri" pitchFamily="34" charset="0"/>
            </a:endParaRPr>
          </a:p>
        </p:txBody>
      </p:sp>
      <p:sp>
        <p:nvSpPr>
          <p:cNvPr id="9" name="TextBox 6"/>
          <p:cNvSpPr txBox="1">
            <a:spLocks noChangeArrowheads="1"/>
          </p:cNvSpPr>
          <p:nvPr/>
        </p:nvSpPr>
        <p:spPr bwMode="auto">
          <a:xfrm>
            <a:off x="-24063" y="5334000"/>
            <a:ext cx="913196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Gill Sans MT" pitchFamily="34" charset="0"/>
              </a:defRPr>
            </a:lvl1pPr>
            <a:lvl2pPr marL="742950" indent="-285750">
              <a:defRPr>
                <a:solidFill>
                  <a:schemeClr val="tx1"/>
                </a:solidFill>
                <a:latin typeface="Gill Sans MT" pitchFamily="34" charset="0"/>
              </a:defRPr>
            </a:lvl2pPr>
            <a:lvl3pPr marL="1143000" indent="-228600">
              <a:defRPr>
                <a:solidFill>
                  <a:schemeClr val="tx1"/>
                </a:solidFill>
                <a:latin typeface="Gill Sans MT" pitchFamily="34" charset="0"/>
              </a:defRPr>
            </a:lvl3pPr>
            <a:lvl4pPr marL="1600200" indent="-228600">
              <a:defRPr>
                <a:solidFill>
                  <a:schemeClr val="tx1"/>
                </a:solidFill>
                <a:latin typeface="Gill Sans MT" pitchFamily="34" charset="0"/>
              </a:defRPr>
            </a:lvl4pPr>
            <a:lvl5pPr marL="2057400" indent="-228600">
              <a:defRPr>
                <a:solidFill>
                  <a:schemeClr val="tx1"/>
                </a:solidFill>
                <a:latin typeface="Gill Sans MT" pitchFamily="34" charset="0"/>
              </a:defRPr>
            </a:lvl5pPr>
            <a:lvl6pPr marL="2514600" indent="-228600" fontAlgn="base">
              <a:spcBef>
                <a:spcPct val="0"/>
              </a:spcBef>
              <a:spcAft>
                <a:spcPct val="0"/>
              </a:spcAft>
              <a:defRPr>
                <a:solidFill>
                  <a:schemeClr val="tx1"/>
                </a:solidFill>
                <a:latin typeface="Gill Sans MT" pitchFamily="34" charset="0"/>
              </a:defRPr>
            </a:lvl6pPr>
            <a:lvl7pPr marL="2971800" indent="-228600" fontAlgn="base">
              <a:spcBef>
                <a:spcPct val="0"/>
              </a:spcBef>
              <a:spcAft>
                <a:spcPct val="0"/>
              </a:spcAft>
              <a:defRPr>
                <a:solidFill>
                  <a:schemeClr val="tx1"/>
                </a:solidFill>
                <a:latin typeface="Gill Sans MT" pitchFamily="34" charset="0"/>
              </a:defRPr>
            </a:lvl7pPr>
            <a:lvl8pPr marL="3429000" indent="-228600" fontAlgn="base">
              <a:spcBef>
                <a:spcPct val="0"/>
              </a:spcBef>
              <a:spcAft>
                <a:spcPct val="0"/>
              </a:spcAft>
              <a:defRPr>
                <a:solidFill>
                  <a:schemeClr val="tx1"/>
                </a:solidFill>
                <a:latin typeface="Gill Sans MT" pitchFamily="34" charset="0"/>
              </a:defRPr>
            </a:lvl8pPr>
            <a:lvl9pPr marL="3886200" indent="-228600" fontAlgn="base">
              <a:spcBef>
                <a:spcPct val="0"/>
              </a:spcBef>
              <a:spcAft>
                <a:spcPct val="0"/>
              </a:spcAft>
              <a:defRPr>
                <a:solidFill>
                  <a:schemeClr val="tx1"/>
                </a:solidFill>
                <a:latin typeface="Gill Sans MT" pitchFamily="34" charset="0"/>
              </a:defRPr>
            </a:lvl9pPr>
          </a:lstStyle>
          <a:p>
            <a:r>
              <a:rPr lang="en-US" sz="2000" b="1" dirty="0" err="1" smtClean="0">
                <a:solidFill>
                  <a:srgbClr val="FF0000"/>
                </a:solidFill>
              </a:rPr>
              <a:t>Interceptori</a:t>
            </a:r>
            <a:r>
              <a:rPr lang="en-US" sz="2000" dirty="0">
                <a:solidFill>
                  <a:srgbClr val="FF0000"/>
                </a:solidFill>
              </a:rPr>
              <a:t> </a:t>
            </a:r>
            <a:r>
              <a:rPr lang="en-US" sz="2000" dirty="0" smtClean="0">
                <a:solidFill>
                  <a:srgbClr val="FF0000"/>
                </a:solidFill>
              </a:rPr>
              <a:t>(</a:t>
            </a:r>
            <a:r>
              <a:rPr lang="en-US" sz="2000" dirty="0" err="1" smtClean="0">
                <a:solidFill>
                  <a:srgbClr val="FF0000"/>
                </a:solidFill>
              </a:rPr>
              <a:t>optionali</a:t>
            </a:r>
            <a:r>
              <a:rPr lang="en-US" sz="2000" dirty="0" smtClean="0">
                <a:solidFill>
                  <a:srgbClr val="FF0000"/>
                </a:solidFill>
              </a:rPr>
              <a:t>) </a:t>
            </a:r>
            <a:r>
              <a:rPr lang="en-US" sz="2000" dirty="0" err="1" smtClean="0">
                <a:solidFill>
                  <a:srgbClr val="FF0000"/>
                </a:solidFill>
              </a:rPr>
              <a:t>sunt</a:t>
            </a:r>
            <a:r>
              <a:rPr lang="en-US" sz="2000" dirty="0" smtClean="0">
                <a:solidFill>
                  <a:srgbClr val="FF0000"/>
                </a:solidFill>
              </a:rPr>
              <a:t> </a:t>
            </a:r>
            <a:r>
              <a:rPr lang="en-US" sz="2000" dirty="0" err="1" smtClean="0">
                <a:solidFill>
                  <a:srgbClr val="FF0000"/>
                </a:solidFill>
              </a:rPr>
              <a:t>metode</a:t>
            </a:r>
            <a:r>
              <a:rPr lang="en-US" sz="2000" dirty="0" smtClean="0">
                <a:solidFill>
                  <a:srgbClr val="FF0000"/>
                </a:solidFill>
              </a:rPr>
              <a:t> in </a:t>
            </a:r>
            <a:r>
              <a:rPr lang="en-US" sz="2000" dirty="0" err="1" smtClean="0">
                <a:solidFill>
                  <a:srgbClr val="FF0000"/>
                </a:solidFill>
              </a:rPr>
              <a:t>beanul</a:t>
            </a:r>
            <a:r>
              <a:rPr lang="en-US" sz="2000" dirty="0" smtClean="0">
                <a:solidFill>
                  <a:srgbClr val="FF0000"/>
                </a:solidFill>
              </a:rPr>
              <a:t> </a:t>
            </a:r>
            <a:r>
              <a:rPr lang="en-US" sz="2000" dirty="0" err="1" smtClean="0">
                <a:solidFill>
                  <a:srgbClr val="FF0000"/>
                </a:solidFill>
              </a:rPr>
              <a:t>implementator</a:t>
            </a:r>
            <a:r>
              <a:rPr lang="en-US" sz="2000" dirty="0" smtClean="0">
                <a:solidFill>
                  <a:srgbClr val="FF0000"/>
                </a:solidFill>
              </a:rPr>
              <a:t>, </a:t>
            </a:r>
            <a:r>
              <a:rPr lang="en-US" sz="2000" dirty="0" err="1" smtClean="0">
                <a:solidFill>
                  <a:srgbClr val="FF0000"/>
                </a:solidFill>
              </a:rPr>
              <a:t>prefixate</a:t>
            </a:r>
            <a:r>
              <a:rPr lang="en-US" sz="2000" dirty="0" smtClean="0">
                <a:solidFill>
                  <a:srgbClr val="FF0000"/>
                </a:solidFill>
              </a:rPr>
              <a:t> cu:</a:t>
            </a:r>
            <a:endParaRPr lang="en-US" sz="2000" b="1" dirty="0" smtClean="0">
              <a:solidFill>
                <a:srgbClr val="FF0000"/>
              </a:solidFill>
            </a:endParaRPr>
          </a:p>
          <a:p>
            <a:r>
              <a:rPr lang="en-US" sz="2000" dirty="0" smtClean="0">
                <a:solidFill>
                  <a:srgbClr val="FF0000"/>
                </a:solidFill>
              </a:rPr>
              <a:t>@</a:t>
            </a:r>
            <a:r>
              <a:rPr lang="en-US" sz="2000" b="1" dirty="0" err="1" smtClean="0">
                <a:solidFill>
                  <a:srgbClr val="FF0000"/>
                </a:solidFill>
              </a:rPr>
              <a:t>PostConstruct</a:t>
            </a:r>
            <a:r>
              <a:rPr lang="en-US" sz="2000" dirty="0" smtClean="0">
                <a:solidFill>
                  <a:srgbClr val="FF0000"/>
                </a:solidFill>
              </a:rPr>
              <a:t> </a:t>
            </a:r>
            <a:r>
              <a:rPr lang="en-US" sz="2000" dirty="0" err="1" smtClean="0">
                <a:solidFill>
                  <a:srgbClr val="FF0000"/>
                </a:solidFill>
              </a:rPr>
              <a:t>prefixeaza</a:t>
            </a:r>
            <a:r>
              <a:rPr lang="en-US" sz="2000" dirty="0" smtClean="0">
                <a:solidFill>
                  <a:srgbClr val="FF0000"/>
                </a:solidFill>
              </a:rPr>
              <a:t> o </a:t>
            </a:r>
            <a:r>
              <a:rPr lang="en-US" sz="2000" dirty="0" err="1" smtClean="0">
                <a:solidFill>
                  <a:srgbClr val="FF0000"/>
                </a:solidFill>
              </a:rPr>
              <a:t>metoda</a:t>
            </a:r>
            <a:r>
              <a:rPr lang="en-US" sz="2000" dirty="0" smtClean="0">
                <a:solidFill>
                  <a:srgbClr val="FF0000"/>
                </a:solidFill>
              </a:rPr>
              <a:t> </a:t>
            </a:r>
            <a:r>
              <a:rPr lang="en-US" sz="2000" dirty="0" err="1" smtClean="0">
                <a:solidFill>
                  <a:srgbClr val="FF0000"/>
                </a:solidFill>
              </a:rPr>
              <a:t>ce</a:t>
            </a:r>
            <a:r>
              <a:rPr lang="en-US" sz="2000" dirty="0" smtClean="0">
                <a:solidFill>
                  <a:srgbClr val="FF0000"/>
                </a:solidFill>
              </a:rPr>
              <a:t> </a:t>
            </a:r>
            <a:r>
              <a:rPr lang="en-US" sz="2000" dirty="0" err="1" smtClean="0">
                <a:solidFill>
                  <a:srgbClr val="FF0000"/>
                </a:solidFill>
              </a:rPr>
              <a:t>actioneaza</a:t>
            </a:r>
            <a:r>
              <a:rPr lang="en-US" sz="2000" dirty="0" smtClean="0">
                <a:solidFill>
                  <a:srgbClr val="FF0000"/>
                </a:solidFill>
              </a:rPr>
              <a:t> </a:t>
            </a:r>
            <a:r>
              <a:rPr lang="en-US" sz="2000" dirty="0" err="1" smtClean="0">
                <a:solidFill>
                  <a:srgbClr val="FF0000"/>
                </a:solidFill>
              </a:rPr>
              <a:t>dupa</a:t>
            </a:r>
            <a:r>
              <a:rPr lang="en-US" sz="2000" dirty="0" smtClean="0">
                <a:solidFill>
                  <a:srgbClr val="FF0000"/>
                </a:solidFill>
              </a:rPr>
              <a:t> </a:t>
            </a:r>
            <a:r>
              <a:rPr lang="en-US" sz="2000" dirty="0" err="1" smtClean="0">
                <a:solidFill>
                  <a:srgbClr val="FF0000"/>
                </a:solidFill>
              </a:rPr>
              <a:t>creare</a:t>
            </a:r>
            <a:r>
              <a:rPr lang="en-US" sz="2000" dirty="0" smtClean="0">
                <a:solidFill>
                  <a:srgbClr val="FF0000"/>
                </a:solidFill>
              </a:rPr>
              <a:t> </a:t>
            </a:r>
            <a:r>
              <a:rPr lang="en-US" sz="2000" dirty="0" err="1" smtClean="0">
                <a:solidFill>
                  <a:srgbClr val="FF0000"/>
                </a:solidFill>
              </a:rPr>
              <a:t>si</a:t>
            </a:r>
            <a:r>
              <a:rPr lang="en-US" sz="2000" dirty="0" smtClean="0">
                <a:solidFill>
                  <a:srgbClr val="FF0000"/>
                </a:solidFill>
              </a:rPr>
              <a:t> </a:t>
            </a:r>
            <a:r>
              <a:rPr lang="en-US" sz="2000" dirty="0" err="1" smtClean="0">
                <a:solidFill>
                  <a:srgbClr val="FF0000"/>
                </a:solidFill>
              </a:rPr>
              <a:t>inainte</a:t>
            </a:r>
            <a:r>
              <a:rPr lang="en-US" sz="2000" dirty="0" smtClean="0">
                <a:solidFill>
                  <a:srgbClr val="FF0000"/>
                </a:solidFill>
              </a:rPr>
              <a:t> de </a:t>
            </a:r>
            <a:r>
              <a:rPr lang="en-US" sz="2000" b="1" dirty="0" err="1" smtClean="0">
                <a:solidFill>
                  <a:srgbClr val="FF0000"/>
                </a:solidFill>
              </a:rPr>
              <a:t>init.</a:t>
            </a:r>
            <a:r>
              <a:rPr lang="en-US" sz="2000" dirty="0" smtClean="0">
                <a:solidFill>
                  <a:srgbClr val="FF0000"/>
                </a:solidFill>
              </a:rPr>
              <a:t> </a:t>
            </a:r>
            <a:r>
              <a:rPr lang="en-US" sz="2000" dirty="0">
                <a:solidFill>
                  <a:srgbClr val="FF0000"/>
                </a:solidFill>
              </a:rPr>
              <a:t>@</a:t>
            </a:r>
            <a:r>
              <a:rPr lang="en-US" sz="2000" b="1" dirty="0" err="1" smtClean="0">
                <a:solidFill>
                  <a:srgbClr val="FF0000"/>
                </a:solidFill>
              </a:rPr>
              <a:t>PreDestroy</a:t>
            </a:r>
            <a:r>
              <a:rPr lang="en-US" sz="2000" dirty="0" smtClean="0">
                <a:solidFill>
                  <a:srgbClr val="FF0000"/>
                </a:solidFill>
              </a:rPr>
              <a:t> </a:t>
            </a:r>
            <a:r>
              <a:rPr lang="en-US" sz="2000" dirty="0" err="1">
                <a:solidFill>
                  <a:srgbClr val="FF0000"/>
                </a:solidFill>
              </a:rPr>
              <a:t>prefixeaza</a:t>
            </a:r>
            <a:r>
              <a:rPr lang="en-US" sz="2000" dirty="0">
                <a:solidFill>
                  <a:srgbClr val="FF0000"/>
                </a:solidFill>
              </a:rPr>
              <a:t> o </a:t>
            </a:r>
            <a:r>
              <a:rPr lang="en-US" sz="2000" dirty="0" err="1">
                <a:solidFill>
                  <a:srgbClr val="FF0000"/>
                </a:solidFill>
              </a:rPr>
              <a:t>metoda</a:t>
            </a:r>
            <a:r>
              <a:rPr lang="en-US" sz="2000" dirty="0">
                <a:solidFill>
                  <a:srgbClr val="FF0000"/>
                </a:solidFill>
              </a:rPr>
              <a:t> </a:t>
            </a:r>
            <a:r>
              <a:rPr lang="en-US" sz="2000" dirty="0" err="1">
                <a:solidFill>
                  <a:srgbClr val="FF0000"/>
                </a:solidFill>
              </a:rPr>
              <a:t>ce</a:t>
            </a:r>
            <a:r>
              <a:rPr lang="en-US" sz="2000" dirty="0">
                <a:solidFill>
                  <a:srgbClr val="FF0000"/>
                </a:solidFill>
              </a:rPr>
              <a:t> </a:t>
            </a:r>
            <a:r>
              <a:rPr lang="en-US" sz="2000" dirty="0" err="1">
                <a:solidFill>
                  <a:srgbClr val="FF0000"/>
                </a:solidFill>
              </a:rPr>
              <a:t>actioneaza</a:t>
            </a:r>
            <a:r>
              <a:rPr lang="en-US" sz="2000" dirty="0">
                <a:solidFill>
                  <a:srgbClr val="FF0000"/>
                </a:solidFill>
              </a:rPr>
              <a:t> </a:t>
            </a:r>
            <a:r>
              <a:rPr lang="en-US" sz="2000" dirty="0" err="1" smtClean="0">
                <a:solidFill>
                  <a:srgbClr val="FF0000"/>
                </a:solidFill>
              </a:rPr>
              <a:t>inainte</a:t>
            </a:r>
            <a:r>
              <a:rPr lang="en-US" sz="2000" dirty="0" smtClean="0">
                <a:solidFill>
                  <a:srgbClr val="FF0000"/>
                </a:solidFill>
              </a:rPr>
              <a:t> </a:t>
            </a:r>
            <a:r>
              <a:rPr lang="en-US" sz="2000" dirty="0">
                <a:solidFill>
                  <a:srgbClr val="FF0000"/>
                </a:solidFill>
              </a:rPr>
              <a:t>de </a:t>
            </a:r>
            <a:r>
              <a:rPr lang="en-US" sz="2000" b="1" dirty="0" smtClean="0">
                <a:solidFill>
                  <a:srgbClr val="FF0000"/>
                </a:solidFill>
              </a:rPr>
              <a:t>remove.</a:t>
            </a:r>
            <a:r>
              <a:rPr lang="en-US" sz="2000" dirty="0" smtClean="0">
                <a:solidFill>
                  <a:srgbClr val="FF0000"/>
                </a:solidFill>
              </a:rPr>
              <a:t> </a:t>
            </a:r>
            <a:endParaRPr lang="en-US" sz="2000" dirty="0">
              <a:solidFill>
                <a:srgbClr val="FF0000"/>
              </a:solidFil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398713"/>
            <a:ext cx="5533054" cy="2811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6"/>
          <p:cNvSpPr txBox="1">
            <a:spLocks noChangeArrowheads="1"/>
          </p:cNvSpPr>
          <p:nvPr/>
        </p:nvSpPr>
        <p:spPr bwMode="auto">
          <a:xfrm>
            <a:off x="-30079" y="366713"/>
            <a:ext cx="9144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ill Sans MT" pitchFamily="34" charset="0"/>
              </a:defRPr>
            </a:lvl1pPr>
            <a:lvl2pPr marL="742950" indent="-285750">
              <a:defRPr>
                <a:solidFill>
                  <a:schemeClr val="tx1"/>
                </a:solidFill>
                <a:latin typeface="Gill Sans MT" pitchFamily="34" charset="0"/>
              </a:defRPr>
            </a:lvl2pPr>
            <a:lvl3pPr marL="1143000" indent="-228600">
              <a:defRPr>
                <a:solidFill>
                  <a:schemeClr val="tx1"/>
                </a:solidFill>
                <a:latin typeface="Gill Sans MT" pitchFamily="34" charset="0"/>
              </a:defRPr>
            </a:lvl3pPr>
            <a:lvl4pPr marL="1600200" indent="-228600">
              <a:defRPr>
                <a:solidFill>
                  <a:schemeClr val="tx1"/>
                </a:solidFill>
                <a:latin typeface="Gill Sans MT" pitchFamily="34" charset="0"/>
              </a:defRPr>
            </a:lvl4pPr>
            <a:lvl5pPr marL="2057400" indent="-228600">
              <a:defRPr>
                <a:solidFill>
                  <a:schemeClr val="tx1"/>
                </a:solidFill>
                <a:latin typeface="Gill Sans MT" pitchFamily="34" charset="0"/>
              </a:defRPr>
            </a:lvl5pPr>
            <a:lvl6pPr marL="2514600" indent="-228600" fontAlgn="base">
              <a:spcBef>
                <a:spcPct val="0"/>
              </a:spcBef>
              <a:spcAft>
                <a:spcPct val="0"/>
              </a:spcAft>
              <a:defRPr>
                <a:solidFill>
                  <a:schemeClr val="tx1"/>
                </a:solidFill>
                <a:latin typeface="Gill Sans MT" pitchFamily="34" charset="0"/>
              </a:defRPr>
            </a:lvl6pPr>
            <a:lvl7pPr marL="2971800" indent="-228600" fontAlgn="base">
              <a:spcBef>
                <a:spcPct val="0"/>
              </a:spcBef>
              <a:spcAft>
                <a:spcPct val="0"/>
              </a:spcAft>
              <a:defRPr>
                <a:solidFill>
                  <a:schemeClr val="tx1"/>
                </a:solidFill>
                <a:latin typeface="Gill Sans MT" pitchFamily="34" charset="0"/>
              </a:defRPr>
            </a:lvl7pPr>
            <a:lvl8pPr marL="3429000" indent="-228600" fontAlgn="base">
              <a:spcBef>
                <a:spcPct val="0"/>
              </a:spcBef>
              <a:spcAft>
                <a:spcPct val="0"/>
              </a:spcAft>
              <a:defRPr>
                <a:solidFill>
                  <a:schemeClr val="tx1"/>
                </a:solidFill>
                <a:latin typeface="Gill Sans MT" pitchFamily="34" charset="0"/>
              </a:defRPr>
            </a:lvl8pPr>
            <a:lvl9pPr marL="3886200" indent="-228600" fontAlgn="base">
              <a:spcBef>
                <a:spcPct val="0"/>
              </a:spcBef>
              <a:spcAft>
                <a:spcPct val="0"/>
              </a:spcAft>
              <a:defRPr>
                <a:solidFill>
                  <a:schemeClr val="tx1"/>
                </a:solidFill>
                <a:latin typeface="Gill Sans MT" pitchFamily="34" charset="0"/>
              </a:defRPr>
            </a:lvl9pPr>
          </a:lstStyle>
          <a:p>
            <a:r>
              <a:rPr lang="en-US" b="1" dirty="0"/>
              <a:t>Message-driven </a:t>
            </a:r>
            <a:r>
              <a:rPr lang="en-US" dirty="0"/>
              <a:t>bean, din </a:t>
            </a:r>
            <a:r>
              <a:rPr lang="en-US" dirty="0" err="1"/>
              <a:t>punct</a:t>
            </a:r>
            <a:r>
              <a:rPr lang="en-US" dirty="0"/>
              <a:t> de </a:t>
            </a:r>
            <a:r>
              <a:rPr lang="en-US" dirty="0" err="1"/>
              <a:t>vedere</a:t>
            </a:r>
            <a:r>
              <a:rPr lang="en-US" dirty="0"/>
              <a:t> al </a:t>
            </a:r>
            <a:r>
              <a:rPr lang="en-US" dirty="0" err="1"/>
              <a:t>ciclului</a:t>
            </a:r>
            <a:r>
              <a:rPr lang="en-US" dirty="0"/>
              <a:t> de </a:t>
            </a:r>
            <a:r>
              <a:rPr lang="en-US" dirty="0" err="1"/>
              <a:t>viata</a:t>
            </a:r>
            <a:r>
              <a:rPr lang="en-US" dirty="0"/>
              <a:t> </a:t>
            </a:r>
            <a:r>
              <a:rPr lang="en-US" dirty="0" err="1"/>
              <a:t>si</a:t>
            </a:r>
            <a:r>
              <a:rPr lang="en-US" dirty="0"/>
              <a:t> a </a:t>
            </a:r>
            <a:r>
              <a:rPr lang="en-US" dirty="0" err="1"/>
              <a:t>interceptorilor</a:t>
            </a:r>
            <a:r>
              <a:rPr lang="en-US" dirty="0"/>
              <a:t>, </a:t>
            </a:r>
            <a:r>
              <a:rPr lang="en-US" dirty="0" err="1"/>
              <a:t>este</a:t>
            </a:r>
            <a:r>
              <a:rPr lang="en-US" dirty="0"/>
              <a:t> similar cu Session stateless </a:t>
            </a:r>
            <a:r>
              <a:rPr lang="en-US" dirty="0" err="1"/>
              <a:t>si</a:t>
            </a:r>
            <a:r>
              <a:rPr lang="en-US" dirty="0"/>
              <a:t> cu Singleton.</a:t>
            </a:r>
          </a:p>
          <a:p>
            <a:r>
              <a:rPr lang="en-US" dirty="0" err="1"/>
              <a:t>Deosebirile</a:t>
            </a:r>
            <a:r>
              <a:rPr lang="en-US" dirty="0"/>
              <a:t> fata de </a:t>
            </a:r>
            <a:r>
              <a:rPr lang="en-US" dirty="0" err="1"/>
              <a:t>acestea</a:t>
            </a:r>
            <a:r>
              <a:rPr lang="en-US" dirty="0"/>
              <a:t> </a:t>
            </a:r>
            <a:r>
              <a:rPr lang="en-US" dirty="0" err="1"/>
              <a:t>sunt</a:t>
            </a:r>
            <a:r>
              <a:rPr lang="en-US" dirty="0"/>
              <a:t>:</a:t>
            </a:r>
          </a:p>
          <a:p>
            <a:pPr marL="285750" indent="-285750">
              <a:buFont typeface="Arial" pitchFamily="34" charset="0"/>
              <a:buChar char="•"/>
            </a:pPr>
            <a:r>
              <a:rPr lang="en-US" b="1" dirty="0"/>
              <a:t>Nu</a:t>
            </a:r>
            <a:r>
              <a:rPr lang="en-US" dirty="0"/>
              <a:t> </a:t>
            </a:r>
            <a:r>
              <a:rPr lang="en-US" dirty="0" err="1"/>
              <a:t>implementeaza</a:t>
            </a:r>
            <a:r>
              <a:rPr lang="en-US" dirty="0"/>
              <a:t> </a:t>
            </a:r>
            <a:r>
              <a:rPr lang="en-US" dirty="0" err="1"/>
              <a:t>nici</a:t>
            </a:r>
            <a:r>
              <a:rPr lang="en-US" dirty="0"/>
              <a:t> o </a:t>
            </a:r>
            <a:r>
              <a:rPr lang="en-US" dirty="0" err="1"/>
              <a:t>interfata</a:t>
            </a:r>
            <a:r>
              <a:rPr lang="en-US" dirty="0"/>
              <a:t> </a:t>
            </a:r>
            <a:r>
              <a:rPr lang="en-US" b="1" dirty="0"/>
              <a:t>Remote</a:t>
            </a:r>
            <a:r>
              <a:rPr lang="en-US" dirty="0"/>
              <a:t> </a:t>
            </a:r>
            <a:r>
              <a:rPr lang="en-US" dirty="0" err="1"/>
              <a:t>sau</a:t>
            </a:r>
            <a:r>
              <a:rPr lang="en-US" dirty="0"/>
              <a:t> </a:t>
            </a:r>
            <a:r>
              <a:rPr lang="en-US" b="1" dirty="0"/>
              <a:t>Local</a:t>
            </a:r>
          </a:p>
          <a:p>
            <a:pPr marL="285750" indent="-285750">
              <a:buFont typeface="Arial" pitchFamily="34" charset="0"/>
              <a:buChar char="•"/>
            </a:pPr>
            <a:r>
              <a:rPr lang="en-US" dirty="0"/>
              <a:t>Este </a:t>
            </a:r>
            <a:r>
              <a:rPr lang="en-US" dirty="0" err="1"/>
              <a:t>activat</a:t>
            </a:r>
            <a:r>
              <a:rPr lang="en-US" dirty="0"/>
              <a:t>, </a:t>
            </a:r>
            <a:r>
              <a:rPr lang="en-US" dirty="0" err="1"/>
              <a:t>prin</a:t>
            </a:r>
            <a:r>
              <a:rPr lang="en-US" dirty="0"/>
              <a:t> </a:t>
            </a:r>
            <a:r>
              <a:rPr lang="en-US" dirty="0" err="1"/>
              <a:t>metoda</a:t>
            </a:r>
            <a:r>
              <a:rPr lang="en-US" dirty="0"/>
              <a:t> </a:t>
            </a:r>
            <a:r>
              <a:rPr lang="en-US" b="1" dirty="0" err="1"/>
              <a:t>onMessage</a:t>
            </a:r>
            <a:r>
              <a:rPr lang="en-US" dirty="0"/>
              <a:t>, </a:t>
            </a:r>
            <a:r>
              <a:rPr lang="en-US" dirty="0" err="1"/>
              <a:t>cand</a:t>
            </a:r>
            <a:r>
              <a:rPr lang="en-US" dirty="0"/>
              <a:t> </a:t>
            </a:r>
            <a:r>
              <a:rPr lang="en-US" dirty="0" err="1"/>
              <a:t>primeste</a:t>
            </a:r>
            <a:r>
              <a:rPr lang="en-US" dirty="0"/>
              <a:t> </a:t>
            </a:r>
            <a:r>
              <a:rPr lang="en-US" dirty="0" err="1"/>
              <a:t>mesaj</a:t>
            </a:r>
            <a:r>
              <a:rPr lang="en-US" dirty="0"/>
              <a:t> de la </a:t>
            </a:r>
            <a:r>
              <a:rPr lang="en-US" dirty="0" err="1"/>
              <a:t>serviciul</a:t>
            </a:r>
            <a:r>
              <a:rPr lang="en-US" dirty="0"/>
              <a:t> </a:t>
            </a:r>
            <a:r>
              <a:rPr lang="en-US" dirty="0" err="1"/>
              <a:t>arondat</a:t>
            </a:r>
            <a:r>
              <a:rPr lang="en-US" dirty="0"/>
              <a:t>.</a:t>
            </a:r>
          </a:p>
          <a:p>
            <a:endParaRPr lang="en-US" dirty="0"/>
          </a:p>
          <a:p>
            <a:r>
              <a:rPr lang="en-US" b="1" dirty="0" err="1" smtClean="0"/>
              <a:t>Ciclul</a:t>
            </a:r>
            <a:r>
              <a:rPr lang="en-US" b="1" dirty="0" smtClean="0"/>
              <a:t> de </a:t>
            </a:r>
            <a:r>
              <a:rPr lang="en-US" b="1" dirty="0" err="1" smtClean="0"/>
              <a:t>viata</a:t>
            </a:r>
            <a:r>
              <a:rPr lang="en-US" dirty="0" smtClean="0"/>
              <a:t> </a:t>
            </a:r>
            <a:r>
              <a:rPr lang="en-US" dirty="0" err="1" smtClean="0"/>
              <a:t>este</a:t>
            </a:r>
            <a:r>
              <a:rPr lang="en-US" dirty="0" smtClean="0"/>
              <a:t>:</a:t>
            </a:r>
            <a:endParaRPr lang="en-US" dirty="0"/>
          </a:p>
        </p:txBody>
      </p:sp>
    </p:spTree>
    <p:extLst>
      <p:ext uri="{BB962C8B-B14F-4D97-AF65-F5344CB8AC3E}">
        <p14:creationId xmlns:p14="http://schemas.microsoft.com/office/powerpoint/2010/main" val="4676355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8</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smtClean="0">
                <a:solidFill>
                  <a:srgbClr val="FF0000"/>
                </a:solidFill>
                <a:latin typeface="Calibri" pitchFamily="34" charset="0"/>
              </a:rPr>
              <a:t>Impachetarea</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componentelor</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EJB</a:t>
            </a:r>
            <a:r>
              <a:rPr lang="en-US" altLang="en-US" dirty="0" smtClean="0">
                <a:solidFill>
                  <a:srgbClr val="FF0000"/>
                </a:solidFill>
                <a:latin typeface="Calibri" pitchFamily="34" charset="0"/>
              </a:rPr>
              <a:t> </a:t>
            </a:r>
            <a:endParaRPr lang="en-US" altLang="en-US" dirty="0">
              <a:solidFill>
                <a:srgbClr val="FF0000"/>
              </a:solidFill>
              <a:latin typeface="Calibri" pitchFamily="34" charset="0"/>
            </a:endParaRPr>
          </a:p>
        </p:txBody>
      </p:sp>
      <p:sp>
        <p:nvSpPr>
          <p:cNvPr id="7" name="TextBox 6"/>
          <p:cNvSpPr txBox="1">
            <a:spLocks noChangeArrowheads="1"/>
          </p:cNvSpPr>
          <p:nvPr/>
        </p:nvSpPr>
        <p:spPr bwMode="auto">
          <a:xfrm>
            <a:off x="0" y="366713"/>
            <a:ext cx="9144000"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Gill Sans MT" pitchFamily="34" charset="0"/>
              </a:defRPr>
            </a:lvl1pPr>
            <a:lvl2pPr marL="742950" indent="-285750">
              <a:defRPr>
                <a:solidFill>
                  <a:schemeClr val="tx1"/>
                </a:solidFill>
                <a:latin typeface="Gill Sans MT" pitchFamily="34" charset="0"/>
              </a:defRPr>
            </a:lvl2pPr>
            <a:lvl3pPr marL="1143000" indent="-228600">
              <a:defRPr>
                <a:solidFill>
                  <a:schemeClr val="tx1"/>
                </a:solidFill>
                <a:latin typeface="Gill Sans MT" pitchFamily="34" charset="0"/>
              </a:defRPr>
            </a:lvl3pPr>
            <a:lvl4pPr marL="1600200" indent="-228600">
              <a:defRPr>
                <a:solidFill>
                  <a:schemeClr val="tx1"/>
                </a:solidFill>
                <a:latin typeface="Gill Sans MT" pitchFamily="34" charset="0"/>
              </a:defRPr>
            </a:lvl4pPr>
            <a:lvl5pPr marL="2057400" indent="-228600">
              <a:defRPr>
                <a:solidFill>
                  <a:schemeClr val="tx1"/>
                </a:solidFill>
                <a:latin typeface="Gill Sans MT" pitchFamily="34" charset="0"/>
              </a:defRPr>
            </a:lvl5pPr>
            <a:lvl6pPr marL="2514600" indent="-228600" fontAlgn="base">
              <a:spcBef>
                <a:spcPct val="0"/>
              </a:spcBef>
              <a:spcAft>
                <a:spcPct val="0"/>
              </a:spcAft>
              <a:defRPr>
                <a:solidFill>
                  <a:schemeClr val="tx1"/>
                </a:solidFill>
                <a:latin typeface="Gill Sans MT" pitchFamily="34" charset="0"/>
              </a:defRPr>
            </a:lvl6pPr>
            <a:lvl7pPr marL="2971800" indent="-228600" fontAlgn="base">
              <a:spcBef>
                <a:spcPct val="0"/>
              </a:spcBef>
              <a:spcAft>
                <a:spcPct val="0"/>
              </a:spcAft>
              <a:defRPr>
                <a:solidFill>
                  <a:schemeClr val="tx1"/>
                </a:solidFill>
                <a:latin typeface="Gill Sans MT" pitchFamily="34" charset="0"/>
              </a:defRPr>
            </a:lvl7pPr>
            <a:lvl8pPr marL="3429000" indent="-228600" fontAlgn="base">
              <a:spcBef>
                <a:spcPct val="0"/>
              </a:spcBef>
              <a:spcAft>
                <a:spcPct val="0"/>
              </a:spcAft>
              <a:defRPr>
                <a:solidFill>
                  <a:schemeClr val="tx1"/>
                </a:solidFill>
                <a:latin typeface="Gill Sans MT" pitchFamily="34" charset="0"/>
              </a:defRPr>
            </a:lvl8pPr>
            <a:lvl9pPr marL="3886200" indent="-228600" fontAlgn="base">
              <a:spcBef>
                <a:spcPct val="0"/>
              </a:spcBef>
              <a:spcAft>
                <a:spcPct val="0"/>
              </a:spcAft>
              <a:defRPr>
                <a:solidFill>
                  <a:schemeClr val="tx1"/>
                </a:solidFill>
                <a:latin typeface="Gill Sans MT" pitchFamily="34" charset="0"/>
              </a:defRPr>
            </a:lvl9pPr>
          </a:lstStyle>
          <a:p>
            <a:r>
              <a:rPr lang="en-US" dirty="0" err="1"/>
              <a:t>Pentru</a:t>
            </a:r>
            <a:r>
              <a:rPr lang="en-US" dirty="0"/>
              <a:t> deploy </a:t>
            </a:r>
            <a:r>
              <a:rPr lang="en-US" dirty="0" err="1"/>
              <a:t>pe</a:t>
            </a:r>
            <a:r>
              <a:rPr lang="en-US" dirty="0"/>
              <a:t> un AS, </a:t>
            </a:r>
            <a:r>
              <a:rPr lang="en-US" dirty="0" err="1"/>
              <a:t>una</a:t>
            </a:r>
            <a:r>
              <a:rPr lang="en-US" dirty="0"/>
              <a:t> </a:t>
            </a:r>
            <a:r>
              <a:rPr lang="en-US" dirty="0" err="1"/>
              <a:t>sau</a:t>
            </a:r>
            <a:r>
              <a:rPr lang="en-US" dirty="0"/>
              <a:t> </a:t>
            </a:r>
            <a:r>
              <a:rPr lang="en-US" dirty="0" err="1"/>
              <a:t>mai</a:t>
            </a:r>
            <a:r>
              <a:rPr lang="en-US" dirty="0"/>
              <a:t> </a:t>
            </a:r>
            <a:r>
              <a:rPr lang="en-US" dirty="0" err="1"/>
              <a:t>multe</a:t>
            </a:r>
            <a:r>
              <a:rPr lang="en-US" dirty="0"/>
              <a:t> </a:t>
            </a:r>
            <a:r>
              <a:rPr lang="en-US" dirty="0" err="1"/>
              <a:t>componente</a:t>
            </a:r>
            <a:r>
              <a:rPr lang="en-US" dirty="0"/>
              <a:t> (</a:t>
            </a:r>
            <a:r>
              <a:rPr lang="en-US" dirty="0" err="1"/>
              <a:t>beanuri</a:t>
            </a:r>
            <a:r>
              <a:rPr lang="en-US" dirty="0"/>
              <a:t>)  </a:t>
            </a:r>
            <a:r>
              <a:rPr lang="en-US" dirty="0" err="1"/>
              <a:t>EJB</a:t>
            </a:r>
            <a:r>
              <a:rPr lang="en-US" dirty="0"/>
              <a:t> se </a:t>
            </a:r>
            <a:r>
              <a:rPr lang="en-US" dirty="0" err="1"/>
              <a:t>impacheteaza</a:t>
            </a:r>
            <a:r>
              <a:rPr lang="en-US" dirty="0"/>
              <a:t> </a:t>
            </a:r>
            <a:r>
              <a:rPr lang="en-US" dirty="0" err="1"/>
              <a:t>intr</a:t>
            </a:r>
            <a:r>
              <a:rPr lang="en-US" dirty="0"/>
              <a:t>-o </a:t>
            </a:r>
            <a:r>
              <a:rPr lang="en-US" dirty="0" err="1"/>
              <a:t>arhiva</a:t>
            </a:r>
            <a:r>
              <a:rPr lang="en-US" dirty="0"/>
              <a:t> </a:t>
            </a:r>
            <a:r>
              <a:rPr lang="en-US" b="1" dirty="0"/>
              <a:t>jar</a:t>
            </a:r>
            <a:r>
              <a:rPr lang="en-US" dirty="0"/>
              <a:t>. </a:t>
            </a:r>
            <a:r>
              <a:rPr lang="en-US" dirty="0" err="1"/>
              <a:t>pe</a:t>
            </a:r>
            <a:r>
              <a:rPr lang="en-US" dirty="0"/>
              <a:t> care </a:t>
            </a:r>
            <a:r>
              <a:rPr lang="en-US" dirty="0" smtClean="0"/>
              <a:t>in </a:t>
            </a:r>
            <a:r>
              <a:rPr lang="en-US" dirty="0" err="1" smtClean="0"/>
              <a:t>continuare</a:t>
            </a:r>
            <a:r>
              <a:rPr lang="en-US" dirty="0" smtClean="0"/>
              <a:t> o </a:t>
            </a:r>
            <a:r>
              <a:rPr lang="en-US" dirty="0" err="1"/>
              <a:t>vom</a:t>
            </a:r>
            <a:r>
              <a:rPr lang="en-US" dirty="0"/>
              <a:t> </a:t>
            </a:r>
            <a:r>
              <a:rPr lang="en-US" dirty="0" err="1"/>
              <a:t>numi</a:t>
            </a:r>
            <a:r>
              <a:rPr lang="en-US" dirty="0"/>
              <a:t> </a:t>
            </a:r>
            <a:r>
              <a:rPr lang="en-US" b="1" dirty="0" err="1" smtClean="0"/>
              <a:t>modulEJB</a:t>
            </a:r>
            <a:r>
              <a:rPr lang="en-US" b="1" dirty="0" smtClean="0"/>
              <a:t>.</a:t>
            </a:r>
            <a:r>
              <a:rPr lang="en-US" dirty="0" smtClean="0"/>
              <a:t> </a:t>
            </a:r>
            <a:endParaRPr lang="en-US" dirty="0"/>
          </a:p>
          <a:p>
            <a:endParaRPr lang="en-US" dirty="0"/>
          </a:p>
          <a:p>
            <a:r>
              <a:rPr lang="en-US" dirty="0" err="1"/>
              <a:t>Arhiva</a:t>
            </a:r>
            <a:r>
              <a:rPr lang="en-US" dirty="0"/>
              <a:t> </a:t>
            </a:r>
            <a:r>
              <a:rPr lang="en-US" dirty="0" err="1" smtClean="0"/>
              <a:t>contine</a:t>
            </a:r>
            <a:r>
              <a:rPr lang="en-US" dirty="0" smtClean="0"/>
              <a:t> : </a:t>
            </a:r>
            <a:r>
              <a:rPr lang="en-US" dirty="0" err="1" smtClean="0"/>
              <a:t>clasele</a:t>
            </a:r>
            <a:r>
              <a:rPr lang="en-US" dirty="0" smtClean="0"/>
              <a:t> </a:t>
            </a:r>
            <a:r>
              <a:rPr lang="en-US" dirty="0" err="1" smtClean="0"/>
              <a:t>componentelor</a:t>
            </a:r>
            <a:r>
              <a:rPr lang="en-US" dirty="0" smtClean="0"/>
              <a:t>, </a:t>
            </a:r>
            <a:r>
              <a:rPr lang="en-US" dirty="0" err="1" smtClean="0"/>
              <a:t>interfetele</a:t>
            </a:r>
            <a:r>
              <a:rPr lang="en-US" dirty="0" smtClean="0"/>
              <a:t> </a:t>
            </a:r>
            <a:r>
              <a:rPr lang="en-US" dirty="0" err="1"/>
              <a:t>aferente</a:t>
            </a:r>
            <a:r>
              <a:rPr lang="en-US" dirty="0"/>
              <a:t>, </a:t>
            </a:r>
            <a:r>
              <a:rPr lang="en-US" dirty="0" smtClean="0"/>
              <a:t> </a:t>
            </a:r>
            <a:r>
              <a:rPr lang="en-US" dirty="0" err="1"/>
              <a:t>clasele</a:t>
            </a:r>
            <a:r>
              <a:rPr lang="en-US" dirty="0"/>
              <a:t> </a:t>
            </a:r>
            <a:r>
              <a:rPr lang="en-US" dirty="0" err="1"/>
              <a:t>ajutatoare</a:t>
            </a:r>
            <a:r>
              <a:rPr lang="en-US" dirty="0"/>
              <a:t> </a:t>
            </a:r>
            <a:r>
              <a:rPr lang="en-US" dirty="0" err="1" smtClean="0"/>
              <a:t>necesare</a:t>
            </a:r>
            <a:r>
              <a:rPr lang="en-US" dirty="0" smtClean="0"/>
              <a:t>,  </a:t>
            </a:r>
            <a:r>
              <a:rPr lang="en-US" dirty="0" err="1"/>
              <a:t>fisierele</a:t>
            </a:r>
            <a:r>
              <a:rPr lang="en-US" dirty="0"/>
              <a:t> </a:t>
            </a:r>
            <a:r>
              <a:rPr lang="en-US" dirty="0" smtClean="0"/>
              <a:t>de </a:t>
            </a:r>
            <a:r>
              <a:rPr lang="en-US" dirty="0" err="1" smtClean="0"/>
              <a:t>configurare</a:t>
            </a:r>
            <a:r>
              <a:rPr lang="en-US" dirty="0" smtClean="0"/>
              <a:t> </a:t>
            </a:r>
            <a:r>
              <a:rPr lang="en-US" dirty="0"/>
              <a:t>care </a:t>
            </a:r>
            <a:r>
              <a:rPr lang="en-US" dirty="0" err="1"/>
              <a:t>trebuie</a:t>
            </a:r>
            <a:r>
              <a:rPr lang="en-US" dirty="0"/>
              <a:t> </a:t>
            </a:r>
            <a:r>
              <a:rPr lang="en-US" dirty="0" err="1"/>
              <a:t>sa</a:t>
            </a:r>
            <a:r>
              <a:rPr lang="en-US" dirty="0"/>
              <a:t> </a:t>
            </a:r>
            <a:r>
              <a:rPr lang="en-US" dirty="0" err="1"/>
              <a:t>insoteasca</a:t>
            </a:r>
            <a:r>
              <a:rPr lang="en-US" dirty="0"/>
              <a:t> </a:t>
            </a:r>
            <a:r>
              <a:rPr lang="en-US" dirty="0" err="1"/>
              <a:t>componentele</a:t>
            </a:r>
            <a:r>
              <a:rPr lang="en-US" dirty="0"/>
              <a:t> </a:t>
            </a:r>
            <a:r>
              <a:rPr lang="en-US" dirty="0" err="1"/>
              <a:t>EJB</a:t>
            </a:r>
            <a:r>
              <a:rPr lang="en-US" dirty="0" smtClean="0"/>
              <a:t>., </a:t>
            </a:r>
            <a:r>
              <a:rPr lang="en-US" dirty="0" err="1" smtClean="0"/>
              <a:t>precum</a:t>
            </a:r>
            <a:r>
              <a:rPr lang="en-US" dirty="0" smtClean="0"/>
              <a:t> </a:t>
            </a:r>
            <a:r>
              <a:rPr lang="en-US" dirty="0" err="1" smtClean="0"/>
              <a:t>si</a:t>
            </a:r>
            <a:r>
              <a:rPr lang="en-US" dirty="0" smtClean="0"/>
              <a:t> </a:t>
            </a:r>
            <a:r>
              <a:rPr lang="en-US" dirty="0" err="1" smtClean="0"/>
              <a:t>alte</a:t>
            </a:r>
            <a:r>
              <a:rPr lang="en-US" dirty="0" smtClean="0"/>
              <a:t> </a:t>
            </a:r>
            <a:r>
              <a:rPr lang="en-US" dirty="0" err="1" smtClean="0"/>
              <a:t>fisiere</a:t>
            </a:r>
            <a:r>
              <a:rPr lang="en-US" dirty="0" smtClean="0"/>
              <a:t>.</a:t>
            </a:r>
            <a:endParaRPr lang="en-US" dirty="0"/>
          </a:p>
          <a:p>
            <a:endParaRPr lang="en-US" dirty="0"/>
          </a:p>
          <a:p>
            <a:r>
              <a:rPr lang="en-US" dirty="0"/>
              <a:t>Evident, </a:t>
            </a:r>
            <a:r>
              <a:rPr lang="en-US" dirty="0" err="1"/>
              <a:t>pentru</a:t>
            </a:r>
            <a:r>
              <a:rPr lang="en-US" dirty="0"/>
              <a:t> </a:t>
            </a:r>
            <a:r>
              <a:rPr lang="en-US" dirty="0" err="1"/>
              <a:t>compilare</a:t>
            </a:r>
            <a:r>
              <a:rPr lang="en-US" dirty="0"/>
              <a:t> </a:t>
            </a:r>
            <a:r>
              <a:rPr lang="en-US" dirty="0" err="1"/>
              <a:t>trebuie</a:t>
            </a:r>
            <a:r>
              <a:rPr lang="en-US" dirty="0"/>
              <a:t> </a:t>
            </a:r>
            <a:r>
              <a:rPr lang="en-US" dirty="0" err="1"/>
              <a:t>sa</a:t>
            </a:r>
            <a:r>
              <a:rPr lang="en-US" dirty="0"/>
              <a:t> </a:t>
            </a:r>
            <a:r>
              <a:rPr lang="en-US" dirty="0" err="1" smtClean="0"/>
              <a:t>apara</a:t>
            </a:r>
            <a:r>
              <a:rPr lang="en-US" dirty="0" smtClean="0"/>
              <a:t> in </a:t>
            </a:r>
            <a:r>
              <a:rPr lang="en-US" dirty="0" err="1"/>
              <a:t>CLASSPATH</a:t>
            </a:r>
            <a:r>
              <a:rPr lang="en-US" dirty="0"/>
              <a:t> o </a:t>
            </a:r>
            <a:r>
              <a:rPr lang="en-US" dirty="0" err="1"/>
              <a:t>serie</a:t>
            </a:r>
            <a:r>
              <a:rPr lang="en-US" dirty="0"/>
              <a:t> de </a:t>
            </a:r>
            <a:r>
              <a:rPr lang="en-US" dirty="0" err="1"/>
              <a:t>arhive</a:t>
            </a:r>
            <a:r>
              <a:rPr lang="en-US" dirty="0"/>
              <a:t> jar </a:t>
            </a:r>
            <a:r>
              <a:rPr lang="en-US" dirty="0" err="1"/>
              <a:t>specifice</a:t>
            </a:r>
            <a:r>
              <a:rPr lang="en-US" dirty="0"/>
              <a:t> ale </a:t>
            </a:r>
            <a:r>
              <a:rPr lang="en-US" dirty="0" err="1"/>
              <a:t>standardelor</a:t>
            </a:r>
            <a:r>
              <a:rPr lang="en-US" dirty="0"/>
              <a:t> </a:t>
            </a:r>
            <a:r>
              <a:rPr lang="en-US" dirty="0" err="1"/>
              <a:t>EJB</a:t>
            </a:r>
            <a:r>
              <a:rPr lang="en-US" dirty="0"/>
              <a:t>, </a:t>
            </a:r>
            <a:r>
              <a:rPr lang="en-US" dirty="0" err="1"/>
              <a:t>JPA</a:t>
            </a:r>
            <a:r>
              <a:rPr lang="en-US" dirty="0"/>
              <a:t> etc. </a:t>
            </a:r>
            <a:r>
              <a:rPr lang="en-US" dirty="0" err="1"/>
              <a:t>Precizam</a:t>
            </a:r>
            <a:r>
              <a:rPr lang="en-US" dirty="0"/>
              <a:t> </a:t>
            </a:r>
            <a:r>
              <a:rPr lang="en-US" dirty="0" err="1"/>
              <a:t>ca</a:t>
            </a:r>
            <a:r>
              <a:rPr lang="en-US" dirty="0"/>
              <a:t> </a:t>
            </a:r>
            <a:r>
              <a:rPr lang="en-US" dirty="0" err="1"/>
              <a:t>aceste</a:t>
            </a:r>
            <a:r>
              <a:rPr lang="en-US" dirty="0"/>
              <a:t> </a:t>
            </a:r>
            <a:r>
              <a:rPr lang="en-US" dirty="0" err="1"/>
              <a:t>arhive</a:t>
            </a:r>
            <a:r>
              <a:rPr lang="en-US" dirty="0"/>
              <a:t> jar nu </a:t>
            </a:r>
            <a:r>
              <a:rPr lang="en-US" dirty="0" err="1"/>
              <a:t>sunt</a:t>
            </a:r>
            <a:r>
              <a:rPr lang="en-US" dirty="0"/>
              <a:t> </a:t>
            </a:r>
            <a:r>
              <a:rPr lang="en-US" dirty="0" err="1"/>
              <a:t>specifice</a:t>
            </a:r>
            <a:r>
              <a:rPr lang="en-US" dirty="0"/>
              <a:t> </a:t>
            </a:r>
            <a:r>
              <a:rPr lang="en-US" dirty="0" err="1"/>
              <a:t>unui</a:t>
            </a:r>
            <a:r>
              <a:rPr lang="en-US" dirty="0"/>
              <a:t> </a:t>
            </a:r>
            <a:r>
              <a:rPr lang="en-US" dirty="0" err="1"/>
              <a:t>anumit</a:t>
            </a:r>
            <a:r>
              <a:rPr lang="en-US" dirty="0"/>
              <a:t> tip de AS, ci </a:t>
            </a:r>
            <a:r>
              <a:rPr lang="en-US" dirty="0" err="1"/>
              <a:t>ele</a:t>
            </a:r>
            <a:r>
              <a:rPr lang="en-US" dirty="0"/>
              <a:t> </a:t>
            </a:r>
            <a:r>
              <a:rPr lang="en-US" dirty="0" err="1"/>
              <a:t>sunt</a:t>
            </a:r>
            <a:r>
              <a:rPr lang="en-US" dirty="0"/>
              <a:t> </a:t>
            </a:r>
            <a:r>
              <a:rPr lang="en-US" dirty="0" err="1" smtClean="0"/>
              <a:t>universale</a:t>
            </a:r>
            <a:r>
              <a:rPr lang="en-US" dirty="0" smtClean="0"/>
              <a:t> </a:t>
            </a:r>
            <a:r>
              <a:rPr lang="en-US" dirty="0" err="1"/>
              <a:t>si</a:t>
            </a:r>
            <a:r>
              <a:rPr lang="en-US" dirty="0"/>
              <a:t> se </a:t>
            </a:r>
            <a:r>
              <a:rPr lang="en-US" dirty="0" err="1"/>
              <a:t>regasesc</a:t>
            </a:r>
            <a:r>
              <a:rPr lang="en-US" dirty="0"/>
              <a:t> in </a:t>
            </a:r>
            <a:r>
              <a:rPr lang="en-US" dirty="0" err="1"/>
              <a:t>orice</a:t>
            </a:r>
            <a:r>
              <a:rPr lang="en-US" dirty="0"/>
              <a:t> AS </a:t>
            </a:r>
            <a:r>
              <a:rPr lang="en-US" dirty="0" err="1"/>
              <a:t>concret</a:t>
            </a:r>
            <a:r>
              <a:rPr lang="en-US" dirty="0"/>
              <a:t>.</a:t>
            </a:r>
          </a:p>
          <a:p>
            <a:endParaRPr lang="en-US" dirty="0"/>
          </a:p>
          <a:p>
            <a:r>
              <a:rPr lang="en-US" dirty="0"/>
              <a:t>Cu </a:t>
            </a:r>
            <a:r>
              <a:rPr lang="en-US" dirty="0" err="1"/>
              <a:t>alte</a:t>
            </a:r>
            <a:r>
              <a:rPr lang="en-US" dirty="0"/>
              <a:t> </a:t>
            </a:r>
            <a:r>
              <a:rPr lang="en-US" dirty="0" err="1"/>
              <a:t>cuvinte</a:t>
            </a:r>
            <a:r>
              <a:rPr lang="en-US" dirty="0"/>
              <a:t>, </a:t>
            </a:r>
            <a:r>
              <a:rPr lang="en-US" i="1" u="sng" dirty="0" err="1"/>
              <a:t>componentele</a:t>
            </a:r>
            <a:r>
              <a:rPr lang="en-US" i="1" u="sng" dirty="0"/>
              <a:t> </a:t>
            </a:r>
            <a:r>
              <a:rPr lang="en-US" i="1" u="sng" dirty="0" err="1"/>
              <a:t>EJB</a:t>
            </a:r>
            <a:r>
              <a:rPr lang="en-US" i="1" u="sng" dirty="0"/>
              <a:t> nu </a:t>
            </a:r>
            <a:r>
              <a:rPr lang="en-US" i="1" u="sng" dirty="0" err="1"/>
              <a:t>trebuie</a:t>
            </a:r>
            <a:r>
              <a:rPr lang="en-US" i="1" u="sng" dirty="0"/>
              <a:t> </a:t>
            </a:r>
            <a:r>
              <a:rPr lang="en-US" i="1" u="sng" dirty="0" err="1"/>
              <a:t>sa</a:t>
            </a:r>
            <a:r>
              <a:rPr lang="en-US" i="1" u="sng" dirty="0"/>
              <a:t> fie </a:t>
            </a:r>
            <a:r>
              <a:rPr lang="en-US" i="1" u="sng" dirty="0" err="1"/>
              <a:t>specifice</a:t>
            </a:r>
            <a:r>
              <a:rPr lang="en-US" i="1" u="sng" dirty="0"/>
              <a:t> </a:t>
            </a:r>
            <a:r>
              <a:rPr lang="en-US" i="1" u="sng" dirty="0" err="1"/>
              <a:t>unui</a:t>
            </a:r>
            <a:r>
              <a:rPr lang="en-US" i="1" u="sng" dirty="0"/>
              <a:t> </a:t>
            </a:r>
            <a:r>
              <a:rPr lang="en-US" i="1" u="sng" dirty="0" err="1"/>
              <a:t>anumit</a:t>
            </a:r>
            <a:r>
              <a:rPr lang="en-US" i="1" u="sng" dirty="0"/>
              <a:t> AS!</a:t>
            </a:r>
            <a:r>
              <a:rPr lang="en-US" i="1" dirty="0"/>
              <a:t> </a:t>
            </a:r>
            <a:r>
              <a:rPr lang="en-US" dirty="0" err="1"/>
              <a:t>Fac</a:t>
            </a:r>
            <a:r>
              <a:rPr lang="en-US" dirty="0"/>
              <a:t> </a:t>
            </a:r>
            <a:r>
              <a:rPr lang="en-US" dirty="0" err="1"/>
              <a:t>exceptie</a:t>
            </a:r>
            <a:r>
              <a:rPr lang="en-US" dirty="0"/>
              <a:t> de la </a:t>
            </a:r>
            <a:r>
              <a:rPr lang="en-US" dirty="0" err="1"/>
              <a:t>aceasta</a:t>
            </a:r>
            <a:r>
              <a:rPr lang="en-US" dirty="0"/>
              <a:t> </a:t>
            </a:r>
            <a:r>
              <a:rPr lang="en-US" dirty="0" err="1"/>
              <a:t>regula</a:t>
            </a:r>
            <a:r>
              <a:rPr lang="en-US" dirty="0"/>
              <a:t> </a:t>
            </a:r>
            <a:r>
              <a:rPr lang="en-US" dirty="0" err="1"/>
              <a:t>aplicatiile</a:t>
            </a:r>
            <a:r>
              <a:rPr lang="en-US" dirty="0"/>
              <a:t> client, care </a:t>
            </a:r>
            <a:r>
              <a:rPr lang="en-US" dirty="0" err="1"/>
              <a:t>trebuie</a:t>
            </a:r>
            <a:r>
              <a:rPr lang="en-US" dirty="0"/>
              <a:t> </a:t>
            </a:r>
            <a:r>
              <a:rPr lang="en-US" dirty="0" err="1"/>
              <a:t>sa</a:t>
            </a:r>
            <a:r>
              <a:rPr lang="en-US" dirty="0"/>
              <a:t> </a:t>
            </a:r>
            <a:r>
              <a:rPr lang="en-US" dirty="0" err="1"/>
              <a:t>aiba</a:t>
            </a:r>
            <a:r>
              <a:rPr lang="en-US" dirty="0"/>
              <a:t> </a:t>
            </a:r>
            <a:r>
              <a:rPr lang="en-US" dirty="0" err="1"/>
              <a:t>elemente</a:t>
            </a:r>
            <a:r>
              <a:rPr lang="en-US" dirty="0"/>
              <a:t> </a:t>
            </a:r>
            <a:r>
              <a:rPr lang="en-US" dirty="0" err="1"/>
              <a:t>specifice</a:t>
            </a:r>
            <a:r>
              <a:rPr lang="en-US" dirty="0"/>
              <a:t> AS-</a:t>
            </a:r>
            <a:r>
              <a:rPr lang="en-US" dirty="0" err="1"/>
              <a:t>ului</a:t>
            </a:r>
            <a:r>
              <a:rPr lang="en-US" dirty="0"/>
              <a:t> </a:t>
            </a:r>
            <a:r>
              <a:rPr lang="en-US" dirty="0" err="1"/>
              <a:t>pe</a:t>
            </a:r>
            <a:r>
              <a:rPr lang="en-US" dirty="0"/>
              <a:t> care </a:t>
            </a:r>
            <a:r>
              <a:rPr lang="en-US" dirty="0" err="1"/>
              <a:t>il</a:t>
            </a:r>
            <a:r>
              <a:rPr lang="en-US" dirty="0"/>
              <a:t> </a:t>
            </a:r>
            <a:r>
              <a:rPr lang="en-US" dirty="0" err="1"/>
              <a:t>invoca</a:t>
            </a:r>
            <a:r>
              <a:rPr lang="en-US" dirty="0"/>
              <a:t>.</a:t>
            </a:r>
          </a:p>
          <a:p>
            <a:endParaRPr lang="en-US" dirty="0"/>
          </a:p>
          <a:p>
            <a:r>
              <a:rPr lang="en-US" dirty="0" smtClean="0"/>
              <a:t>Un </a:t>
            </a:r>
            <a:r>
              <a:rPr lang="en-US" b="1" dirty="0" err="1" smtClean="0"/>
              <a:t>modulEJB</a:t>
            </a:r>
            <a:r>
              <a:rPr lang="en-US" dirty="0" smtClean="0"/>
              <a:t> </a:t>
            </a:r>
            <a:r>
              <a:rPr lang="en-US" dirty="0"/>
              <a:t>se </a:t>
            </a:r>
            <a:r>
              <a:rPr lang="en-US" dirty="0" err="1"/>
              <a:t>poate</a:t>
            </a:r>
            <a:r>
              <a:rPr lang="en-US" dirty="0"/>
              <a:t> </a:t>
            </a:r>
            <a:r>
              <a:rPr lang="en-US" dirty="0" err="1" smtClean="0"/>
              <a:t>deploya</a:t>
            </a:r>
            <a:r>
              <a:rPr lang="en-US" dirty="0" smtClean="0"/>
              <a:t> </a:t>
            </a:r>
            <a:r>
              <a:rPr lang="en-US" dirty="0"/>
              <a:t>individual </a:t>
            </a:r>
            <a:r>
              <a:rPr lang="en-US" dirty="0" err="1"/>
              <a:t>intr</a:t>
            </a:r>
            <a:r>
              <a:rPr lang="en-US" dirty="0"/>
              <a:t>-un AS. </a:t>
            </a:r>
            <a:endParaRPr lang="en-US" dirty="0" smtClean="0"/>
          </a:p>
          <a:p>
            <a:endParaRPr lang="en-US" dirty="0"/>
          </a:p>
          <a:p>
            <a:r>
              <a:rPr lang="en-US" dirty="0" smtClean="0"/>
              <a:t>De </a:t>
            </a:r>
            <a:r>
              <a:rPr lang="en-US" dirty="0" err="1"/>
              <a:t>asemenea</a:t>
            </a:r>
            <a:r>
              <a:rPr lang="en-US" dirty="0"/>
              <a:t>, </a:t>
            </a:r>
            <a:r>
              <a:rPr lang="en-US" dirty="0" err="1"/>
              <a:t>mai</a:t>
            </a:r>
            <a:r>
              <a:rPr lang="en-US" dirty="0"/>
              <a:t> </a:t>
            </a:r>
            <a:r>
              <a:rPr lang="en-US" dirty="0" err="1"/>
              <a:t>multe</a:t>
            </a:r>
            <a:r>
              <a:rPr lang="en-US" dirty="0"/>
              <a:t> </a:t>
            </a:r>
            <a:r>
              <a:rPr lang="en-US" b="1" dirty="0" err="1" smtClean="0"/>
              <a:t>moduleEJB</a:t>
            </a:r>
            <a:r>
              <a:rPr lang="en-US" dirty="0" smtClean="0"/>
              <a:t>,  </a:t>
            </a:r>
            <a:r>
              <a:rPr lang="en-US" dirty="0" err="1" smtClean="0"/>
              <a:t>impreuna</a:t>
            </a:r>
            <a:r>
              <a:rPr lang="en-US" dirty="0" smtClean="0"/>
              <a:t> </a:t>
            </a:r>
            <a:r>
              <a:rPr lang="en-US" dirty="0"/>
              <a:t>cu </a:t>
            </a:r>
            <a:r>
              <a:rPr lang="en-US" dirty="0" err="1"/>
              <a:t>eventuale</a:t>
            </a:r>
            <a:r>
              <a:rPr lang="en-US" dirty="0"/>
              <a:t> </a:t>
            </a:r>
            <a:r>
              <a:rPr lang="en-US" dirty="0" err="1"/>
              <a:t>arhive</a:t>
            </a:r>
            <a:r>
              <a:rPr lang="en-US" dirty="0"/>
              <a:t> </a:t>
            </a:r>
            <a:r>
              <a:rPr lang="en-US" dirty="0" smtClean="0"/>
              <a:t>war - </a:t>
            </a:r>
            <a:r>
              <a:rPr lang="en-US" b="1" dirty="0" err="1" smtClean="0"/>
              <a:t>moduleWeb</a:t>
            </a:r>
            <a:r>
              <a:rPr lang="en-US" dirty="0" smtClean="0"/>
              <a:t>,- pot </a:t>
            </a:r>
            <a:r>
              <a:rPr lang="en-US" dirty="0"/>
              <a:t>fi la </a:t>
            </a:r>
            <a:r>
              <a:rPr lang="en-US" dirty="0" err="1"/>
              <a:t>randul</a:t>
            </a:r>
            <a:r>
              <a:rPr lang="en-US" dirty="0"/>
              <a:t> </a:t>
            </a:r>
            <a:r>
              <a:rPr lang="en-US" dirty="0" err="1"/>
              <a:t>lor</a:t>
            </a:r>
            <a:r>
              <a:rPr lang="en-US" dirty="0"/>
              <a:t> </a:t>
            </a:r>
            <a:r>
              <a:rPr lang="en-US" dirty="0" err="1"/>
              <a:t>impachetate</a:t>
            </a:r>
            <a:r>
              <a:rPr lang="en-US" dirty="0"/>
              <a:t> </a:t>
            </a:r>
            <a:r>
              <a:rPr lang="en-US" dirty="0" err="1"/>
              <a:t>intr</a:t>
            </a:r>
            <a:r>
              <a:rPr lang="en-US" dirty="0"/>
              <a:t>-o </a:t>
            </a:r>
            <a:r>
              <a:rPr lang="en-US" dirty="0" err="1"/>
              <a:t>arhiva</a:t>
            </a:r>
            <a:r>
              <a:rPr lang="en-US" dirty="0"/>
              <a:t> </a:t>
            </a:r>
            <a:r>
              <a:rPr lang="en-US" b="1" dirty="0"/>
              <a:t>ear</a:t>
            </a:r>
            <a:r>
              <a:rPr lang="en-US" dirty="0"/>
              <a:t>, care o </a:t>
            </a:r>
            <a:r>
              <a:rPr lang="en-US" dirty="0" err="1"/>
              <a:t>vom</a:t>
            </a:r>
            <a:r>
              <a:rPr lang="en-US" dirty="0"/>
              <a:t> </a:t>
            </a:r>
            <a:r>
              <a:rPr lang="en-US" dirty="0" err="1"/>
              <a:t>numi</a:t>
            </a:r>
            <a:r>
              <a:rPr lang="en-US" dirty="0"/>
              <a:t> </a:t>
            </a:r>
            <a:r>
              <a:rPr lang="en-US" b="1" dirty="0" err="1"/>
              <a:t>aplicatie</a:t>
            </a:r>
            <a:r>
              <a:rPr lang="en-US" b="1" dirty="0"/>
              <a:t> ear.</a:t>
            </a:r>
            <a:r>
              <a:rPr lang="en-US" dirty="0"/>
              <a:t> O </a:t>
            </a:r>
            <a:r>
              <a:rPr lang="en-US" dirty="0" err="1"/>
              <a:t>arhiva</a:t>
            </a:r>
            <a:r>
              <a:rPr lang="en-US" dirty="0"/>
              <a:t> </a:t>
            </a:r>
            <a:r>
              <a:rPr lang="en-US" dirty="0" err="1"/>
              <a:t>aplicatie</a:t>
            </a:r>
            <a:r>
              <a:rPr lang="en-US" b="1" dirty="0"/>
              <a:t> ear </a:t>
            </a:r>
            <a:r>
              <a:rPr lang="en-US" dirty="0" err="1"/>
              <a:t>permite</a:t>
            </a:r>
            <a:r>
              <a:rPr lang="en-US" dirty="0"/>
              <a:t> </a:t>
            </a:r>
            <a:r>
              <a:rPr lang="en-US" dirty="0" err="1"/>
              <a:t>sa</a:t>
            </a:r>
            <a:r>
              <a:rPr lang="en-US" dirty="0"/>
              <a:t> se </a:t>
            </a:r>
            <a:r>
              <a:rPr lang="en-US" dirty="0" err="1"/>
              <a:t>faca</a:t>
            </a:r>
            <a:r>
              <a:rPr lang="en-US" dirty="0"/>
              <a:t> un </a:t>
            </a:r>
            <a:r>
              <a:rPr lang="en-US" dirty="0" err="1"/>
              <a:t>singur</a:t>
            </a:r>
            <a:r>
              <a:rPr lang="en-US" dirty="0"/>
              <a:t> deploy </a:t>
            </a:r>
            <a:r>
              <a:rPr lang="en-US" dirty="0" err="1"/>
              <a:t>pentru</a:t>
            </a:r>
            <a:r>
              <a:rPr lang="en-US" dirty="0"/>
              <a:t> </a:t>
            </a:r>
            <a:r>
              <a:rPr lang="en-US" dirty="0" err="1"/>
              <a:t>toate</a:t>
            </a:r>
            <a:r>
              <a:rPr lang="en-US" dirty="0"/>
              <a:t> </a:t>
            </a:r>
            <a:r>
              <a:rPr lang="en-US" dirty="0" err="1"/>
              <a:t>componentele</a:t>
            </a:r>
            <a:r>
              <a:rPr lang="en-US" dirty="0"/>
              <a:t> </a:t>
            </a:r>
            <a:r>
              <a:rPr lang="en-US" dirty="0" err="1"/>
              <a:t>inglobate</a:t>
            </a:r>
            <a:r>
              <a:rPr lang="en-US" dirty="0"/>
              <a:t> </a:t>
            </a:r>
            <a:r>
              <a:rPr lang="en-US" dirty="0" smtClean="0"/>
              <a:t>in ea.</a:t>
            </a:r>
            <a:endParaRPr lang="en-US" dirty="0"/>
          </a:p>
        </p:txBody>
      </p:sp>
    </p:spTree>
    <p:extLst>
      <p:ext uri="{BB962C8B-B14F-4D97-AF65-F5344CB8AC3E}">
        <p14:creationId xmlns:p14="http://schemas.microsoft.com/office/powerpoint/2010/main" val="2446861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9</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smtClean="0">
                <a:solidFill>
                  <a:srgbClr val="FF0000"/>
                </a:solidFill>
                <a:latin typeface="Calibri" pitchFamily="34" charset="0"/>
              </a:rPr>
              <a:t>Serverul</a:t>
            </a:r>
            <a:r>
              <a:rPr lang="en-US" altLang="en-US" dirty="0" smtClean="0">
                <a:solidFill>
                  <a:srgbClr val="FF0000"/>
                </a:solidFill>
                <a:latin typeface="Calibri" pitchFamily="34" charset="0"/>
              </a:rPr>
              <a:t> de </a:t>
            </a:r>
            <a:r>
              <a:rPr lang="en-US" altLang="en-US" dirty="0" err="1" smtClean="0">
                <a:solidFill>
                  <a:srgbClr val="FF0000"/>
                </a:solidFill>
                <a:latin typeface="Calibri" pitchFamily="34" charset="0"/>
              </a:rPr>
              <a:t>aplicatii</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Wildfly</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instalare</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punere</a:t>
            </a:r>
            <a:r>
              <a:rPr lang="en-US" altLang="en-US" dirty="0" smtClean="0">
                <a:solidFill>
                  <a:srgbClr val="FF0000"/>
                </a:solidFill>
                <a:latin typeface="Calibri" pitchFamily="34" charset="0"/>
              </a:rPr>
              <a:t> in </a:t>
            </a:r>
            <a:r>
              <a:rPr lang="en-US" altLang="en-US" dirty="0" err="1" smtClean="0">
                <a:solidFill>
                  <a:srgbClr val="FF0000"/>
                </a:solidFill>
                <a:latin typeface="Calibri" pitchFamily="34" charset="0"/>
              </a:rPr>
              <a:t>lucru</a:t>
            </a:r>
            <a:endParaRPr lang="en-US" altLang="en-US" dirty="0">
              <a:solidFill>
                <a:srgbClr val="FF0000"/>
              </a:solidFill>
              <a:latin typeface="Calibri" pitchFamily="34" charset="0"/>
            </a:endParaRPr>
          </a:p>
        </p:txBody>
      </p:sp>
      <p:sp>
        <p:nvSpPr>
          <p:cNvPr id="7" name="TextBox 6"/>
          <p:cNvSpPr txBox="1">
            <a:spLocks noChangeArrowheads="1"/>
          </p:cNvSpPr>
          <p:nvPr/>
        </p:nvSpPr>
        <p:spPr bwMode="auto">
          <a:xfrm>
            <a:off x="0" y="381000"/>
            <a:ext cx="9144000" cy="5909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Gill Sans MT" pitchFamily="34" charset="0"/>
              </a:defRPr>
            </a:lvl1pPr>
            <a:lvl2pPr marL="800100" indent="-342900">
              <a:defRPr>
                <a:solidFill>
                  <a:schemeClr val="tx1"/>
                </a:solidFill>
                <a:latin typeface="Gill Sans MT" pitchFamily="34" charset="0"/>
              </a:defRPr>
            </a:lvl2pPr>
            <a:lvl3pPr>
              <a:defRPr>
                <a:solidFill>
                  <a:schemeClr val="tx1"/>
                </a:solidFill>
                <a:latin typeface="Gill Sans MT" pitchFamily="34" charset="0"/>
              </a:defRPr>
            </a:lvl3pPr>
            <a:lvl4pPr marL="1600200" indent="-228600">
              <a:defRPr>
                <a:solidFill>
                  <a:schemeClr val="tx1"/>
                </a:solidFill>
                <a:latin typeface="Gill Sans MT" pitchFamily="34" charset="0"/>
              </a:defRPr>
            </a:lvl4pPr>
            <a:lvl5pPr marL="2057400" indent="-228600">
              <a:defRPr>
                <a:solidFill>
                  <a:schemeClr val="tx1"/>
                </a:solidFill>
                <a:latin typeface="Gill Sans MT" pitchFamily="34" charset="0"/>
              </a:defRPr>
            </a:lvl5pPr>
            <a:lvl6pPr marL="2514600" indent="-228600" fontAlgn="base">
              <a:spcBef>
                <a:spcPct val="0"/>
              </a:spcBef>
              <a:spcAft>
                <a:spcPct val="0"/>
              </a:spcAft>
              <a:defRPr>
                <a:solidFill>
                  <a:schemeClr val="tx1"/>
                </a:solidFill>
                <a:latin typeface="Gill Sans MT" pitchFamily="34" charset="0"/>
              </a:defRPr>
            </a:lvl6pPr>
            <a:lvl7pPr marL="2971800" indent="-228600" fontAlgn="base">
              <a:spcBef>
                <a:spcPct val="0"/>
              </a:spcBef>
              <a:spcAft>
                <a:spcPct val="0"/>
              </a:spcAft>
              <a:defRPr>
                <a:solidFill>
                  <a:schemeClr val="tx1"/>
                </a:solidFill>
                <a:latin typeface="Gill Sans MT" pitchFamily="34" charset="0"/>
              </a:defRPr>
            </a:lvl7pPr>
            <a:lvl8pPr marL="3429000" indent="-228600" fontAlgn="base">
              <a:spcBef>
                <a:spcPct val="0"/>
              </a:spcBef>
              <a:spcAft>
                <a:spcPct val="0"/>
              </a:spcAft>
              <a:defRPr>
                <a:solidFill>
                  <a:schemeClr val="tx1"/>
                </a:solidFill>
                <a:latin typeface="Gill Sans MT" pitchFamily="34" charset="0"/>
              </a:defRPr>
            </a:lvl8pPr>
            <a:lvl9pPr marL="3886200" indent="-228600" fontAlgn="base">
              <a:spcBef>
                <a:spcPct val="0"/>
              </a:spcBef>
              <a:spcAft>
                <a:spcPct val="0"/>
              </a:spcAft>
              <a:defRPr>
                <a:solidFill>
                  <a:schemeClr val="tx1"/>
                </a:solidFill>
                <a:latin typeface="Gill Sans MT" pitchFamily="34" charset="0"/>
              </a:defRPr>
            </a:lvl9pPr>
          </a:lstStyle>
          <a:p>
            <a:r>
              <a:rPr lang="en-US" dirty="0" err="1"/>
              <a:t>Distributia</a:t>
            </a:r>
            <a:r>
              <a:rPr lang="en-US" dirty="0"/>
              <a:t>: </a:t>
            </a:r>
            <a:r>
              <a:rPr lang="en-US" b="1" dirty="0" err="1" smtClean="0"/>
              <a:t>wildfly-25.0.1.Final.zip</a:t>
            </a:r>
            <a:r>
              <a:rPr lang="en-US" dirty="0" smtClean="0"/>
              <a:t> </a:t>
            </a:r>
          </a:p>
          <a:p>
            <a:r>
              <a:rPr lang="en-US" dirty="0" err="1" smtClean="0"/>
              <a:t>Instalarea</a:t>
            </a:r>
            <a:r>
              <a:rPr lang="en-US" dirty="0" smtClean="0"/>
              <a:t>: se </a:t>
            </a:r>
            <a:r>
              <a:rPr lang="en-US" dirty="0" err="1" smtClean="0"/>
              <a:t>dezarhiveaza</a:t>
            </a:r>
            <a:r>
              <a:rPr lang="en-US" dirty="0" smtClean="0"/>
              <a:t> </a:t>
            </a:r>
            <a:r>
              <a:rPr lang="en-US" dirty="0" err="1" smtClean="0"/>
              <a:t>si</a:t>
            </a:r>
            <a:r>
              <a:rPr lang="en-US" dirty="0" smtClean="0"/>
              <a:t> </a:t>
            </a:r>
            <a:r>
              <a:rPr lang="en-US" dirty="0" err="1" smtClean="0"/>
              <a:t>devine</a:t>
            </a:r>
            <a:r>
              <a:rPr lang="en-US" dirty="0" smtClean="0"/>
              <a:t> operational</a:t>
            </a:r>
            <a:r>
              <a:rPr lang="en-US" dirty="0"/>
              <a:t>. Se </a:t>
            </a:r>
            <a:r>
              <a:rPr lang="en-US" dirty="0" err="1"/>
              <a:t>seteaza</a:t>
            </a:r>
            <a:r>
              <a:rPr lang="en-US" dirty="0"/>
              <a:t> </a:t>
            </a:r>
            <a:r>
              <a:rPr lang="en-US" b="1" dirty="0" err="1" smtClean="0">
                <a:latin typeface="Courier New" panose="02070309020205020404" pitchFamily="49" charset="0"/>
                <a:cs typeface="Courier New" panose="02070309020205020404" pitchFamily="49" charset="0"/>
              </a:rPr>
              <a:t>JBOSS_HOME</a:t>
            </a:r>
            <a:r>
              <a:rPr lang="en-US" dirty="0" smtClean="0"/>
              <a:t> la </a:t>
            </a:r>
            <a:r>
              <a:rPr lang="en-US" dirty="0" err="1" smtClean="0">
                <a:cs typeface="Courier New" pitchFamily="49" charset="0"/>
              </a:rPr>
              <a:t>directorul</a:t>
            </a:r>
            <a:r>
              <a:rPr lang="en-US" dirty="0" smtClean="0">
                <a:cs typeface="Courier New" pitchFamily="49" charset="0"/>
              </a:rPr>
              <a:t> </a:t>
            </a:r>
            <a:r>
              <a:rPr lang="en-US" dirty="0">
                <a:cs typeface="Courier New" pitchFamily="49" charset="0"/>
              </a:rPr>
              <a:t>de </a:t>
            </a:r>
            <a:r>
              <a:rPr lang="en-US" dirty="0" err="1">
                <a:cs typeface="Courier New" pitchFamily="49" charset="0"/>
              </a:rPr>
              <a:t>instalare</a:t>
            </a:r>
            <a:r>
              <a:rPr lang="en-US" dirty="0">
                <a:cs typeface="Courier New" pitchFamily="49" charset="0"/>
              </a:rPr>
              <a:t> a </a:t>
            </a:r>
            <a:r>
              <a:rPr lang="en-US" dirty="0" err="1" smtClean="0">
                <a:cs typeface="Courier New" pitchFamily="49" charset="0"/>
              </a:rPr>
              <a:t>distributiei</a:t>
            </a:r>
            <a:r>
              <a:rPr lang="en-US" dirty="0" smtClean="0">
                <a:cs typeface="Courier New" pitchFamily="49" charset="0"/>
              </a:rPr>
              <a:t> </a:t>
            </a:r>
            <a:r>
              <a:rPr lang="en-US" dirty="0" err="1" smtClean="0">
                <a:cs typeface="Courier New" pitchFamily="49" charset="0"/>
              </a:rPr>
              <a:t>si</a:t>
            </a:r>
            <a:r>
              <a:rPr lang="en-US" dirty="0" smtClean="0">
                <a:cs typeface="Courier New" pitchFamily="49" charset="0"/>
              </a:rPr>
              <a:t> se </a:t>
            </a:r>
            <a:r>
              <a:rPr lang="en-US" dirty="0" err="1" smtClean="0">
                <a:cs typeface="Courier New" pitchFamily="49" charset="0"/>
              </a:rPr>
              <a:t>pune</a:t>
            </a:r>
            <a:r>
              <a:rPr lang="en-US" dirty="0" smtClean="0">
                <a:cs typeface="Courier New" pitchFamily="49" charset="0"/>
              </a:rPr>
              <a:t> </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JBOSS_HOME</a:t>
            </a:r>
            <a:r>
              <a:rPr lang="en-US" dirty="0" smtClean="0">
                <a:latin typeface="Courier New" panose="02070309020205020404" pitchFamily="49" charset="0"/>
                <a:cs typeface="Courier New" panose="02070309020205020404" pitchFamily="49" charset="0"/>
              </a:rPr>
              <a:t>/bin</a:t>
            </a:r>
            <a:r>
              <a:rPr lang="en-US" dirty="0" smtClean="0">
                <a:cs typeface="Courier New" pitchFamily="49" charset="0"/>
              </a:rPr>
              <a:t> (eventual </a:t>
            </a:r>
            <a:r>
              <a:rPr lang="en-US" dirty="0" err="1" smtClean="0">
                <a:cs typeface="Courier New" pitchFamily="49" charset="0"/>
              </a:rPr>
              <a:t>si</a:t>
            </a:r>
            <a:r>
              <a:rPr lang="en-US" dirty="0" smtClean="0">
                <a:cs typeface="Courier New" pitchFamily="49" charset="0"/>
              </a:rPr>
              <a:t> /</a:t>
            </a:r>
            <a:r>
              <a:rPr lang="en-US" dirty="0" err="1" smtClean="0">
                <a:cs typeface="Courier New" pitchFamily="49" charset="0"/>
              </a:rPr>
              <a:t>win32</a:t>
            </a:r>
            <a:r>
              <a:rPr lang="en-US" dirty="0" smtClean="0">
                <a:cs typeface="Courier New" pitchFamily="49" charset="0"/>
              </a:rPr>
              <a:t>)  in </a:t>
            </a:r>
            <a:r>
              <a:rPr lang="en-US" dirty="0" smtClean="0">
                <a:latin typeface="Courier New" panose="02070309020205020404" pitchFamily="49" charset="0"/>
                <a:cs typeface="Courier New" panose="02070309020205020404" pitchFamily="49" charset="0"/>
              </a:rPr>
              <a:t>PATH</a:t>
            </a:r>
            <a:r>
              <a:rPr lang="en-US" dirty="0" smtClean="0">
                <a:cs typeface="Courier New" pitchFamily="49" charset="0"/>
              </a:rPr>
              <a:t>.</a:t>
            </a:r>
            <a:endParaRPr lang="en-US" dirty="0"/>
          </a:p>
          <a:p>
            <a:r>
              <a:rPr lang="en-US" dirty="0" err="1"/>
              <a:t>JBoss</a:t>
            </a:r>
            <a:r>
              <a:rPr lang="en-US" dirty="0"/>
              <a:t> </a:t>
            </a:r>
            <a:r>
              <a:rPr lang="en-US" dirty="0" err="1"/>
              <a:t>este</a:t>
            </a:r>
            <a:r>
              <a:rPr lang="en-US" dirty="0"/>
              <a:t> operational in </a:t>
            </a:r>
            <a:r>
              <a:rPr lang="en-US" dirty="0" err="1"/>
              <a:t>unul</a:t>
            </a:r>
            <a:r>
              <a:rPr lang="en-US" dirty="0"/>
              <a:t> din </a:t>
            </a:r>
            <a:r>
              <a:rPr lang="en-US" dirty="0" err="1" smtClean="0"/>
              <a:t>urmatoarele</a:t>
            </a:r>
            <a:r>
              <a:rPr lang="en-US" dirty="0" smtClean="0"/>
              <a:t> </a:t>
            </a:r>
            <a:r>
              <a:rPr lang="en-US" dirty="0" err="1"/>
              <a:t>doua</a:t>
            </a:r>
            <a:r>
              <a:rPr lang="en-US" dirty="0"/>
              <a:t> </a:t>
            </a:r>
            <a:r>
              <a:rPr lang="en-US" dirty="0" err="1"/>
              <a:t>moduri</a:t>
            </a:r>
            <a:r>
              <a:rPr lang="en-US" dirty="0"/>
              <a:t>:</a:t>
            </a:r>
          </a:p>
          <a:p>
            <a:pPr lvl="1">
              <a:buFont typeface="Gill Sans MT" pitchFamily="34" charset="0"/>
              <a:buAutoNum type="arabicPeriod"/>
            </a:pPr>
            <a:r>
              <a:rPr lang="en-US" dirty="0"/>
              <a:t>	Mod </a:t>
            </a:r>
            <a:r>
              <a:rPr lang="en-US" b="1" dirty="0"/>
              <a:t>managed domain</a:t>
            </a:r>
            <a:r>
              <a:rPr lang="en-US" dirty="0"/>
              <a:t>, </a:t>
            </a:r>
            <a:r>
              <a:rPr lang="en-US" dirty="0" err="1"/>
              <a:t>permite</a:t>
            </a:r>
            <a:r>
              <a:rPr lang="en-US" dirty="0"/>
              <a:t> </a:t>
            </a:r>
            <a:r>
              <a:rPr lang="en-US" dirty="0" err="1"/>
              <a:t>gestiunea</a:t>
            </a:r>
            <a:r>
              <a:rPr lang="en-US" dirty="0"/>
              <a:t> </a:t>
            </a:r>
            <a:r>
              <a:rPr lang="en-US" dirty="0" err="1"/>
              <a:t>multiserver</a:t>
            </a:r>
            <a:r>
              <a:rPr lang="en-US" dirty="0"/>
              <a:t> – un domain </a:t>
            </a:r>
            <a:r>
              <a:rPr lang="en-US" dirty="0" err="1"/>
              <a:t>pentru</a:t>
            </a:r>
            <a:r>
              <a:rPr lang="en-US" dirty="0"/>
              <a:t> un server, cu </a:t>
            </a:r>
            <a:r>
              <a:rPr lang="en-US" dirty="0" err="1"/>
              <a:t>protectie</a:t>
            </a:r>
            <a:r>
              <a:rPr lang="en-US" dirty="0"/>
              <a:t> </a:t>
            </a:r>
            <a:r>
              <a:rPr lang="en-US" dirty="0" err="1"/>
              <a:t>intre</a:t>
            </a:r>
            <a:r>
              <a:rPr lang="en-US" dirty="0"/>
              <a:t> </a:t>
            </a:r>
            <a:r>
              <a:rPr lang="en-US" dirty="0" err="1"/>
              <a:t>ele</a:t>
            </a:r>
            <a:r>
              <a:rPr lang="en-US" dirty="0"/>
              <a:t>.</a:t>
            </a:r>
          </a:p>
          <a:p>
            <a:pPr lvl="1">
              <a:buFont typeface="Gill Sans MT" pitchFamily="34" charset="0"/>
              <a:buAutoNum type="arabicPeriod"/>
            </a:pPr>
            <a:r>
              <a:rPr lang="en-US" dirty="0" smtClean="0"/>
              <a:t>Mod </a:t>
            </a:r>
            <a:r>
              <a:rPr lang="en-US" b="1" dirty="0"/>
              <a:t>standalone</a:t>
            </a:r>
            <a:r>
              <a:rPr lang="en-US" dirty="0"/>
              <a:t>,  un </a:t>
            </a:r>
            <a:r>
              <a:rPr lang="en-US" dirty="0" err="1"/>
              <a:t>singur</a:t>
            </a:r>
            <a:r>
              <a:rPr lang="en-US" dirty="0"/>
              <a:t> </a:t>
            </a:r>
            <a:r>
              <a:rPr lang="en-US" dirty="0" smtClean="0"/>
              <a:t>server </a:t>
            </a:r>
            <a:r>
              <a:rPr lang="en-US" dirty="0" err="1"/>
              <a:t>instalat</a:t>
            </a:r>
            <a:r>
              <a:rPr lang="en-US" dirty="0"/>
              <a:t> default. </a:t>
            </a:r>
            <a:r>
              <a:rPr lang="en-US" u="sng" dirty="0"/>
              <a:t>Il </a:t>
            </a:r>
            <a:r>
              <a:rPr lang="en-US" u="sng" dirty="0" err="1"/>
              <a:t>vom</a:t>
            </a:r>
            <a:r>
              <a:rPr lang="en-US" u="sng" dirty="0"/>
              <a:t> </a:t>
            </a:r>
            <a:r>
              <a:rPr lang="en-US" u="sng" dirty="0" err="1"/>
              <a:t>folosi</a:t>
            </a:r>
            <a:r>
              <a:rPr lang="en-US" u="sng" dirty="0"/>
              <a:t> </a:t>
            </a:r>
            <a:r>
              <a:rPr lang="en-US" u="sng" dirty="0" err="1"/>
              <a:t>doar</a:t>
            </a:r>
            <a:r>
              <a:rPr lang="en-US" u="sng" dirty="0"/>
              <a:t> </a:t>
            </a:r>
            <a:r>
              <a:rPr lang="en-US" u="sng" dirty="0" err="1"/>
              <a:t>pe</a:t>
            </a:r>
            <a:r>
              <a:rPr lang="en-US" u="sng" dirty="0"/>
              <a:t> </a:t>
            </a:r>
            <a:r>
              <a:rPr lang="en-US" u="sng" dirty="0" err="1"/>
              <a:t>acesta</a:t>
            </a:r>
            <a:r>
              <a:rPr lang="en-US" dirty="0"/>
              <a:t>.</a:t>
            </a:r>
          </a:p>
          <a:p>
            <a:endParaRPr lang="en-US" dirty="0" smtClean="0"/>
          </a:p>
          <a:p>
            <a:r>
              <a:rPr lang="en-US" dirty="0" err="1" smtClean="0"/>
              <a:t>Daca</a:t>
            </a:r>
            <a:r>
              <a:rPr lang="en-US" dirty="0" smtClean="0"/>
              <a:t> in </a:t>
            </a:r>
            <a:r>
              <a:rPr lang="en-US" dirty="0" smtClean="0">
                <a:latin typeface="Courier New" panose="02070309020205020404" pitchFamily="49" charset="0"/>
                <a:cs typeface="Courier New" panose="02070309020205020404" pitchFamily="49" charset="0"/>
              </a:rPr>
              <a:t>PATH</a:t>
            </a:r>
            <a:r>
              <a:rPr lang="en-US" dirty="0" smtClean="0"/>
              <a:t> </a:t>
            </a:r>
            <a:r>
              <a:rPr lang="en-US" dirty="0" err="1" smtClean="0"/>
              <a:t>este</a:t>
            </a:r>
            <a:r>
              <a:rPr lang="en-US" dirty="0" smtClean="0"/>
              <a:t> </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JBOSS_HOME</a:t>
            </a:r>
            <a:r>
              <a:rPr lang="en-US" dirty="0" smtClean="0">
                <a:latin typeface="Courier New" panose="02070309020205020404" pitchFamily="49" charset="0"/>
                <a:cs typeface="Courier New" panose="02070309020205020404" pitchFamily="49" charset="0"/>
              </a:rPr>
              <a:t>/bin</a:t>
            </a:r>
            <a:r>
              <a:rPr lang="en-US" dirty="0" smtClean="0"/>
              <a:t> </a:t>
            </a:r>
            <a:r>
              <a:rPr lang="en-US" dirty="0" err="1" smtClean="0"/>
              <a:t>lansarea</a:t>
            </a:r>
            <a:r>
              <a:rPr lang="en-US" dirty="0" smtClean="0"/>
              <a:t> se face cu </a:t>
            </a:r>
            <a:r>
              <a:rPr lang="en-US" dirty="0" err="1" smtClean="0"/>
              <a:t>comanda</a:t>
            </a:r>
            <a:r>
              <a:rPr lang="en-US" dirty="0" smtClean="0"/>
              <a:t> </a:t>
            </a:r>
            <a:r>
              <a:rPr lang="en-US" dirty="0" smtClean="0">
                <a:latin typeface="Courier New" panose="02070309020205020404" pitchFamily="49" charset="0"/>
                <a:cs typeface="Courier New" panose="02070309020205020404" pitchFamily="49" charset="0"/>
              </a:rPr>
              <a:t>standalone</a:t>
            </a:r>
            <a:r>
              <a:rPr lang="en-US" dirty="0" smtClean="0"/>
              <a:t> (.</a:t>
            </a:r>
            <a:r>
              <a:rPr lang="en-US" dirty="0" smtClean="0">
                <a:latin typeface="Courier New" pitchFamily="49" charset="0"/>
                <a:cs typeface="Courier New" pitchFamily="49" charset="0"/>
              </a:rPr>
              <a:t>bat</a:t>
            </a:r>
            <a:r>
              <a:rPr lang="en-US" dirty="0" smtClean="0"/>
              <a:t> </a:t>
            </a:r>
            <a:r>
              <a:rPr lang="en-US" dirty="0" err="1" smtClean="0"/>
              <a:t>pe</a:t>
            </a:r>
            <a:r>
              <a:rPr lang="en-US" dirty="0" smtClean="0"/>
              <a:t> Windows,  .</a:t>
            </a:r>
            <a:r>
              <a:rPr lang="en-US" dirty="0" err="1" smtClean="0">
                <a:latin typeface="Courier New" pitchFamily="49" charset="0"/>
                <a:cs typeface="Courier New" pitchFamily="49" charset="0"/>
              </a:rPr>
              <a:t>sh</a:t>
            </a:r>
            <a:r>
              <a:rPr lang="en-US" dirty="0" smtClean="0"/>
              <a:t> </a:t>
            </a:r>
            <a:r>
              <a:rPr lang="en-US" dirty="0" err="1" smtClean="0"/>
              <a:t>pe</a:t>
            </a:r>
            <a:r>
              <a:rPr lang="en-US" dirty="0" smtClean="0"/>
              <a:t> Unix), </a:t>
            </a:r>
            <a:r>
              <a:rPr lang="en-US" dirty="0" err="1" smtClean="0"/>
              <a:t>altfel</a:t>
            </a:r>
            <a:r>
              <a:rPr lang="en-US" dirty="0" smtClean="0"/>
              <a:t> </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JBOSS_HOME</a:t>
            </a:r>
            <a:r>
              <a:rPr lang="en-US" dirty="0" smtClean="0">
                <a:latin typeface="Courier New" pitchFamily="49" charset="0"/>
                <a:cs typeface="Courier New" pitchFamily="49" charset="0"/>
              </a:rPr>
              <a:t>/bin/standalone [ </a:t>
            </a:r>
            <a:r>
              <a:rPr lang="en-US" dirty="0" err="1" smtClean="0">
                <a:latin typeface="Courier New" pitchFamily="49" charset="0"/>
                <a:cs typeface="Courier New" pitchFamily="49" charset="0"/>
              </a:rPr>
              <a:t>args</a:t>
            </a:r>
            <a:r>
              <a:rPr lang="en-US" dirty="0" smtClean="0">
                <a:latin typeface="Courier New" pitchFamily="49" charset="0"/>
                <a:cs typeface="Courier New" pitchFamily="49" charset="0"/>
              </a:rPr>
              <a:t> ] : </a:t>
            </a:r>
          </a:p>
          <a:p>
            <a:r>
              <a:rPr lang="en-US" dirty="0" smtClean="0">
                <a:latin typeface="Courier New" pitchFamily="49" charset="0"/>
                <a:cs typeface="Courier New" pitchFamily="49" charset="0"/>
              </a:rPr>
              <a:t>  standalone</a:t>
            </a:r>
            <a:r>
              <a:rPr lang="en-US" dirty="0" smtClean="0">
                <a:cs typeface="Courier New" pitchFamily="49" charset="0"/>
              </a:rPr>
              <a:t>                                    </a:t>
            </a:r>
            <a:r>
              <a:rPr lang="en-US" dirty="0" err="1" smtClean="0">
                <a:cs typeface="Courier New" pitchFamily="49" charset="0"/>
              </a:rPr>
              <a:t>pentru</a:t>
            </a:r>
            <a:r>
              <a:rPr lang="en-US" dirty="0" smtClean="0">
                <a:cs typeface="Courier New" pitchFamily="49" charset="0"/>
              </a:rPr>
              <a:t> </a:t>
            </a:r>
            <a:r>
              <a:rPr lang="en-US" dirty="0" err="1">
                <a:cs typeface="Courier New" pitchFamily="49" charset="0"/>
              </a:rPr>
              <a:t>appeluri</a:t>
            </a:r>
            <a:r>
              <a:rPr lang="en-US" dirty="0">
                <a:cs typeface="Courier New" pitchFamily="49" charset="0"/>
              </a:rPr>
              <a:t> </a:t>
            </a:r>
            <a:r>
              <a:rPr lang="en-US" dirty="0" smtClean="0">
                <a:cs typeface="Courier New" pitchFamily="49" charset="0"/>
              </a:rPr>
              <a:t>ale </a:t>
            </a:r>
            <a:r>
              <a:rPr lang="en-US" dirty="0" err="1" smtClean="0">
                <a:cs typeface="Courier New" pitchFamily="49" charset="0"/>
              </a:rPr>
              <a:t>clientilor</a:t>
            </a:r>
            <a:r>
              <a:rPr lang="en-US" dirty="0" smtClean="0">
                <a:cs typeface="Courier New" pitchFamily="49" charset="0"/>
              </a:rPr>
              <a:t> de </a:t>
            </a:r>
            <a:r>
              <a:rPr lang="en-US" dirty="0">
                <a:cs typeface="Courier New" pitchFamily="49" charset="0"/>
              </a:rPr>
              <a:t>la </a:t>
            </a:r>
            <a:r>
              <a:rPr lang="en-US" dirty="0">
                <a:latin typeface="Courier New" pitchFamily="49" charset="0"/>
                <a:cs typeface="Courier New" pitchFamily="49" charset="0"/>
              </a:rPr>
              <a:t>localhost </a:t>
            </a:r>
          </a:p>
          <a:p>
            <a:r>
              <a:rPr lang="en-US" dirty="0" smtClean="0">
                <a:latin typeface="Courier New" pitchFamily="49" charset="0"/>
                <a:cs typeface="Courier New" pitchFamily="49" charset="0"/>
              </a:rPr>
              <a:t>  standalone </a:t>
            </a:r>
            <a:r>
              <a:rPr lang="en-US" dirty="0">
                <a:latin typeface="Courier New" pitchFamily="49" charset="0"/>
                <a:cs typeface="Courier New" pitchFamily="49" charset="0"/>
              </a:rPr>
              <a:t>–b </a:t>
            </a:r>
            <a:r>
              <a:rPr lang="en-US" dirty="0" err="1" smtClean="0">
                <a:latin typeface="Courier New" pitchFamily="49" charset="0"/>
                <a:cs typeface="Courier New" pitchFamily="49" charset="0"/>
              </a:rPr>
              <a:t>adresaIP</a:t>
            </a:r>
            <a:r>
              <a:rPr lang="en-US" dirty="0" smtClean="0">
                <a:cs typeface="Courier New" pitchFamily="49" charset="0"/>
              </a:rPr>
              <a:t>          </a:t>
            </a:r>
            <a:r>
              <a:rPr lang="en-US" dirty="0" err="1" smtClean="0">
                <a:cs typeface="Courier New" pitchFamily="49" charset="0"/>
              </a:rPr>
              <a:t>pentru</a:t>
            </a:r>
            <a:r>
              <a:rPr lang="en-US" dirty="0" smtClean="0">
                <a:cs typeface="Courier New" pitchFamily="49" charset="0"/>
              </a:rPr>
              <a:t> </a:t>
            </a:r>
            <a:r>
              <a:rPr lang="en-US" dirty="0" err="1">
                <a:cs typeface="Courier New" pitchFamily="49" charset="0"/>
              </a:rPr>
              <a:t>appeluri</a:t>
            </a:r>
            <a:r>
              <a:rPr lang="en-US" dirty="0">
                <a:cs typeface="Courier New" pitchFamily="49" charset="0"/>
              </a:rPr>
              <a:t> ale </a:t>
            </a:r>
            <a:r>
              <a:rPr lang="en-US" dirty="0" err="1">
                <a:cs typeface="Courier New" pitchFamily="49" charset="0"/>
              </a:rPr>
              <a:t>clientilor</a:t>
            </a:r>
            <a:r>
              <a:rPr lang="en-US" dirty="0">
                <a:cs typeface="Courier New" pitchFamily="49" charset="0"/>
              </a:rPr>
              <a:t> </a:t>
            </a:r>
            <a:r>
              <a:rPr lang="en-US" dirty="0" smtClean="0">
                <a:cs typeface="Courier New" pitchFamily="49" charset="0"/>
              </a:rPr>
              <a:t>de </a:t>
            </a:r>
            <a:r>
              <a:rPr lang="en-US" dirty="0">
                <a:cs typeface="Courier New" pitchFamily="49" charset="0"/>
              </a:rPr>
              <a:t>la </a:t>
            </a:r>
            <a:r>
              <a:rPr lang="en-US" dirty="0" err="1">
                <a:latin typeface="Courier New" pitchFamily="49" charset="0"/>
                <a:cs typeface="Courier New" pitchFamily="49" charset="0"/>
              </a:rPr>
              <a:t>adresaIP</a:t>
            </a:r>
            <a:r>
              <a:rPr lang="en-US" dirty="0">
                <a:latin typeface="Courier New" pitchFamily="49" charset="0"/>
                <a:cs typeface="Courier New" pitchFamily="49" charset="0"/>
              </a:rPr>
              <a:t> </a:t>
            </a:r>
          </a:p>
          <a:p>
            <a:r>
              <a:rPr lang="en-US" dirty="0" smtClean="0">
                <a:latin typeface="Courier New" pitchFamily="49" charset="0"/>
                <a:cs typeface="Courier New" pitchFamily="49" charset="0"/>
              </a:rPr>
              <a:t>  standalone </a:t>
            </a:r>
            <a:r>
              <a:rPr lang="en-US" dirty="0">
                <a:latin typeface="Courier New" pitchFamily="49" charset="0"/>
                <a:cs typeface="Courier New" pitchFamily="49" charset="0"/>
              </a:rPr>
              <a:t>–b </a:t>
            </a:r>
            <a:r>
              <a:rPr lang="en-US" dirty="0" smtClean="0">
                <a:latin typeface="Courier New" pitchFamily="49" charset="0"/>
                <a:cs typeface="Courier New" pitchFamily="49" charset="0"/>
              </a:rPr>
              <a:t>0.0.0.0</a:t>
            </a:r>
            <a:r>
              <a:rPr lang="en-US" dirty="0" smtClean="0">
                <a:cs typeface="Courier New" pitchFamily="49" charset="0"/>
              </a:rPr>
              <a:t>            </a:t>
            </a:r>
            <a:r>
              <a:rPr lang="en-US" dirty="0" err="1" smtClean="0">
                <a:cs typeface="Courier New" pitchFamily="49" charset="0"/>
              </a:rPr>
              <a:t>pentru</a:t>
            </a:r>
            <a:r>
              <a:rPr lang="en-US" dirty="0" smtClean="0">
                <a:cs typeface="Courier New" pitchFamily="49" charset="0"/>
              </a:rPr>
              <a:t> </a:t>
            </a:r>
            <a:r>
              <a:rPr lang="en-US" dirty="0" err="1">
                <a:cs typeface="Courier New" pitchFamily="49" charset="0"/>
              </a:rPr>
              <a:t>appeluri</a:t>
            </a:r>
            <a:r>
              <a:rPr lang="en-US" dirty="0">
                <a:cs typeface="Courier New" pitchFamily="49" charset="0"/>
              </a:rPr>
              <a:t> ale </a:t>
            </a:r>
            <a:r>
              <a:rPr lang="en-US" dirty="0" err="1">
                <a:cs typeface="Courier New" pitchFamily="49" charset="0"/>
              </a:rPr>
              <a:t>clientilor</a:t>
            </a:r>
            <a:r>
              <a:rPr lang="en-US" dirty="0">
                <a:cs typeface="Courier New" pitchFamily="49" charset="0"/>
              </a:rPr>
              <a:t> de la </a:t>
            </a:r>
            <a:r>
              <a:rPr lang="en-US" dirty="0" err="1">
                <a:cs typeface="Courier New" pitchFamily="49" charset="0"/>
              </a:rPr>
              <a:t>orice</a:t>
            </a:r>
            <a:r>
              <a:rPr lang="en-US" dirty="0">
                <a:cs typeface="Courier New" pitchFamily="49" charset="0"/>
              </a:rPr>
              <a:t> </a:t>
            </a:r>
            <a:r>
              <a:rPr lang="en-US" dirty="0" err="1" smtClean="0">
                <a:cs typeface="Courier New" pitchFamily="49" charset="0"/>
              </a:rPr>
              <a:t>adresa</a:t>
            </a:r>
            <a:endParaRPr lang="en-US" dirty="0" smtClean="0">
              <a:cs typeface="Courier New" pitchFamily="49" charset="0"/>
            </a:endParaRPr>
          </a:p>
          <a:p>
            <a:endParaRPr lang="en-US" dirty="0" smtClean="0">
              <a:cs typeface="Courier New" pitchFamily="49" charset="0"/>
            </a:endParaRPr>
          </a:p>
          <a:p>
            <a:r>
              <a:rPr lang="en-US" dirty="0" err="1" smtClean="0">
                <a:cs typeface="Courier New" pitchFamily="49" charset="0"/>
              </a:rPr>
              <a:t>Pentru</a:t>
            </a:r>
            <a:r>
              <a:rPr lang="en-US" dirty="0" smtClean="0">
                <a:cs typeface="Courier New" pitchFamily="49" charset="0"/>
              </a:rPr>
              <a:t> deploy / </a:t>
            </a:r>
            <a:r>
              <a:rPr lang="en-US" dirty="0" err="1" smtClean="0">
                <a:cs typeface="Courier New" pitchFamily="49" charset="0"/>
              </a:rPr>
              <a:t>undeploy</a:t>
            </a:r>
            <a:r>
              <a:rPr lang="en-US" dirty="0" smtClean="0">
                <a:cs typeface="Courier New" pitchFamily="49" charset="0"/>
              </a:rPr>
              <a:t> </a:t>
            </a:r>
            <a:r>
              <a:rPr lang="en-US" dirty="0" err="1" smtClean="0">
                <a:cs typeface="Courier New" pitchFamily="49" charset="0"/>
              </a:rPr>
              <a:t>sunt</a:t>
            </a:r>
            <a:r>
              <a:rPr lang="en-US" dirty="0" smtClean="0">
                <a:cs typeface="Courier New" pitchFamily="49" charset="0"/>
              </a:rPr>
              <a:t> </a:t>
            </a:r>
            <a:r>
              <a:rPr lang="en-US" dirty="0" err="1" smtClean="0">
                <a:cs typeface="Courier New" pitchFamily="49" charset="0"/>
              </a:rPr>
              <a:t>multe</a:t>
            </a:r>
            <a:r>
              <a:rPr lang="en-US" dirty="0" smtClean="0">
                <a:cs typeface="Courier New" pitchFamily="49" charset="0"/>
              </a:rPr>
              <a:t> </a:t>
            </a:r>
            <a:r>
              <a:rPr lang="en-US" dirty="0" err="1" smtClean="0">
                <a:cs typeface="Courier New" pitchFamily="49" charset="0"/>
              </a:rPr>
              <a:t>modalitati</a:t>
            </a:r>
            <a:r>
              <a:rPr lang="en-US" dirty="0" smtClean="0">
                <a:cs typeface="Courier New" pitchFamily="49" charset="0"/>
              </a:rPr>
              <a:t> (</a:t>
            </a:r>
            <a:r>
              <a:rPr lang="en-US" dirty="0" err="1" smtClean="0">
                <a:cs typeface="Courier New" pitchFamily="49" charset="0"/>
              </a:rPr>
              <a:t>inclusiv</a:t>
            </a:r>
            <a:r>
              <a:rPr lang="en-US" dirty="0" smtClean="0">
                <a:cs typeface="Courier New" pitchFamily="49" charset="0"/>
              </a:rPr>
              <a:t> cu </a:t>
            </a:r>
            <a:r>
              <a:rPr lang="en-US" b="1" dirty="0" smtClean="0">
                <a:cs typeface="Courier New" pitchFamily="49" charset="0"/>
              </a:rPr>
              <a:t>…:9990/console</a:t>
            </a:r>
            <a:r>
              <a:rPr lang="en-US" dirty="0" smtClean="0">
                <a:cs typeface="Courier New" pitchFamily="49" charset="0"/>
              </a:rPr>
              <a:t>)</a:t>
            </a:r>
          </a:p>
          <a:p>
            <a:endParaRPr lang="en-US" b="1" dirty="0">
              <a:cs typeface="Courier New" pitchFamily="49" charset="0"/>
            </a:endParaRPr>
          </a:p>
          <a:p>
            <a:r>
              <a:rPr lang="en-US" b="1" dirty="0" smtClean="0">
                <a:cs typeface="Courier New" pitchFamily="49" charset="0"/>
              </a:rPr>
              <a:t>Deploy</a:t>
            </a:r>
            <a:r>
              <a:rPr lang="en-US" dirty="0" smtClean="0">
                <a:cs typeface="Courier New" pitchFamily="49" charset="0"/>
              </a:rPr>
              <a:t> </a:t>
            </a:r>
            <a:r>
              <a:rPr lang="en-US" dirty="0" err="1">
                <a:cs typeface="Courier New" pitchFamily="49" charset="0"/>
              </a:rPr>
              <a:t>pentru</a:t>
            </a:r>
            <a:r>
              <a:rPr lang="en-US" dirty="0">
                <a:cs typeface="Courier New" pitchFamily="49" charset="0"/>
              </a:rPr>
              <a:t> </a:t>
            </a:r>
            <a:r>
              <a:rPr lang="en-US" dirty="0" err="1" smtClean="0">
                <a:cs typeface="Courier New" pitchFamily="49" charset="0"/>
              </a:rPr>
              <a:t>moduleEJB</a:t>
            </a:r>
            <a:r>
              <a:rPr lang="en-US" dirty="0">
                <a:cs typeface="Courier New" pitchFamily="49" charset="0"/>
              </a:rPr>
              <a:t>: se </a:t>
            </a:r>
            <a:r>
              <a:rPr lang="en-US" dirty="0" err="1">
                <a:cs typeface="Courier New" pitchFamily="49" charset="0"/>
              </a:rPr>
              <a:t>copiaza</a:t>
            </a:r>
            <a:r>
              <a:rPr lang="en-US" dirty="0">
                <a:cs typeface="Courier New" pitchFamily="49" charset="0"/>
              </a:rPr>
              <a:t> </a:t>
            </a:r>
            <a:r>
              <a:rPr lang="en-US" dirty="0" err="1">
                <a:cs typeface="Courier New" pitchFamily="49" charset="0"/>
              </a:rPr>
              <a:t>arhiva</a:t>
            </a:r>
            <a:r>
              <a:rPr lang="en-US" dirty="0">
                <a:cs typeface="Courier New" pitchFamily="49" charset="0"/>
              </a:rPr>
              <a:t> jar a </a:t>
            </a:r>
            <a:r>
              <a:rPr lang="en-US" dirty="0" err="1">
                <a:cs typeface="Courier New" pitchFamily="49" charset="0"/>
              </a:rPr>
              <a:t>modulului</a:t>
            </a:r>
            <a:r>
              <a:rPr lang="en-US" dirty="0">
                <a:cs typeface="Courier New" pitchFamily="49" charset="0"/>
              </a:rPr>
              <a:t> in:</a:t>
            </a:r>
          </a:p>
          <a:p>
            <a:r>
              <a:rPr lang="en-US" dirty="0">
                <a:latin typeface="Courier New" pitchFamily="49" charset="0"/>
                <a:cs typeface="Courier New" pitchFamily="49" charset="0"/>
              </a:rPr>
              <a:t> </a:t>
            </a: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JBOSS_HOME</a:t>
            </a:r>
            <a:r>
              <a:rPr lang="en-US" dirty="0" smtClean="0">
                <a:latin typeface="Courier New" pitchFamily="49" charset="0"/>
                <a:cs typeface="Courier New" pitchFamily="49" charset="0"/>
              </a:rPr>
              <a:t>/standalone/deployments</a:t>
            </a:r>
          </a:p>
          <a:p>
            <a:endParaRPr lang="en-US" dirty="0" smtClean="0">
              <a:latin typeface="Courier New" pitchFamily="49" charset="0"/>
              <a:cs typeface="Courier New" pitchFamily="49" charset="0"/>
            </a:endParaRPr>
          </a:p>
          <a:p>
            <a:r>
              <a:rPr lang="en-US" b="1" dirty="0" err="1" smtClean="0"/>
              <a:t>Undeploy</a:t>
            </a:r>
            <a:r>
              <a:rPr lang="en-US" dirty="0" smtClean="0"/>
              <a:t> se </a:t>
            </a:r>
            <a:r>
              <a:rPr lang="en-US" dirty="0" err="1" smtClean="0"/>
              <a:t>sterg</a:t>
            </a:r>
            <a:r>
              <a:rPr lang="en-US" dirty="0" smtClean="0"/>
              <a:t> din </a:t>
            </a:r>
            <a:r>
              <a:rPr lang="en-US" dirty="0" err="1" smtClean="0"/>
              <a:t>directorul</a:t>
            </a:r>
            <a:r>
              <a:rPr lang="en-US" dirty="0" smtClean="0"/>
              <a:t> de </a:t>
            </a:r>
            <a:r>
              <a:rPr lang="en-US" dirty="0" err="1" smtClean="0"/>
              <a:t>mai</a:t>
            </a:r>
            <a:r>
              <a:rPr lang="en-US" dirty="0" smtClean="0"/>
              <a:t> </a:t>
            </a:r>
            <a:r>
              <a:rPr lang="en-US" dirty="0" err="1" smtClean="0"/>
              <a:t>sus</a:t>
            </a:r>
            <a:r>
              <a:rPr lang="en-US" dirty="0" smtClean="0"/>
              <a:t>  </a:t>
            </a:r>
            <a:r>
              <a:rPr lang="en-US" dirty="0" err="1" smtClean="0"/>
              <a:t>entitatea</a:t>
            </a:r>
            <a:r>
              <a:rPr lang="en-US" dirty="0"/>
              <a:t> </a:t>
            </a:r>
            <a:r>
              <a:rPr lang="en-US" dirty="0" err="1" smtClean="0"/>
              <a:t>si</a:t>
            </a:r>
            <a:r>
              <a:rPr lang="en-US" dirty="0" smtClean="0"/>
              <a:t> </a:t>
            </a:r>
            <a:r>
              <a:rPr lang="en-US" dirty="0" err="1" smtClean="0"/>
              <a:t>fisierul</a:t>
            </a:r>
            <a:r>
              <a:rPr lang="en-US" dirty="0" smtClean="0"/>
              <a:t> cu </a:t>
            </a:r>
            <a:r>
              <a:rPr lang="en-US" dirty="0" err="1" smtClean="0"/>
              <a:t>acelasi</a:t>
            </a:r>
            <a:r>
              <a:rPr lang="en-US" dirty="0" smtClean="0"/>
              <a:t> </a:t>
            </a:r>
            <a:r>
              <a:rPr lang="en-US" dirty="0" err="1" smtClean="0"/>
              <a:t>nume</a:t>
            </a:r>
            <a:r>
              <a:rPr lang="en-US" dirty="0" smtClean="0"/>
              <a:t> </a:t>
            </a:r>
            <a:r>
              <a:rPr lang="en-US" dirty="0" err="1" smtClean="0"/>
              <a:t>si</a:t>
            </a:r>
            <a:r>
              <a:rPr lang="en-US" dirty="0" smtClean="0"/>
              <a:t> </a:t>
            </a:r>
            <a:r>
              <a:rPr lang="en-US" dirty="0" err="1" smtClean="0"/>
              <a:t>terminatia</a:t>
            </a:r>
            <a:r>
              <a:rPr lang="en-US" dirty="0" smtClean="0"/>
              <a:t> </a:t>
            </a:r>
            <a:r>
              <a:rPr lang="en-US" dirty="0" smtClean="0">
                <a:latin typeface="Courier New" panose="02070309020205020404" pitchFamily="49" charset="0"/>
                <a:cs typeface="Courier New" panose="02070309020205020404" pitchFamily="49" charset="0"/>
              </a:rPr>
              <a:t>.deployed / .</a:t>
            </a:r>
            <a:r>
              <a:rPr lang="en-US" dirty="0" err="1" smtClean="0">
                <a:latin typeface="Courier New" panose="02070309020205020404" pitchFamily="49" charset="0"/>
                <a:cs typeface="Courier New" panose="02070309020205020404" pitchFamily="49" charset="0"/>
              </a:rPr>
              <a:t>undeployed</a:t>
            </a:r>
            <a:endParaRPr lang="en-US" dirty="0">
              <a:latin typeface="Courier New" pitchFamily="49" charset="0"/>
              <a:cs typeface="Courier New" pitchFamily="49" charset="0"/>
            </a:endParaRPr>
          </a:p>
        </p:txBody>
      </p:sp>
    </p:spTree>
    <p:extLst>
      <p:ext uri="{BB962C8B-B14F-4D97-AF65-F5344CB8AC3E}">
        <p14:creationId xmlns:p14="http://schemas.microsoft.com/office/powerpoint/2010/main" val="23265033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10</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smtClean="0">
                <a:solidFill>
                  <a:srgbClr val="FF0000"/>
                </a:solidFill>
                <a:latin typeface="Calibri" pitchFamily="34" charset="0"/>
              </a:rPr>
              <a:t>Serverul</a:t>
            </a:r>
            <a:r>
              <a:rPr lang="en-US" altLang="en-US" dirty="0" smtClean="0">
                <a:solidFill>
                  <a:srgbClr val="FF0000"/>
                </a:solidFill>
                <a:latin typeface="Calibri" pitchFamily="34" charset="0"/>
              </a:rPr>
              <a:t> de </a:t>
            </a:r>
            <a:r>
              <a:rPr lang="en-US" altLang="en-US" dirty="0" err="1" smtClean="0">
                <a:solidFill>
                  <a:srgbClr val="FF0000"/>
                </a:solidFill>
                <a:latin typeface="Calibri" pitchFamily="34" charset="0"/>
              </a:rPr>
              <a:t>aplicatii</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GlassFish</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instalare</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punerea</a:t>
            </a:r>
            <a:r>
              <a:rPr lang="en-US" altLang="en-US" dirty="0" smtClean="0">
                <a:solidFill>
                  <a:srgbClr val="FF0000"/>
                </a:solidFill>
                <a:latin typeface="Calibri" pitchFamily="34" charset="0"/>
              </a:rPr>
              <a:t> in </a:t>
            </a:r>
            <a:r>
              <a:rPr lang="en-US" altLang="en-US" dirty="0" err="1" smtClean="0">
                <a:solidFill>
                  <a:srgbClr val="FF0000"/>
                </a:solidFill>
                <a:latin typeface="Calibri" pitchFamily="34" charset="0"/>
              </a:rPr>
              <a:t>lucru</a:t>
            </a:r>
            <a:r>
              <a:rPr lang="en-US" altLang="en-US" dirty="0" smtClean="0">
                <a:solidFill>
                  <a:srgbClr val="FF0000"/>
                </a:solidFill>
                <a:latin typeface="Calibri" pitchFamily="34" charset="0"/>
              </a:rPr>
              <a:t> </a:t>
            </a:r>
            <a:endParaRPr lang="en-US" altLang="en-US" dirty="0">
              <a:solidFill>
                <a:srgbClr val="FF0000"/>
              </a:solidFill>
              <a:latin typeface="Calibri" pitchFamily="34" charset="0"/>
            </a:endParaRPr>
          </a:p>
        </p:txBody>
      </p:sp>
      <p:sp>
        <p:nvSpPr>
          <p:cNvPr id="7" name="TextBox 6"/>
          <p:cNvSpPr txBox="1">
            <a:spLocks noChangeArrowheads="1"/>
          </p:cNvSpPr>
          <p:nvPr/>
        </p:nvSpPr>
        <p:spPr bwMode="auto">
          <a:xfrm>
            <a:off x="0" y="395288"/>
            <a:ext cx="9144000" cy="6140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Gill Sans MT" pitchFamily="34" charset="0"/>
              </a:defRPr>
            </a:lvl1pPr>
            <a:lvl2pPr marL="742950" indent="-285750">
              <a:defRPr>
                <a:solidFill>
                  <a:schemeClr val="tx1"/>
                </a:solidFill>
                <a:latin typeface="Gill Sans MT" pitchFamily="34" charset="0"/>
              </a:defRPr>
            </a:lvl2pPr>
            <a:lvl3pPr marL="1143000" indent="-228600">
              <a:defRPr>
                <a:solidFill>
                  <a:schemeClr val="tx1"/>
                </a:solidFill>
                <a:latin typeface="Gill Sans MT" pitchFamily="34" charset="0"/>
              </a:defRPr>
            </a:lvl3pPr>
            <a:lvl4pPr marL="1600200" indent="-228600">
              <a:defRPr>
                <a:solidFill>
                  <a:schemeClr val="tx1"/>
                </a:solidFill>
                <a:latin typeface="Gill Sans MT" pitchFamily="34" charset="0"/>
              </a:defRPr>
            </a:lvl4pPr>
            <a:lvl5pPr marL="2057400" indent="-228600">
              <a:defRPr>
                <a:solidFill>
                  <a:schemeClr val="tx1"/>
                </a:solidFill>
                <a:latin typeface="Gill Sans MT" pitchFamily="34" charset="0"/>
              </a:defRPr>
            </a:lvl5pPr>
            <a:lvl6pPr marL="2514600" indent="-228600" fontAlgn="base">
              <a:spcBef>
                <a:spcPct val="0"/>
              </a:spcBef>
              <a:spcAft>
                <a:spcPct val="0"/>
              </a:spcAft>
              <a:defRPr>
                <a:solidFill>
                  <a:schemeClr val="tx1"/>
                </a:solidFill>
                <a:latin typeface="Gill Sans MT" pitchFamily="34" charset="0"/>
              </a:defRPr>
            </a:lvl6pPr>
            <a:lvl7pPr marL="2971800" indent="-228600" fontAlgn="base">
              <a:spcBef>
                <a:spcPct val="0"/>
              </a:spcBef>
              <a:spcAft>
                <a:spcPct val="0"/>
              </a:spcAft>
              <a:defRPr>
                <a:solidFill>
                  <a:schemeClr val="tx1"/>
                </a:solidFill>
                <a:latin typeface="Gill Sans MT" pitchFamily="34" charset="0"/>
              </a:defRPr>
            </a:lvl7pPr>
            <a:lvl8pPr marL="3429000" indent="-228600" fontAlgn="base">
              <a:spcBef>
                <a:spcPct val="0"/>
              </a:spcBef>
              <a:spcAft>
                <a:spcPct val="0"/>
              </a:spcAft>
              <a:defRPr>
                <a:solidFill>
                  <a:schemeClr val="tx1"/>
                </a:solidFill>
                <a:latin typeface="Gill Sans MT" pitchFamily="34" charset="0"/>
              </a:defRPr>
            </a:lvl8pPr>
            <a:lvl9pPr marL="3886200" indent="-228600" fontAlgn="base">
              <a:spcBef>
                <a:spcPct val="0"/>
              </a:spcBef>
              <a:spcAft>
                <a:spcPct val="0"/>
              </a:spcAft>
              <a:defRPr>
                <a:solidFill>
                  <a:schemeClr val="tx1"/>
                </a:solidFill>
                <a:latin typeface="Gill Sans MT" pitchFamily="34" charset="0"/>
              </a:defRPr>
            </a:lvl9pPr>
          </a:lstStyle>
          <a:p>
            <a:r>
              <a:rPr lang="en-US" dirty="0" err="1"/>
              <a:t>Distributia</a:t>
            </a:r>
            <a:r>
              <a:rPr lang="en-US" dirty="0"/>
              <a:t>: </a:t>
            </a:r>
            <a:r>
              <a:rPr lang="en-US" b="1" dirty="0" smtClean="0"/>
              <a:t>glassfish-</a:t>
            </a:r>
            <a:r>
              <a:rPr lang="en-US" b="1" dirty="0" err="1" smtClean="0"/>
              <a:t>5.1.0.zip</a:t>
            </a:r>
            <a:r>
              <a:rPr lang="en-US" b="1" dirty="0" smtClean="0"/>
              <a:t> </a:t>
            </a:r>
            <a:r>
              <a:rPr lang="en-US" dirty="0" smtClean="0"/>
              <a:t>( Eclipse foundation)</a:t>
            </a:r>
            <a:endParaRPr lang="en-US" dirty="0"/>
          </a:p>
          <a:p>
            <a:r>
              <a:rPr lang="en-US" dirty="0" err="1" smtClean="0"/>
              <a:t>Instalarea</a:t>
            </a:r>
            <a:r>
              <a:rPr lang="en-US" dirty="0"/>
              <a:t>: se </a:t>
            </a:r>
            <a:r>
              <a:rPr lang="en-US" dirty="0" err="1"/>
              <a:t>dezarhiveaza</a:t>
            </a:r>
            <a:r>
              <a:rPr lang="en-US" dirty="0"/>
              <a:t> </a:t>
            </a:r>
            <a:r>
              <a:rPr lang="en-US" dirty="0" err="1"/>
              <a:t>si</a:t>
            </a:r>
            <a:r>
              <a:rPr lang="en-US" dirty="0"/>
              <a:t> </a:t>
            </a:r>
            <a:r>
              <a:rPr lang="en-US" dirty="0" err="1"/>
              <a:t>devine</a:t>
            </a:r>
            <a:r>
              <a:rPr lang="en-US" dirty="0"/>
              <a:t> operational. Se </a:t>
            </a:r>
            <a:r>
              <a:rPr lang="en-US" dirty="0" err="1"/>
              <a:t>seteaza</a:t>
            </a:r>
            <a:r>
              <a:rPr lang="en-US" dirty="0"/>
              <a:t> </a:t>
            </a:r>
            <a:r>
              <a:rPr lang="en-US" dirty="0" smtClean="0">
                <a:latin typeface="Courier New" panose="02070309020205020404" pitchFamily="49" charset="0"/>
                <a:cs typeface="Courier New" panose="02070309020205020404" pitchFamily="49" charset="0"/>
              </a:rPr>
              <a:t>GF_HOME</a:t>
            </a:r>
            <a:r>
              <a:rPr lang="en-US" dirty="0" smtClean="0"/>
              <a:t> </a:t>
            </a:r>
            <a:r>
              <a:rPr lang="en-US" dirty="0"/>
              <a:t>la </a:t>
            </a:r>
            <a:r>
              <a:rPr lang="en-US" dirty="0" err="1">
                <a:cs typeface="Courier New" pitchFamily="49" charset="0"/>
              </a:rPr>
              <a:t>directorul</a:t>
            </a:r>
            <a:r>
              <a:rPr lang="en-US" dirty="0">
                <a:cs typeface="Courier New" pitchFamily="49" charset="0"/>
              </a:rPr>
              <a:t> de </a:t>
            </a:r>
            <a:r>
              <a:rPr lang="en-US" dirty="0" err="1">
                <a:cs typeface="Courier New" pitchFamily="49" charset="0"/>
              </a:rPr>
              <a:t>instalare</a:t>
            </a:r>
            <a:r>
              <a:rPr lang="en-US" dirty="0">
                <a:cs typeface="Courier New" pitchFamily="49" charset="0"/>
              </a:rPr>
              <a:t> </a:t>
            </a:r>
            <a:r>
              <a:rPr lang="en-US" dirty="0" err="1" smtClean="0">
                <a:cs typeface="Courier New" pitchFamily="49" charset="0"/>
              </a:rPr>
              <a:t>si</a:t>
            </a:r>
            <a:r>
              <a:rPr lang="en-US" dirty="0" smtClean="0">
                <a:cs typeface="Courier New" pitchFamily="49" charset="0"/>
              </a:rPr>
              <a:t> </a:t>
            </a:r>
            <a:r>
              <a:rPr lang="en-US" dirty="0">
                <a:cs typeface="Courier New" pitchFamily="49" charset="0"/>
              </a:rPr>
              <a:t>se </a:t>
            </a:r>
            <a:r>
              <a:rPr lang="en-US" dirty="0" err="1">
                <a:cs typeface="Courier New" pitchFamily="49" charset="0"/>
              </a:rPr>
              <a:t>pune</a:t>
            </a:r>
            <a:r>
              <a:rPr lang="en-US" dirty="0">
                <a:cs typeface="Courier New" pitchFamily="49" charset="0"/>
              </a:rPr>
              <a:t> </a:t>
            </a:r>
            <a:r>
              <a:rPr lang="en-US" dirty="0" smtClean="0">
                <a:latin typeface="Courier New" panose="02070309020205020404" pitchFamily="49" charset="0"/>
                <a:cs typeface="Courier New" panose="02070309020205020404" pitchFamily="49" charset="0"/>
              </a:rPr>
              <a:t>$GF_HOME/glassfish/bin</a:t>
            </a:r>
            <a:r>
              <a:rPr lang="en-US" dirty="0" smtClean="0">
                <a:cs typeface="Courier New" pitchFamily="49" charset="0"/>
              </a:rPr>
              <a:t> </a:t>
            </a:r>
            <a:r>
              <a:rPr lang="en-US" dirty="0">
                <a:cs typeface="Courier New" pitchFamily="49" charset="0"/>
              </a:rPr>
              <a:t>in </a:t>
            </a:r>
            <a:r>
              <a:rPr lang="en-US" dirty="0">
                <a:latin typeface="Courier New" panose="02070309020205020404" pitchFamily="49" charset="0"/>
                <a:cs typeface="Courier New" panose="02070309020205020404" pitchFamily="49" charset="0"/>
              </a:rPr>
              <a:t>PATH</a:t>
            </a:r>
            <a:r>
              <a:rPr lang="en-US" dirty="0">
                <a:cs typeface="Courier New" pitchFamily="49" charset="0"/>
              </a:rPr>
              <a:t>.</a:t>
            </a:r>
            <a:endParaRPr lang="en-US" dirty="0"/>
          </a:p>
          <a:p>
            <a:endParaRPr lang="en-US" dirty="0" smtClean="0"/>
          </a:p>
          <a:p>
            <a:r>
              <a:rPr lang="en-US" dirty="0" err="1" smtClean="0"/>
              <a:t>GlassFish</a:t>
            </a:r>
            <a:r>
              <a:rPr lang="en-US" dirty="0" smtClean="0"/>
              <a:t> </a:t>
            </a:r>
            <a:r>
              <a:rPr lang="en-US" dirty="0" err="1"/>
              <a:t>este</a:t>
            </a:r>
            <a:r>
              <a:rPr lang="en-US" dirty="0"/>
              <a:t> </a:t>
            </a:r>
            <a:r>
              <a:rPr lang="en-US" dirty="0" err="1"/>
              <a:t>operabil</a:t>
            </a:r>
            <a:r>
              <a:rPr lang="en-US" dirty="0"/>
              <a:t> fie </a:t>
            </a:r>
            <a:r>
              <a:rPr lang="en-US" dirty="0" err="1"/>
              <a:t>prin</a:t>
            </a:r>
            <a:r>
              <a:rPr lang="en-US" dirty="0"/>
              <a:t> </a:t>
            </a:r>
            <a:r>
              <a:rPr lang="en-US" dirty="0" err="1"/>
              <a:t>comenzi</a:t>
            </a:r>
            <a:r>
              <a:rPr lang="en-US" dirty="0"/>
              <a:t> la </a:t>
            </a:r>
            <a:r>
              <a:rPr lang="en-US" dirty="0" err="1"/>
              <a:t>linia</a:t>
            </a:r>
            <a:r>
              <a:rPr lang="en-US" dirty="0"/>
              <a:t> de </a:t>
            </a:r>
            <a:r>
              <a:rPr lang="en-US" dirty="0" err="1"/>
              <a:t>comanda</a:t>
            </a:r>
            <a:r>
              <a:rPr lang="en-US" dirty="0"/>
              <a:t>, fie </a:t>
            </a:r>
            <a:r>
              <a:rPr lang="en-US" dirty="0" err="1"/>
              <a:t>prin</a:t>
            </a:r>
            <a:r>
              <a:rPr lang="en-US" dirty="0"/>
              <a:t> </a:t>
            </a:r>
            <a:r>
              <a:rPr lang="en-US" dirty="0" err="1"/>
              <a:t>interfata</a:t>
            </a:r>
            <a:r>
              <a:rPr lang="en-US" dirty="0"/>
              <a:t> </a:t>
            </a:r>
            <a:r>
              <a:rPr lang="en-US" dirty="0" err="1"/>
              <a:t>grafica</a:t>
            </a:r>
            <a:r>
              <a:rPr lang="en-US" dirty="0"/>
              <a:t> data de  </a:t>
            </a:r>
            <a:r>
              <a:rPr lang="en-US" dirty="0" err="1"/>
              <a:t>consola</a:t>
            </a:r>
            <a:r>
              <a:rPr lang="en-US" dirty="0"/>
              <a:t> </a:t>
            </a:r>
            <a:r>
              <a:rPr lang="en-US" dirty="0" err="1"/>
              <a:t>GlassFish</a:t>
            </a:r>
            <a:r>
              <a:rPr lang="en-US" dirty="0"/>
              <a:t> </a:t>
            </a:r>
            <a:r>
              <a:rPr lang="en-US" dirty="0" err="1"/>
              <a:t>lansata</a:t>
            </a:r>
            <a:r>
              <a:rPr lang="en-US" dirty="0"/>
              <a:t> </a:t>
            </a:r>
            <a:r>
              <a:rPr lang="en-US" dirty="0" err="1"/>
              <a:t>prin</a:t>
            </a:r>
            <a:r>
              <a:rPr lang="en-US" dirty="0"/>
              <a:t> </a:t>
            </a:r>
            <a:r>
              <a:rPr lang="en-US" dirty="0">
                <a:latin typeface="Courier New" pitchFamily="49" charset="0"/>
                <a:cs typeface="Courier New" pitchFamily="49" charset="0"/>
              </a:rPr>
              <a:t>http://localhost:4848</a:t>
            </a:r>
            <a:r>
              <a:rPr lang="en-US" dirty="0"/>
              <a:t>.</a:t>
            </a:r>
          </a:p>
          <a:p>
            <a:r>
              <a:rPr lang="en-US" dirty="0" err="1"/>
              <a:t>Modul</a:t>
            </a:r>
            <a:r>
              <a:rPr lang="en-US" dirty="0"/>
              <a:t> de </a:t>
            </a:r>
            <a:r>
              <a:rPr lang="en-US" dirty="0" err="1"/>
              <a:t>lucru</a:t>
            </a:r>
            <a:r>
              <a:rPr lang="en-US" dirty="0"/>
              <a:t> </a:t>
            </a:r>
            <a:r>
              <a:rPr lang="en-US" dirty="0" err="1"/>
              <a:t>este</a:t>
            </a:r>
            <a:r>
              <a:rPr lang="en-US" dirty="0"/>
              <a:t> </a:t>
            </a:r>
            <a:r>
              <a:rPr lang="en-US" b="1" dirty="0"/>
              <a:t>managed domain</a:t>
            </a:r>
            <a:r>
              <a:rPr lang="en-US" dirty="0"/>
              <a:t>,  cu </a:t>
            </a:r>
            <a:r>
              <a:rPr lang="en-US" b="1" dirty="0" err="1">
                <a:latin typeface="Courier New" pitchFamily="49" charset="0"/>
                <a:cs typeface="Courier New" pitchFamily="49" charset="0"/>
              </a:rPr>
              <a:t>domain1</a:t>
            </a:r>
            <a:r>
              <a:rPr lang="en-US" dirty="0"/>
              <a:t> implicit.  </a:t>
            </a:r>
            <a:r>
              <a:rPr lang="en-US" dirty="0" err="1"/>
              <a:t>Accesul</a:t>
            </a:r>
            <a:r>
              <a:rPr lang="en-US" dirty="0"/>
              <a:t> de </a:t>
            </a:r>
            <a:r>
              <a:rPr lang="en-US" dirty="0" err="1"/>
              <a:t>administrare</a:t>
            </a:r>
            <a:r>
              <a:rPr lang="en-US" dirty="0"/>
              <a:t>, </a:t>
            </a:r>
            <a:r>
              <a:rPr lang="en-US" dirty="0" err="1"/>
              <a:t>ca</a:t>
            </a:r>
            <a:r>
              <a:rPr lang="en-US" dirty="0"/>
              <a:t> </a:t>
            </a:r>
            <a:r>
              <a:rPr lang="en-US" dirty="0" err="1"/>
              <a:t>si</a:t>
            </a:r>
            <a:r>
              <a:rPr lang="en-US" dirty="0"/>
              <a:t> </a:t>
            </a:r>
            <a:r>
              <a:rPr lang="en-US" dirty="0" err="1"/>
              <a:t>cel</a:t>
            </a:r>
            <a:r>
              <a:rPr lang="en-US" dirty="0"/>
              <a:t> de </a:t>
            </a:r>
            <a:r>
              <a:rPr lang="en-US" dirty="0" err="1"/>
              <a:t>acces</a:t>
            </a:r>
            <a:r>
              <a:rPr lang="en-US" dirty="0"/>
              <a:t> implicit, </a:t>
            </a:r>
            <a:r>
              <a:rPr lang="en-US" dirty="0" err="1"/>
              <a:t>este</a:t>
            </a:r>
            <a:r>
              <a:rPr lang="en-US" dirty="0"/>
              <a:t> user: </a:t>
            </a:r>
            <a:r>
              <a:rPr lang="en-US" b="1" dirty="0"/>
              <a:t>admin</a:t>
            </a:r>
            <a:r>
              <a:rPr lang="en-US" dirty="0"/>
              <a:t> password: </a:t>
            </a:r>
            <a:r>
              <a:rPr lang="en-US" b="1" dirty="0" err="1"/>
              <a:t>adminadmin</a:t>
            </a:r>
            <a:endParaRPr lang="en-US" b="1" dirty="0"/>
          </a:p>
          <a:p>
            <a:endParaRPr lang="en-US" dirty="0" smtClean="0"/>
          </a:p>
          <a:p>
            <a:r>
              <a:rPr lang="en-US" dirty="0" err="1" smtClean="0"/>
              <a:t>Comanda</a:t>
            </a:r>
            <a:r>
              <a:rPr lang="en-US" dirty="0" smtClean="0"/>
              <a:t> </a:t>
            </a:r>
            <a:r>
              <a:rPr lang="en-US" dirty="0" err="1"/>
              <a:t>principala</a:t>
            </a:r>
            <a:r>
              <a:rPr lang="en-US" dirty="0"/>
              <a:t> </a:t>
            </a:r>
            <a:r>
              <a:rPr lang="en-US" dirty="0" err="1"/>
              <a:t>este</a:t>
            </a:r>
            <a:r>
              <a:rPr lang="en-US" dirty="0"/>
              <a:t> </a:t>
            </a:r>
            <a:r>
              <a:rPr lang="en-US" b="1" dirty="0" err="1"/>
              <a:t>asadmin</a:t>
            </a:r>
            <a:r>
              <a:rPr lang="en-US" dirty="0"/>
              <a:t>, care are un lot mare de </a:t>
            </a:r>
            <a:r>
              <a:rPr lang="en-US" dirty="0" err="1"/>
              <a:t>subcomenzi</a:t>
            </a:r>
            <a:r>
              <a:rPr lang="en-US" dirty="0"/>
              <a:t>, </a:t>
            </a:r>
            <a:r>
              <a:rPr lang="en-US" dirty="0" err="1"/>
              <a:t>descrise</a:t>
            </a:r>
            <a:r>
              <a:rPr lang="en-US" dirty="0"/>
              <a:t> la:</a:t>
            </a:r>
          </a:p>
          <a:p>
            <a:r>
              <a:rPr lang="en-US" sz="1500" dirty="0" smtClean="0">
                <a:latin typeface="Courier New" pitchFamily="49" charset="0"/>
                <a:cs typeface="Courier New" pitchFamily="49" charset="0"/>
              </a:rPr>
              <a:t>http</a:t>
            </a:r>
            <a:r>
              <a:rPr lang="en-US" sz="1500" dirty="0">
                <a:latin typeface="Courier New" pitchFamily="49" charset="0"/>
                <a:cs typeface="Courier New" pitchFamily="49" charset="0"/>
              </a:rPr>
              <a:t>://glassfish.java.net/nonav/v3/admin/planning/j109/list-of-commands.html </a:t>
            </a:r>
          </a:p>
          <a:p>
            <a:r>
              <a:rPr lang="en-US" dirty="0" err="1"/>
              <a:t>Daca</a:t>
            </a:r>
            <a:r>
              <a:rPr lang="en-US" dirty="0"/>
              <a:t> in </a:t>
            </a:r>
            <a:r>
              <a:rPr lang="en-US" dirty="0">
                <a:latin typeface="Courier New" panose="02070309020205020404" pitchFamily="49" charset="0"/>
                <a:cs typeface="Courier New" panose="02070309020205020404" pitchFamily="49" charset="0"/>
              </a:rPr>
              <a:t>PATH</a:t>
            </a:r>
            <a:r>
              <a:rPr lang="en-US" dirty="0"/>
              <a:t> </a:t>
            </a:r>
            <a:r>
              <a:rPr lang="en-US" dirty="0" err="1"/>
              <a:t>este</a:t>
            </a:r>
            <a:r>
              <a:rPr lang="en-US" dirty="0"/>
              <a:t> </a:t>
            </a:r>
            <a:r>
              <a:rPr lang="en-US" dirty="0" smtClean="0">
                <a:latin typeface="Courier New" panose="02070309020205020404" pitchFamily="49" charset="0"/>
                <a:cs typeface="Courier New" panose="02070309020205020404" pitchFamily="49" charset="0"/>
              </a:rPr>
              <a:t>$GF_HOME/glassfish/bin</a:t>
            </a:r>
            <a:r>
              <a:rPr lang="en-US" dirty="0" smtClean="0"/>
              <a:t> </a:t>
            </a:r>
            <a:r>
              <a:rPr lang="en-US" dirty="0" err="1"/>
              <a:t>lansarea</a:t>
            </a:r>
            <a:r>
              <a:rPr lang="en-US" dirty="0"/>
              <a:t> se face cu </a:t>
            </a:r>
            <a:r>
              <a:rPr lang="en-US" dirty="0" err="1"/>
              <a:t>comanda</a:t>
            </a:r>
            <a:r>
              <a:rPr lang="en-US" dirty="0"/>
              <a:t> </a:t>
            </a:r>
            <a:r>
              <a:rPr lang="en-US" dirty="0" err="1" smtClean="0">
                <a:latin typeface="Courier New" panose="02070309020205020404" pitchFamily="49" charset="0"/>
                <a:cs typeface="Courier New" panose="02070309020205020404" pitchFamily="49" charset="0"/>
              </a:rPr>
              <a:t>asadmin</a:t>
            </a:r>
            <a:r>
              <a:rPr lang="en-US" dirty="0" smtClean="0"/>
              <a:t> </a:t>
            </a:r>
            <a:r>
              <a:rPr lang="en-US" dirty="0"/>
              <a:t>(.</a:t>
            </a:r>
            <a:r>
              <a:rPr lang="en-US" dirty="0">
                <a:latin typeface="Courier New" pitchFamily="49" charset="0"/>
                <a:cs typeface="Courier New" pitchFamily="49" charset="0"/>
              </a:rPr>
              <a:t>bat</a:t>
            </a:r>
            <a:r>
              <a:rPr lang="en-US" dirty="0"/>
              <a:t> </a:t>
            </a:r>
            <a:r>
              <a:rPr lang="en-US" dirty="0" err="1"/>
              <a:t>pe</a:t>
            </a:r>
            <a:r>
              <a:rPr lang="en-US" dirty="0"/>
              <a:t> </a:t>
            </a:r>
            <a:r>
              <a:rPr lang="en-US" dirty="0" smtClean="0"/>
              <a:t>Windows), </a:t>
            </a:r>
            <a:r>
              <a:rPr lang="en-US" dirty="0" err="1"/>
              <a:t>altfel</a:t>
            </a:r>
            <a:r>
              <a:rPr lang="en-US" dirty="0"/>
              <a:t> </a:t>
            </a:r>
            <a:r>
              <a:rPr lang="en-US" dirty="0" smtClean="0">
                <a:latin typeface="Courier New" pitchFamily="49" charset="0"/>
                <a:cs typeface="Courier New" pitchFamily="49" charset="0"/>
              </a:rPr>
              <a:t>$GF_HOME/glassfish/bin/</a:t>
            </a:r>
            <a:r>
              <a:rPr lang="en-US" dirty="0" err="1" smtClean="0">
                <a:latin typeface="Courier New" pitchFamily="49" charset="0"/>
                <a:cs typeface="Courier New" pitchFamily="49" charset="0"/>
              </a:rPr>
              <a:t>asadmin</a:t>
            </a:r>
            <a:r>
              <a:rPr lang="en-US" dirty="0" smtClean="0">
                <a:latin typeface="Courier New" pitchFamily="49" charset="0"/>
                <a:cs typeface="Courier New" pitchFamily="49" charset="0"/>
              </a:rPr>
              <a:t> </a:t>
            </a:r>
            <a:endParaRPr lang="en-US" dirty="0">
              <a:latin typeface="Courier New" pitchFamily="49" charset="0"/>
              <a:cs typeface="Courier New" pitchFamily="49" charset="0"/>
            </a:endParaRPr>
          </a:p>
          <a:p>
            <a:endParaRPr lang="en-US" dirty="0" smtClean="0"/>
          </a:p>
          <a:p>
            <a:r>
              <a:rPr lang="en-US" b="1" dirty="0" err="1" smtClean="0"/>
              <a:t>Oprire</a:t>
            </a:r>
            <a:r>
              <a:rPr lang="en-US" dirty="0" smtClean="0"/>
              <a:t> </a:t>
            </a:r>
            <a:r>
              <a:rPr lang="en-US" dirty="0"/>
              <a:t>AS</a:t>
            </a:r>
            <a:r>
              <a:rPr lang="en-US" dirty="0" smtClean="0"/>
              <a:t>:    </a:t>
            </a:r>
            <a:r>
              <a:rPr lang="en-US" dirty="0" err="1" smtClean="0">
                <a:latin typeface="Courier New" pitchFamily="49" charset="0"/>
                <a:cs typeface="Courier New" pitchFamily="49" charset="0"/>
              </a:rPr>
              <a:t>asadmin</a:t>
            </a:r>
            <a:r>
              <a:rPr lang="en-US" dirty="0" smtClean="0">
                <a:latin typeface="Courier New" pitchFamily="49" charset="0"/>
                <a:cs typeface="Courier New" pitchFamily="49" charset="0"/>
              </a:rPr>
              <a:t> </a:t>
            </a:r>
            <a:r>
              <a:rPr lang="en-US" dirty="0">
                <a:latin typeface="Courier New" pitchFamily="49" charset="0"/>
                <a:cs typeface="Courier New" pitchFamily="49" charset="0"/>
              </a:rPr>
              <a:t>stop-domain</a:t>
            </a:r>
          </a:p>
          <a:p>
            <a:r>
              <a:rPr lang="en-US" b="1" dirty="0" err="1"/>
              <a:t>Pornire</a:t>
            </a:r>
            <a:r>
              <a:rPr lang="en-US" dirty="0"/>
              <a:t> AS</a:t>
            </a:r>
            <a:r>
              <a:rPr lang="en-US" dirty="0" smtClean="0"/>
              <a:t>:</a:t>
            </a: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asadmin</a:t>
            </a:r>
            <a:r>
              <a:rPr lang="en-US" dirty="0" smtClean="0">
                <a:latin typeface="Courier New" pitchFamily="49" charset="0"/>
                <a:cs typeface="Courier New" pitchFamily="49" charset="0"/>
              </a:rPr>
              <a:t> </a:t>
            </a:r>
            <a:r>
              <a:rPr lang="en-US" dirty="0">
                <a:latin typeface="Courier New" pitchFamily="49" charset="0"/>
                <a:cs typeface="Courier New" pitchFamily="49" charset="0"/>
              </a:rPr>
              <a:t>start-domain</a:t>
            </a:r>
          </a:p>
          <a:p>
            <a:r>
              <a:rPr lang="en-US" b="1" dirty="0" smtClean="0"/>
              <a:t>Deploy</a:t>
            </a:r>
            <a:r>
              <a:rPr lang="en-US" dirty="0" smtClean="0"/>
              <a:t> </a:t>
            </a:r>
            <a:r>
              <a:rPr lang="en-US" dirty="0"/>
              <a:t>o </a:t>
            </a:r>
            <a:r>
              <a:rPr lang="en-US" dirty="0" err="1"/>
              <a:t>entitate</a:t>
            </a:r>
            <a:r>
              <a:rPr lang="en-US" dirty="0"/>
              <a:t>: un </a:t>
            </a:r>
            <a:r>
              <a:rPr lang="en-US" dirty="0" err="1"/>
              <a:t>modulEJB</a:t>
            </a:r>
            <a:r>
              <a:rPr lang="en-US" dirty="0"/>
              <a:t>, o </a:t>
            </a:r>
            <a:r>
              <a:rPr lang="en-US" dirty="0" err="1"/>
              <a:t>arhiva</a:t>
            </a:r>
            <a:r>
              <a:rPr lang="en-US" dirty="0"/>
              <a:t> .</a:t>
            </a:r>
            <a:r>
              <a:rPr lang="en-US" dirty="0">
                <a:latin typeface="Courier New" pitchFamily="49" charset="0"/>
                <a:cs typeface="Courier New" pitchFamily="49" charset="0"/>
              </a:rPr>
              <a:t>war</a:t>
            </a:r>
            <a:r>
              <a:rPr lang="en-US" dirty="0"/>
              <a:t>, o </a:t>
            </a:r>
            <a:r>
              <a:rPr lang="en-US" dirty="0" err="1"/>
              <a:t>arhiva</a:t>
            </a:r>
            <a:r>
              <a:rPr lang="en-US" dirty="0"/>
              <a:t> .</a:t>
            </a:r>
            <a:r>
              <a:rPr lang="en-US" dirty="0">
                <a:latin typeface="Courier New" pitchFamily="49" charset="0"/>
                <a:cs typeface="Courier New" pitchFamily="49" charset="0"/>
              </a:rPr>
              <a:t>ear</a:t>
            </a:r>
            <a:r>
              <a:rPr lang="en-US" dirty="0"/>
              <a:t>.  </a:t>
            </a:r>
            <a:r>
              <a:rPr lang="en-US" b="1" dirty="0" err="1">
                <a:latin typeface="Courier New" pitchFamily="49" charset="0"/>
                <a:cs typeface="Courier New" pitchFamily="49" charset="0"/>
              </a:rPr>
              <a:t>numeFisier</a:t>
            </a:r>
            <a:r>
              <a:rPr lang="en-US" dirty="0"/>
              <a:t> </a:t>
            </a:r>
            <a:r>
              <a:rPr lang="en-US" u="sng" dirty="0" err="1"/>
              <a:t>contine</a:t>
            </a:r>
            <a:r>
              <a:rPr lang="en-US" u="sng" dirty="0"/>
              <a:t> </a:t>
            </a:r>
            <a:r>
              <a:rPr lang="en-US" u="sng" dirty="0" err="1"/>
              <a:t>calea</a:t>
            </a:r>
            <a:r>
              <a:rPr lang="en-US" u="sng" dirty="0"/>
              <a:t> </a:t>
            </a:r>
            <a:r>
              <a:rPr lang="en-US" u="sng" dirty="0" err="1"/>
              <a:t>si</a:t>
            </a:r>
            <a:r>
              <a:rPr lang="en-US" u="sng" dirty="0"/>
              <a:t> </a:t>
            </a:r>
            <a:r>
              <a:rPr lang="en-US" u="sng" dirty="0" err="1"/>
              <a:t>numele</a:t>
            </a:r>
            <a:r>
              <a:rPr lang="en-US" u="sng" dirty="0"/>
              <a:t> </a:t>
            </a:r>
            <a:r>
              <a:rPr lang="en-US" u="sng" dirty="0" err="1"/>
              <a:t>complet</a:t>
            </a:r>
            <a:r>
              <a:rPr lang="en-US" u="sng" dirty="0"/>
              <a:t> al </a:t>
            </a:r>
            <a:r>
              <a:rPr lang="en-US" u="sng" dirty="0" err="1"/>
              <a:t>arhivei</a:t>
            </a:r>
            <a:r>
              <a:rPr lang="en-US" u="sng" dirty="0"/>
              <a:t> </a:t>
            </a:r>
            <a:r>
              <a:rPr lang="en-US" u="sng" dirty="0" err="1"/>
              <a:t>ce</a:t>
            </a:r>
            <a:r>
              <a:rPr lang="en-US" u="sng" dirty="0"/>
              <a:t> </a:t>
            </a:r>
            <a:r>
              <a:rPr lang="en-US" u="sng" dirty="0" err="1"/>
              <a:t>contine</a:t>
            </a:r>
            <a:r>
              <a:rPr lang="en-US" u="sng" dirty="0"/>
              <a:t> </a:t>
            </a:r>
            <a:r>
              <a:rPr lang="en-US" u="sng" dirty="0" err="1"/>
              <a:t>entitatea</a:t>
            </a:r>
            <a:r>
              <a:rPr lang="en-US" u="sng" dirty="0"/>
              <a:t> de </a:t>
            </a:r>
            <a:r>
              <a:rPr lang="en-US" u="sng" dirty="0" err="1"/>
              <a:t>deployat</a:t>
            </a:r>
            <a:r>
              <a:rPr lang="en-US" dirty="0"/>
              <a:t>.  </a:t>
            </a:r>
            <a:r>
              <a:rPr lang="en-US" dirty="0" err="1"/>
              <a:t>Entitatea</a:t>
            </a:r>
            <a:r>
              <a:rPr lang="en-US" dirty="0"/>
              <a:t> </a:t>
            </a:r>
            <a:r>
              <a:rPr lang="en-US" dirty="0" err="1"/>
              <a:t>va</a:t>
            </a:r>
            <a:r>
              <a:rPr lang="en-US" dirty="0"/>
              <a:t> </a:t>
            </a:r>
            <a:r>
              <a:rPr lang="en-US" dirty="0" err="1"/>
              <a:t>primi</a:t>
            </a:r>
            <a:r>
              <a:rPr lang="en-US" dirty="0"/>
              <a:t> </a:t>
            </a:r>
            <a:r>
              <a:rPr lang="en-US" dirty="0" err="1"/>
              <a:t>numele</a:t>
            </a:r>
            <a:r>
              <a:rPr lang="en-US" dirty="0"/>
              <a:t> </a:t>
            </a:r>
            <a:r>
              <a:rPr lang="en-US" dirty="0" err="1"/>
              <a:t>arhivei</a:t>
            </a:r>
            <a:r>
              <a:rPr lang="en-US" dirty="0"/>
              <a:t> (</a:t>
            </a:r>
            <a:r>
              <a:rPr lang="en-US" dirty="0" err="1"/>
              <a:t>fara</a:t>
            </a:r>
            <a:r>
              <a:rPr lang="en-US" dirty="0"/>
              <a:t> </a:t>
            </a:r>
            <a:r>
              <a:rPr lang="en-US" dirty="0" err="1"/>
              <a:t>extensia</a:t>
            </a:r>
            <a:r>
              <a:rPr lang="en-US" dirty="0"/>
              <a:t> </a:t>
            </a:r>
            <a:r>
              <a:rPr lang="en-US" dirty="0">
                <a:latin typeface="Courier New" pitchFamily="49" charset="0"/>
                <a:cs typeface="Courier New" pitchFamily="49" charset="0"/>
              </a:rPr>
              <a:t>.jar .war .ear</a:t>
            </a:r>
            <a:r>
              <a:rPr lang="en-US" dirty="0" smtClean="0"/>
              <a:t>): </a:t>
            </a:r>
            <a:r>
              <a:rPr lang="en-US" dirty="0" err="1" smtClean="0">
                <a:latin typeface="Courier New" pitchFamily="49" charset="0"/>
                <a:cs typeface="Courier New" pitchFamily="49" charset="0"/>
              </a:rPr>
              <a:t>asadmin</a:t>
            </a:r>
            <a:r>
              <a:rPr lang="en-US" dirty="0" smtClean="0">
                <a:latin typeface="Courier New" pitchFamily="49" charset="0"/>
                <a:cs typeface="Courier New" pitchFamily="49" charset="0"/>
              </a:rPr>
              <a:t> </a:t>
            </a:r>
            <a:r>
              <a:rPr lang="en-US" dirty="0">
                <a:latin typeface="Courier New" pitchFamily="49" charset="0"/>
                <a:cs typeface="Courier New" pitchFamily="49" charset="0"/>
              </a:rPr>
              <a:t>deploy </a:t>
            </a:r>
            <a:r>
              <a:rPr lang="en-US" dirty="0" err="1">
                <a:latin typeface="Courier New" pitchFamily="49" charset="0"/>
                <a:cs typeface="Courier New" pitchFamily="49" charset="0"/>
              </a:rPr>
              <a:t>numeFisier</a:t>
            </a:r>
            <a:endParaRPr lang="en-US" dirty="0">
              <a:latin typeface="Courier New" pitchFamily="49" charset="0"/>
              <a:cs typeface="Courier New" pitchFamily="49" charset="0"/>
            </a:endParaRPr>
          </a:p>
          <a:p>
            <a:r>
              <a:rPr lang="en-US" dirty="0">
                <a:latin typeface="Gill Sans MT"/>
                <a:cs typeface="Courier New" pitchFamily="49" charset="0"/>
              </a:rPr>
              <a:t>S</a:t>
            </a:r>
            <a:r>
              <a:rPr lang="en-US" dirty="0" smtClean="0">
                <a:latin typeface="Gill Sans MT"/>
                <a:cs typeface="Courier New" pitchFamily="49" charset="0"/>
              </a:rPr>
              <a:t>au se </a:t>
            </a:r>
            <a:r>
              <a:rPr lang="en-US" dirty="0" err="1" smtClean="0">
                <a:latin typeface="Gill Sans MT"/>
                <a:cs typeface="Courier New" pitchFamily="49" charset="0"/>
              </a:rPr>
              <a:t>copiaza</a:t>
            </a:r>
            <a:r>
              <a:rPr lang="en-US" dirty="0" smtClean="0">
                <a:latin typeface="Gill Sans MT"/>
                <a:cs typeface="Courier New" pitchFamily="49" charset="0"/>
              </a:rPr>
              <a:t> </a:t>
            </a:r>
            <a:r>
              <a:rPr lang="en-US" b="1" dirty="0" err="1" smtClean="0">
                <a:latin typeface="Gill Sans MT"/>
                <a:cs typeface="Courier New" pitchFamily="49" charset="0"/>
              </a:rPr>
              <a:t>numeFisier</a:t>
            </a:r>
            <a:r>
              <a:rPr lang="en-US" dirty="0" smtClean="0">
                <a:latin typeface="Gill Sans MT"/>
                <a:cs typeface="Courier New" pitchFamily="49" charset="0"/>
              </a:rPr>
              <a:t> in  </a:t>
            </a:r>
            <a:r>
              <a:rPr lang="en-US" dirty="0" smtClean="0">
                <a:latin typeface="Courier New" pitchFamily="49" charset="0"/>
                <a:cs typeface="Courier New" pitchFamily="49" charset="0"/>
              </a:rPr>
              <a:t>$GF_HOME/domains/domain1/</a:t>
            </a:r>
            <a:r>
              <a:rPr lang="en-US" dirty="0" err="1" smtClean="0">
                <a:latin typeface="Courier New" pitchFamily="49" charset="0"/>
                <a:cs typeface="Courier New" pitchFamily="49" charset="0"/>
              </a:rPr>
              <a:t>autodeploy</a:t>
            </a:r>
            <a:endParaRPr lang="en-US" dirty="0" smtClean="0">
              <a:latin typeface="Courier New" pitchFamily="49" charset="0"/>
              <a:cs typeface="Courier New" pitchFamily="49" charset="0"/>
            </a:endParaRPr>
          </a:p>
          <a:p>
            <a:r>
              <a:rPr lang="en-US" b="1" dirty="0" err="1"/>
              <a:t>Undeploy</a:t>
            </a:r>
            <a:r>
              <a:rPr lang="en-US" dirty="0"/>
              <a:t> o </a:t>
            </a:r>
            <a:r>
              <a:rPr lang="en-US" dirty="0" err="1"/>
              <a:t>entitate</a:t>
            </a:r>
            <a:r>
              <a:rPr lang="en-US" dirty="0"/>
              <a:t> </a:t>
            </a:r>
            <a:r>
              <a:rPr lang="en-US" dirty="0" err="1"/>
              <a:t>deployata</a:t>
            </a:r>
            <a:r>
              <a:rPr lang="en-US" dirty="0"/>
              <a:t>: un </a:t>
            </a:r>
            <a:r>
              <a:rPr lang="en-US" dirty="0" err="1"/>
              <a:t>modulEJB</a:t>
            </a:r>
            <a:r>
              <a:rPr lang="en-US" dirty="0"/>
              <a:t>,  o </a:t>
            </a:r>
            <a:r>
              <a:rPr lang="en-US" dirty="0" err="1"/>
              <a:t>aplicatie</a:t>
            </a:r>
            <a:r>
              <a:rPr lang="en-US" dirty="0"/>
              <a:t> web, o </a:t>
            </a:r>
            <a:r>
              <a:rPr lang="en-US" dirty="0" err="1"/>
              <a:t>aplicatie</a:t>
            </a:r>
            <a:r>
              <a:rPr lang="en-US" dirty="0"/>
              <a:t> ear (</a:t>
            </a:r>
            <a:r>
              <a:rPr lang="en-US" dirty="0" err="1">
                <a:latin typeface="Courier New" pitchFamily="49" charset="0"/>
                <a:cs typeface="Courier New" pitchFamily="49" charset="0"/>
              </a:rPr>
              <a:t>numeDepl</a:t>
            </a:r>
            <a:r>
              <a:rPr lang="en-US" dirty="0"/>
              <a:t> </a:t>
            </a:r>
            <a:r>
              <a:rPr lang="en-US" dirty="0" smtClean="0"/>
              <a:t>- </a:t>
            </a:r>
            <a:r>
              <a:rPr lang="en-US" dirty="0" err="1" smtClean="0"/>
              <a:t>nume</a:t>
            </a:r>
            <a:r>
              <a:rPr lang="en-US" dirty="0" smtClean="0"/>
              <a:t> </a:t>
            </a:r>
            <a:r>
              <a:rPr lang="en-US" dirty="0" err="1" smtClean="0"/>
              <a:t>arhiva</a:t>
            </a:r>
            <a:r>
              <a:rPr lang="en-US" dirty="0" smtClean="0"/>
              <a:t> </a:t>
            </a:r>
            <a:r>
              <a:rPr lang="en-US" dirty="0" err="1" smtClean="0"/>
              <a:t>fara</a:t>
            </a:r>
            <a:r>
              <a:rPr lang="en-US" dirty="0" smtClean="0"/>
              <a:t> </a:t>
            </a:r>
            <a:r>
              <a:rPr lang="en-US" dirty="0">
                <a:latin typeface="Courier New" pitchFamily="49" charset="0"/>
                <a:cs typeface="Courier New" pitchFamily="49" charset="0"/>
              </a:rPr>
              <a:t>.jar .war .ear</a:t>
            </a:r>
            <a:r>
              <a:rPr lang="en-US" dirty="0"/>
              <a:t>):  </a:t>
            </a:r>
            <a:r>
              <a:rPr lang="en-US" dirty="0" err="1">
                <a:latin typeface="Courier New" pitchFamily="49" charset="0"/>
                <a:cs typeface="Courier New" pitchFamily="49" charset="0"/>
              </a:rPr>
              <a:t>asadmin</a:t>
            </a:r>
            <a:r>
              <a:rPr lang="en-US" dirty="0">
                <a:latin typeface="Courier New" pitchFamily="49" charset="0"/>
                <a:cs typeface="Courier New" pitchFamily="49" charset="0"/>
              </a:rPr>
              <a:t> </a:t>
            </a:r>
            <a:r>
              <a:rPr lang="en-US" dirty="0" err="1">
                <a:latin typeface="Courier New" pitchFamily="49" charset="0"/>
                <a:cs typeface="Courier New" pitchFamily="49" charset="0"/>
              </a:rPr>
              <a:t>undeploy</a:t>
            </a:r>
            <a:r>
              <a:rPr lang="en-US" dirty="0">
                <a:latin typeface="Courier New" pitchFamily="49" charset="0"/>
                <a:cs typeface="Courier New" pitchFamily="49" charset="0"/>
              </a:rPr>
              <a:t> </a:t>
            </a:r>
            <a:r>
              <a:rPr lang="en-US" dirty="0" err="1">
                <a:latin typeface="Courier New" pitchFamily="49" charset="0"/>
                <a:cs typeface="Courier New" pitchFamily="49" charset="0"/>
              </a:rPr>
              <a:t>numeDepl</a:t>
            </a:r>
            <a:r>
              <a:rPr lang="en-US" dirty="0">
                <a:latin typeface="Courier New" pitchFamily="49" charset="0"/>
                <a:cs typeface="Courier New" pitchFamily="49" charset="0"/>
              </a:rPr>
              <a:t> </a:t>
            </a:r>
          </a:p>
        </p:txBody>
      </p:sp>
    </p:spTree>
    <p:extLst>
      <p:ext uri="{BB962C8B-B14F-4D97-AF65-F5344CB8AC3E}">
        <p14:creationId xmlns:p14="http://schemas.microsoft.com/office/powerpoint/2010/main" val="17163581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11</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smtClean="0">
                <a:solidFill>
                  <a:srgbClr val="FF0000"/>
                </a:solidFill>
                <a:latin typeface="Calibri" pitchFamily="34" charset="0"/>
              </a:rPr>
              <a:t>Exemple</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1ejbSession</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si</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2ejbSingleton</a:t>
            </a:r>
            <a:r>
              <a:rPr lang="en-US" altLang="en-US" dirty="0" smtClean="0">
                <a:solidFill>
                  <a:srgbClr val="FF0000"/>
                </a:solidFill>
                <a:latin typeface="Calibri" pitchFamily="34" charset="0"/>
              </a:rPr>
              <a:t> </a:t>
            </a:r>
            <a:endParaRPr lang="en-US" altLang="en-US" dirty="0">
              <a:solidFill>
                <a:srgbClr val="FF0000"/>
              </a:solidFill>
              <a:latin typeface="Calibri" pitchFamily="34" charset="0"/>
            </a:endParaRPr>
          </a:p>
        </p:txBody>
      </p:sp>
      <p:sp>
        <p:nvSpPr>
          <p:cNvPr id="2" name="Rectangle 1"/>
          <p:cNvSpPr/>
          <p:nvPr/>
        </p:nvSpPr>
        <p:spPr>
          <a:xfrm>
            <a:off x="0" y="366714"/>
            <a:ext cx="9144000" cy="5909310"/>
          </a:xfrm>
          <a:prstGeom prst="rect">
            <a:avLst/>
          </a:prstGeom>
        </p:spPr>
        <p:txBody>
          <a:bodyPr wrap="square">
            <a:spAutoFit/>
          </a:bodyPr>
          <a:lstStyle/>
          <a:p>
            <a:r>
              <a:rPr lang="en-US" dirty="0" err="1"/>
              <a:t>Exemplele</a:t>
            </a:r>
            <a:r>
              <a:rPr lang="en-US" dirty="0"/>
              <a:t> de </a:t>
            </a:r>
            <a:r>
              <a:rPr lang="en-US" dirty="0" err="1"/>
              <a:t>beanuri</a:t>
            </a:r>
            <a:r>
              <a:rPr lang="en-US" dirty="0"/>
              <a:t> tip session </a:t>
            </a:r>
            <a:r>
              <a:rPr lang="en-US" dirty="0" err="1"/>
              <a:t>sunt</a:t>
            </a:r>
            <a:r>
              <a:rPr lang="en-US" dirty="0"/>
              <a:t> </a:t>
            </a:r>
            <a:r>
              <a:rPr lang="en-US" dirty="0" err="1"/>
              <a:t>organizate</a:t>
            </a:r>
            <a:r>
              <a:rPr lang="en-US" dirty="0"/>
              <a:t> ca </a:t>
            </a:r>
            <a:r>
              <a:rPr lang="en-US" dirty="0" err="1"/>
              <a:t>si</a:t>
            </a:r>
            <a:r>
              <a:rPr lang="en-US" dirty="0"/>
              <a:t> </a:t>
            </a:r>
            <a:r>
              <a:rPr lang="en-US" dirty="0" err="1"/>
              <a:t>proiecte</a:t>
            </a:r>
            <a:r>
              <a:rPr lang="en-US" dirty="0"/>
              <a:t> </a:t>
            </a:r>
            <a:r>
              <a:rPr lang="en-US" dirty="0" err="1"/>
              <a:t>gradle</a:t>
            </a:r>
            <a:r>
              <a:rPr lang="en-US" dirty="0"/>
              <a:t>, cu </a:t>
            </a:r>
            <a:r>
              <a:rPr lang="en-US" dirty="0" err="1"/>
              <a:t>sursele</a:t>
            </a:r>
            <a:r>
              <a:rPr lang="en-US" dirty="0"/>
              <a:t> </a:t>
            </a:r>
            <a:r>
              <a:rPr lang="en-US" dirty="0" err="1"/>
              <a:t>grupate</a:t>
            </a:r>
            <a:r>
              <a:rPr lang="en-US" dirty="0"/>
              <a:t> in </a:t>
            </a:r>
            <a:r>
              <a:rPr lang="en-US" dirty="0" err="1"/>
              <a:t>pachetele</a:t>
            </a:r>
            <a:r>
              <a:rPr lang="en-US" dirty="0"/>
              <a:t> </a:t>
            </a:r>
            <a:r>
              <a:rPr lang="en-US" b="1" dirty="0" err="1"/>
              <a:t>p.interfaces</a:t>
            </a:r>
            <a:r>
              <a:rPr lang="en-US" dirty="0"/>
              <a:t> </a:t>
            </a:r>
            <a:r>
              <a:rPr lang="en-US" dirty="0" err="1"/>
              <a:t>si</a:t>
            </a:r>
            <a:r>
              <a:rPr lang="en-US" dirty="0"/>
              <a:t> </a:t>
            </a:r>
            <a:r>
              <a:rPr lang="en-US" b="1" dirty="0" err="1"/>
              <a:t>p.beans</a:t>
            </a:r>
            <a:r>
              <a:rPr lang="en-US" dirty="0"/>
              <a:t>. </a:t>
            </a:r>
            <a:r>
              <a:rPr lang="en-US" dirty="0" err="1"/>
              <a:t>Functiile</a:t>
            </a:r>
            <a:r>
              <a:rPr lang="en-US" dirty="0"/>
              <a:t> </a:t>
            </a:r>
            <a:r>
              <a:rPr lang="en-US" dirty="0" err="1"/>
              <a:t>lor</a:t>
            </a:r>
            <a:r>
              <a:rPr lang="en-US" dirty="0"/>
              <a:t> </a:t>
            </a:r>
            <a:r>
              <a:rPr lang="en-US" dirty="0" err="1"/>
              <a:t>sunt</a:t>
            </a:r>
            <a:r>
              <a:rPr lang="en-US" dirty="0"/>
              <a:t> definite </a:t>
            </a:r>
            <a:r>
              <a:rPr lang="en-US" dirty="0" err="1"/>
              <a:t>prin</a:t>
            </a:r>
            <a:r>
              <a:rPr lang="en-US" dirty="0"/>
              <a:t>: </a:t>
            </a:r>
          </a:p>
          <a:p>
            <a:pPr marL="285750" indent="-285750">
              <a:buFont typeface="Arial" pitchFamily="34" charset="0"/>
              <a:buChar char="•"/>
            </a:pPr>
            <a:r>
              <a:rPr lang="en-US" dirty="0"/>
              <a:t>O </a:t>
            </a:r>
            <a:r>
              <a:rPr lang="en-US" dirty="0" err="1"/>
              <a:t>interfata</a:t>
            </a:r>
            <a:r>
              <a:rPr lang="en-US" dirty="0"/>
              <a:t> (</a:t>
            </a:r>
            <a:r>
              <a:rPr lang="en-US" b="1" dirty="0" err="1"/>
              <a:t>Abac</a:t>
            </a:r>
            <a:r>
              <a:rPr lang="en-US" dirty="0"/>
              <a:t>) </a:t>
            </a:r>
            <a:r>
              <a:rPr lang="en-US" dirty="0" err="1"/>
              <a:t>ce</a:t>
            </a:r>
            <a:r>
              <a:rPr lang="en-US" dirty="0"/>
              <a:t> </a:t>
            </a:r>
            <a:r>
              <a:rPr lang="en-US" dirty="0" err="1"/>
              <a:t>aduna</a:t>
            </a:r>
            <a:r>
              <a:rPr lang="en-US" dirty="0"/>
              <a:t> </a:t>
            </a:r>
            <a:r>
              <a:rPr lang="en-US" dirty="0" err="1"/>
              <a:t>sau</a:t>
            </a:r>
            <a:r>
              <a:rPr lang="en-US" dirty="0"/>
              <a:t> </a:t>
            </a:r>
            <a:r>
              <a:rPr lang="en-US" dirty="0" err="1"/>
              <a:t>scade</a:t>
            </a:r>
            <a:r>
              <a:rPr lang="en-US" dirty="0"/>
              <a:t> </a:t>
            </a:r>
            <a:r>
              <a:rPr lang="en-US" dirty="0" err="1"/>
              <a:t>doi</a:t>
            </a:r>
            <a:r>
              <a:rPr lang="en-US" dirty="0"/>
              <a:t> </a:t>
            </a:r>
            <a:r>
              <a:rPr lang="en-US" dirty="0" err="1"/>
              <a:t>intregi</a:t>
            </a:r>
            <a:r>
              <a:rPr lang="en-US" dirty="0"/>
              <a:t>, tip </a:t>
            </a:r>
            <a:r>
              <a:rPr lang="en-US" b="1" dirty="0"/>
              <a:t>stateless</a:t>
            </a:r>
          </a:p>
          <a:p>
            <a:pPr marL="285750" indent="-285750">
              <a:buFont typeface="Arial" pitchFamily="34" charset="0"/>
              <a:buChar char="•"/>
            </a:pPr>
            <a:r>
              <a:rPr lang="en-US" dirty="0"/>
              <a:t>O </a:t>
            </a:r>
            <a:r>
              <a:rPr lang="en-US" dirty="0" err="1"/>
              <a:t>interfata</a:t>
            </a:r>
            <a:r>
              <a:rPr lang="en-US" dirty="0"/>
              <a:t> (</a:t>
            </a:r>
            <a:r>
              <a:rPr lang="en-US" b="1" dirty="0"/>
              <a:t>Counter</a:t>
            </a:r>
            <a:r>
              <a:rPr lang="en-US" dirty="0"/>
              <a:t>) </a:t>
            </a:r>
            <a:r>
              <a:rPr lang="en-US" dirty="0" err="1"/>
              <a:t>ce</a:t>
            </a:r>
            <a:r>
              <a:rPr lang="en-US" dirty="0"/>
              <a:t> </a:t>
            </a:r>
            <a:r>
              <a:rPr lang="en-US" dirty="0" err="1"/>
              <a:t>opereaza</a:t>
            </a:r>
            <a:r>
              <a:rPr lang="en-US" dirty="0"/>
              <a:t> </a:t>
            </a:r>
            <a:r>
              <a:rPr lang="en-US" dirty="0" err="1"/>
              <a:t>asupra</a:t>
            </a:r>
            <a:r>
              <a:rPr lang="en-US" dirty="0"/>
              <a:t> </a:t>
            </a:r>
            <a:r>
              <a:rPr lang="en-US" dirty="0" err="1"/>
              <a:t>unui</a:t>
            </a:r>
            <a:r>
              <a:rPr lang="en-US" dirty="0"/>
              <a:t> </a:t>
            </a:r>
            <a:r>
              <a:rPr lang="en-US" dirty="0" err="1"/>
              <a:t>contor</a:t>
            </a:r>
            <a:r>
              <a:rPr lang="en-US" dirty="0"/>
              <a:t> global, tip </a:t>
            </a:r>
            <a:r>
              <a:rPr lang="en-US" b="1" dirty="0" err="1"/>
              <a:t>stateful</a:t>
            </a:r>
            <a:endParaRPr lang="en-US" dirty="0"/>
          </a:p>
          <a:p>
            <a:r>
              <a:rPr lang="en-US" dirty="0"/>
              <a:t> </a:t>
            </a:r>
          </a:p>
          <a:p>
            <a:r>
              <a:rPr lang="en-US" dirty="0" err="1"/>
              <a:t>Exemplul</a:t>
            </a:r>
            <a:r>
              <a:rPr lang="en-US" dirty="0"/>
              <a:t> </a:t>
            </a:r>
            <a:r>
              <a:rPr lang="en-US" b="1" dirty="0" err="1" smtClean="0"/>
              <a:t>1ejbSession</a:t>
            </a:r>
            <a:r>
              <a:rPr lang="en-US" dirty="0" smtClean="0"/>
              <a:t> </a:t>
            </a:r>
            <a:r>
              <a:rPr lang="en-US" dirty="0" err="1"/>
              <a:t>implementeaza</a:t>
            </a:r>
            <a:r>
              <a:rPr lang="en-US" dirty="0"/>
              <a:t> un </a:t>
            </a:r>
            <a:r>
              <a:rPr lang="en-US" dirty="0" err="1"/>
              <a:t>modulEJB</a:t>
            </a:r>
            <a:r>
              <a:rPr lang="en-US" dirty="0"/>
              <a:t> de tip </a:t>
            </a:r>
            <a:r>
              <a:rPr lang="en-US" b="1" dirty="0"/>
              <a:t>Stateless</a:t>
            </a:r>
            <a:r>
              <a:rPr lang="en-US" dirty="0"/>
              <a:t> </a:t>
            </a:r>
            <a:r>
              <a:rPr lang="en-US" dirty="0" err="1"/>
              <a:t>si</a:t>
            </a:r>
            <a:r>
              <a:rPr lang="en-US" dirty="0"/>
              <a:t> </a:t>
            </a:r>
            <a:r>
              <a:rPr lang="en-US" dirty="0" smtClean="0"/>
              <a:t>un </a:t>
            </a:r>
            <a:r>
              <a:rPr lang="en-US" dirty="0" err="1" smtClean="0"/>
              <a:t>modulEJB</a:t>
            </a:r>
            <a:r>
              <a:rPr lang="en-US" dirty="0" smtClean="0"/>
              <a:t> de </a:t>
            </a:r>
            <a:r>
              <a:rPr lang="en-US" dirty="0"/>
              <a:t>tip </a:t>
            </a:r>
            <a:r>
              <a:rPr lang="en-US" b="1" dirty="0" err="1"/>
              <a:t>Stateful</a:t>
            </a:r>
            <a:r>
              <a:rPr lang="en-US" dirty="0"/>
              <a:t>. </a:t>
            </a:r>
            <a:r>
              <a:rPr lang="en-US" dirty="0" err="1"/>
              <a:t>Ambele</a:t>
            </a:r>
            <a:r>
              <a:rPr lang="en-US" dirty="0"/>
              <a:t> </a:t>
            </a:r>
            <a:r>
              <a:rPr lang="en-US" dirty="0" err="1"/>
              <a:t>sunt</a:t>
            </a:r>
            <a:r>
              <a:rPr lang="en-US" dirty="0"/>
              <a:t> </a:t>
            </a:r>
            <a:r>
              <a:rPr lang="en-US" dirty="0" err="1"/>
              <a:t>impachetate</a:t>
            </a:r>
            <a:r>
              <a:rPr lang="en-US" dirty="0"/>
              <a:t> </a:t>
            </a:r>
            <a:r>
              <a:rPr lang="en-US" dirty="0" smtClean="0"/>
              <a:t>in </a:t>
            </a:r>
            <a:r>
              <a:rPr lang="en-US" dirty="0" err="1" smtClean="0"/>
              <a:t>aceeasi</a:t>
            </a:r>
            <a:r>
              <a:rPr lang="en-US" dirty="0" smtClean="0"/>
              <a:t> </a:t>
            </a:r>
            <a:r>
              <a:rPr lang="en-US" dirty="0" err="1"/>
              <a:t>arhiva</a:t>
            </a:r>
            <a:r>
              <a:rPr lang="en-US" dirty="0"/>
              <a:t> </a:t>
            </a:r>
            <a:r>
              <a:rPr lang="en-US" b="1" dirty="0"/>
              <a:t>jar</a:t>
            </a:r>
            <a:r>
              <a:rPr lang="en-US" dirty="0"/>
              <a:t>, </a:t>
            </a:r>
            <a:r>
              <a:rPr lang="en-US" dirty="0" err="1"/>
              <a:t>deployabila</a:t>
            </a:r>
            <a:r>
              <a:rPr lang="en-US" dirty="0"/>
              <a:t> </a:t>
            </a:r>
            <a:r>
              <a:rPr lang="en-US" dirty="0" err="1"/>
              <a:t>pe</a:t>
            </a:r>
            <a:r>
              <a:rPr lang="en-US" dirty="0"/>
              <a:t> AS.</a:t>
            </a:r>
          </a:p>
          <a:p>
            <a:r>
              <a:rPr lang="en-US" dirty="0" err="1"/>
              <a:t>Exemplul</a:t>
            </a:r>
            <a:r>
              <a:rPr lang="en-US" dirty="0"/>
              <a:t> </a:t>
            </a:r>
            <a:r>
              <a:rPr lang="en-US" b="1" dirty="0" err="1" smtClean="0"/>
              <a:t>2ejbSingleton</a:t>
            </a:r>
            <a:r>
              <a:rPr lang="en-US" dirty="0" smtClean="0"/>
              <a:t> </a:t>
            </a:r>
            <a:r>
              <a:rPr lang="en-US" dirty="0" err="1"/>
              <a:t>implementeaza</a:t>
            </a:r>
            <a:r>
              <a:rPr lang="en-US" dirty="0"/>
              <a:t> </a:t>
            </a:r>
            <a:r>
              <a:rPr lang="en-US" dirty="0" err="1"/>
              <a:t>ambele</a:t>
            </a:r>
            <a:r>
              <a:rPr lang="en-US" dirty="0"/>
              <a:t> </a:t>
            </a:r>
            <a:r>
              <a:rPr lang="en-US" dirty="0" err="1"/>
              <a:t>modulEJB</a:t>
            </a:r>
            <a:r>
              <a:rPr lang="en-US" dirty="0"/>
              <a:t> de tip </a:t>
            </a:r>
            <a:r>
              <a:rPr lang="en-US" b="1" dirty="0"/>
              <a:t>Singleton</a:t>
            </a:r>
            <a:r>
              <a:rPr lang="en-US" dirty="0"/>
              <a:t>. </a:t>
            </a:r>
            <a:r>
              <a:rPr lang="en-US" dirty="0" err="1"/>
              <a:t>Ambele</a:t>
            </a:r>
            <a:r>
              <a:rPr lang="en-US" dirty="0"/>
              <a:t> </a:t>
            </a:r>
            <a:r>
              <a:rPr lang="en-US" dirty="0" err="1"/>
              <a:t>sunt</a:t>
            </a:r>
            <a:r>
              <a:rPr lang="en-US" dirty="0"/>
              <a:t> </a:t>
            </a:r>
            <a:r>
              <a:rPr lang="en-US" dirty="0" err="1"/>
              <a:t>impachetate</a:t>
            </a:r>
            <a:r>
              <a:rPr lang="en-US" dirty="0"/>
              <a:t> </a:t>
            </a:r>
            <a:r>
              <a:rPr lang="en-US" dirty="0" smtClean="0"/>
              <a:t>in </a:t>
            </a:r>
            <a:r>
              <a:rPr lang="en-US" dirty="0" err="1" smtClean="0"/>
              <a:t>aceeasi</a:t>
            </a:r>
            <a:r>
              <a:rPr lang="en-US" dirty="0" smtClean="0"/>
              <a:t> </a:t>
            </a:r>
            <a:r>
              <a:rPr lang="en-US" dirty="0" err="1"/>
              <a:t>arhiva</a:t>
            </a:r>
            <a:r>
              <a:rPr lang="en-US" dirty="0"/>
              <a:t> </a:t>
            </a:r>
            <a:r>
              <a:rPr lang="en-US" b="1" dirty="0"/>
              <a:t>jar</a:t>
            </a:r>
            <a:r>
              <a:rPr lang="en-US" dirty="0"/>
              <a:t>, </a:t>
            </a:r>
            <a:r>
              <a:rPr lang="en-US" dirty="0" err="1"/>
              <a:t>deployabila</a:t>
            </a:r>
            <a:r>
              <a:rPr lang="en-US" dirty="0"/>
              <a:t> </a:t>
            </a:r>
            <a:r>
              <a:rPr lang="en-US" dirty="0" err="1"/>
              <a:t>pe</a:t>
            </a:r>
            <a:r>
              <a:rPr lang="en-US" dirty="0"/>
              <a:t> AS.</a:t>
            </a:r>
          </a:p>
          <a:p>
            <a:endParaRPr lang="en-US" dirty="0" smtClean="0"/>
          </a:p>
          <a:p>
            <a:r>
              <a:rPr lang="en-US" b="1" dirty="0" smtClean="0"/>
              <a:t>Deploy </a:t>
            </a:r>
            <a:r>
              <a:rPr lang="en-US" b="1" dirty="0" err="1" smtClean="0"/>
              <a:t>pe</a:t>
            </a:r>
            <a:r>
              <a:rPr lang="en-US" b="1" dirty="0" smtClean="0"/>
              <a:t> </a:t>
            </a:r>
            <a:r>
              <a:rPr lang="en-US" b="1" dirty="0" err="1" smtClean="0"/>
              <a:t>WildFly</a:t>
            </a:r>
            <a:r>
              <a:rPr lang="en-US" dirty="0" smtClean="0"/>
              <a:t>:</a:t>
            </a:r>
          </a:p>
          <a:p>
            <a:r>
              <a:rPr lang="en-US" dirty="0">
                <a:latin typeface="Courier New" panose="02070309020205020404" pitchFamily="49" charset="0"/>
                <a:cs typeface="Courier New" panose="02070309020205020404" pitchFamily="49" charset="0"/>
              </a:rPr>
              <a:t>Copy </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1ejbSession</a:t>
            </a:r>
            <a:r>
              <a:rPr lang="en-US" dirty="0" smtClean="0">
                <a:latin typeface="Courier New" panose="02070309020205020404" pitchFamily="49" charset="0"/>
                <a:cs typeface="Courier New" panose="02070309020205020404" pitchFamily="49" charset="0"/>
              </a:rPr>
              <a:t>   in $JBOSS_HOME/standalone/deployments/</a:t>
            </a:r>
            <a:endParaRPr lang="en-US" dirty="0">
              <a:latin typeface="Courier New" panose="02070309020205020404" pitchFamily="49" charset="0"/>
              <a:cs typeface="Courier New" panose="02070309020205020404" pitchFamily="49" charset="0"/>
            </a:endParaRPr>
          </a:p>
          <a:p>
            <a:r>
              <a:rPr lang="en-US" dirty="0" smtClean="0">
                <a:latin typeface="Courier New" panose="02070309020205020404" pitchFamily="49" charset="0"/>
                <a:cs typeface="Courier New" panose="02070309020205020404" pitchFamily="49" charset="0"/>
              </a:rPr>
              <a:t>Copy …/</a:t>
            </a:r>
            <a:r>
              <a:rPr lang="en-US" dirty="0" err="1" smtClean="0">
                <a:latin typeface="Courier New" panose="02070309020205020404" pitchFamily="49" charset="0"/>
                <a:cs typeface="Courier New" panose="02070309020205020404" pitchFamily="49" charset="0"/>
              </a:rPr>
              <a:t>2ejbSingleton</a:t>
            </a:r>
            <a:r>
              <a:rPr lang="en-US" dirty="0" smtClean="0">
                <a:latin typeface="Courier New" panose="02070309020205020404" pitchFamily="49" charset="0"/>
                <a:cs typeface="Courier New" panose="02070309020205020404" pitchFamily="49" charset="0"/>
              </a:rPr>
              <a:t> in $JBOSS_HOME/standalone/deployments/</a:t>
            </a:r>
            <a:endParaRPr lang="en-US" dirty="0">
              <a:latin typeface="Courier New" panose="02070309020205020404" pitchFamily="49" charset="0"/>
              <a:cs typeface="Courier New" panose="02070309020205020404" pitchFamily="49" charset="0"/>
            </a:endParaRPr>
          </a:p>
          <a:p>
            <a:endParaRPr lang="en-US" dirty="0"/>
          </a:p>
          <a:p>
            <a:r>
              <a:rPr lang="en-US" b="1" dirty="0"/>
              <a:t>Deploy </a:t>
            </a:r>
            <a:r>
              <a:rPr lang="en-US" b="1" dirty="0" err="1"/>
              <a:t>pe</a:t>
            </a:r>
            <a:r>
              <a:rPr lang="en-US" b="1" dirty="0"/>
              <a:t> </a:t>
            </a:r>
            <a:r>
              <a:rPr lang="en-US" b="1" dirty="0" err="1" smtClean="0"/>
              <a:t>GlassFish</a:t>
            </a:r>
            <a:r>
              <a:rPr lang="en-US" dirty="0" smtClean="0"/>
              <a:t>:</a:t>
            </a:r>
          </a:p>
          <a:p>
            <a:r>
              <a:rPr lang="en-US" dirty="0" smtClean="0">
                <a:latin typeface="Courier New" panose="02070309020205020404" pitchFamily="49" charset="0"/>
                <a:cs typeface="Courier New" panose="02070309020205020404" pitchFamily="49" charset="0"/>
              </a:rPr>
              <a:t>Copy …/</a:t>
            </a:r>
            <a:r>
              <a:rPr lang="en-US" dirty="0" err="1" smtClean="0">
                <a:latin typeface="Courier New" panose="02070309020205020404" pitchFamily="49" charset="0"/>
                <a:cs typeface="Courier New" panose="02070309020205020404" pitchFamily="49" charset="0"/>
              </a:rPr>
              <a:t>1ejbSession</a:t>
            </a:r>
            <a:r>
              <a:rPr lang="en-US" dirty="0" smtClean="0">
                <a:latin typeface="Courier New" panose="02070309020205020404" pitchFamily="49" charset="0"/>
                <a:cs typeface="Courier New" panose="02070309020205020404" pitchFamily="49" charset="0"/>
              </a:rPr>
              <a:t> in</a:t>
            </a:r>
            <a:endParaRPr lang="en-US" dirty="0">
              <a:latin typeface="Courier New" panose="02070309020205020404" pitchFamily="49" charset="0"/>
              <a:cs typeface="Courier New" panose="02070309020205020404" pitchFamily="49" charset="0"/>
            </a:endParaRPr>
          </a:p>
          <a:p>
            <a:r>
              <a:rPr lang="en-US" dirty="0" smtClean="0">
                <a:latin typeface="Courier New" panose="02070309020205020404" pitchFamily="49" charset="0"/>
                <a:cs typeface="Courier New" panose="02070309020205020404" pitchFamily="49" charset="0"/>
              </a:rPr>
              <a:t>             $GF_HOME/glassfish/domains/domain1/</a:t>
            </a:r>
            <a:r>
              <a:rPr lang="en-US" dirty="0" err="1" smtClean="0">
                <a:latin typeface="Courier New" panose="02070309020205020404" pitchFamily="49" charset="0"/>
                <a:cs typeface="Courier New" panose="02070309020205020404" pitchFamily="49" charset="0"/>
              </a:rPr>
              <a:t>autodeploy</a:t>
            </a:r>
            <a:r>
              <a:rPr lang="en-US" dirty="0" smtClean="0">
                <a:latin typeface="Courier New" panose="02070309020205020404" pitchFamily="49" charset="0"/>
                <a:cs typeface="Courier New" panose="02070309020205020404" pitchFamily="49" charset="0"/>
              </a:rPr>
              <a:t>/</a:t>
            </a:r>
          </a:p>
          <a:p>
            <a:r>
              <a:rPr lang="en-US" dirty="0" smtClean="0">
                <a:latin typeface="Courier New" panose="02070309020205020404" pitchFamily="49" charset="0"/>
                <a:cs typeface="Courier New" panose="02070309020205020404" pitchFamily="49" charset="0"/>
              </a:rPr>
              <a:t>Copy …/</a:t>
            </a:r>
            <a:r>
              <a:rPr lang="en-US" dirty="0" err="1" smtClean="0">
                <a:latin typeface="Courier New" panose="02070309020205020404" pitchFamily="49" charset="0"/>
                <a:cs typeface="Courier New" panose="02070309020205020404" pitchFamily="49" charset="0"/>
              </a:rPr>
              <a:t>2ejbSingleton</a:t>
            </a:r>
            <a:r>
              <a:rPr lang="en-US" dirty="0" smtClean="0">
                <a:latin typeface="Courier New" panose="02070309020205020404" pitchFamily="49" charset="0"/>
                <a:cs typeface="Courier New" panose="02070309020205020404" pitchFamily="49" charset="0"/>
              </a:rPr>
              <a:t> in</a:t>
            </a:r>
          </a:p>
          <a:p>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a:t>
            </a:r>
            <a:r>
              <a:rPr lang="en-US" dirty="0" smtClean="0">
                <a:latin typeface="Courier New" panose="02070309020205020404" pitchFamily="49" charset="0"/>
                <a:cs typeface="Courier New" panose="02070309020205020404" pitchFamily="49" charset="0"/>
              </a:rPr>
              <a:t>GF_HOME/glassfish/domains/domain1/</a:t>
            </a:r>
            <a:r>
              <a:rPr lang="en-US" dirty="0" err="1" smtClean="0">
                <a:latin typeface="Courier New" panose="02070309020205020404" pitchFamily="49" charset="0"/>
                <a:cs typeface="Courier New" panose="02070309020205020404" pitchFamily="49" charset="0"/>
              </a:rPr>
              <a:t>autodeploy</a:t>
            </a:r>
            <a:r>
              <a:rPr lang="en-US" dirty="0" smtClean="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b="1" dirty="0" err="1" smtClean="0">
                <a:solidFill>
                  <a:srgbClr val="FF0000"/>
                </a:solidFill>
                <a:latin typeface="Arial" pitchFamily="34" charset="0"/>
                <a:cs typeface="Arial" pitchFamily="34" charset="0"/>
              </a:rPr>
              <a:t>Consultati</a:t>
            </a:r>
            <a:r>
              <a:rPr lang="en-US" b="1" dirty="0" smtClean="0">
                <a:solidFill>
                  <a:srgbClr val="FF0000"/>
                </a:solidFill>
                <a:latin typeface="Arial" pitchFamily="34" charset="0"/>
                <a:cs typeface="Arial" pitchFamily="34" charset="0"/>
              </a:rPr>
              <a:t> ReadMe.txt </a:t>
            </a:r>
            <a:r>
              <a:rPr lang="en-US" b="1" dirty="0" err="1" smtClean="0">
                <a:solidFill>
                  <a:srgbClr val="FF0000"/>
                </a:solidFill>
                <a:latin typeface="Arial" pitchFamily="34" charset="0"/>
                <a:cs typeface="Arial" pitchFamily="34" charset="0"/>
              </a:rPr>
              <a:t>pentru</a:t>
            </a:r>
            <a:r>
              <a:rPr lang="en-US" b="1" dirty="0" smtClean="0">
                <a:solidFill>
                  <a:srgbClr val="FF0000"/>
                </a:solidFill>
                <a:latin typeface="Arial" pitchFamily="34" charset="0"/>
                <a:cs typeface="Arial" pitchFamily="34" charset="0"/>
              </a:rPr>
              <a:t> </a:t>
            </a:r>
            <a:r>
              <a:rPr lang="en-US" b="1" dirty="0" err="1" smtClean="0">
                <a:solidFill>
                  <a:srgbClr val="FF0000"/>
                </a:solidFill>
                <a:latin typeface="Arial" pitchFamily="34" charset="0"/>
                <a:cs typeface="Arial" pitchFamily="34" charset="0"/>
              </a:rPr>
              <a:t>detalii</a:t>
            </a:r>
            <a:r>
              <a:rPr lang="en-US" b="1" dirty="0" smtClean="0">
                <a:solidFill>
                  <a:srgbClr val="FF0000"/>
                </a:solidFill>
                <a:latin typeface="Arial" pitchFamily="34" charset="0"/>
                <a:cs typeface="Arial" pitchFamily="34" charset="0"/>
              </a:rPr>
              <a:t> de deploy</a:t>
            </a:r>
            <a:endParaRPr lang="en-US" b="1" dirty="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35671675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12</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smtClean="0">
                <a:solidFill>
                  <a:srgbClr val="FF0000"/>
                </a:solidFill>
                <a:latin typeface="Calibri" pitchFamily="34" charset="0"/>
              </a:rPr>
              <a:t>Exemplu</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modulEJB</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si</a:t>
            </a:r>
            <a:r>
              <a:rPr lang="en-US" altLang="en-US" dirty="0" smtClean="0">
                <a:solidFill>
                  <a:srgbClr val="FF0000"/>
                </a:solidFill>
                <a:latin typeface="Calibri" pitchFamily="34" charset="0"/>
              </a:rPr>
              <a:t> client servlet; </a:t>
            </a:r>
            <a:r>
              <a:rPr lang="en-US" altLang="en-US" dirty="0" err="1" smtClean="0">
                <a:solidFill>
                  <a:srgbClr val="FF0000"/>
                </a:solidFill>
                <a:latin typeface="Calibri" pitchFamily="34" charset="0"/>
              </a:rPr>
              <a:t>folosireea</a:t>
            </a:r>
            <a:r>
              <a:rPr lang="en-US" altLang="en-US" dirty="0">
                <a:solidFill>
                  <a:srgbClr val="FF0000"/>
                </a:solidFill>
                <a:latin typeface="Calibri" pitchFamily="34" charset="0"/>
              </a:rPr>
              <a:t> </a:t>
            </a:r>
            <a:r>
              <a:rPr lang="en-US" altLang="en-US" dirty="0" err="1" smtClean="0">
                <a:solidFill>
                  <a:srgbClr val="FF0000"/>
                </a:solidFill>
                <a:latin typeface="Calibri" pitchFamily="34" charset="0"/>
              </a:rPr>
              <a:t>arhivelor</a:t>
            </a:r>
            <a:r>
              <a:rPr lang="en-US" altLang="en-US" dirty="0" smtClean="0">
                <a:solidFill>
                  <a:srgbClr val="FF0000"/>
                </a:solidFill>
                <a:latin typeface="Calibri" pitchFamily="34" charset="0"/>
              </a:rPr>
              <a:t> ear; </a:t>
            </a:r>
            <a:r>
              <a:rPr lang="en-US" altLang="en-US" dirty="0" err="1" smtClean="0">
                <a:solidFill>
                  <a:srgbClr val="FF0000"/>
                </a:solidFill>
                <a:latin typeface="Calibri" pitchFamily="34" charset="0"/>
              </a:rPr>
              <a:t>modulEJB</a:t>
            </a:r>
            <a:r>
              <a:rPr lang="en-US" altLang="en-US" dirty="0" smtClean="0">
                <a:solidFill>
                  <a:srgbClr val="FF0000"/>
                </a:solidFill>
                <a:latin typeface="Calibri" pitchFamily="34" charset="0"/>
              </a:rPr>
              <a:t> timer  </a:t>
            </a:r>
            <a:endParaRPr lang="en-US" altLang="en-US" dirty="0">
              <a:solidFill>
                <a:srgbClr val="FF0000"/>
              </a:solidFill>
              <a:latin typeface="Calibri" pitchFamily="34" charset="0"/>
            </a:endParaRPr>
          </a:p>
        </p:txBody>
      </p:sp>
      <p:sp>
        <p:nvSpPr>
          <p:cNvPr id="3" name="TextBox 2"/>
          <p:cNvSpPr txBox="1"/>
          <p:nvPr/>
        </p:nvSpPr>
        <p:spPr>
          <a:xfrm>
            <a:off x="0" y="366713"/>
            <a:ext cx="9144000" cy="5078313"/>
          </a:xfrm>
          <a:prstGeom prst="rect">
            <a:avLst/>
          </a:prstGeom>
          <a:noFill/>
        </p:spPr>
        <p:txBody>
          <a:bodyPr wrap="square" rtlCol="0">
            <a:spAutoFit/>
          </a:bodyPr>
          <a:lstStyle/>
          <a:p>
            <a:r>
              <a:rPr lang="en-US" dirty="0" err="1" smtClean="0"/>
              <a:t>Exemplul</a:t>
            </a:r>
            <a:r>
              <a:rPr lang="en-US" dirty="0" smtClean="0"/>
              <a:t> </a:t>
            </a:r>
            <a:r>
              <a:rPr lang="en-US" b="1" dirty="0" err="1" smtClean="0"/>
              <a:t>3jbCs</a:t>
            </a:r>
            <a:r>
              <a:rPr lang="en-US" dirty="0" smtClean="0"/>
              <a:t> </a:t>
            </a:r>
            <a:r>
              <a:rPr lang="en-US" dirty="0" err="1" smtClean="0"/>
              <a:t>implementeaza</a:t>
            </a:r>
            <a:r>
              <a:rPr lang="en-US" dirty="0" smtClean="0"/>
              <a:t> </a:t>
            </a:r>
            <a:r>
              <a:rPr lang="en-US" dirty="0" err="1" smtClean="0"/>
              <a:t>structura</a:t>
            </a:r>
            <a:r>
              <a:rPr lang="en-US" dirty="0" smtClean="0"/>
              <a:t> </a:t>
            </a:r>
            <a:r>
              <a:rPr lang="en-US" dirty="0" err="1" smtClean="0"/>
              <a:t>cea</a:t>
            </a:r>
            <a:r>
              <a:rPr lang="en-US" dirty="0" smtClean="0"/>
              <a:t> </a:t>
            </a:r>
            <a:r>
              <a:rPr lang="en-US" dirty="0" err="1" smtClean="0"/>
              <a:t>mai</a:t>
            </a:r>
            <a:r>
              <a:rPr lang="en-US" dirty="0" smtClean="0"/>
              <a:t> des </a:t>
            </a:r>
            <a:r>
              <a:rPr lang="en-US" dirty="0" err="1" smtClean="0"/>
              <a:t>folosita</a:t>
            </a:r>
            <a:r>
              <a:rPr lang="en-US" dirty="0" smtClean="0"/>
              <a:t> in </a:t>
            </a:r>
            <a:r>
              <a:rPr lang="en-US" dirty="0" err="1" smtClean="0"/>
              <a:t>astfel</a:t>
            </a:r>
            <a:r>
              <a:rPr lang="en-US" dirty="0" smtClean="0"/>
              <a:t> de </a:t>
            </a:r>
            <a:r>
              <a:rPr lang="en-US" dirty="0" err="1" smtClean="0"/>
              <a:t>aplicatii</a:t>
            </a:r>
            <a:r>
              <a:rPr lang="en-US" dirty="0" smtClean="0"/>
              <a:t>: </a:t>
            </a:r>
            <a:r>
              <a:rPr lang="en-US" dirty="0" err="1" smtClean="0"/>
              <a:t>definirea</a:t>
            </a:r>
            <a:r>
              <a:rPr lang="en-US" dirty="0" smtClean="0"/>
              <a:t> de </a:t>
            </a:r>
            <a:r>
              <a:rPr lang="en-US" dirty="0" err="1" smtClean="0"/>
              <a:t>moduleEJB</a:t>
            </a:r>
            <a:r>
              <a:rPr lang="en-US" dirty="0" smtClean="0"/>
              <a:t> </a:t>
            </a:r>
            <a:r>
              <a:rPr lang="en-US" dirty="0" err="1" smtClean="0"/>
              <a:t>si</a:t>
            </a:r>
            <a:r>
              <a:rPr lang="en-US" dirty="0" smtClean="0"/>
              <a:t> </a:t>
            </a:r>
            <a:r>
              <a:rPr lang="en-US" dirty="0" err="1" smtClean="0"/>
              <a:t>injectarea</a:t>
            </a:r>
            <a:r>
              <a:rPr lang="en-US" dirty="0" smtClean="0"/>
              <a:t> </a:t>
            </a:r>
            <a:r>
              <a:rPr lang="en-US" dirty="0" err="1" smtClean="0"/>
              <a:t>acestora</a:t>
            </a:r>
            <a:r>
              <a:rPr lang="en-US" dirty="0" smtClean="0"/>
              <a:t> in servlet(</a:t>
            </a:r>
            <a:r>
              <a:rPr lang="en-US" dirty="0" err="1" smtClean="0"/>
              <a:t>uri</a:t>
            </a:r>
            <a:r>
              <a:rPr lang="en-US" dirty="0" smtClean="0"/>
              <a:t>) </a:t>
            </a:r>
            <a:r>
              <a:rPr lang="en-US" dirty="0" err="1" smtClean="0"/>
              <a:t>pe</a:t>
            </a:r>
            <a:r>
              <a:rPr lang="en-US" dirty="0" smtClean="0"/>
              <a:t> post de client. </a:t>
            </a:r>
            <a:r>
              <a:rPr lang="en-US" dirty="0" err="1" smtClean="0"/>
              <a:t>Modulele</a:t>
            </a:r>
            <a:r>
              <a:rPr lang="en-US" dirty="0" smtClean="0"/>
              <a:t> EJB </a:t>
            </a:r>
            <a:r>
              <a:rPr lang="en-US" dirty="0" err="1" smtClean="0"/>
              <a:t>sunt</a:t>
            </a:r>
            <a:r>
              <a:rPr lang="en-US" dirty="0" smtClean="0"/>
              <a:t> definite </a:t>
            </a:r>
            <a:r>
              <a:rPr lang="en-US" dirty="0" err="1" smtClean="0"/>
              <a:t>folosind</a:t>
            </a:r>
            <a:r>
              <a:rPr lang="en-US" dirty="0" smtClean="0"/>
              <a:t> </a:t>
            </a:r>
            <a:r>
              <a:rPr lang="en-US" dirty="0" err="1" smtClean="0"/>
              <a:t>interfetele</a:t>
            </a:r>
            <a:r>
              <a:rPr lang="en-US" dirty="0" smtClean="0"/>
              <a:t> </a:t>
            </a:r>
            <a:r>
              <a:rPr lang="en-US" b="1" dirty="0" err="1" smtClean="0"/>
              <a:t>Abac</a:t>
            </a:r>
            <a:r>
              <a:rPr lang="en-US" b="1" dirty="0" smtClean="0"/>
              <a:t>, </a:t>
            </a:r>
            <a:r>
              <a:rPr lang="en-US" b="1" dirty="0" err="1" smtClean="0"/>
              <a:t>AbacR</a:t>
            </a:r>
            <a:r>
              <a:rPr lang="en-US" b="1" dirty="0" smtClean="0"/>
              <a:t>, Counter, </a:t>
            </a:r>
            <a:r>
              <a:rPr lang="en-US" b="1" dirty="0" err="1" smtClean="0"/>
              <a:t>CounterR</a:t>
            </a:r>
            <a:r>
              <a:rPr lang="en-US" dirty="0" smtClean="0"/>
              <a:t> (</a:t>
            </a:r>
            <a:r>
              <a:rPr lang="en-US" dirty="0" err="1" smtClean="0"/>
              <a:t>cele</a:t>
            </a:r>
            <a:r>
              <a:rPr lang="en-US" dirty="0" smtClean="0"/>
              <a:t> terminate cu R </a:t>
            </a:r>
            <a:r>
              <a:rPr lang="en-US" dirty="0" err="1" smtClean="0"/>
              <a:t>sunt</a:t>
            </a:r>
            <a:r>
              <a:rPr lang="en-US" dirty="0" smtClean="0"/>
              <a:t> </a:t>
            </a:r>
            <a:r>
              <a:rPr lang="en-US" dirty="0" err="1" smtClean="0"/>
              <a:t>folosite</a:t>
            </a:r>
            <a:r>
              <a:rPr lang="en-US" dirty="0" smtClean="0"/>
              <a:t> ca </a:t>
            </a:r>
            <a:r>
              <a:rPr lang="en-US" dirty="0" err="1" smtClean="0"/>
              <a:t>si</a:t>
            </a:r>
            <a:r>
              <a:rPr lang="en-US" dirty="0" smtClean="0"/>
              <a:t> </a:t>
            </a:r>
            <a:r>
              <a:rPr lang="en-US" dirty="0" err="1" smtClean="0"/>
              <a:t>interfete</a:t>
            </a:r>
            <a:r>
              <a:rPr lang="en-US" dirty="0" smtClean="0"/>
              <a:t> Remote). Se </a:t>
            </a:r>
            <a:r>
              <a:rPr lang="en-US" dirty="0" err="1" smtClean="0"/>
              <a:t>defineste</a:t>
            </a:r>
            <a:r>
              <a:rPr lang="en-US" dirty="0" smtClean="0"/>
              <a:t> un </a:t>
            </a:r>
            <a:r>
              <a:rPr lang="en-US" dirty="0" err="1" smtClean="0"/>
              <a:t>modulEJB</a:t>
            </a:r>
            <a:r>
              <a:rPr lang="en-US" dirty="0" smtClean="0"/>
              <a:t> stateless (</a:t>
            </a:r>
            <a:r>
              <a:rPr lang="en-US" b="1" dirty="0" err="1" smtClean="0"/>
              <a:t>AbacBean</a:t>
            </a:r>
            <a:r>
              <a:rPr lang="en-US" dirty="0" smtClean="0"/>
              <a:t>) </a:t>
            </a:r>
            <a:r>
              <a:rPr lang="en-US" dirty="0" err="1" smtClean="0"/>
              <a:t>si</a:t>
            </a:r>
            <a:r>
              <a:rPr lang="en-US" dirty="0" smtClean="0"/>
              <a:t> un </a:t>
            </a:r>
            <a:r>
              <a:rPr lang="en-US" dirty="0" err="1" smtClean="0"/>
              <a:t>modulEJB</a:t>
            </a:r>
            <a:r>
              <a:rPr lang="en-US" dirty="0" smtClean="0"/>
              <a:t> </a:t>
            </a:r>
            <a:r>
              <a:rPr lang="en-US" dirty="0" err="1" smtClean="0"/>
              <a:t>stateful</a:t>
            </a:r>
            <a:r>
              <a:rPr lang="en-US" dirty="0" smtClean="0"/>
              <a:t> (</a:t>
            </a:r>
            <a:r>
              <a:rPr lang="en-US" b="1" dirty="0" err="1" smtClean="0"/>
              <a:t>CounterBean</a:t>
            </a:r>
            <a:r>
              <a:rPr lang="en-US" dirty="0" smtClean="0"/>
              <a:t>). In </a:t>
            </a:r>
            <a:r>
              <a:rPr lang="en-US" dirty="0" err="1" smtClean="0"/>
              <a:t>pachetul</a:t>
            </a:r>
            <a:r>
              <a:rPr lang="en-US" dirty="0" smtClean="0"/>
              <a:t> </a:t>
            </a:r>
            <a:r>
              <a:rPr lang="en-US" b="1" dirty="0" err="1" smtClean="0"/>
              <a:t>p.clients</a:t>
            </a:r>
            <a:r>
              <a:rPr lang="en-US" b="1" dirty="0" smtClean="0"/>
              <a:t> </a:t>
            </a:r>
            <a:r>
              <a:rPr lang="en-US" dirty="0" smtClean="0"/>
              <a:t>se </a:t>
            </a:r>
            <a:r>
              <a:rPr lang="en-US" dirty="0" err="1" smtClean="0"/>
              <a:t>afla</a:t>
            </a:r>
            <a:r>
              <a:rPr lang="en-US" dirty="0" smtClean="0"/>
              <a:t> </a:t>
            </a:r>
            <a:r>
              <a:rPr lang="en-US" dirty="0" err="1" smtClean="0"/>
              <a:t>sursa</a:t>
            </a:r>
            <a:r>
              <a:rPr lang="en-US" dirty="0" smtClean="0"/>
              <a:t> </a:t>
            </a:r>
            <a:r>
              <a:rPr lang="en-US" b="1" dirty="0" err="1" smtClean="0"/>
              <a:t>ServletClient</a:t>
            </a:r>
            <a:r>
              <a:rPr lang="en-US" dirty="0" smtClean="0"/>
              <a:t> (</a:t>
            </a:r>
            <a:r>
              <a:rPr lang="en-US" dirty="0" err="1" smtClean="0"/>
              <a:t>mapat</a:t>
            </a:r>
            <a:r>
              <a:rPr lang="en-US" dirty="0" smtClean="0"/>
              <a:t> cu </a:t>
            </a:r>
            <a:r>
              <a:rPr lang="en-US" b="1" dirty="0" smtClean="0"/>
              <a:t>/client</a:t>
            </a:r>
            <a:r>
              <a:rPr lang="en-US" dirty="0" smtClean="0"/>
              <a:t>). In </a:t>
            </a:r>
            <a:r>
              <a:rPr lang="en-US" dirty="0" err="1" smtClean="0"/>
              <a:t>aceasta</a:t>
            </a:r>
            <a:r>
              <a:rPr lang="en-US" dirty="0" smtClean="0"/>
              <a:t> </a:t>
            </a:r>
            <a:r>
              <a:rPr lang="en-US" u="sng" dirty="0" err="1" smtClean="0"/>
              <a:t>sunt</a:t>
            </a:r>
            <a:r>
              <a:rPr lang="en-US" u="sng" dirty="0" smtClean="0"/>
              <a:t> </a:t>
            </a:r>
            <a:r>
              <a:rPr lang="en-US" u="sng" dirty="0" err="1" smtClean="0"/>
              <a:t>injectate</a:t>
            </a:r>
            <a:r>
              <a:rPr lang="en-US" u="sng" dirty="0" smtClean="0"/>
              <a:t> </a:t>
            </a:r>
            <a:r>
              <a:rPr lang="en-US" dirty="0" smtClean="0"/>
              <a:t>cu </a:t>
            </a:r>
            <a:r>
              <a:rPr lang="en-US" b="1" dirty="0" smtClean="0"/>
              <a:t>@EJB</a:t>
            </a:r>
            <a:r>
              <a:rPr lang="en-US" dirty="0" smtClean="0"/>
              <a:t> </a:t>
            </a:r>
            <a:r>
              <a:rPr lang="en-US" dirty="0" err="1" smtClean="0"/>
              <a:t>referintele</a:t>
            </a:r>
            <a:r>
              <a:rPr lang="en-US" dirty="0" smtClean="0"/>
              <a:t> la </a:t>
            </a:r>
            <a:r>
              <a:rPr lang="en-US" dirty="0" err="1" smtClean="0"/>
              <a:t>cele</a:t>
            </a:r>
            <a:r>
              <a:rPr lang="en-US" dirty="0" smtClean="0"/>
              <a:t> </a:t>
            </a:r>
            <a:r>
              <a:rPr lang="en-US" dirty="0" err="1" smtClean="0"/>
              <a:t>doua</a:t>
            </a:r>
            <a:r>
              <a:rPr lang="en-US" dirty="0" smtClean="0"/>
              <a:t> </a:t>
            </a:r>
            <a:r>
              <a:rPr lang="en-US" dirty="0" err="1" smtClean="0"/>
              <a:t>interfete</a:t>
            </a:r>
            <a:r>
              <a:rPr lang="en-US" dirty="0" smtClean="0"/>
              <a:t> ale </a:t>
            </a:r>
            <a:r>
              <a:rPr lang="en-US" dirty="0" err="1" smtClean="0"/>
              <a:t>modulelorEJB</a:t>
            </a:r>
            <a:r>
              <a:rPr lang="en-US" dirty="0" smtClean="0"/>
              <a:t>. </a:t>
            </a:r>
            <a:r>
              <a:rPr lang="en-US" dirty="0" err="1" smtClean="0"/>
              <a:t>Servletul</a:t>
            </a:r>
            <a:r>
              <a:rPr lang="en-US" dirty="0" smtClean="0"/>
              <a:t> da la </a:t>
            </a:r>
            <a:r>
              <a:rPr lang="en-US" dirty="0" err="1" smtClean="0"/>
              <a:t>iesire</a:t>
            </a:r>
            <a:r>
              <a:rPr lang="en-US" dirty="0" smtClean="0"/>
              <a:t>, </a:t>
            </a:r>
            <a:r>
              <a:rPr lang="en-US" dirty="0" err="1" smtClean="0"/>
              <a:t>pe</a:t>
            </a:r>
            <a:r>
              <a:rPr lang="en-US" dirty="0" smtClean="0"/>
              <a:t> browser, </a:t>
            </a:r>
            <a:r>
              <a:rPr lang="en-US" dirty="0" err="1" smtClean="0"/>
              <a:t>exemple</a:t>
            </a:r>
            <a:r>
              <a:rPr lang="en-US" dirty="0" smtClean="0"/>
              <a:t> de </a:t>
            </a:r>
            <a:r>
              <a:rPr lang="en-US" dirty="0" err="1" smtClean="0"/>
              <a:t>apel</a:t>
            </a:r>
            <a:r>
              <a:rPr lang="en-US" dirty="0" smtClean="0"/>
              <a:t> </a:t>
            </a:r>
            <a:r>
              <a:rPr lang="en-US" dirty="0" err="1" smtClean="0"/>
              <a:t>pentru</a:t>
            </a:r>
            <a:r>
              <a:rPr lang="en-US" dirty="0" smtClean="0"/>
              <a:t> </a:t>
            </a:r>
            <a:r>
              <a:rPr lang="en-US" dirty="0" err="1" smtClean="0"/>
              <a:t>ambele</a:t>
            </a:r>
            <a:r>
              <a:rPr lang="en-US" dirty="0" smtClean="0"/>
              <a:t> module </a:t>
            </a:r>
            <a:r>
              <a:rPr lang="en-US" dirty="0" err="1" smtClean="0"/>
              <a:t>EJB</a:t>
            </a:r>
            <a:r>
              <a:rPr lang="en-US" dirty="0" smtClean="0"/>
              <a:t>. </a:t>
            </a:r>
            <a:r>
              <a:rPr lang="en-US" dirty="0" err="1" smtClean="0"/>
              <a:t>Cele</a:t>
            </a:r>
            <a:r>
              <a:rPr lang="en-US" dirty="0" smtClean="0"/>
              <a:t> </a:t>
            </a:r>
            <a:r>
              <a:rPr lang="en-US" dirty="0" err="1" smtClean="0"/>
              <a:t>doua</a:t>
            </a:r>
            <a:r>
              <a:rPr lang="en-US" dirty="0" smtClean="0"/>
              <a:t> module EJB, </a:t>
            </a:r>
            <a:r>
              <a:rPr lang="en-US" dirty="0" err="1" smtClean="0"/>
              <a:t>impreuna</a:t>
            </a:r>
            <a:r>
              <a:rPr lang="en-US" dirty="0" smtClean="0"/>
              <a:t> cu </a:t>
            </a:r>
            <a:r>
              <a:rPr lang="en-US" dirty="0" err="1" smtClean="0"/>
              <a:t>servletul</a:t>
            </a:r>
            <a:r>
              <a:rPr lang="en-US" dirty="0" smtClean="0"/>
              <a:t>, </a:t>
            </a:r>
            <a:r>
              <a:rPr lang="en-US" dirty="0" err="1" smtClean="0"/>
              <a:t>sunt</a:t>
            </a:r>
            <a:r>
              <a:rPr lang="en-US" dirty="0" smtClean="0"/>
              <a:t> </a:t>
            </a:r>
            <a:r>
              <a:rPr lang="en-US" dirty="0" err="1" smtClean="0"/>
              <a:t>impachetate</a:t>
            </a:r>
            <a:r>
              <a:rPr lang="en-US" dirty="0" smtClean="0"/>
              <a:t> </a:t>
            </a:r>
            <a:r>
              <a:rPr lang="en-US" dirty="0" err="1" smtClean="0"/>
              <a:t>intr</a:t>
            </a:r>
            <a:r>
              <a:rPr lang="en-US" dirty="0" smtClean="0"/>
              <a:t>-o </a:t>
            </a:r>
            <a:r>
              <a:rPr lang="en-US" dirty="0" err="1" smtClean="0"/>
              <a:t>arhiva</a:t>
            </a:r>
            <a:r>
              <a:rPr lang="en-US" dirty="0" smtClean="0"/>
              <a:t> </a:t>
            </a:r>
            <a:r>
              <a:rPr lang="en-US" b="1" dirty="0" smtClean="0"/>
              <a:t>war</a:t>
            </a:r>
            <a:r>
              <a:rPr lang="en-US" dirty="0" smtClean="0"/>
              <a:t>, </a:t>
            </a:r>
            <a:r>
              <a:rPr lang="en-US" dirty="0" err="1" smtClean="0"/>
              <a:t>deployabila</a:t>
            </a:r>
            <a:r>
              <a:rPr lang="en-US" dirty="0" smtClean="0"/>
              <a:t> </a:t>
            </a:r>
            <a:r>
              <a:rPr lang="en-US" dirty="0" err="1" smtClean="0"/>
              <a:t>pe</a:t>
            </a:r>
            <a:r>
              <a:rPr lang="en-US" dirty="0" smtClean="0"/>
              <a:t> AS.</a:t>
            </a:r>
          </a:p>
          <a:p>
            <a:r>
              <a:rPr lang="en-US" dirty="0" err="1" smtClean="0"/>
              <a:t>Exemplul</a:t>
            </a:r>
            <a:r>
              <a:rPr lang="en-US" dirty="0" smtClean="0"/>
              <a:t> </a:t>
            </a:r>
            <a:r>
              <a:rPr lang="en-US" b="1" dirty="0" err="1" smtClean="0"/>
              <a:t>3ejbCs2</a:t>
            </a:r>
            <a:r>
              <a:rPr lang="en-US" dirty="0" smtClean="0"/>
              <a:t> Face </a:t>
            </a:r>
            <a:r>
              <a:rPr lang="en-US" dirty="0" err="1" smtClean="0"/>
              <a:t>aceeasi</a:t>
            </a:r>
            <a:r>
              <a:rPr lang="en-US" dirty="0" smtClean="0"/>
              <a:t> </a:t>
            </a:r>
            <a:r>
              <a:rPr lang="en-US" dirty="0" err="1" smtClean="0"/>
              <a:t>implementare</a:t>
            </a:r>
            <a:r>
              <a:rPr lang="en-US" dirty="0" smtClean="0"/>
              <a:t>, </a:t>
            </a:r>
            <a:r>
              <a:rPr lang="en-US" dirty="0" err="1" smtClean="0"/>
              <a:t>fara</a:t>
            </a:r>
            <a:r>
              <a:rPr lang="en-US" dirty="0" smtClean="0"/>
              <a:t> a se </a:t>
            </a:r>
            <a:r>
              <a:rPr lang="en-US" dirty="0" err="1" smtClean="0"/>
              <a:t>folosi</a:t>
            </a:r>
            <a:r>
              <a:rPr lang="en-US" dirty="0" smtClean="0"/>
              <a:t> </a:t>
            </a:r>
            <a:r>
              <a:rPr lang="en-US" dirty="0" err="1" smtClean="0"/>
              <a:t>interfete</a:t>
            </a:r>
            <a:r>
              <a:rPr lang="en-US" dirty="0" smtClean="0"/>
              <a:t>. </a:t>
            </a:r>
            <a:r>
              <a:rPr lang="en-US" dirty="0" err="1" smtClean="0"/>
              <a:t>Cele</a:t>
            </a:r>
            <a:r>
              <a:rPr lang="en-US" dirty="0" smtClean="0"/>
              <a:t> </a:t>
            </a:r>
            <a:r>
              <a:rPr lang="en-US" dirty="0" err="1" smtClean="0"/>
              <a:t>doua</a:t>
            </a:r>
            <a:r>
              <a:rPr lang="en-US" dirty="0" smtClean="0"/>
              <a:t> </a:t>
            </a:r>
            <a:r>
              <a:rPr lang="en-US" dirty="0" err="1" smtClean="0"/>
              <a:t>beanuri</a:t>
            </a:r>
            <a:r>
              <a:rPr lang="en-US" dirty="0" smtClean="0"/>
              <a:t> </a:t>
            </a:r>
            <a:r>
              <a:rPr lang="en-US" dirty="0" err="1" smtClean="0"/>
              <a:t>exporta</a:t>
            </a:r>
            <a:r>
              <a:rPr lang="en-US" dirty="0" smtClean="0"/>
              <a:t> </a:t>
            </a:r>
            <a:r>
              <a:rPr lang="en-US" dirty="0" err="1" smtClean="0"/>
              <a:t>toate</a:t>
            </a:r>
            <a:r>
              <a:rPr lang="en-US" dirty="0" smtClean="0"/>
              <a:t> </a:t>
            </a:r>
            <a:r>
              <a:rPr lang="en-US" dirty="0" err="1" smtClean="0"/>
              <a:t>metodele</a:t>
            </a:r>
            <a:r>
              <a:rPr lang="en-US" dirty="0" smtClean="0"/>
              <a:t> </a:t>
            </a:r>
            <a:r>
              <a:rPr lang="en-US" dirty="0" err="1" smtClean="0"/>
              <a:t>lor</a:t>
            </a:r>
            <a:r>
              <a:rPr lang="en-US" dirty="0" smtClean="0"/>
              <a:t> </a:t>
            </a:r>
            <a:r>
              <a:rPr lang="en-US" dirty="0" err="1" smtClean="0"/>
              <a:t>publice</a:t>
            </a:r>
            <a:r>
              <a:rPr lang="en-US" dirty="0" smtClean="0"/>
              <a:t>.</a:t>
            </a:r>
          </a:p>
          <a:p>
            <a:r>
              <a:rPr lang="en-US" b="1" dirty="0" smtClean="0"/>
              <a:t>Deploy </a:t>
            </a:r>
            <a:r>
              <a:rPr lang="en-US" dirty="0" smtClean="0"/>
              <a:t>(</a:t>
            </a:r>
            <a:r>
              <a:rPr lang="en-US" dirty="0" err="1" smtClean="0"/>
              <a:t>depinde</a:t>
            </a:r>
            <a:r>
              <a:rPr lang="en-US" dirty="0" smtClean="0"/>
              <a:t> de AS) </a:t>
            </a:r>
            <a:r>
              <a:rPr lang="en-US" b="1" dirty="0" err="1" smtClean="0"/>
              <a:t>inseamna</a:t>
            </a:r>
            <a:r>
              <a:rPr lang="en-US" b="1" dirty="0" smtClean="0"/>
              <a:t> Copy </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3ejbCs.war</a:t>
            </a:r>
            <a:r>
              <a:rPr lang="en-US" dirty="0" smtClean="0">
                <a:latin typeface="Courier New" panose="02070309020205020404" pitchFamily="49" charset="0"/>
                <a:cs typeface="Courier New" panose="02070309020205020404" pitchFamily="49" charset="0"/>
              </a:rPr>
              <a:t> </a:t>
            </a:r>
            <a:r>
              <a:rPr lang="en-US" b="1" dirty="0" err="1" smtClean="0"/>
              <a:t>pe</a:t>
            </a:r>
            <a:r>
              <a:rPr lang="en-US" b="1" dirty="0" smtClean="0"/>
              <a:t>:</a:t>
            </a:r>
          </a:p>
          <a:p>
            <a:r>
              <a:rPr lang="en-US" b="1" dirty="0" err="1" smtClean="0"/>
              <a:t>WildFly</a:t>
            </a:r>
            <a:r>
              <a:rPr lang="en-US" dirty="0" smtClean="0"/>
              <a:t>: </a:t>
            </a:r>
            <a:r>
              <a:rPr lang="en-US" dirty="0">
                <a:latin typeface="Courier New" panose="02070309020205020404" pitchFamily="49" charset="0"/>
                <a:cs typeface="Courier New" panose="02070309020205020404" pitchFamily="49" charset="0"/>
              </a:rPr>
              <a:t> </a:t>
            </a:r>
            <a:r>
              <a:rPr lang="en-US" dirty="0" smtClean="0">
                <a:latin typeface="Courier New" panose="02070309020205020404" pitchFamily="49" charset="0"/>
                <a:cs typeface="Courier New" panose="02070309020205020404" pitchFamily="49" charset="0"/>
              </a:rPr>
              <a:t>    $</a:t>
            </a:r>
            <a:r>
              <a:rPr lang="en-US" dirty="0" err="1" smtClean="0">
                <a:latin typeface="Courier New" panose="02070309020205020404" pitchFamily="49" charset="0"/>
                <a:cs typeface="Courier New" panose="02070309020205020404" pitchFamily="49" charset="0"/>
              </a:rPr>
              <a:t>JBOSS_HOME</a:t>
            </a:r>
            <a:r>
              <a:rPr lang="en-US" dirty="0" smtClean="0">
                <a:latin typeface="Courier New" panose="02070309020205020404" pitchFamily="49" charset="0"/>
                <a:cs typeface="Courier New" panose="02070309020205020404" pitchFamily="49" charset="0"/>
              </a:rPr>
              <a:t>/standalone/deployments</a:t>
            </a:r>
            <a:endParaRPr lang="en-US" dirty="0">
              <a:latin typeface="Courier New" panose="02070309020205020404" pitchFamily="49" charset="0"/>
              <a:cs typeface="Courier New" panose="02070309020205020404" pitchFamily="49" charset="0"/>
            </a:endParaRPr>
          </a:p>
          <a:p>
            <a:r>
              <a:rPr lang="en-US" b="1" dirty="0" err="1" smtClean="0"/>
              <a:t>GlassFish</a:t>
            </a:r>
            <a:r>
              <a:rPr lang="en-US" dirty="0" smtClean="0"/>
              <a:t>:</a:t>
            </a:r>
            <a:r>
              <a:rPr lang="en-US" dirty="0" smtClean="0">
                <a:latin typeface="Courier New" panose="02070309020205020404" pitchFamily="49" charset="0"/>
                <a:cs typeface="Courier New" panose="02070309020205020404" pitchFamily="49" charset="0"/>
              </a:rPr>
              <a:t>   </a:t>
            </a:r>
            <a:r>
              <a:rPr lang="en-US" dirty="0">
                <a:latin typeface="Courier New" panose="02070309020205020404" pitchFamily="49" charset="0"/>
                <a:cs typeface="Courier New" panose="02070309020205020404" pitchFamily="49" charset="0"/>
              </a:rPr>
              <a:t>$</a:t>
            </a:r>
            <a:r>
              <a:rPr lang="en-US" dirty="0" smtClean="0">
                <a:latin typeface="Courier New" panose="02070309020205020404" pitchFamily="49" charset="0"/>
                <a:cs typeface="Courier New" panose="02070309020205020404" pitchFamily="49" charset="0"/>
              </a:rPr>
              <a:t>GF_HOME/glassfish/domains/domain1/</a:t>
            </a:r>
            <a:r>
              <a:rPr lang="en-US" dirty="0" err="1" smtClean="0">
                <a:latin typeface="Courier New" panose="02070309020205020404" pitchFamily="49" charset="0"/>
                <a:cs typeface="Courier New" panose="02070309020205020404" pitchFamily="49" charset="0"/>
              </a:rPr>
              <a:t>autodeploy</a:t>
            </a:r>
            <a:endParaRPr lang="en-US" dirty="0">
              <a:latin typeface="Courier New" panose="02070309020205020404" pitchFamily="49" charset="0"/>
              <a:cs typeface="Courier New" panose="02070309020205020404" pitchFamily="49" charset="0"/>
            </a:endParaRPr>
          </a:p>
          <a:p>
            <a:endParaRPr lang="en-US" dirty="0" smtClean="0"/>
          </a:p>
          <a:p>
            <a:r>
              <a:rPr lang="en-US" dirty="0" err="1" smtClean="0"/>
              <a:t>Exemplul</a:t>
            </a:r>
            <a:r>
              <a:rPr lang="en-US" dirty="0" smtClean="0"/>
              <a:t> </a:t>
            </a:r>
            <a:r>
              <a:rPr lang="en-US" b="1" dirty="0" err="1" smtClean="0"/>
              <a:t>4ear123</a:t>
            </a:r>
            <a:r>
              <a:rPr lang="en-US" dirty="0" smtClean="0"/>
              <a:t> </a:t>
            </a:r>
            <a:r>
              <a:rPr lang="en-US" dirty="0" err="1" smtClean="0"/>
              <a:t>aduna</a:t>
            </a:r>
            <a:r>
              <a:rPr lang="en-US" dirty="0" smtClean="0"/>
              <a:t> </a:t>
            </a:r>
            <a:r>
              <a:rPr lang="en-US" b="1" dirty="0" err="1" smtClean="0"/>
              <a:t>1ejbSession.jar</a:t>
            </a:r>
            <a:r>
              <a:rPr lang="en-US" b="1" dirty="0" smtClean="0"/>
              <a:t>, </a:t>
            </a:r>
            <a:r>
              <a:rPr lang="en-US" b="1" dirty="0" err="1" smtClean="0"/>
              <a:t>2ejbSingleton.jar</a:t>
            </a:r>
            <a:r>
              <a:rPr lang="en-US" b="1" dirty="0" smtClean="0"/>
              <a:t>, </a:t>
            </a:r>
            <a:r>
              <a:rPr lang="en-US" b="1" dirty="0" err="1" smtClean="0"/>
              <a:t>3ejbCs.war</a:t>
            </a:r>
            <a:r>
              <a:rPr lang="en-US" dirty="0" smtClean="0"/>
              <a:t> </a:t>
            </a:r>
            <a:r>
              <a:rPr lang="en-US" dirty="0" err="1"/>
              <a:t>intr</a:t>
            </a:r>
            <a:r>
              <a:rPr lang="en-US" dirty="0"/>
              <a:t>-o </a:t>
            </a:r>
            <a:r>
              <a:rPr lang="en-US" dirty="0" err="1"/>
              <a:t>arhiva</a:t>
            </a:r>
            <a:r>
              <a:rPr lang="en-US" dirty="0"/>
              <a:t> </a:t>
            </a:r>
            <a:r>
              <a:rPr lang="en-US" b="1" dirty="0" smtClean="0"/>
              <a:t>ear</a:t>
            </a:r>
            <a:r>
              <a:rPr lang="en-US" dirty="0" smtClean="0"/>
              <a:t>. </a:t>
            </a:r>
            <a:r>
              <a:rPr lang="en-US" dirty="0"/>
              <a:t>I</a:t>
            </a:r>
            <a:r>
              <a:rPr lang="en-US" dirty="0" smtClean="0"/>
              <a:t>n </a:t>
            </a:r>
            <a:r>
              <a:rPr lang="en-US" dirty="0" err="1" smtClean="0"/>
              <a:t>loc</a:t>
            </a:r>
            <a:r>
              <a:rPr lang="en-US" dirty="0" smtClean="0"/>
              <a:t> de a </a:t>
            </a:r>
            <a:r>
              <a:rPr lang="en-US" dirty="0" err="1" smtClean="0"/>
              <a:t>deploya</a:t>
            </a:r>
            <a:r>
              <a:rPr lang="en-US" dirty="0" smtClean="0"/>
              <a:t> </a:t>
            </a:r>
            <a:r>
              <a:rPr lang="en-US" dirty="0" err="1" smtClean="0"/>
              <a:t>pe</a:t>
            </a:r>
            <a:r>
              <a:rPr lang="en-US" dirty="0" smtClean="0"/>
              <a:t> AS individual </a:t>
            </a:r>
            <a:r>
              <a:rPr lang="en-US" dirty="0" err="1" smtClean="0"/>
              <a:t>fiecare</a:t>
            </a:r>
            <a:r>
              <a:rPr lang="en-US" dirty="0" smtClean="0"/>
              <a:t> </a:t>
            </a:r>
            <a:r>
              <a:rPr lang="en-US" dirty="0" err="1" smtClean="0"/>
              <a:t>modul</a:t>
            </a:r>
            <a:r>
              <a:rPr lang="en-US" dirty="0" smtClean="0"/>
              <a:t>, se </a:t>
            </a:r>
            <a:r>
              <a:rPr lang="en-US" dirty="0" err="1" smtClean="0"/>
              <a:t>deployaza</a:t>
            </a:r>
            <a:r>
              <a:rPr lang="en-US" dirty="0" smtClean="0"/>
              <a:t> </a:t>
            </a:r>
            <a:r>
              <a:rPr lang="en-US" b="1" dirty="0" err="1" smtClean="0"/>
              <a:t>4ear123.ear</a:t>
            </a:r>
            <a:r>
              <a:rPr lang="en-US" b="1" dirty="0" smtClean="0"/>
              <a:t>. </a:t>
            </a:r>
          </a:p>
          <a:p>
            <a:r>
              <a:rPr lang="en-US" b="1" dirty="0">
                <a:solidFill>
                  <a:srgbClr val="FF0000"/>
                </a:solidFill>
              </a:rPr>
              <a:t> </a:t>
            </a:r>
            <a:r>
              <a:rPr lang="en-US" b="1" dirty="0" smtClean="0">
                <a:solidFill>
                  <a:srgbClr val="FF0000"/>
                </a:solidFill>
              </a:rPr>
              <a:t>                           Se </a:t>
            </a:r>
            <a:r>
              <a:rPr lang="en-US" b="1" dirty="0" err="1" smtClean="0">
                <a:solidFill>
                  <a:srgbClr val="FF0000"/>
                </a:solidFill>
              </a:rPr>
              <a:t>deployaza</a:t>
            </a:r>
            <a:r>
              <a:rPr lang="en-US" b="1" dirty="0" smtClean="0">
                <a:solidFill>
                  <a:srgbClr val="FF0000"/>
                </a:solidFill>
              </a:rPr>
              <a:t> fie </a:t>
            </a:r>
            <a:r>
              <a:rPr lang="en-US" b="1" dirty="0" err="1" smtClean="0">
                <a:solidFill>
                  <a:srgbClr val="FF0000"/>
                </a:solidFill>
              </a:rPr>
              <a:t>4ear123</a:t>
            </a:r>
            <a:r>
              <a:rPr lang="en-US" b="1" dirty="0" smtClean="0">
                <a:solidFill>
                  <a:srgbClr val="FF0000"/>
                </a:solidFill>
              </a:rPr>
              <a:t> fie </a:t>
            </a:r>
            <a:r>
              <a:rPr lang="en-US" b="1" dirty="0" err="1" smtClean="0">
                <a:solidFill>
                  <a:srgbClr val="FF0000"/>
                </a:solidFill>
              </a:rPr>
              <a:t>celelalte</a:t>
            </a:r>
            <a:r>
              <a:rPr lang="en-US" b="1" dirty="0" smtClean="0">
                <a:solidFill>
                  <a:srgbClr val="FF0000"/>
                </a:solidFill>
              </a:rPr>
              <a:t> </a:t>
            </a:r>
            <a:r>
              <a:rPr lang="en-US" b="1" dirty="0" err="1" smtClean="0">
                <a:solidFill>
                  <a:srgbClr val="FF0000"/>
                </a:solidFill>
              </a:rPr>
              <a:t>trei</a:t>
            </a:r>
            <a:r>
              <a:rPr lang="en-US" b="1" dirty="0" smtClean="0">
                <a:solidFill>
                  <a:srgbClr val="FF0000"/>
                </a:solidFill>
              </a:rPr>
              <a:t> module individual!</a:t>
            </a:r>
            <a:endParaRPr lang="en-US" b="1" dirty="0"/>
          </a:p>
        </p:txBody>
      </p:sp>
      <p:sp>
        <p:nvSpPr>
          <p:cNvPr id="2" name="Rectangle 1"/>
          <p:cNvSpPr/>
          <p:nvPr/>
        </p:nvSpPr>
        <p:spPr>
          <a:xfrm>
            <a:off x="0" y="5410200"/>
            <a:ext cx="9137176" cy="1200329"/>
          </a:xfrm>
          <a:prstGeom prst="rect">
            <a:avLst/>
          </a:prstGeom>
        </p:spPr>
        <p:txBody>
          <a:bodyPr wrap="square">
            <a:spAutoFit/>
          </a:bodyPr>
          <a:lstStyle/>
          <a:p>
            <a:r>
              <a:rPr lang="en-US" b="1" dirty="0" err="1" smtClean="0"/>
              <a:t>5ejbTimer</a:t>
            </a:r>
            <a:r>
              <a:rPr lang="en-US" dirty="0" smtClean="0"/>
              <a:t> </a:t>
            </a:r>
            <a:r>
              <a:rPr lang="en-US" dirty="0" err="1"/>
              <a:t>este</a:t>
            </a:r>
            <a:r>
              <a:rPr lang="en-US" dirty="0"/>
              <a:t> un bean timer care </a:t>
            </a:r>
            <a:r>
              <a:rPr lang="en-US" dirty="0" err="1"/>
              <a:t>tipareste</a:t>
            </a:r>
            <a:r>
              <a:rPr lang="en-US" dirty="0"/>
              <a:t> </a:t>
            </a:r>
            <a:r>
              <a:rPr lang="en-US" dirty="0" err="1"/>
              <a:t>ora</a:t>
            </a:r>
            <a:r>
              <a:rPr lang="en-US" dirty="0"/>
              <a:t> exacta din 5 in 5 </a:t>
            </a:r>
            <a:r>
              <a:rPr lang="en-US" dirty="0" err="1"/>
              <a:t>secunde</a:t>
            </a:r>
            <a:r>
              <a:rPr lang="en-US" dirty="0"/>
              <a:t>. Merge forever, </a:t>
            </a:r>
            <a:r>
              <a:rPr lang="en-US" dirty="0" err="1"/>
              <a:t>pana</a:t>
            </a:r>
            <a:r>
              <a:rPr lang="en-US" dirty="0"/>
              <a:t> la </a:t>
            </a:r>
            <a:r>
              <a:rPr lang="en-US" dirty="0" err="1"/>
              <a:t>undeploy</a:t>
            </a:r>
            <a:r>
              <a:rPr lang="en-US" dirty="0" smtClean="0"/>
              <a:t>. In </a:t>
            </a:r>
            <a:r>
              <a:rPr lang="en-US" dirty="0" err="1"/>
              <a:t>realitate</a:t>
            </a:r>
            <a:r>
              <a:rPr lang="en-US" dirty="0"/>
              <a:t>, in </a:t>
            </a:r>
            <a:r>
              <a:rPr lang="en-US" dirty="0" err="1"/>
              <a:t>locul</a:t>
            </a:r>
            <a:r>
              <a:rPr lang="en-US" dirty="0"/>
              <a:t> </a:t>
            </a:r>
            <a:r>
              <a:rPr lang="en-US" dirty="0" err="1"/>
              <a:t>acestei</a:t>
            </a:r>
            <a:r>
              <a:rPr lang="en-US" dirty="0"/>
              <a:t> </a:t>
            </a:r>
            <a:r>
              <a:rPr lang="en-US" dirty="0" err="1"/>
              <a:t>actiuni</a:t>
            </a:r>
            <a:r>
              <a:rPr lang="en-US" dirty="0"/>
              <a:t> se </a:t>
            </a:r>
            <a:r>
              <a:rPr lang="en-US" dirty="0" err="1"/>
              <a:t>poate</a:t>
            </a:r>
            <a:r>
              <a:rPr lang="en-US" dirty="0"/>
              <a:t> </a:t>
            </a:r>
            <a:r>
              <a:rPr lang="en-US" dirty="0" err="1"/>
              <a:t>scrie</a:t>
            </a:r>
            <a:r>
              <a:rPr lang="en-US" dirty="0"/>
              <a:t> un </a:t>
            </a:r>
            <a:r>
              <a:rPr lang="en-US" dirty="0" err="1"/>
              <a:t>mesaj</a:t>
            </a:r>
            <a:r>
              <a:rPr lang="en-US" dirty="0"/>
              <a:t> </a:t>
            </a:r>
            <a:r>
              <a:rPr lang="en-US" dirty="0" err="1"/>
              <a:t>intr</a:t>
            </a:r>
            <a:r>
              <a:rPr lang="en-US" dirty="0"/>
              <a:t>-o </a:t>
            </a:r>
            <a:r>
              <a:rPr lang="en-US" dirty="0" err="1" smtClean="0"/>
              <a:t>coada</a:t>
            </a:r>
            <a:r>
              <a:rPr lang="en-US" dirty="0" smtClean="0"/>
              <a:t>, </a:t>
            </a:r>
            <a:r>
              <a:rPr lang="en-US" dirty="0" err="1"/>
              <a:t>scrierea</a:t>
            </a:r>
            <a:r>
              <a:rPr lang="en-US" dirty="0"/>
              <a:t> </a:t>
            </a:r>
            <a:r>
              <a:rPr lang="en-US" dirty="0" err="1"/>
              <a:t>intr</a:t>
            </a:r>
            <a:r>
              <a:rPr lang="en-US" dirty="0"/>
              <a:t>-un </a:t>
            </a:r>
            <a:r>
              <a:rPr lang="en-US" dirty="0" err="1"/>
              <a:t>fisier</a:t>
            </a:r>
            <a:r>
              <a:rPr lang="en-US" dirty="0"/>
              <a:t>, </a:t>
            </a:r>
            <a:r>
              <a:rPr lang="en-US" dirty="0" err="1"/>
              <a:t>intr</a:t>
            </a:r>
            <a:r>
              <a:rPr lang="en-US" dirty="0"/>
              <a:t>-o </a:t>
            </a:r>
            <a:r>
              <a:rPr lang="en-US" dirty="0" smtClean="0"/>
              <a:t>DB etc</a:t>
            </a:r>
            <a:r>
              <a:rPr lang="en-US" dirty="0"/>
              <a:t>.</a:t>
            </a:r>
          </a:p>
          <a:p>
            <a:r>
              <a:rPr lang="en-US" dirty="0" err="1" smtClean="0"/>
              <a:t>Pentru</a:t>
            </a:r>
            <a:r>
              <a:rPr lang="en-US" dirty="0" smtClean="0"/>
              <a:t> </a:t>
            </a:r>
            <a:r>
              <a:rPr lang="en-US" dirty="0" err="1"/>
              <a:t>JBoss</a:t>
            </a:r>
            <a:r>
              <a:rPr lang="en-US" dirty="0"/>
              <a:t> </a:t>
            </a:r>
            <a:r>
              <a:rPr lang="en-US" dirty="0" err="1"/>
              <a:t>tiparirile</a:t>
            </a:r>
            <a:r>
              <a:rPr lang="en-US" dirty="0"/>
              <a:t> </a:t>
            </a:r>
            <a:r>
              <a:rPr lang="en-US" dirty="0" err="1"/>
              <a:t>apar</a:t>
            </a:r>
            <a:r>
              <a:rPr lang="en-US" dirty="0"/>
              <a:t> </a:t>
            </a:r>
            <a:r>
              <a:rPr lang="en-US" dirty="0" err="1"/>
              <a:t>pe</a:t>
            </a:r>
            <a:r>
              <a:rPr lang="en-US" dirty="0"/>
              <a:t> </a:t>
            </a:r>
            <a:r>
              <a:rPr lang="en-US" dirty="0" err="1"/>
              <a:t>consola</a:t>
            </a:r>
            <a:r>
              <a:rPr lang="en-US" dirty="0"/>
              <a:t> </a:t>
            </a:r>
            <a:r>
              <a:rPr lang="en-US" dirty="0" smtClean="0"/>
              <a:t>AS. </a:t>
            </a:r>
            <a:r>
              <a:rPr lang="en-US" dirty="0" err="1" smtClean="0"/>
              <a:t>Pentru</a:t>
            </a:r>
            <a:r>
              <a:rPr lang="en-US" dirty="0" smtClean="0"/>
              <a:t> </a:t>
            </a:r>
            <a:r>
              <a:rPr lang="en-US" dirty="0" err="1"/>
              <a:t>GlassFish</a:t>
            </a:r>
            <a:r>
              <a:rPr lang="en-US" dirty="0"/>
              <a:t> in </a:t>
            </a:r>
            <a:r>
              <a:rPr lang="en-US" dirty="0" err="1"/>
              <a:t>fisierul</a:t>
            </a:r>
            <a:r>
              <a:rPr lang="en-US" dirty="0"/>
              <a:t> </a:t>
            </a:r>
            <a:r>
              <a:rPr lang="en-US" b="1" dirty="0"/>
              <a:t>logs/server.log</a:t>
            </a:r>
            <a:r>
              <a:rPr lang="en-US" dirty="0"/>
              <a:t>. </a:t>
            </a:r>
          </a:p>
        </p:txBody>
      </p:sp>
    </p:spTree>
    <p:extLst>
      <p:ext uri="{BB962C8B-B14F-4D97-AF65-F5344CB8AC3E}">
        <p14:creationId xmlns:p14="http://schemas.microsoft.com/office/powerpoint/2010/main" val="242018817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13</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smtClean="0">
                <a:solidFill>
                  <a:srgbClr val="FF0000"/>
                </a:solidFill>
                <a:latin typeface="Calibri" pitchFamily="34" charset="0"/>
              </a:rPr>
              <a:t>Referirea</a:t>
            </a:r>
            <a:r>
              <a:rPr lang="en-US" altLang="en-US" dirty="0" smtClean="0">
                <a:solidFill>
                  <a:srgbClr val="FF0000"/>
                </a:solidFill>
                <a:latin typeface="Calibri" pitchFamily="34" charset="0"/>
              </a:rPr>
              <a:t> la </a:t>
            </a:r>
            <a:r>
              <a:rPr lang="en-US" altLang="en-US" dirty="0" err="1" smtClean="0">
                <a:solidFill>
                  <a:srgbClr val="FF0000"/>
                </a:solidFill>
                <a:latin typeface="Calibri" pitchFamily="34" charset="0"/>
              </a:rPr>
              <a:t>componentele</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EJB</a:t>
            </a:r>
            <a:r>
              <a:rPr lang="en-US" altLang="en-US" dirty="0" smtClean="0">
                <a:solidFill>
                  <a:srgbClr val="FF0000"/>
                </a:solidFill>
                <a:latin typeface="Calibri" pitchFamily="34" charset="0"/>
              </a:rPr>
              <a:t> - </a:t>
            </a:r>
            <a:r>
              <a:rPr lang="en-US" altLang="en-US" dirty="0" err="1" smtClean="0">
                <a:solidFill>
                  <a:srgbClr val="FF0000"/>
                </a:solidFill>
                <a:latin typeface="Calibri" pitchFamily="34" charset="0"/>
              </a:rPr>
              <a:t>clienti</a:t>
            </a:r>
            <a:r>
              <a:rPr lang="en-US" altLang="en-US" dirty="0" smtClean="0">
                <a:solidFill>
                  <a:srgbClr val="FF0000"/>
                </a:solidFill>
                <a:latin typeface="Calibri" pitchFamily="34" charset="0"/>
              </a:rPr>
              <a:t> </a:t>
            </a:r>
            <a:endParaRPr lang="en-US" altLang="en-US" dirty="0">
              <a:solidFill>
                <a:srgbClr val="FF0000"/>
              </a:solidFill>
              <a:latin typeface="Calibri" pitchFamily="34" charset="0"/>
            </a:endParaRPr>
          </a:p>
        </p:txBody>
      </p:sp>
      <p:sp>
        <p:nvSpPr>
          <p:cNvPr id="7" name="Rectangle 6"/>
          <p:cNvSpPr/>
          <p:nvPr/>
        </p:nvSpPr>
        <p:spPr>
          <a:xfrm>
            <a:off x="0" y="390776"/>
            <a:ext cx="9144000" cy="6463308"/>
          </a:xfrm>
          <a:prstGeom prst="rect">
            <a:avLst/>
          </a:prstGeom>
        </p:spPr>
        <p:txBody>
          <a:bodyPr>
            <a:spAutoFit/>
          </a:bodyPr>
          <a:lstStyle/>
          <a:p>
            <a:pPr fontAlgn="auto">
              <a:spcBef>
                <a:spcPts val="0"/>
              </a:spcBef>
              <a:spcAft>
                <a:spcPts val="0"/>
              </a:spcAft>
              <a:defRPr/>
            </a:pPr>
            <a:r>
              <a:rPr lang="en-US" dirty="0" err="1">
                <a:latin typeface="+mn-lt"/>
                <a:cs typeface="+mn-cs"/>
              </a:rPr>
              <a:t>Clientii</a:t>
            </a:r>
            <a:r>
              <a:rPr lang="en-US" dirty="0">
                <a:latin typeface="+mn-lt"/>
                <a:cs typeface="+mn-cs"/>
              </a:rPr>
              <a:t> pot </a:t>
            </a:r>
            <a:r>
              <a:rPr lang="en-US" dirty="0" err="1">
                <a:latin typeface="+mn-lt"/>
                <a:cs typeface="+mn-cs"/>
              </a:rPr>
              <a:t>sa</a:t>
            </a:r>
            <a:r>
              <a:rPr lang="en-US" dirty="0">
                <a:latin typeface="+mn-lt"/>
                <a:cs typeface="+mn-cs"/>
              </a:rPr>
              <a:t> se </a:t>
            </a:r>
            <a:r>
              <a:rPr lang="en-US" dirty="0" err="1">
                <a:latin typeface="+mn-lt"/>
                <a:cs typeface="+mn-cs"/>
              </a:rPr>
              <a:t>refere</a:t>
            </a:r>
            <a:r>
              <a:rPr lang="en-US" dirty="0">
                <a:latin typeface="+mn-lt"/>
                <a:cs typeface="+mn-cs"/>
              </a:rPr>
              <a:t> la </a:t>
            </a:r>
            <a:r>
              <a:rPr lang="en-US" dirty="0" err="1">
                <a:latin typeface="+mn-lt"/>
                <a:cs typeface="+mn-cs"/>
              </a:rPr>
              <a:t>componente</a:t>
            </a:r>
            <a:r>
              <a:rPr lang="en-US" dirty="0">
                <a:latin typeface="+mn-lt"/>
                <a:cs typeface="+mn-cs"/>
              </a:rPr>
              <a:t> (</a:t>
            </a:r>
            <a:r>
              <a:rPr lang="en-US" dirty="0" err="1">
                <a:latin typeface="+mn-lt"/>
                <a:cs typeface="+mn-cs"/>
              </a:rPr>
              <a:t>beanuri</a:t>
            </a:r>
            <a:r>
              <a:rPr lang="en-US" dirty="0">
                <a:latin typeface="+mn-lt"/>
                <a:cs typeface="+mn-cs"/>
              </a:rPr>
              <a:t>)  </a:t>
            </a:r>
            <a:r>
              <a:rPr lang="en-US" dirty="0" err="1">
                <a:latin typeface="+mn-lt"/>
                <a:cs typeface="+mn-cs"/>
              </a:rPr>
              <a:t>EJB</a:t>
            </a:r>
            <a:r>
              <a:rPr lang="en-US" dirty="0">
                <a:latin typeface="+mn-lt"/>
                <a:cs typeface="+mn-cs"/>
              </a:rPr>
              <a:t> </a:t>
            </a:r>
            <a:r>
              <a:rPr lang="en-US" dirty="0" err="1">
                <a:latin typeface="+mn-lt"/>
                <a:cs typeface="+mn-cs"/>
              </a:rPr>
              <a:t>prin</a:t>
            </a:r>
            <a:r>
              <a:rPr lang="en-US" dirty="0">
                <a:latin typeface="+mn-lt"/>
                <a:cs typeface="+mn-cs"/>
              </a:rPr>
              <a:t> </a:t>
            </a:r>
            <a:r>
              <a:rPr lang="en-US" dirty="0" err="1">
                <a:latin typeface="+mn-lt"/>
                <a:cs typeface="+mn-cs"/>
              </a:rPr>
              <a:t>doua</a:t>
            </a:r>
            <a:r>
              <a:rPr lang="en-US" dirty="0">
                <a:latin typeface="+mn-lt"/>
                <a:cs typeface="+mn-cs"/>
              </a:rPr>
              <a:t> </a:t>
            </a:r>
            <a:r>
              <a:rPr lang="en-US" dirty="0" err="1">
                <a:latin typeface="+mn-lt"/>
                <a:cs typeface="+mn-cs"/>
              </a:rPr>
              <a:t>metode</a:t>
            </a:r>
            <a:r>
              <a:rPr lang="en-US" dirty="0">
                <a:latin typeface="+mn-lt"/>
                <a:cs typeface="+mn-cs"/>
              </a:rPr>
              <a:t>:</a:t>
            </a:r>
          </a:p>
          <a:p>
            <a:pPr marL="342900" indent="-342900" fontAlgn="auto">
              <a:spcBef>
                <a:spcPts val="0"/>
              </a:spcBef>
              <a:spcAft>
                <a:spcPts val="0"/>
              </a:spcAft>
              <a:buFont typeface="+mj-lt"/>
              <a:buAutoNum type="arabicPeriod"/>
              <a:defRPr/>
            </a:pPr>
            <a:r>
              <a:rPr lang="en-US" dirty="0" err="1" smtClean="0">
                <a:latin typeface="+mn-lt"/>
                <a:cs typeface="+mn-cs"/>
              </a:rPr>
              <a:t>Folosind</a:t>
            </a:r>
            <a:r>
              <a:rPr lang="en-US" dirty="0" smtClean="0">
                <a:latin typeface="+mn-lt"/>
                <a:cs typeface="+mn-cs"/>
              </a:rPr>
              <a:t> </a:t>
            </a:r>
            <a:r>
              <a:rPr lang="en-US" b="1" dirty="0" err="1">
                <a:latin typeface="+mn-lt"/>
                <a:cs typeface="+mn-cs"/>
              </a:rPr>
              <a:t>injectarea</a:t>
            </a:r>
            <a:r>
              <a:rPr lang="en-US" dirty="0">
                <a:latin typeface="+mn-lt"/>
                <a:cs typeface="+mn-cs"/>
              </a:rPr>
              <a:t> de </a:t>
            </a:r>
            <a:r>
              <a:rPr lang="en-US" b="1" dirty="0" err="1">
                <a:latin typeface="+mn-lt"/>
                <a:cs typeface="+mn-cs"/>
              </a:rPr>
              <a:t>componente</a:t>
            </a:r>
            <a:r>
              <a:rPr lang="en-US" b="1" dirty="0">
                <a:latin typeface="+mn-lt"/>
                <a:cs typeface="+mn-cs"/>
              </a:rPr>
              <a:t> </a:t>
            </a:r>
            <a:r>
              <a:rPr lang="en-US" b="1" dirty="0" err="1">
                <a:latin typeface="+mn-lt"/>
                <a:cs typeface="+mn-cs"/>
              </a:rPr>
              <a:t>EJB</a:t>
            </a:r>
            <a:r>
              <a:rPr lang="en-US" dirty="0">
                <a:latin typeface="+mn-lt"/>
                <a:cs typeface="+mn-cs"/>
              </a:rPr>
              <a:t> in </a:t>
            </a:r>
            <a:r>
              <a:rPr lang="en-US" dirty="0" err="1">
                <a:latin typeface="+mn-lt"/>
                <a:cs typeface="+mn-cs"/>
              </a:rPr>
              <a:t>codul</a:t>
            </a:r>
            <a:r>
              <a:rPr lang="en-US" dirty="0">
                <a:latin typeface="+mn-lt"/>
                <a:cs typeface="+mn-cs"/>
              </a:rPr>
              <a:t> client.  </a:t>
            </a:r>
            <a:r>
              <a:rPr lang="en-US" dirty="0" err="1">
                <a:latin typeface="+mn-lt"/>
                <a:cs typeface="+mn-cs"/>
              </a:rPr>
              <a:t>Acest</a:t>
            </a:r>
            <a:r>
              <a:rPr lang="en-US" dirty="0">
                <a:latin typeface="+mn-lt"/>
                <a:cs typeface="+mn-cs"/>
              </a:rPr>
              <a:t> mod </a:t>
            </a:r>
            <a:r>
              <a:rPr lang="en-US" dirty="0" err="1">
                <a:latin typeface="+mn-lt"/>
                <a:cs typeface="+mn-cs"/>
              </a:rPr>
              <a:t>este</a:t>
            </a:r>
            <a:r>
              <a:rPr lang="en-US" dirty="0">
                <a:latin typeface="+mn-lt"/>
                <a:cs typeface="+mn-cs"/>
              </a:rPr>
              <a:t> </a:t>
            </a:r>
            <a:r>
              <a:rPr lang="en-US" dirty="0" err="1">
                <a:latin typeface="+mn-lt"/>
                <a:cs typeface="+mn-cs"/>
              </a:rPr>
              <a:t>posibil</a:t>
            </a:r>
            <a:r>
              <a:rPr lang="en-US" dirty="0">
                <a:latin typeface="+mn-lt"/>
                <a:cs typeface="+mn-cs"/>
              </a:rPr>
              <a:t> </a:t>
            </a:r>
            <a:r>
              <a:rPr lang="en-US" dirty="0" err="1">
                <a:latin typeface="+mn-lt"/>
                <a:cs typeface="+mn-cs"/>
              </a:rPr>
              <a:t>numai</a:t>
            </a:r>
            <a:r>
              <a:rPr lang="en-US" dirty="0">
                <a:latin typeface="+mn-lt"/>
                <a:cs typeface="+mn-cs"/>
              </a:rPr>
              <a:t> </a:t>
            </a:r>
            <a:r>
              <a:rPr lang="en-US" dirty="0" err="1">
                <a:latin typeface="+mn-lt"/>
                <a:cs typeface="+mn-cs"/>
              </a:rPr>
              <a:t>daca</a:t>
            </a:r>
            <a:r>
              <a:rPr lang="en-US" dirty="0">
                <a:latin typeface="+mn-lt"/>
                <a:cs typeface="+mn-cs"/>
              </a:rPr>
              <a:t> </a:t>
            </a:r>
            <a:r>
              <a:rPr lang="en-US" dirty="0" err="1">
                <a:latin typeface="+mn-lt"/>
                <a:cs typeface="+mn-cs"/>
              </a:rPr>
              <a:t>atat</a:t>
            </a:r>
            <a:r>
              <a:rPr lang="en-US" dirty="0">
                <a:latin typeface="+mn-lt"/>
                <a:cs typeface="+mn-cs"/>
              </a:rPr>
              <a:t> </a:t>
            </a:r>
            <a:r>
              <a:rPr lang="en-US" dirty="0" err="1">
                <a:latin typeface="+mn-lt"/>
                <a:cs typeface="+mn-cs"/>
              </a:rPr>
              <a:t>componenta</a:t>
            </a:r>
            <a:r>
              <a:rPr lang="en-US" dirty="0">
                <a:latin typeface="+mn-lt"/>
                <a:cs typeface="+mn-cs"/>
              </a:rPr>
              <a:t> </a:t>
            </a:r>
            <a:r>
              <a:rPr lang="en-US" dirty="0" err="1">
                <a:latin typeface="+mn-lt"/>
                <a:cs typeface="+mn-cs"/>
              </a:rPr>
              <a:t>EJB</a:t>
            </a:r>
            <a:r>
              <a:rPr lang="en-US" dirty="0">
                <a:latin typeface="+mn-lt"/>
                <a:cs typeface="+mn-cs"/>
              </a:rPr>
              <a:t>, cat </a:t>
            </a:r>
            <a:r>
              <a:rPr lang="en-US" dirty="0" err="1">
                <a:latin typeface="+mn-lt"/>
                <a:cs typeface="+mn-cs"/>
              </a:rPr>
              <a:t>si</a:t>
            </a:r>
            <a:r>
              <a:rPr lang="en-US" dirty="0">
                <a:latin typeface="+mn-lt"/>
                <a:cs typeface="+mn-cs"/>
              </a:rPr>
              <a:t> </a:t>
            </a:r>
            <a:r>
              <a:rPr lang="en-US" dirty="0" err="1">
                <a:latin typeface="+mn-lt"/>
                <a:cs typeface="+mn-cs"/>
              </a:rPr>
              <a:t>invocatorul</a:t>
            </a:r>
            <a:r>
              <a:rPr lang="en-US" dirty="0">
                <a:latin typeface="+mn-lt"/>
                <a:cs typeface="+mn-cs"/>
              </a:rPr>
              <a:t> </a:t>
            </a:r>
            <a:r>
              <a:rPr lang="en-US" dirty="0" err="1">
                <a:latin typeface="+mn-lt"/>
                <a:cs typeface="+mn-cs"/>
              </a:rPr>
              <a:t>ei</a:t>
            </a:r>
            <a:r>
              <a:rPr lang="en-US" dirty="0">
                <a:latin typeface="+mn-lt"/>
                <a:cs typeface="+mn-cs"/>
              </a:rPr>
              <a:t>, se </a:t>
            </a:r>
            <a:r>
              <a:rPr lang="en-US" dirty="0" err="1">
                <a:latin typeface="+mn-lt"/>
                <a:cs typeface="+mn-cs"/>
              </a:rPr>
              <a:t>afla</a:t>
            </a:r>
            <a:r>
              <a:rPr lang="en-US" dirty="0">
                <a:latin typeface="+mn-lt"/>
                <a:cs typeface="+mn-cs"/>
              </a:rPr>
              <a:t> </a:t>
            </a:r>
            <a:r>
              <a:rPr lang="en-US" b="1" dirty="0">
                <a:latin typeface="+mn-lt"/>
                <a:cs typeface="+mn-cs"/>
              </a:rPr>
              <a:t>Local</a:t>
            </a:r>
            <a:r>
              <a:rPr lang="en-US" dirty="0">
                <a:latin typeface="+mn-lt"/>
                <a:cs typeface="+mn-cs"/>
              </a:rPr>
              <a:t>, </a:t>
            </a:r>
            <a:r>
              <a:rPr lang="en-US" dirty="0" err="1">
                <a:latin typeface="+mn-lt"/>
                <a:cs typeface="+mn-cs"/>
              </a:rPr>
              <a:t>adica</a:t>
            </a:r>
            <a:r>
              <a:rPr lang="en-US" dirty="0">
                <a:latin typeface="+mn-lt"/>
                <a:cs typeface="+mn-cs"/>
              </a:rPr>
              <a:t> in </a:t>
            </a:r>
            <a:r>
              <a:rPr lang="en-US" dirty="0" err="1">
                <a:latin typeface="+mn-lt"/>
                <a:cs typeface="+mn-cs"/>
              </a:rPr>
              <a:t>cadrul</a:t>
            </a:r>
            <a:r>
              <a:rPr lang="en-US" dirty="0">
                <a:latin typeface="+mn-lt"/>
                <a:cs typeface="+mn-cs"/>
              </a:rPr>
              <a:t> </a:t>
            </a:r>
            <a:r>
              <a:rPr lang="en-US" dirty="0" err="1">
                <a:latin typeface="+mn-lt"/>
                <a:cs typeface="+mn-cs"/>
              </a:rPr>
              <a:t>aceluiasi</a:t>
            </a:r>
            <a:r>
              <a:rPr lang="en-US" dirty="0">
                <a:latin typeface="+mn-lt"/>
                <a:cs typeface="+mn-cs"/>
              </a:rPr>
              <a:t> container </a:t>
            </a:r>
            <a:r>
              <a:rPr lang="en-US" dirty="0" err="1">
                <a:latin typeface="+mn-lt"/>
                <a:cs typeface="+mn-cs"/>
              </a:rPr>
              <a:t>EJB</a:t>
            </a:r>
            <a:r>
              <a:rPr lang="en-US" dirty="0" smtClean="0">
                <a:latin typeface="+mn-lt"/>
                <a:cs typeface="+mn-cs"/>
              </a:rPr>
              <a:t>. Am </a:t>
            </a:r>
            <a:r>
              <a:rPr lang="en-US" dirty="0" err="1" smtClean="0">
                <a:latin typeface="+mn-lt"/>
                <a:cs typeface="+mn-cs"/>
              </a:rPr>
              <a:t>ilustrat</a:t>
            </a:r>
            <a:r>
              <a:rPr lang="en-US" dirty="0" smtClean="0">
                <a:latin typeface="+mn-lt"/>
                <a:cs typeface="+mn-cs"/>
              </a:rPr>
              <a:t>  </a:t>
            </a:r>
            <a:r>
              <a:rPr lang="en-US" dirty="0" err="1" smtClean="0">
                <a:latin typeface="+mn-lt"/>
                <a:cs typeface="+mn-cs"/>
              </a:rPr>
              <a:t>aceasta</a:t>
            </a:r>
            <a:r>
              <a:rPr lang="en-US" dirty="0" smtClean="0">
                <a:latin typeface="+mn-lt"/>
                <a:cs typeface="+mn-cs"/>
              </a:rPr>
              <a:t> </a:t>
            </a:r>
            <a:r>
              <a:rPr lang="en-US" dirty="0" err="1" smtClean="0">
                <a:latin typeface="+mn-lt"/>
                <a:cs typeface="+mn-cs"/>
              </a:rPr>
              <a:t>modalitate</a:t>
            </a:r>
            <a:r>
              <a:rPr lang="en-US" dirty="0" smtClean="0">
                <a:latin typeface="+mn-lt"/>
                <a:cs typeface="+mn-cs"/>
              </a:rPr>
              <a:t> in </a:t>
            </a:r>
            <a:r>
              <a:rPr lang="en-US" dirty="0" err="1" smtClean="0">
                <a:latin typeface="+mn-lt"/>
                <a:cs typeface="+mn-cs"/>
              </a:rPr>
              <a:t>exemplul</a:t>
            </a:r>
            <a:r>
              <a:rPr lang="en-US" dirty="0" smtClean="0">
                <a:latin typeface="+mn-lt"/>
                <a:cs typeface="+mn-cs"/>
              </a:rPr>
              <a:t> </a:t>
            </a:r>
            <a:r>
              <a:rPr lang="en-US" b="1" dirty="0" err="1" smtClean="0">
                <a:latin typeface="+mn-lt"/>
                <a:cs typeface="+mn-cs"/>
              </a:rPr>
              <a:t>3ejbCs</a:t>
            </a:r>
            <a:endParaRPr lang="en-US" b="1" dirty="0" smtClean="0">
              <a:latin typeface="+mn-lt"/>
              <a:cs typeface="+mn-cs"/>
            </a:endParaRPr>
          </a:p>
          <a:p>
            <a:pPr marL="342900" indent="-342900" fontAlgn="auto">
              <a:spcBef>
                <a:spcPts val="0"/>
              </a:spcBef>
              <a:spcAft>
                <a:spcPts val="0"/>
              </a:spcAft>
              <a:buFont typeface="+mj-lt"/>
              <a:buAutoNum type="arabicPeriod"/>
              <a:defRPr/>
            </a:pPr>
            <a:r>
              <a:rPr lang="en-US" dirty="0" err="1"/>
              <a:t>Folosind</a:t>
            </a:r>
            <a:r>
              <a:rPr lang="en-US" dirty="0"/>
              <a:t> </a:t>
            </a:r>
            <a:r>
              <a:rPr lang="en-US" b="1" dirty="0" err="1"/>
              <a:t>nume</a:t>
            </a:r>
            <a:r>
              <a:rPr lang="en-US" b="1" dirty="0"/>
              <a:t> </a:t>
            </a:r>
            <a:r>
              <a:rPr lang="en-US" b="1" dirty="0" err="1"/>
              <a:t>globale</a:t>
            </a:r>
            <a:r>
              <a:rPr lang="en-US" b="1" dirty="0"/>
              <a:t> </a:t>
            </a:r>
            <a:r>
              <a:rPr lang="en-US" b="1" dirty="0" err="1"/>
              <a:t>portabile</a:t>
            </a:r>
            <a:r>
              <a:rPr lang="en-US" b="1" dirty="0"/>
              <a:t> </a:t>
            </a:r>
            <a:r>
              <a:rPr lang="en-US" b="1" dirty="0" err="1" smtClean="0"/>
              <a:t>JNDI</a:t>
            </a:r>
            <a:r>
              <a:rPr lang="en-US" b="1" dirty="0" smtClean="0"/>
              <a:t>:</a:t>
            </a:r>
            <a:endParaRPr lang="en-US" dirty="0">
              <a:latin typeface="+mn-lt"/>
              <a:cs typeface="+mn-cs"/>
            </a:endParaRPr>
          </a:p>
          <a:p>
            <a:pPr indent="-342900" fontAlgn="auto">
              <a:spcBef>
                <a:spcPts val="0"/>
              </a:spcBef>
              <a:spcAft>
                <a:spcPts val="0"/>
              </a:spcAft>
              <a:defRPr/>
            </a:pPr>
            <a:r>
              <a:rPr lang="en-US" dirty="0" err="1" smtClean="0">
                <a:latin typeface="+mn-lt"/>
                <a:cs typeface="+mn-cs"/>
              </a:rPr>
              <a:t>Numele</a:t>
            </a:r>
            <a:r>
              <a:rPr lang="en-US" dirty="0" smtClean="0">
                <a:latin typeface="+mn-lt"/>
                <a:cs typeface="+mn-cs"/>
              </a:rPr>
              <a:t> </a:t>
            </a:r>
            <a:r>
              <a:rPr lang="en-US" dirty="0" err="1" smtClean="0">
                <a:latin typeface="+mn-lt"/>
                <a:cs typeface="+mn-cs"/>
              </a:rPr>
              <a:t>JNDI</a:t>
            </a:r>
            <a:r>
              <a:rPr lang="en-US" dirty="0" smtClean="0">
                <a:latin typeface="+mn-lt"/>
                <a:cs typeface="+mn-cs"/>
              </a:rPr>
              <a:t> </a:t>
            </a:r>
            <a:r>
              <a:rPr lang="en-US" dirty="0" err="1">
                <a:latin typeface="+mn-lt"/>
                <a:cs typeface="+mn-cs"/>
              </a:rPr>
              <a:t>este</a:t>
            </a:r>
            <a:r>
              <a:rPr lang="en-US" dirty="0">
                <a:latin typeface="+mn-lt"/>
                <a:cs typeface="+mn-cs"/>
              </a:rPr>
              <a:t> </a:t>
            </a:r>
            <a:r>
              <a:rPr lang="en-US" dirty="0" err="1">
                <a:latin typeface="+mn-lt"/>
                <a:cs typeface="+mn-cs"/>
              </a:rPr>
              <a:t>atribuit</a:t>
            </a:r>
            <a:r>
              <a:rPr lang="en-US" dirty="0">
                <a:latin typeface="+mn-lt"/>
                <a:cs typeface="+mn-cs"/>
              </a:rPr>
              <a:t> de </a:t>
            </a:r>
            <a:r>
              <a:rPr lang="en-US" dirty="0" err="1">
                <a:latin typeface="+mn-lt"/>
                <a:cs typeface="+mn-cs"/>
              </a:rPr>
              <a:t>catre</a:t>
            </a:r>
            <a:r>
              <a:rPr lang="en-US" dirty="0">
                <a:latin typeface="+mn-lt"/>
                <a:cs typeface="+mn-cs"/>
              </a:rPr>
              <a:t> AS </a:t>
            </a:r>
            <a:r>
              <a:rPr lang="en-US" dirty="0" err="1">
                <a:latin typeface="+mn-lt"/>
                <a:cs typeface="+mn-cs"/>
              </a:rPr>
              <a:t>printr</a:t>
            </a:r>
            <a:r>
              <a:rPr lang="en-US" dirty="0">
                <a:latin typeface="+mn-lt"/>
                <a:cs typeface="+mn-cs"/>
              </a:rPr>
              <a:t>-o </a:t>
            </a:r>
            <a:r>
              <a:rPr lang="en-US" dirty="0" err="1">
                <a:latin typeface="+mn-lt"/>
                <a:cs typeface="+mn-cs"/>
              </a:rPr>
              <a:t>succesiune</a:t>
            </a:r>
            <a:r>
              <a:rPr lang="en-US" dirty="0">
                <a:latin typeface="+mn-lt"/>
                <a:cs typeface="+mn-cs"/>
              </a:rPr>
              <a:t> de </a:t>
            </a:r>
            <a:r>
              <a:rPr lang="en-US" dirty="0" err="1" smtClean="0">
                <a:latin typeface="+mn-lt"/>
                <a:cs typeface="+mn-cs"/>
              </a:rPr>
              <a:t>nume</a:t>
            </a:r>
            <a:r>
              <a:rPr lang="en-US" dirty="0" smtClean="0">
                <a:latin typeface="+mn-lt"/>
                <a:cs typeface="+mn-cs"/>
              </a:rPr>
              <a:t> (un </a:t>
            </a:r>
            <a:r>
              <a:rPr lang="en-US" dirty="0">
                <a:latin typeface="+mn-lt"/>
                <a:cs typeface="+mn-cs"/>
              </a:rPr>
              <a:t>string) de forma</a:t>
            </a:r>
            <a:r>
              <a:rPr lang="en-US" dirty="0" smtClean="0">
                <a:latin typeface="+mn-lt"/>
                <a:cs typeface="+mn-cs"/>
              </a:rPr>
              <a:t>:</a:t>
            </a:r>
            <a:endParaRPr lang="en-US" dirty="0">
              <a:latin typeface="Courier New" pitchFamily="49" charset="0"/>
              <a:cs typeface="Courier New" pitchFamily="49" charset="0"/>
            </a:endParaRPr>
          </a:p>
          <a:p>
            <a:pPr marL="342900" indent="-342900" fontAlgn="auto">
              <a:spcBef>
                <a:spcPts val="0"/>
              </a:spcBef>
              <a:spcAft>
                <a:spcPts val="0"/>
              </a:spcAft>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java:global</a:t>
            </a:r>
            <a:r>
              <a:rPr lang="en-US" dirty="0">
                <a:latin typeface="Courier New" pitchFamily="49" charset="0"/>
                <a:cs typeface="Courier New" pitchFamily="49" charset="0"/>
              </a:rPr>
              <a:t>[/</a:t>
            </a:r>
            <a:r>
              <a:rPr lang="en-US" dirty="0" err="1">
                <a:latin typeface="Courier New" pitchFamily="49" charset="0"/>
                <a:cs typeface="Courier New" pitchFamily="49" charset="0"/>
              </a:rPr>
              <a:t>aplicatie</a:t>
            </a:r>
            <a:r>
              <a:rPr lang="en-US" dirty="0">
                <a:latin typeface="Courier New" pitchFamily="49" charset="0"/>
                <a:cs typeface="Courier New" pitchFamily="49" charset="0"/>
              </a:rPr>
              <a:t>]/</a:t>
            </a:r>
            <a:r>
              <a:rPr lang="en-US" dirty="0" err="1">
                <a:latin typeface="Courier New" pitchFamily="49" charset="0"/>
                <a:cs typeface="Courier New" pitchFamily="49" charset="0"/>
              </a:rPr>
              <a:t>modul</a:t>
            </a:r>
            <a:r>
              <a:rPr lang="en-US" dirty="0">
                <a:latin typeface="Courier New" pitchFamily="49" charset="0"/>
                <a:cs typeface="Courier New" pitchFamily="49" charset="0"/>
              </a:rPr>
              <a:t>/bean[!</a:t>
            </a:r>
            <a:r>
              <a:rPr lang="en-US" dirty="0" err="1">
                <a:latin typeface="Courier New" pitchFamily="49" charset="0"/>
                <a:cs typeface="Courier New" pitchFamily="49" charset="0"/>
              </a:rPr>
              <a:t>interfata</a:t>
            </a:r>
            <a:r>
              <a:rPr lang="en-US" dirty="0">
                <a:latin typeface="Courier New" pitchFamily="49" charset="0"/>
                <a:cs typeface="Courier New" pitchFamily="49" charset="0"/>
              </a:rPr>
              <a:t>]</a:t>
            </a:r>
          </a:p>
          <a:p>
            <a:pPr fontAlgn="auto">
              <a:spcBef>
                <a:spcPts val="0"/>
              </a:spcBef>
              <a:spcAft>
                <a:spcPts val="0"/>
              </a:spcAft>
              <a:defRPr/>
            </a:pPr>
            <a:endParaRPr lang="en-US" dirty="0">
              <a:latin typeface="+mn-lt"/>
              <a:cs typeface="+mn-cs"/>
            </a:endParaRPr>
          </a:p>
          <a:p>
            <a:pPr fontAlgn="auto">
              <a:spcBef>
                <a:spcPts val="0"/>
              </a:spcBef>
              <a:spcAft>
                <a:spcPts val="0"/>
              </a:spcAft>
              <a:defRPr/>
            </a:pPr>
            <a:r>
              <a:rPr lang="en-US" dirty="0" err="1" smtClean="0">
                <a:latin typeface="+mn-lt"/>
                <a:cs typeface="+mn-cs"/>
              </a:rPr>
              <a:t>Clientul</a:t>
            </a:r>
            <a:r>
              <a:rPr lang="en-US" dirty="0" smtClean="0">
                <a:latin typeface="+mn-lt"/>
                <a:cs typeface="+mn-cs"/>
              </a:rPr>
              <a:t> </a:t>
            </a:r>
            <a:r>
              <a:rPr lang="en-US" dirty="0" err="1">
                <a:latin typeface="+mn-lt"/>
                <a:cs typeface="+mn-cs"/>
              </a:rPr>
              <a:t>creaza</a:t>
            </a:r>
            <a:r>
              <a:rPr lang="en-US" dirty="0">
                <a:latin typeface="+mn-lt"/>
                <a:cs typeface="+mn-cs"/>
              </a:rPr>
              <a:t> un </a:t>
            </a:r>
            <a:r>
              <a:rPr lang="en-US" dirty="0" err="1">
                <a:latin typeface="+mn-lt"/>
                <a:cs typeface="+mn-cs"/>
              </a:rPr>
              <a:t>obiect</a:t>
            </a:r>
            <a:r>
              <a:rPr lang="en-US" dirty="0">
                <a:latin typeface="+mn-lt"/>
                <a:cs typeface="+mn-cs"/>
              </a:rPr>
              <a:t> proxy </a:t>
            </a:r>
            <a:r>
              <a:rPr lang="en-US" dirty="0" err="1">
                <a:latin typeface="+mn-lt"/>
                <a:cs typeface="+mn-cs"/>
              </a:rPr>
              <a:t>prin</a:t>
            </a:r>
            <a:r>
              <a:rPr lang="en-US" dirty="0">
                <a:latin typeface="+mn-lt"/>
                <a:cs typeface="+mn-cs"/>
              </a:rPr>
              <a:t> care </a:t>
            </a:r>
            <a:r>
              <a:rPr lang="en-US" dirty="0" err="1">
                <a:latin typeface="+mn-lt"/>
                <a:cs typeface="+mn-cs"/>
              </a:rPr>
              <a:t>poate</a:t>
            </a:r>
            <a:r>
              <a:rPr lang="en-US" dirty="0">
                <a:latin typeface="+mn-lt"/>
                <a:cs typeface="+mn-cs"/>
              </a:rPr>
              <a:t> </a:t>
            </a:r>
            <a:r>
              <a:rPr lang="en-US" dirty="0" err="1">
                <a:latin typeface="+mn-lt"/>
                <a:cs typeface="+mn-cs"/>
              </a:rPr>
              <a:t>invoca</a:t>
            </a:r>
            <a:r>
              <a:rPr lang="en-US" dirty="0">
                <a:latin typeface="+mn-lt"/>
                <a:cs typeface="+mn-cs"/>
              </a:rPr>
              <a:t> </a:t>
            </a:r>
            <a:r>
              <a:rPr lang="en-US" dirty="0" err="1">
                <a:latin typeface="+mn-lt"/>
                <a:cs typeface="+mn-cs"/>
              </a:rPr>
              <a:t>metodele</a:t>
            </a:r>
            <a:r>
              <a:rPr lang="en-US" dirty="0">
                <a:latin typeface="+mn-lt"/>
                <a:cs typeface="+mn-cs"/>
              </a:rPr>
              <a:t> </a:t>
            </a:r>
            <a:r>
              <a:rPr lang="en-US" dirty="0" err="1">
                <a:latin typeface="+mn-lt"/>
                <a:cs typeface="+mn-cs"/>
              </a:rPr>
              <a:t>beanului</a:t>
            </a:r>
            <a:r>
              <a:rPr lang="en-US" dirty="0">
                <a:latin typeface="+mn-lt"/>
                <a:cs typeface="+mn-cs"/>
              </a:rPr>
              <a:t> </a:t>
            </a:r>
            <a:r>
              <a:rPr lang="en-US" dirty="0" err="1">
                <a:latin typeface="+mn-lt"/>
                <a:cs typeface="+mn-cs"/>
              </a:rPr>
              <a:t>solicitat</a:t>
            </a:r>
            <a:r>
              <a:rPr lang="en-US" dirty="0" smtClean="0">
                <a:latin typeface="+mn-lt"/>
                <a:cs typeface="+mn-cs"/>
              </a:rPr>
              <a:t>:</a:t>
            </a:r>
            <a:endParaRPr lang="en-US" dirty="0">
              <a:latin typeface="+mn-lt"/>
              <a:cs typeface="+mn-cs"/>
            </a:endParaRPr>
          </a:p>
          <a:p>
            <a:pPr fontAlgn="auto">
              <a:spcBef>
                <a:spcPts val="0"/>
              </a:spcBef>
              <a:spcAft>
                <a:spcPts val="0"/>
              </a:spcAft>
              <a:defRPr/>
            </a:pPr>
            <a:r>
              <a:rPr lang="en-US" dirty="0">
                <a:latin typeface="Courier New" pitchFamily="49" charset="0"/>
                <a:cs typeface="Courier New" pitchFamily="49" charset="0"/>
              </a:rPr>
              <a:t>       Context </a:t>
            </a:r>
            <a:r>
              <a:rPr lang="en-US" dirty="0" err="1">
                <a:latin typeface="Courier New" pitchFamily="49" charset="0"/>
                <a:cs typeface="Courier New" pitchFamily="49" charset="0"/>
              </a:rPr>
              <a:t>ctx</a:t>
            </a:r>
            <a:r>
              <a:rPr lang="en-US" dirty="0">
                <a:latin typeface="Courier New" pitchFamily="49" charset="0"/>
                <a:cs typeface="Courier New" pitchFamily="49" charset="0"/>
              </a:rPr>
              <a:t> = new </a:t>
            </a:r>
            <a:r>
              <a:rPr lang="en-US" dirty="0" err="1">
                <a:latin typeface="Courier New" pitchFamily="49" charset="0"/>
                <a:cs typeface="Courier New" pitchFamily="49" charset="0"/>
              </a:rPr>
              <a:t>InitialContext</a:t>
            </a:r>
            <a:r>
              <a:rPr lang="en-US" dirty="0">
                <a:latin typeface="Courier New" pitchFamily="49" charset="0"/>
                <a:cs typeface="Courier New" pitchFamily="49" charset="0"/>
              </a:rPr>
              <a:t>([</a:t>
            </a:r>
            <a:r>
              <a:rPr lang="en-US" dirty="0" err="1">
                <a:latin typeface="Courier New" pitchFamily="49" charset="0"/>
                <a:cs typeface="Courier New" pitchFamily="49" charset="0"/>
              </a:rPr>
              <a:t>ProprietatiServerJNDI</a:t>
            </a:r>
            <a:r>
              <a:rPr lang="en-US" dirty="0">
                <a:latin typeface="Courier New" pitchFamily="49" charset="0"/>
                <a:cs typeface="Courier New" pitchFamily="49" charset="0"/>
              </a:rPr>
              <a:t>]);</a:t>
            </a:r>
          </a:p>
          <a:p>
            <a:pPr fontAlgn="auto">
              <a:spcBef>
                <a:spcPts val="0"/>
              </a:spcBef>
              <a:spcAft>
                <a:spcPts val="0"/>
              </a:spcAft>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Interfata</a:t>
            </a:r>
            <a:r>
              <a:rPr lang="en-US" dirty="0">
                <a:latin typeface="Courier New" pitchFamily="49" charset="0"/>
                <a:cs typeface="Courier New" pitchFamily="49" charset="0"/>
              </a:rPr>
              <a:t> proxy = (</a:t>
            </a:r>
            <a:r>
              <a:rPr lang="en-US" dirty="0" err="1">
                <a:latin typeface="Courier New" pitchFamily="49" charset="0"/>
                <a:cs typeface="Courier New" pitchFamily="49" charset="0"/>
              </a:rPr>
              <a:t>Interfata</a:t>
            </a:r>
            <a:r>
              <a:rPr lang="en-US" dirty="0">
                <a:latin typeface="Courier New" pitchFamily="49" charset="0"/>
                <a:cs typeface="Courier New" pitchFamily="49" charset="0"/>
              </a:rPr>
              <a:t>) </a:t>
            </a:r>
            <a:r>
              <a:rPr lang="en-US" dirty="0" err="1">
                <a:latin typeface="Courier New" pitchFamily="49" charset="0"/>
                <a:cs typeface="Courier New" pitchFamily="49" charset="0"/>
              </a:rPr>
              <a:t>ctx.lookup</a:t>
            </a:r>
            <a:r>
              <a:rPr lang="en-US" dirty="0">
                <a:latin typeface="Courier New" pitchFamily="49" charset="0"/>
                <a:cs typeface="Courier New" pitchFamily="49" charset="0"/>
              </a:rPr>
              <a:t>(</a:t>
            </a:r>
            <a:r>
              <a:rPr lang="en-US" dirty="0" err="1">
                <a:latin typeface="Courier New" pitchFamily="49" charset="0"/>
                <a:cs typeface="Courier New" pitchFamily="49" charset="0"/>
              </a:rPr>
              <a:t>numeJNDI</a:t>
            </a:r>
            <a:r>
              <a:rPr lang="en-US" dirty="0" smtClean="0">
                <a:latin typeface="Courier New" pitchFamily="49" charset="0"/>
                <a:cs typeface="Courier New" pitchFamily="49" charset="0"/>
              </a:rPr>
              <a:t>);</a:t>
            </a:r>
            <a:endParaRPr lang="en-US" dirty="0">
              <a:latin typeface="+mn-lt"/>
              <a:cs typeface="+mn-cs"/>
            </a:endParaRPr>
          </a:p>
          <a:p>
            <a:pPr fontAlgn="auto">
              <a:spcBef>
                <a:spcPts val="0"/>
              </a:spcBef>
              <a:spcAft>
                <a:spcPts val="0"/>
              </a:spcAft>
              <a:defRPr/>
            </a:pPr>
            <a:endParaRPr lang="en-US" dirty="0">
              <a:latin typeface="+mn-lt"/>
              <a:cs typeface="+mn-cs"/>
            </a:endParaRPr>
          </a:p>
          <a:p>
            <a:pPr fontAlgn="auto">
              <a:spcBef>
                <a:spcPts val="0"/>
              </a:spcBef>
              <a:spcAft>
                <a:spcPts val="0"/>
              </a:spcAft>
              <a:defRPr/>
            </a:pPr>
            <a:r>
              <a:rPr lang="en-US" dirty="0" err="1" smtClean="0">
                <a:latin typeface="+mn-lt"/>
                <a:cs typeface="+mn-cs"/>
              </a:rPr>
              <a:t>Cateva</a:t>
            </a:r>
            <a:r>
              <a:rPr lang="en-US" dirty="0" smtClean="0">
                <a:latin typeface="+mn-lt"/>
                <a:cs typeface="+mn-cs"/>
              </a:rPr>
              <a:t> </a:t>
            </a:r>
            <a:r>
              <a:rPr lang="en-US" dirty="0" err="1" smtClean="0">
                <a:latin typeface="+mn-lt"/>
                <a:cs typeface="+mn-cs"/>
              </a:rPr>
              <a:t>nume</a:t>
            </a:r>
            <a:r>
              <a:rPr lang="en-US" dirty="0" smtClean="0">
                <a:latin typeface="+mn-lt"/>
                <a:cs typeface="+mn-cs"/>
              </a:rPr>
              <a:t> </a:t>
            </a:r>
            <a:r>
              <a:rPr lang="en-US" dirty="0" err="1" smtClean="0">
                <a:latin typeface="+mn-lt"/>
                <a:cs typeface="+mn-cs"/>
              </a:rPr>
              <a:t>JNDI</a:t>
            </a:r>
            <a:r>
              <a:rPr lang="en-US" dirty="0" smtClean="0">
                <a:latin typeface="+mn-lt"/>
                <a:cs typeface="+mn-cs"/>
              </a:rPr>
              <a:t> </a:t>
            </a:r>
            <a:r>
              <a:rPr lang="en-US" dirty="0" err="1" smtClean="0">
                <a:latin typeface="+mn-lt"/>
                <a:cs typeface="+mn-cs"/>
              </a:rPr>
              <a:t>pentru</a:t>
            </a:r>
            <a:r>
              <a:rPr lang="en-US" dirty="0" smtClean="0">
                <a:latin typeface="+mn-lt"/>
                <a:cs typeface="+mn-cs"/>
              </a:rPr>
              <a:t> </a:t>
            </a:r>
            <a:r>
              <a:rPr lang="en-US" dirty="0" err="1" smtClean="0">
                <a:latin typeface="+mn-lt"/>
                <a:cs typeface="+mn-cs"/>
              </a:rPr>
              <a:t>clienti</a:t>
            </a:r>
            <a:r>
              <a:rPr lang="en-US" dirty="0" smtClean="0">
                <a:latin typeface="+mn-lt"/>
                <a:cs typeface="+mn-cs"/>
              </a:rPr>
              <a:t> </a:t>
            </a:r>
            <a:r>
              <a:rPr lang="en-US" dirty="0" err="1" smtClean="0">
                <a:latin typeface="+mn-lt"/>
                <a:cs typeface="+mn-cs"/>
              </a:rPr>
              <a:t>Jboss</a:t>
            </a:r>
            <a:r>
              <a:rPr lang="en-US" dirty="0" smtClean="0">
                <a:latin typeface="+mn-lt"/>
                <a:cs typeface="+mn-cs"/>
              </a:rPr>
              <a:t> / </a:t>
            </a:r>
            <a:r>
              <a:rPr lang="en-US" dirty="0" err="1" smtClean="0">
                <a:latin typeface="+mn-lt"/>
                <a:cs typeface="+mn-cs"/>
              </a:rPr>
              <a:t>WildFly</a:t>
            </a:r>
            <a:r>
              <a:rPr lang="en-US" dirty="0" smtClean="0">
                <a:latin typeface="+mn-lt"/>
                <a:cs typeface="+mn-cs"/>
              </a:rPr>
              <a:t>: </a:t>
            </a:r>
          </a:p>
          <a:p>
            <a:pPr lvl="2" fontAlgn="auto">
              <a:spcBef>
                <a:spcPts val="0"/>
              </a:spcBef>
              <a:spcAft>
                <a:spcPts val="0"/>
              </a:spcAft>
              <a:defRPr/>
            </a:pPr>
            <a:r>
              <a:rPr lang="en-US" dirty="0" err="1" smtClean="0">
                <a:latin typeface="Courier New" panose="02070309020205020404" pitchFamily="49" charset="0"/>
                <a:cs typeface="Courier New" panose="02070309020205020404" pitchFamily="49" charset="0"/>
              </a:rPr>
              <a:t>1ejbSession</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Abac1Bean!p.interfaces.Abac1</a:t>
            </a:r>
            <a:endParaRPr lang="en-US" dirty="0">
              <a:latin typeface="Courier New" panose="02070309020205020404" pitchFamily="49" charset="0"/>
              <a:cs typeface="Courier New" panose="02070309020205020404" pitchFamily="49" charset="0"/>
            </a:endParaRPr>
          </a:p>
          <a:p>
            <a:pPr lvl="2" fontAlgn="auto">
              <a:spcBef>
                <a:spcPts val="0"/>
              </a:spcBef>
              <a:spcAft>
                <a:spcPts val="0"/>
              </a:spcAft>
              <a:defRPr/>
            </a:pPr>
            <a:r>
              <a:rPr lang="en-US" dirty="0" err="1" smtClean="0">
                <a:latin typeface="Courier New" panose="02070309020205020404" pitchFamily="49" charset="0"/>
                <a:cs typeface="Courier New" panose="02070309020205020404" pitchFamily="49" charset="0"/>
              </a:rPr>
              <a:t>1ejbSession</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Counter1Bean!p.interfaces.Counter1</a:t>
            </a:r>
            <a:endParaRPr lang="en-US" dirty="0" smtClean="0">
              <a:latin typeface="Courier New" panose="02070309020205020404" pitchFamily="49" charset="0"/>
              <a:cs typeface="Courier New" panose="02070309020205020404" pitchFamily="49" charset="0"/>
            </a:endParaRPr>
          </a:p>
          <a:p>
            <a:pPr lvl="2" fontAlgn="auto">
              <a:spcBef>
                <a:spcPts val="0"/>
              </a:spcBef>
              <a:spcAft>
                <a:spcPts val="0"/>
              </a:spcAft>
              <a:defRPr/>
            </a:pPr>
            <a:r>
              <a:rPr lang="en-US" dirty="0" err="1" smtClean="0">
                <a:latin typeface="Courier New" panose="02070309020205020404" pitchFamily="49" charset="0"/>
                <a:cs typeface="Courier New" panose="02070309020205020404" pitchFamily="49" charset="0"/>
              </a:rPr>
              <a:t>4ear123</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2ejbSingleton</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Abac2Bean!p.interfaces.Abac2</a:t>
            </a:r>
            <a:endParaRPr lang="en-US" dirty="0">
              <a:latin typeface="Courier New" panose="02070309020205020404" pitchFamily="49" charset="0"/>
              <a:cs typeface="Courier New" panose="02070309020205020404" pitchFamily="49" charset="0"/>
            </a:endParaRPr>
          </a:p>
          <a:p>
            <a:pPr lvl="2" fontAlgn="auto">
              <a:spcBef>
                <a:spcPts val="0"/>
              </a:spcBef>
              <a:spcAft>
                <a:spcPts val="0"/>
              </a:spcAft>
              <a:defRPr/>
            </a:pPr>
            <a:r>
              <a:rPr lang="en-US" dirty="0" err="1" smtClean="0">
                <a:latin typeface="Courier New" panose="02070309020205020404" pitchFamily="49" charset="0"/>
                <a:cs typeface="Courier New" panose="02070309020205020404" pitchFamily="49" charset="0"/>
              </a:rPr>
              <a:t>4ear123</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2ejbSingleton</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Counter2Bean!p.interfaces.Counter2</a:t>
            </a:r>
            <a:endParaRPr lang="en-US" dirty="0">
              <a:latin typeface="Courier New" panose="02070309020205020404" pitchFamily="49" charset="0"/>
              <a:cs typeface="Courier New" panose="02070309020205020404" pitchFamily="49" charset="0"/>
            </a:endParaRPr>
          </a:p>
          <a:p>
            <a:pPr fontAlgn="auto">
              <a:spcBef>
                <a:spcPts val="0"/>
              </a:spcBef>
              <a:spcAft>
                <a:spcPts val="0"/>
              </a:spcAft>
              <a:defRPr/>
            </a:pPr>
            <a:r>
              <a:rPr lang="en-US" dirty="0">
                <a:latin typeface="+mn-lt"/>
                <a:cs typeface="+mn-cs"/>
              </a:rPr>
              <a:t> </a:t>
            </a:r>
            <a:r>
              <a:rPr lang="en-US" dirty="0" err="1"/>
              <a:t>Cateva</a:t>
            </a:r>
            <a:r>
              <a:rPr lang="en-US" dirty="0"/>
              <a:t> </a:t>
            </a:r>
            <a:r>
              <a:rPr lang="en-US" dirty="0" err="1"/>
              <a:t>nume</a:t>
            </a:r>
            <a:r>
              <a:rPr lang="en-US" dirty="0"/>
              <a:t> </a:t>
            </a:r>
            <a:r>
              <a:rPr lang="en-US" dirty="0" err="1"/>
              <a:t>JNDI</a:t>
            </a:r>
            <a:r>
              <a:rPr lang="en-US" dirty="0"/>
              <a:t> </a:t>
            </a:r>
            <a:r>
              <a:rPr lang="en-US" dirty="0" err="1"/>
              <a:t>pentru</a:t>
            </a:r>
            <a:r>
              <a:rPr lang="en-US" dirty="0"/>
              <a:t> </a:t>
            </a:r>
            <a:r>
              <a:rPr lang="en-US" dirty="0" err="1"/>
              <a:t>clienti</a:t>
            </a:r>
            <a:r>
              <a:rPr lang="en-US" dirty="0"/>
              <a:t> </a:t>
            </a:r>
            <a:r>
              <a:rPr lang="en-US" dirty="0" err="1" smtClean="0"/>
              <a:t>GlassFish</a:t>
            </a:r>
            <a:r>
              <a:rPr lang="en-US" dirty="0" smtClean="0"/>
              <a:t>:</a:t>
            </a:r>
          </a:p>
          <a:p>
            <a:pPr fontAlgn="auto">
              <a:spcBef>
                <a:spcPts val="0"/>
              </a:spcBef>
              <a:spcAft>
                <a:spcPts val="0"/>
              </a:spcAft>
              <a:defRPr/>
            </a:pPr>
            <a:r>
              <a:rPr lang="en-US" dirty="0" err="1" smtClean="0">
                <a:latin typeface="Courier New" panose="02070309020205020404" pitchFamily="49" charset="0"/>
                <a:cs typeface="Courier New" panose="02070309020205020404" pitchFamily="49" charset="0"/>
              </a:rPr>
              <a:t>java:global</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2ejb2Singleton</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Abac2Bean!p.interfaces.Abac2</a:t>
            </a:r>
            <a:endParaRPr lang="en-US" dirty="0">
              <a:latin typeface="Courier New" panose="02070309020205020404" pitchFamily="49" charset="0"/>
              <a:cs typeface="Courier New" panose="02070309020205020404" pitchFamily="49" charset="0"/>
            </a:endParaRPr>
          </a:p>
          <a:p>
            <a:pPr fontAlgn="auto">
              <a:spcBef>
                <a:spcPts val="0"/>
              </a:spcBef>
              <a:spcAft>
                <a:spcPts val="0"/>
              </a:spcAft>
              <a:defRPr/>
            </a:pPr>
            <a:r>
              <a:rPr lang="en-US" dirty="0" err="1" smtClean="0">
                <a:latin typeface="Courier New" panose="02070309020205020404" pitchFamily="49" charset="0"/>
                <a:cs typeface="Courier New" panose="02070309020205020404" pitchFamily="49" charset="0"/>
              </a:rPr>
              <a:t>java:global</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2ejb2Singleton</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Counter2Bean!p.interfaces.Counter2</a:t>
            </a:r>
            <a:endParaRPr lang="en-US" dirty="0" smtClean="0">
              <a:latin typeface="Courier New" panose="02070309020205020404" pitchFamily="49" charset="0"/>
              <a:cs typeface="Courier New" panose="02070309020205020404" pitchFamily="49" charset="0"/>
            </a:endParaRPr>
          </a:p>
          <a:p>
            <a:pPr fontAlgn="auto">
              <a:spcBef>
                <a:spcPts val="0"/>
              </a:spcBef>
              <a:spcAft>
                <a:spcPts val="0"/>
              </a:spcAft>
              <a:defRPr/>
            </a:pPr>
            <a:r>
              <a:rPr lang="en-US" dirty="0" err="1" smtClean="0">
                <a:latin typeface="Courier New" panose="02070309020205020404" pitchFamily="49" charset="0"/>
                <a:cs typeface="Courier New" panose="02070309020205020404" pitchFamily="49" charset="0"/>
              </a:rPr>
              <a:t>java:global</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4ear123</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1ejbSession</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Abac1Bean!p.interfaces.Abac1</a:t>
            </a:r>
            <a:endParaRPr lang="en-US" dirty="0">
              <a:latin typeface="Courier New" panose="02070309020205020404" pitchFamily="49" charset="0"/>
              <a:cs typeface="Courier New" panose="02070309020205020404" pitchFamily="49" charset="0"/>
            </a:endParaRPr>
          </a:p>
          <a:p>
            <a:pPr fontAlgn="auto">
              <a:spcBef>
                <a:spcPts val="0"/>
              </a:spcBef>
              <a:spcAft>
                <a:spcPts val="0"/>
              </a:spcAft>
              <a:defRPr/>
            </a:pPr>
            <a:r>
              <a:rPr lang="en-US" dirty="0" err="1" smtClean="0">
                <a:latin typeface="Courier New" panose="02070309020205020404" pitchFamily="49" charset="0"/>
                <a:cs typeface="Courier New" panose="02070309020205020404" pitchFamily="49" charset="0"/>
              </a:rPr>
              <a:t>java:global</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4ear123</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1ejbSession</a:t>
            </a:r>
            <a:r>
              <a:rPr lang="en-US" dirty="0" smtClean="0">
                <a:latin typeface="Courier New" panose="02070309020205020404" pitchFamily="49" charset="0"/>
                <a:cs typeface="Courier New" panose="02070309020205020404" pitchFamily="49" charset="0"/>
              </a:rPr>
              <a:t>/</a:t>
            </a:r>
            <a:r>
              <a:rPr lang="en-US" dirty="0" err="1" smtClean="0">
                <a:latin typeface="Courier New" panose="02070309020205020404" pitchFamily="49" charset="0"/>
                <a:cs typeface="Courier New" panose="02070309020205020404" pitchFamily="49" charset="0"/>
              </a:rPr>
              <a:t>Counter1Bean!p.interfaces.Counter1</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46861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14</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smtClean="0">
                <a:solidFill>
                  <a:srgbClr val="FF0000"/>
                </a:solidFill>
                <a:latin typeface="Calibri" pitchFamily="34" charset="0"/>
              </a:rPr>
              <a:t>Clienti</a:t>
            </a:r>
            <a:r>
              <a:rPr lang="en-US" altLang="en-US" dirty="0" smtClean="0">
                <a:solidFill>
                  <a:srgbClr val="FF0000"/>
                </a:solidFill>
                <a:latin typeface="Calibri" pitchFamily="34" charset="0"/>
              </a:rPr>
              <a:t> standalone </a:t>
            </a:r>
            <a:r>
              <a:rPr lang="en-US" altLang="en-US" dirty="0" err="1" smtClean="0">
                <a:solidFill>
                  <a:srgbClr val="FF0000"/>
                </a:solidFill>
                <a:latin typeface="Calibri" pitchFamily="34" charset="0"/>
              </a:rPr>
              <a:t>WildFly</a:t>
            </a:r>
            <a:r>
              <a:rPr lang="en-US" altLang="en-US" dirty="0" smtClean="0">
                <a:solidFill>
                  <a:srgbClr val="FF0000"/>
                </a:solidFill>
                <a:latin typeface="Calibri" pitchFamily="34" charset="0"/>
              </a:rPr>
              <a:t> cu </a:t>
            </a:r>
            <a:r>
              <a:rPr lang="en-US" altLang="en-US" dirty="0" err="1" smtClean="0">
                <a:solidFill>
                  <a:srgbClr val="FF0000"/>
                </a:solidFill>
                <a:latin typeface="Calibri" pitchFamily="34" charset="0"/>
              </a:rPr>
              <a:t>referire</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prin</a:t>
            </a:r>
            <a:r>
              <a:rPr lang="en-US" altLang="en-US" dirty="0" smtClean="0">
                <a:solidFill>
                  <a:srgbClr val="FF0000"/>
                </a:solidFill>
                <a:latin typeface="Calibri" pitchFamily="34" charset="0"/>
              </a:rPr>
              <a:t>  JNDI </a:t>
            </a:r>
            <a:r>
              <a:rPr lang="en-US" altLang="en-US" dirty="0" err="1" smtClean="0">
                <a:solidFill>
                  <a:srgbClr val="FF0000"/>
                </a:solidFill>
                <a:latin typeface="Calibri" pitchFamily="34" charset="0"/>
              </a:rPr>
              <a:t>pentru</a:t>
            </a:r>
            <a:r>
              <a:rPr lang="en-US" altLang="en-US" dirty="0" smtClean="0">
                <a:solidFill>
                  <a:srgbClr val="FF0000"/>
                </a:solidFill>
                <a:latin typeface="Calibri" pitchFamily="34" charset="0"/>
              </a:rPr>
              <a:t> session bean</a:t>
            </a:r>
            <a:endParaRPr lang="en-US" altLang="en-US" dirty="0">
              <a:solidFill>
                <a:srgbClr val="FF0000"/>
              </a:solidFill>
              <a:latin typeface="Calibri" pitchFamily="34" charset="0"/>
            </a:endParaRPr>
          </a:p>
        </p:txBody>
      </p:sp>
      <p:sp>
        <p:nvSpPr>
          <p:cNvPr id="2" name="TextBox 1"/>
          <p:cNvSpPr txBox="1"/>
          <p:nvPr/>
        </p:nvSpPr>
        <p:spPr>
          <a:xfrm>
            <a:off x="0" y="366714"/>
            <a:ext cx="9144000" cy="5909310"/>
          </a:xfrm>
          <a:prstGeom prst="rect">
            <a:avLst/>
          </a:prstGeom>
          <a:noFill/>
        </p:spPr>
        <p:txBody>
          <a:bodyPr wrap="square" rtlCol="0">
            <a:spAutoFit/>
          </a:bodyPr>
          <a:lstStyle/>
          <a:p>
            <a:pPr algn="just"/>
            <a:r>
              <a:rPr lang="en-US" b="1" dirty="0" err="1" smtClean="0"/>
              <a:t>6clients123WF</a:t>
            </a:r>
            <a:r>
              <a:rPr lang="en-US" dirty="0" smtClean="0"/>
              <a:t> </a:t>
            </a:r>
            <a:r>
              <a:rPr lang="en-US" dirty="0" err="1" smtClean="0"/>
              <a:t>contine</a:t>
            </a:r>
            <a:r>
              <a:rPr lang="en-US" dirty="0" smtClean="0"/>
              <a:t> </a:t>
            </a:r>
            <a:r>
              <a:rPr lang="en-US" dirty="0" err="1" smtClean="0"/>
              <a:t>trei</a:t>
            </a:r>
            <a:r>
              <a:rPr lang="en-US" dirty="0" smtClean="0"/>
              <a:t> </a:t>
            </a:r>
            <a:r>
              <a:rPr lang="en-US" dirty="0" err="1" smtClean="0"/>
              <a:t>clienti</a:t>
            </a:r>
            <a:r>
              <a:rPr lang="en-US" dirty="0" smtClean="0"/>
              <a:t> standalone </a:t>
            </a:r>
            <a:r>
              <a:rPr lang="en-US" dirty="0" err="1" smtClean="0"/>
              <a:t>pentru</a:t>
            </a:r>
            <a:r>
              <a:rPr lang="en-US" dirty="0" smtClean="0"/>
              <a:t> AS </a:t>
            </a:r>
            <a:r>
              <a:rPr lang="en-US" b="1" dirty="0" err="1" smtClean="0"/>
              <a:t>WildFly</a:t>
            </a:r>
            <a:r>
              <a:rPr lang="en-US" dirty="0" smtClean="0"/>
              <a:t> care </a:t>
            </a:r>
            <a:r>
              <a:rPr lang="en-US" dirty="0" err="1" smtClean="0"/>
              <a:t>apeleaza</a:t>
            </a:r>
            <a:r>
              <a:rPr lang="en-US" dirty="0" smtClean="0"/>
              <a:t> </a:t>
            </a:r>
            <a:r>
              <a:rPr lang="en-US" dirty="0" err="1" smtClean="0"/>
              <a:t>modulele</a:t>
            </a:r>
            <a:r>
              <a:rPr lang="en-US" dirty="0" smtClean="0"/>
              <a:t> </a:t>
            </a:r>
            <a:r>
              <a:rPr lang="en-US" b="1" dirty="0" err="1" smtClean="0"/>
              <a:t>1ejbSession</a:t>
            </a:r>
            <a:r>
              <a:rPr lang="en-US" b="1" dirty="0" smtClean="0"/>
              <a:t>,</a:t>
            </a:r>
            <a:r>
              <a:rPr lang="en-US" dirty="0" smtClean="0"/>
              <a:t> </a:t>
            </a:r>
            <a:r>
              <a:rPr lang="en-US" b="1" dirty="0" err="1" smtClean="0"/>
              <a:t>2ejbSingleton</a:t>
            </a:r>
            <a:r>
              <a:rPr lang="en-US" b="1" dirty="0" smtClean="0"/>
              <a:t>, </a:t>
            </a:r>
            <a:r>
              <a:rPr lang="en-US" b="1" dirty="0" err="1" smtClean="0"/>
              <a:t>3ejbCs</a:t>
            </a:r>
            <a:r>
              <a:rPr lang="en-US" dirty="0" smtClean="0"/>
              <a:t>, in </a:t>
            </a:r>
            <a:r>
              <a:rPr lang="en-US" dirty="0" err="1" smtClean="0"/>
              <a:t>prealabil</a:t>
            </a:r>
            <a:r>
              <a:rPr lang="en-US" dirty="0" smtClean="0"/>
              <a:t> </a:t>
            </a:r>
            <a:r>
              <a:rPr lang="en-US" dirty="0" err="1" smtClean="0"/>
              <a:t>deployati</a:t>
            </a:r>
            <a:r>
              <a:rPr lang="en-US" dirty="0" smtClean="0"/>
              <a:t> direct, </a:t>
            </a:r>
            <a:r>
              <a:rPr lang="en-US" dirty="0" err="1" smtClean="0"/>
              <a:t>sau</a:t>
            </a:r>
            <a:r>
              <a:rPr lang="en-US" dirty="0" smtClean="0"/>
              <a:t> </a:t>
            </a:r>
            <a:r>
              <a:rPr lang="en-US" dirty="0" err="1" smtClean="0"/>
              <a:t>prin</a:t>
            </a:r>
            <a:r>
              <a:rPr lang="en-US" dirty="0" smtClean="0"/>
              <a:t> </a:t>
            </a:r>
            <a:r>
              <a:rPr lang="en-US" dirty="0" err="1" smtClean="0"/>
              <a:t>intermediul</a:t>
            </a:r>
            <a:r>
              <a:rPr lang="en-US" dirty="0" smtClean="0"/>
              <a:t> </a:t>
            </a:r>
            <a:r>
              <a:rPr lang="en-US" dirty="0" err="1" smtClean="0"/>
              <a:t>arhivei</a:t>
            </a:r>
            <a:r>
              <a:rPr lang="en-US" dirty="0" smtClean="0"/>
              <a:t> </a:t>
            </a:r>
            <a:r>
              <a:rPr lang="en-US" b="1" dirty="0" err="1" smtClean="0"/>
              <a:t>4ear123.ear</a:t>
            </a:r>
            <a:r>
              <a:rPr lang="en-US" dirty="0" smtClean="0"/>
              <a:t>. </a:t>
            </a:r>
            <a:r>
              <a:rPr lang="en-US" dirty="0" err="1" smtClean="0"/>
              <a:t>Interfetele</a:t>
            </a:r>
            <a:r>
              <a:rPr lang="en-US" dirty="0" smtClean="0"/>
              <a:t> invocate de </a:t>
            </a:r>
            <a:r>
              <a:rPr lang="en-US" dirty="0" err="1" smtClean="0"/>
              <a:t>clienti</a:t>
            </a:r>
            <a:r>
              <a:rPr lang="en-US" dirty="0" smtClean="0"/>
              <a:t> </a:t>
            </a:r>
            <a:r>
              <a:rPr lang="en-US" dirty="0" err="1" smtClean="0"/>
              <a:t>sunt</a:t>
            </a:r>
            <a:r>
              <a:rPr lang="en-US" dirty="0" smtClean="0"/>
              <a:t> in </a:t>
            </a:r>
            <a:r>
              <a:rPr lang="en-US" b="1" dirty="0" err="1" smtClean="0"/>
              <a:t>p.interfaces</a:t>
            </a:r>
            <a:r>
              <a:rPr lang="en-US" dirty="0" smtClean="0"/>
              <a:t> : </a:t>
            </a:r>
            <a:r>
              <a:rPr lang="en-US" b="1" dirty="0" err="1" smtClean="0"/>
              <a:t>Abac1</a:t>
            </a:r>
            <a:r>
              <a:rPr lang="en-US" dirty="0" smtClean="0"/>
              <a:t> </a:t>
            </a:r>
            <a:r>
              <a:rPr lang="en-US" dirty="0" err="1" smtClean="0"/>
              <a:t>si</a:t>
            </a:r>
            <a:r>
              <a:rPr lang="en-US" dirty="0" smtClean="0"/>
              <a:t> </a:t>
            </a:r>
            <a:r>
              <a:rPr lang="en-US" b="1" dirty="0" err="1" smtClean="0"/>
              <a:t>Counter1</a:t>
            </a:r>
            <a:r>
              <a:rPr lang="en-US" dirty="0"/>
              <a:t> </a:t>
            </a:r>
            <a:r>
              <a:rPr lang="en-US" dirty="0" err="1" smtClean="0"/>
              <a:t>pentru</a:t>
            </a:r>
            <a:r>
              <a:rPr lang="en-US" dirty="0" smtClean="0"/>
              <a:t> </a:t>
            </a:r>
            <a:r>
              <a:rPr lang="en-US" b="1" dirty="0" err="1" smtClean="0"/>
              <a:t>1ejbSession</a:t>
            </a:r>
            <a:r>
              <a:rPr lang="en-US" dirty="0" smtClean="0"/>
              <a:t>,</a:t>
            </a:r>
            <a:r>
              <a:rPr lang="en-US" b="1" dirty="0" smtClean="0"/>
              <a:t> </a:t>
            </a:r>
            <a:r>
              <a:rPr lang="en-US" b="1" dirty="0" err="1" smtClean="0"/>
              <a:t>Abac2</a:t>
            </a:r>
            <a:r>
              <a:rPr lang="en-US" dirty="0" smtClean="0"/>
              <a:t> </a:t>
            </a:r>
            <a:r>
              <a:rPr lang="en-US" dirty="0" err="1"/>
              <a:t>si</a:t>
            </a:r>
            <a:r>
              <a:rPr lang="en-US" dirty="0"/>
              <a:t> </a:t>
            </a:r>
            <a:r>
              <a:rPr lang="en-US" b="1" dirty="0" err="1" smtClean="0"/>
              <a:t>Counter2</a:t>
            </a:r>
            <a:r>
              <a:rPr lang="en-US" dirty="0" smtClean="0"/>
              <a:t> </a:t>
            </a:r>
            <a:r>
              <a:rPr lang="en-US" dirty="0" err="1"/>
              <a:t>pentru</a:t>
            </a:r>
            <a:r>
              <a:rPr lang="en-US" dirty="0"/>
              <a:t> </a:t>
            </a:r>
            <a:r>
              <a:rPr lang="en-US" b="1" dirty="0" err="1" smtClean="0"/>
              <a:t>2ejbSingleton</a:t>
            </a:r>
            <a:r>
              <a:rPr lang="en-US" dirty="0" smtClean="0"/>
              <a:t>, </a:t>
            </a:r>
            <a:r>
              <a:rPr lang="en-US" b="1" dirty="0" err="1" smtClean="0"/>
              <a:t>AbacR</a:t>
            </a:r>
            <a:r>
              <a:rPr lang="en-US" dirty="0" smtClean="0"/>
              <a:t> </a:t>
            </a:r>
            <a:r>
              <a:rPr lang="en-US" dirty="0" err="1"/>
              <a:t>si</a:t>
            </a:r>
            <a:r>
              <a:rPr lang="en-US" dirty="0"/>
              <a:t> </a:t>
            </a:r>
            <a:r>
              <a:rPr lang="en-US" b="1" dirty="0" err="1" smtClean="0"/>
              <a:t>CounterR</a:t>
            </a:r>
            <a:r>
              <a:rPr lang="en-US" dirty="0" smtClean="0"/>
              <a:t> remote </a:t>
            </a:r>
            <a:r>
              <a:rPr lang="en-US" dirty="0" err="1" smtClean="0"/>
              <a:t>pentru</a:t>
            </a:r>
            <a:r>
              <a:rPr lang="en-US" dirty="0" smtClean="0"/>
              <a:t> </a:t>
            </a:r>
            <a:r>
              <a:rPr lang="en-US" b="1" dirty="0" err="1" smtClean="0"/>
              <a:t>3ejbCs</a:t>
            </a:r>
            <a:r>
              <a:rPr lang="en-US" dirty="0" smtClean="0"/>
              <a:t>.</a:t>
            </a:r>
          </a:p>
          <a:p>
            <a:endParaRPr lang="en-US" dirty="0"/>
          </a:p>
          <a:p>
            <a:pPr algn="just"/>
            <a:r>
              <a:rPr lang="en-US" dirty="0" smtClean="0"/>
              <a:t>In </a:t>
            </a:r>
            <a:r>
              <a:rPr lang="en-US" b="1" dirty="0" err="1" smtClean="0"/>
              <a:t>p.clients</a:t>
            </a:r>
            <a:r>
              <a:rPr lang="en-US" dirty="0" smtClean="0"/>
              <a:t> </a:t>
            </a:r>
            <a:r>
              <a:rPr lang="en-US" dirty="0" err="1" smtClean="0"/>
              <a:t>sunt</a:t>
            </a:r>
            <a:r>
              <a:rPr lang="en-US" dirty="0" smtClean="0"/>
              <a:t> definite </a:t>
            </a:r>
            <a:r>
              <a:rPr lang="en-US" dirty="0" err="1" smtClean="0"/>
              <a:t>trei</a:t>
            </a:r>
            <a:r>
              <a:rPr lang="en-US" dirty="0" smtClean="0"/>
              <a:t> </a:t>
            </a:r>
            <a:r>
              <a:rPr lang="en-US" dirty="0" err="1" smtClean="0"/>
              <a:t>clase</a:t>
            </a:r>
            <a:r>
              <a:rPr lang="en-US" dirty="0" smtClean="0"/>
              <a:t> Java cu </a:t>
            </a:r>
            <a:r>
              <a:rPr lang="en-US" dirty="0" err="1" smtClean="0"/>
              <a:t>metoda</a:t>
            </a:r>
            <a:r>
              <a:rPr lang="en-US" dirty="0" smtClean="0"/>
              <a:t> main: </a:t>
            </a:r>
            <a:r>
              <a:rPr lang="en-US" b="1" dirty="0" err="1" smtClean="0"/>
              <a:t>Client1WF</a:t>
            </a:r>
            <a:r>
              <a:rPr lang="en-US" b="1" dirty="0" smtClean="0"/>
              <a:t>, </a:t>
            </a:r>
            <a:r>
              <a:rPr lang="en-US" b="1" dirty="0" err="1" smtClean="0"/>
              <a:t>Client2WF</a:t>
            </a:r>
            <a:r>
              <a:rPr lang="en-US" b="1" dirty="0" smtClean="0"/>
              <a:t> </a:t>
            </a:r>
            <a:r>
              <a:rPr lang="en-US" b="1" dirty="0"/>
              <a:t>, </a:t>
            </a:r>
            <a:r>
              <a:rPr lang="en-US" b="1" dirty="0" err="1" smtClean="0"/>
              <a:t>Client3WF</a:t>
            </a:r>
            <a:r>
              <a:rPr lang="en-US" dirty="0" smtClean="0"/>
              <a:t>. </a:t>
            </a:r>
            <a:r>
              <a:rPr lang="en-US" dirty="0" err="1" smtClean="0"/>
              <a:t>Acestea</a:t>
            </a:r>
            <a:r>
              <a:rPr lang="en-US" dirty="0" smtClean="0"/>
              <a:t> </a:t>
            </a:r>
            <a:r>
              <a:rPr lang="en-US" dirty="0" err="1" smtClean="0"/>
              <a:t>difera</a:t>
            </a:r>
            <a:r>
              <a:rPr lang="en-US" dirty="0" smtClean="0"/>
              <a:t> </a:t>
            </a:r>
            <a:r>
              <a:rPr lang="en-US" dirty="0" err="1" smtClean="0"/>
              <a:t>doar</a:t>
            </a:r>
            <a:r>
              <a:rPr lang="en-US" dirty="0" smtClean="0"/>
              <a:t> </a:t>
            </a:r>
            <a:r>
              <a:rPr lang="en-US" dirty="0" err="1" smtClean="0"/>
              <a:t>prin</a:t>
            </a:r>
            <a:r>
              <a:rPr lang="en-US" dirty="0" smtClean="0"/>
              <a:t> </a:t>
            </a:r>
            <a:r>
              <a:rPr lang="en-US" dirty="0" err="1" smtClean="0"/>
              <a:t>numele</a:t>
            </a:r>
            <a:r>
              <a:rPr lang="en-US" dirty="0" smtClean="0"/>
              <a:t> </a:t>
            </a:r>
            <a:r>
              <a:rPr lang="en-US" dirty="0" err="1" smtClean="0"/>
              <a:t>JNDI</a:t>
            </a:r>
            <a:r>
              <a:rPr lang="en-US" dirty="0" smtClean="0"/>
              <a:t> de </a:t>
            </a:r>
            <a:r>
              <a:rPr lang="en-US" dirty="0" err="1" smtClean="0"/>
              <a:t>acces</a:t>
            </a:r>
            <a:r>
              <a:rPr lang="en-US" dirty="0" smtClean="0"/>
              <a:t> la </a:t>
            </a:r>
            <a:r>
              <a:rPr lang="en-US" dirty="0" err="1" smtClean="0"/>
              <a:t>beanuri</a:t>
            </a:r>
            <a:r>
              <a:rPr lang="en-US" dirty="0" smtClean="0"/>
              <a:t>. In rest, se </a:t>
            </a:r>
            <a:r>
              <a:rPr lang="en-US" dirty="0" err="1" smtClean="0"/>
              <a:t>definesc</a:t>
            </a:r>
            <a:r>
              <a:rPr lang="en-US" dirty="0" smtClean="0"/>
              <a:t>, </a:t>
            </a:r>
            <a:r>
              <a:rPr lang="en-US" dirty="0" err="1" smtClean="0"/>
              <a:t>hardcodate</a:t>
            </a:r>
            <a:r>
              <a:rPr lang="en-US" dirty="0" smtClean="0"/>
              <a:t>, </a:t>
            </a:r>
            <a:r>
              <a:rPr lang="en-US" dirty="0" err="1" smtClean="0"/>
              <a:t>doua</a:t>
            </a:r>
            <a:r>
              <a:rPr lang="en-US" dirty="0" smtClean="0"/>
              <a:t> </a:t>
            </a:r>
            <a:r>
              <a:rPr lang="en-US" dirty="0" err="1" smtClean="0"/>
              <a:t>proprietati</a:t>
            </a:r>
            <a:r>
              <a:rPr lang="en-US" dirty="0" smtClean="0"/>
              <a:t> de </a:t>
            </a:r>
            <a:r>
              <a:rPr lang="en-US" dirty="0" err="1" smtClean="0"/>
              <a:t>obtinere</a:t>
            </a:r>
            <a:r>
              <a:rPr lang="en-US" dirty="0" smtClean="0"/>
              <a:t> </a:t>
            </a:r>
            <a:r>
              <a:rPr lang="en-US" b="1" dirty="0" err="1" smtClean="0"/>
              <a:t>InitialContext</a:t>
            </a:r>
            <a:r>
              <a:rPr lang="en-US" dirty="0" smtClean="0"/>
              <a:t> la AS </a:t>
            </a:r>
            <a:r>
              <a:rPr lang="en-US" b="1" dirty="0" err="1" smtClean="0"/>
              <a:t>WildFly</a:t>
            </a:r>
            <a:r>
              <a:rPr lang="en-US" dirty="0" smtClean="0"/>
              <a:t>. </a:t>
            </a:r>
            <a:r>
              <a:rPr lang="en-US" dirty="0" err="1" smtClean="0"/>
              <a:t>Fiecare</a:t>
            </a:r>
            <a:r>
              <a:rPr lang="en-US" dirty="0" smtClean="0"/>
              <a:t> </a:t>
            </a:r>
            <a:r>
              <a:rPr lang="en-US" dirty="0" err="1" smtClean="0"/>
              <a:t>dintre</a:t>
            </a:r>
            <a:r>
              <a:rPr lang="en-US" dirty="0" smtClean="0"/>
              <a:t> </a:t>
            </a:r>
            <a:r>
              <a:rPr lang="en-US" dirty="0" err="1" smtClean="0"/>
              <a:t>clase</a:t>
            </a:r>
            <a:r>
              <a:rPr lang="en-US" dirty="0" smtClean="0"/>
              <a:t> </a:t>
            </a:r>
            <a:r>
              <a:rPr lang="en-US" dirty="0" err="1" smtClean="0"/>
              <a:t>decid</a:t>
            </a:r>
            <a:r>
              <a:rPr lang="en-US" dirty="0" smtClean="0"/>
              <a:t> </a:t>
            </a:r>
            <a:r>
              <a:rPr lang="en-US" dirty="0" err="1" smtClean="0"/>
              <a:t>daca</a:t>
            </a:r>
            <a:r>
              <a:rPr lang="en-US" dirty="0" smtClean="0"/>
              <a:t> </a:t>
            </a:r>
            <a:r>
              <a:rPr lang="en-US" dirty="0" err="1" smtClean="0"/>
              <a:t>modulul</a:t>
            </a:r>
            <a:r>
              <a:rPr lang="en-US" dirty="0" smtClean="0"/>
              <a:t> </a:t>
            </a:r>
            <a:r>
              <a:rPr lang="en-US" dirty="0" err="1" smtClean="0"/>
              <a:t>invocat</a:t>
            </a:r>
            <a:r>
              <a:rPr lang="en-US" dirty="0" smtClean="0"/>
              <a:t> </a:t>
            </a:r>
            <a:r>
              <a:rPr lang="en-US" dirty="0" err="1" smtClean="0"/>
              <a:t>prin</a:t>
            </a:r>
            <a:r>
              <a:rPr lang="en-US" dirty="0" smtClean="0"/>
              <a:t> </a:t>
            </a:r>
            <a:r>
              <a:rPr lang="en-US" dirty="0" err="1" smtClean="0"/>
              <a:t>JNDI</a:t>
            </a:r>
            <a:r>
              <a:rPr lang="en-US" dirty="0" smtClean="0"/>
              <a:t> se </a:t>
            </a:r>
            <a:r>
              <a:rPr lang="en-US" dirty="0" err="1" smtClean="0"/>
              <a:t>afla</a:t>
            </a:r>
            <a:r>
              <a:rPr lang="en-US" dirty="0" smtClean="0"/>
              <a:t> </a:t>
            </a:r>
            <a:r>
              <a:rPr lang="en-US" dirty="0" err="1" smtClean="0"/>
              <a:t>sau</a:t>
            </a:r>
            <a:r>
              <a:rPr lang="en-US" dirty="0" smtClean="0"/>
              <a:t> nu in </a:t>
            </a:r>
            <a:r>
              <a:rPr lang="en-US" dirty="0" err="1" smtClean="0"/>
              <a:t>arhiva</a:t>
            </a:r>
            <a:r>
              <a:rPr lang="en-US" dirty="0" smtClean="0"/>
              <a:t> </a:t>
            </a:r>
            <a:r>
              <a:rPr lang="en-US" b="1" dirty="0" err="1" smtClean="0"/>
              <a:t>4ear123</a:t>
            </a:r>
            <a:r>
              <a:rPr lang="en-US" dirty="0" smtClean="0"/>
              <a:t>. </a:t>
            </a:r>
            <a:endParaRPr lang="en-US" dirty="0"/>
          </a:p>
          <a:p>
            <a:endParaRPr lang="en-US" dirty="0" smtClean="0"/>
          </a:p>
          <a:p>
            <a:pPr algn="just"/>
            <a:r>
              <a:rPr lang="en-US" dirty="0" err="1" smtClean="0"/>
              <a:t>Gradle</a:t>
            </a:r>
            <a:r>
              <a:rPr lang="en-US" dirty="0" smtClean="0"/>
              <a:t> </a:t>
            </a:r>
            <a:r>
              <a:rPr lang="en-US" dirty="0" err="1" smtClean="0"/>
              <a:t>creaza</a:t>
            </a:r>
            <a:r>
              <a:rPr lang="en-US" dirty="0" smtClean="0"/>
              <a:t> </a:t>
            </a:r>
            <a:r>
              <a:rPr lang="en-US" b="1" dirty="0" smtClean="0"/>
              <a:t>…/</a:t>
            </a:r>
            <a:r>
              <a:rPr lang="en-US" b="1" dirty="0" err="1" smtClean="0"/>
              <a:t>clients123JB</a:t>
            </a:r>
            <a:r>
              <a:rPr lang="en-US" b="1" dirty="0" smtClean="0"/>
              <a:t>/build/libs/</a:t>
            </a:r>
            <a:r>
              <a:rPr lang="en-US" b="1" dirty="0" err="1" smtClean="0"/>
              <a:t>clients123WF.jar</a:t>
            </a:r>
            <a:r>
              <a:rPr lang="en-US" dirty="0" smtClean="0"/>
              <a:t> care </a:t>
            </a:r>
            <a:r>
              <a:rPr lang="en-US" dirty="0" err="1" smtClean="0"/>
              <a:t>contine</a:t>
            </a:r>
            <a:r>
              <a:rPr lang="en-US" dirty="0" smtClean="0"/>
              <a:t> </a:t>
            </a:r>
            <a:r>
              <a:rPr lang="en-US" dirty="0" err="1" smtClean="0"/>
              <a:t>fisierele</a:t>
            </a:r>
            <a:r>
              <a:rPr lang="en-US" dirty="0" smtClean="0"/>
              <a:t> class ale </a:t>
            </a:r>
            <a:r>
              <a:rPr lang="en-US" dirty="0" err="1" smtClean="0"/>
              <a:t>celor</a:t>
            </a:r>
            <a:r>
              <a:rPr lang="en-US" dirty="0" smtClean="0"/>
              <a:t> </a:t>
            </a:r>
            <a:r>
              <a:rPr lang="en-US" dirty="0" err="1" smtClean="0"/>
              <a:t>trei</a:t>
            </a:r>
            <a:r>
              <a:rPr lang="en-US" dirty="0" smtClean="0"/>
              <a:t> </a:t>
            </a:r>
            <a:r>
              <a:rPr lang="en-US" dirty="0" err="1" smtClean="0"/>
              <a:t>clase</a:t>
            </a:r>
            <a:r>
              <a:rPr lang="en-US" dirty="0" smtClean="0"/>
              <a:t> </a:t>
            </a:r>
            <a:r>
              <a:rPr lang="en-US" b="1" dirty="0" smtClean="0"/>
              <a:t>Client</a:t>
            </a:r>
            <a:r>
              <a:rPr lang="en-US" dirty="0" smtClean="0"/>
              <a:t>*, </a:t>
            </a:r>
            <a:r>
              <a:rPr lang="en-US" dirty="0" err="1" smtClean="0"/>
              <a:t>impreuna</a:t>
            </a:r>
            <a:r>
              <a:rPr lang="en-US" dirty="0" smtClean="0"/>
              <a:t> cu </a:t>
            </a:r>
            <a:r>
              <a:rPr lang="en-US" dirty="0" err="1" smtClean="0"/>
              <a:t>toate</a:t>
            </a:r>
            <a:r>
              <a:rPr lang="en-US" dirty="0" smtClean="0"/>
              <a:t> </a:t>
            </a:r>
            <a:r>
              <a:rPr lang="en-US" dirty="0" err="1" smtClean="0"/>
              <a:t>clasele</a:t>
            </a:r>
            <a:r>
              <a:rPr lang="en-US" dirty="0" smtClean="0"/>
              <a:t> din </a:t>
            </a:r>
            <a:r>
              <a:rPr lang="en-US" dirty="0" err="1" smtClean="0"/>
              <a:t>arhivele</a:t>
            </a:r>
            <a:r>
              <a:rPr lang="en-US" dirty="0" smtClean="0"/>
              <a:t> jar </a:t>
            </a:r>
            <a:r>
              <a:rPr lang="en-US" dirty="0" err="1" smtClean="0"/>
              <a:t>specificate</a:t>
            </a:r>
            <a:r>
              <a:rPr lang="en-US" dirty="0" smtClean="0"/>
              <a:t> ca </a:t>
            </a:r>
            <a:r>
              <a:rPr lang="en-US" dirty="0" err="1" smtClean="0"/>
              <a:t>si</a:t>
            </a:r>
            <a:r>
              <a:rPr lang="en-US" dirty="0" smtClean="0"/>
              <a:t> </a:t>
            </a:r>
            <a:r>
              <a:rPr lang="en-US" dirty="0" err="1" smtClean="0"/>
              <a:t>dependinte</a:t>
            </a:r>
            <a:r>
              <a:rPr lang="en-US" dirty="0" smtClean="0"/>
              <a:t> </a:t>
            </a:r>
            <a:r>
              <a:rPr lang="en-US" dirty="0" err="1" smtClean="0"/>
              <a:t>necesare</a:t>
            </a:r>
            <a:r>
              <a:rPr lang="en-US" dirty="0" smtClean="0"/>
              <a:t> </a:t>
            </a:r>
            <a:r>
              <a:rPr lang="en-US" dirty="0" err="1" smtClean="0"/>
              <a:t>compilarii</a:t>
            </a:r>
            <a:r>
              <a:rPr lang="en-US" dirty="0" smtClean="0"/>
              <a:t> </a:t>
            </a:r>
            <a:r>
              <a:rPr lang="en-US" dirty="0" err="1" smtClean="0"/>
              <a:t>si</a:t>
            </a:r>
            <a:r>
              <a:rPr lang="en-US" dirty="0" smtClean="0"/>
              <a:t> </a:t>
            </a:r>
            <a:r>
              <a:rPr lang="en-US" dirty="0" err="1" smtClean="0"/>
              <a:t>rularii</a:t>
            </a:r>
            <a:r>
              <a:rPr lang="en-US" dirty="0" smtClean="0"/>
              <a:t>. </a:t>
            </a:r>
            <a:r>
              <a:rPr lang="en-US" dirty="0" err="1" smtClean="0"/>
              <a:t>Rularea</a:t>
            </a:r>
            <a:r>
              <a:rPr lang="en-US" dirty="0" smtClean="0"/>
              <a:t> </a:t>
            </a:r>
            <a:r>
              <a:rPr lang="en-US" dirty="0" err="1" smtClean="0"/>
              <a:t>unui</a:t>
            </a:r>
            <a:r>
              <a:rPr lang="en-US" dirty="0" smtClean="0"/>
              <a:t> client se </a:t>
            </a:r>
            <a:r>
              <a:rPr lang="en-US" dirty="0" err="1" smtClean="0"/>
              <a:t>poate</a:t>
            </a:r>
            <a:r>
              <a:rPr lang="en-US" dirty="0" smtClean="0"/>
              <a:t> cu </a:t>
            </a:r>
            <a:r>
              <a:rPr lang="en-US" dirty="0" err="1" smtClean="0"/>
              <a:t>comanda</a:t>
            </a:r>
            <a:r>
              <a:rPr lang="en-US" dirty="0" smtClean="0"/>
              <a:t>:</a:t>
            </a:r>
          </a:p>
          <a:p>
            <a:endParaRPr lang="en-US" dirty="0" smtClean="0"/>
          </a:p>
          <a:p>
            <a:r>
              <a:rPr lang="en-US" dirty="0" smtClean="0"/>
              <a:t> </a:t>
            </a:r>
            <a:r>
              <a:rPr lang="en-US" b="1" dirty="0" smtClean="0"/>
              <a:t>java –</a:t>
            </a:r>
            <a:r>
              <a:rPr lang="en-US" b="1" dirty="0" err="1" smtClean="0"/>
              <a:t>cp</a:t>
            </a:r>
            <a:r>
              <a:rPr lang="en-US" b="1" dirty="0" smtClean="0"/>
              <a:t> </a:t>
            </a:r>
            <a:r>
              <a:rPr lang="en-US" b="1" dirty="0" err="1" smtClean="0"/>
              <a:t>6clients123WF.jar</a:t>
            </a:r>
            <a:r>
              <a:rPr lang="en-US" b="1" dirty="0" smtClean="0"/>
              <a:t> </a:t>
            </a:r>
            <a:r>
              <a:rPr lang="en-US" b="1" dirty="0" err="1" smtClean="0"/>
              <a:t>p.clients.Client</a:t>
            </a:r>
            <a:r>
              <a:rPr lang="en-US" b="1" u="sng" dirty="0" err="1" smtClean="0"/>
              <a:t>1WF</a:t>
            </a:r>
            <a:r>
              <a:rPr lang="en-US" dirty="0" smtClean="0"/>
              <a:t> (</a:t>
            </a:r>
            <a:r>
              <a:rPr lang="en-US" dirty="0" err="1" smtClean="0"/>
              <a:t>dupa</a:t>
            </a:r>
            <a:r>
              <a:rPr lang="en-US" dirty="0" smtClean="0"/>
              <a:t> </a:t>
            </a:r>
            <a:r>
              <a:rPr lang="en-US" dirty="0" err="1" smtClean="0"/>
              <a:t>caz</a:t>
            </a:r>
            <a:r>
              <a:rPr lang="en-US" dirty="0" smtClean="0"/>
              <a:t>,  </a:t>
            </a:r>
            <a:r>
              <a:rPr lang="en-US" b="1" u="sng" dirty="0" err="1" smtClean="0"/>
              <a:t>2WF</a:t>
            </a:r>
            <a:r>
              <a:rPr lang="en-US" b="1" dirty="0" smtClean="0"/>
              <a:t>, </a:t>
            </a:r>
            <a:r>
              <a:rPr lang="en-US" b="1" u="sng" dirty="0" err="1" smtClean="0"/>
              <a:t>3WF</a:t>
            </a:r>
            <a:r>
              <a:rPr lang="en-US" dirty="0" smtClean="0"/>
              <a:t>)</a:t>
            </a:r>
          </a:p>
          <a:p>
            <a:endParaRPr lang="en-US" dirty="0"/>
          </a:p>
          <a:p>
            <a:r>
              <a:rPr lang="en-US" dirty="0" err="1" smtClean="0"/>
              <a:t>Exemplul</a:t>
            </a:r>
            <a:r>
              <a:rPr lang="en-US" dirty="0" smtClean="0"/>
              <a:t> </a:t>
            </a:r>
            <a:r>
              <a:rPr lang="en-US" b="1" dirty="0" err="1" smtClean="0"/>
              <a:t>3ejbCs</a:t>
            </a:r>
            <a:r>
              <a:rPr lang="en-US" dirty="0" smtClean="0"/>
              <a:t> </a:t>
            </a:r>
            <a:r>
              <a:rPr lang="en-US" dirty="0" err="1" smtClean="0"/>
              <a:t>este</a:t>
            </a:r>
            <a:r>
              <a:rPr lang="en-US" dirty="0" smtClean="0"/>
              <a:t> </a:t>
            </a:r>
            <a:r>
              <a:rPr lang="en-US" dirty="0" err="1" smtClean="0"/>
              <a:t>invocat</a:t>
            </a:r>
            <a:r>
              <a:rPr lang="en-US" dirty="0" smtClean="0"/>
              <a:t> </a:t>
            </a:r>
            <a:r>
              <a:rPr lang="en-US" dirty="0" err="1" smtClean="0"/>
              <a:t>prin</a:t>
            </a:r>
            <a:r>
              <a:rPr lang="en-US" dirty="0" smtClean="0"/>
              <a:t> </a:t>
            </a:r>
            <a:r>
              <a:rPr lang="en-US" dirty="0" err="1" smtClean="0"/>
              <a:t>JNDI</a:t>
            </a:r>
            <a:r>
              <a:rPr lang="en-US" dirty="0" smtClean="0"/>
              <a:t> </a:t>
            </a:r>
            <a:r>
              <a:rPr lang="en-US" dirty="0" err="1" smtClean="0"/>
              <a:t>folosind</a:t>
            </a:r>
            <a:r>
              <a:rPr lang="en-US" dirty="0" smtClean="0"/>
              <a:t> </a:t>
            </a:r>
            <a:r>
              <a:rPr lang="en-US" dirty="0" err="1" smtClean="0"/>
              <a:t>interfetele</a:t>
            </a:r>
            <a:r>
              <a:rPr lang="en-US" dirty="0" smtClean="0"/>
              <a:t> remote. El </a:t>
            </a:r>
            <a:r>
              <a:rPr lang="en-US" dirty="0" err="1" smtClean="0"/>
              <a:t>mai</a:t>
            </a:r>
            <a:r>
              <a:rPr lang="en-US" dirty="0" smtClean="0"/>
              <a:t> </a:t>
            </a:r>
            <a:r>
              <a:rPr lang="en-US" dirty="0" err="1" smtClean="0"/>
              <a:t>poate</a:t>
            </a:r>
            <a:r>
              <a:rPr lang="en-US" dirty="0" smtClean="0"/>
              <a:t> fi </a:t>
            </a:r>
            <a:r>
              <a:rPr lang="en-US" dirty="0" err="1" smtClean="0"/>
              <a:t>invocat</a:t>
            </a:r>
            <a:r>
              <a:rPr lang="en-US" dirty="0" smtClean="0"/>
              <a:t> </a:t>
            </a:r>
            <a:r>
              <a:rPr lang="en-US" dirty="0" err="1" smtClean="0"/>
              <a:t>si</a:t>
            </a:r>
            <a:r>
              <a:rPr lang="en-US" dirty="0" smtClean="0"/>
              <a:t> </a:t>
            </a:r>
            <a:r>
              <a:rPr lang="en-US" dirty="0" err="1" smtClean="0"/>
              <a:t>peste</a:t>
            </a:r>
            <a:r>
              <a:rPr lang="en-US" dirty="0" smtClean="0"/>
              <a:t> web, </a:t>
            </a:r>
            <a:r>
              <a:rPr lang="en-US" dirty="0" err="1" smtClean="0"/>
              <a:t>folosind</a:t>
            </a:r>
            <a:r>
              <a:rPr lang="en-US" dirty="0" smtClean="0"/>
              <a:t> </a:t>
            </a:r>
            <a:r>
              <a:rPr lang="en-US" dirty="0" err="1" smtClean="0"/>
              <a:t>interfetele</a:t>
            </a:r>
            <a:r>
              <a:rPr lang="en-US" dirty="0" smtClean="0"/>
              <a:t> locale: </a:t>
            </a:r>
            <a:r>
              <a:rPr lang="en-US" b="1" dirty="0" smtClean="0">
                <a:hlinkClick r:id="rId3"/>
              </a:rPr>
              <a:t>http://</a:t>
            </a:r>
            <a:r>
              <a:rPr lang="en-US" b="1" dirty="0" err="1" smtClean="0">
                <a:hlinkClick r:id="rId3"/>
              </a:rPr>
              <a:t>localhost:8080</a:t>
            </a:r>
            <a:r>
              <a:rPr lang="en-US" b="1" dirty="0" smtClean="0">
                <a:hlinkClick r:id="rId3"/>
              </a:rPr>
              <a:t>/</a:t>
            </a:r>
            <a:r>
              <a:rPr lang="en-US" b="1" dirty="0" err="1" smtClean="0">
                <a:hlinkClick r:id="rId3"/>
              </a:rPr>
              <a:t>3ejbCs</a:t>
            </a:r>
            <a:r>
              <a:rPr lang="en-US" b="1" dirty="0" smtClean="0">
                <a:hlinkClick r:id="rId3"/>
              </a:rPr>
              <a:t>/client</a:t>
            </a:r>
            <a:endParaRPr lang="en-US" b="1" dirty="0" smtClean="0"/>
          </a:p>
          <a:p>
            <a:endParaRPr lang="en-US" dirty="0"/>
          </a:p>
          <a:p>
            <a:r>
              <a:rPr lang="en-US" dirty="0" err="1" smtClean="0"/>
              <a:t>Exemplul</a:t>
            </a:r>
            <a:r>
              <a:rPr lang="en-US" dirty="0" smtClean="0"/>
              <a:t> </a:t>
            </a:r>
            <a:r>
              <a:rPr lang="en-US" b="1" dirty="0" err="1" smtClean="0"/>
              <a:t>3ejbCs2</a:t>
            </a:r>
            <a:r>
              <a:rPr lang="en-US" dirty="0" smtClean="0"/>
              <a:t> </a:t>
            </a:r>
            <a:r>
              <a:rPr lang="en-US" dirty="0" err="1" smtClean="0"/>
              <a:t>poate</a:t>
            </a:r>
            <a:r>
              <a:rPr lang="en-US" dirty="0" smtClean="0"/>
              <a:t> fi </a:t>
            </a:r>
            <a:r>
              <a:rPr lang="en-US" dirty="0" err="1" smtClean="0"/>
              <a:t>invocat</a:t>
            </a:r>
            <a:r>
              <a:rPr lang="en-US" dirty="0" smtClean="0"/>
              <a:t> </a:t>
            </a:r>
            <a:r>
              <a:rPr lang="en-US" u="sng" dirty="0" err="1" smtClean="0"/>
              <a:t>numai</a:t>
            </a:r>
            <a:r>
              <a:rPr lang="en-US" u="sng" dirty="0" smtClean="0"/>
              <a:t> local:</a:t>
            </a:r>
            <a:r>
              <a:rPr lang="en-US" dirty="0" smtClean="0"/>
              <a:t> </a:t>
            </a:r>
            <a:r>
              <a:rPr lang="en-US" b="1" dirty="0" smtClean="0">
                <a:hlinkClick r:id="rId4"/>
              </a:rPr>
              <a:t>http://</a:t>
            </a:r>
            <a:r>
              <a:rPr lang="en-US" b="1" dirty="0" err="1" smtClean="0">
                <a:hlinkClick r:id="rId4"/>
              </a:rPr>
              <a:t>localhost:8080</a:t>
            </a:r>
            <a:r>
              <a:rPr lang="en-US" b="1" dirty="0" smtClean="0">
                <a:hlinkClick r:id="rId4"/>
              </a:rPr>
              <a:t>/</a:t>
            </a:r>
            <a:r>
              <a:rPr lang="en-US" b="1" dirty="0" err="1" smtClean="0">
                <a:hlinkClick r:id="rId4"/>
              </a:rPr>
              <a:t>3ejbCs2</a:t>
            </a:r>
            <a:r>
              <a:rPr lang="en-US" b="1" dirty="0" smtClean="0">
                <a:hlinkClick r:id="rId4"/>
              </a:rPr>
              <a:t>/client</a:t>
            </a:r>
            <a:endParaRPr lang="en-US" b="1" dirty="0" smtClean="0"/>
          </a:p>
        </p:txBody>
      </p:sp>
    </p:spTree>
    <p:extLst>
      <p:ext uri="{BB962C8B-B14F-4D97-AF65-F5344CB8AC3E}">
        <p14:creationId xmlns:p14="http://schemas.microsoft.com/office/powerpoint/2010/main" val="42665099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15</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933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err="1">
                <a:solidFill>
                  <a:srgbClr val="FF0000"/>
                </a:solidFill>
                <a:latin typeface="Calibri" pitchFamily="34" charset="0"/>
              </a:rPr>
              <a:t>Clienti</a:t>
            </a:r>
            <a:r>
              <a:rPr lang="en-US" altLang="en-US" dirty="0">
                <a:solidFill>
                  <a:srgbClr val="FF0000"/>
                </a:solidFill>
                <a:latin typeface="Calibri" pitchFamily="34" charset="0"/>
              </a:rPr>
              <a:t> standalone </a:t>
            </a:r>
            <a:r>
              <a:rPr lang="en-US" altLang="en-US" dirty="0" err="1" smtClean="0">
                <a:solidFill>
                  <a:srgbClr val="FF0000"/>
                </a:solidFill>
                <a:latin typeface="Calibri" pitchFamily="34" charset="0"/>
              </a:rPr>
              <a:t>GlassFish</a:t>
            </a:r>
            <a:r>
              <a:rPr lang="en-US" altLang="en-US" dirty="0" smtClean="0">
                <a:solidFill>
                  <a:srgbClr val="FF0000"/>
                </a:solidFill>
                <a:latin typeface="Calibri" pitchFamily="34" charset="0"/>
              </a:rPr>
              <a:t> </a:t>
            </a:r>
            <a:r>
              <a:rPr lang="en-US" altLang="en-US" dirty="0">
                <a:solidFill>
                  <a:srgbClr val="FF0000"/>
                </a:solidFill>
                <a:latin typeface="Calibri" pitchFamily="34" charset="0"/>
              </a:rPr>
              <a:t>cu </a:t>
            </a:r>
            <a:r>
              <a:rPr lang="en-US" altLang="en-US" dirty="0" err="1">
                <a:solidFill>
                  <a:srgbClr val="FF0000"/>
                </a:solidFill>
                <a:latin typeface="Calibri" pitchFamily="34" charset="0"/>
              </a:rPr>
              <a:t>referire</a:t>
            </a:r>
            <a:r>
              <a:rPr lang="en-US" altLang="en-US" dirty="0">
                <a:solidFill>
                  <a:srgbClr val="FF0000"/>
                </a:solidFill>
                <a:latin typeface="Calibri" pitchFamily="34" charset="0"/>
              </a:rPr>
              <a:t> </a:t>
            </a:r>
            <a:r>
              <a:rPr lang="en-US" altLang="en-US" dirty="0" err="1">
                <a:solidFill>
                  <a:srgbClr val="FF0000"/>
                </a:solidFill>
                <a:latin typeface="Calibri" pitchFamily="34" charset="0"/>
              </a:rPr>
              <a:t>prin</a:t>
            </a:r>
            <a:r>
              <a:rPr lang="en-US" altLang="en-US" dirty="0">
                <a:solidFill>
                  <a:srgbClr val="FF0000"/>
                </a:solidFill>
                <a:latin typeface="Calibri" pitchFamily="34" charset="0"/>
              </a:rPr>
              <a:t>  JNDI </a:t>
            </a:r>
            <a:r>
              <a:rPr lang="en-US" altLang="en-US" dirty="0" err="1">
                <a:solidFill>
                  <a:srgbClr val="FF0000"/>
                </a:solidFill>
                <a:latin typeface="Calibri" pitchFamily="34" charset="0"/>
              </a:rPr>
              <a:t>pentru</a:t>
            </a:r>
            <a:r>
              <a:rPr lang="en-US" altLang="en-US" dirty="0">
                <a:solidFill>
                  <a:srgbClr val="FF0000"/>
                </a:solidFill>
                <a:latin typeface="Calibri" pitchFamily="34" charset="0"/>
              </a:rPr>
              <a:t> session </a:t>
            </a:r>
            <a:r>
              <a:rPr lang="en-US" altLang="en-US" dirty="0" smtClean="0">
                <a:solidFill>
                  <a:srgbClr val="FF0000"/>
                </a:solidFill>
                <a:latin typeface="Calibri" pitchFamily="34" charset="0"/>
              </a:rPr>
              <a:t>bean</a:t>
            </a:r>
            <a:endParaRPr lang="en-US" altLang="en-US" dirty="0">
              <a:solidFill>
                <a:srgbClr val="FF0000"/>
              </a:solidFill>
              <a:latin typeface="Calibri" pitchFamily="34" charset="0"/>
            </a:endParaRPr>
          </a:p>
        </p:txBody>
      </p:sp>
      <p:sp>
        <p:nvSpPr>
          <p:cNvPr id="2" name="Rectangle 1"/>
          <p:cNvSpPr/>
          <p:nvPr/>
        </p:nvSpPr>
        <p:spPr>
          <a:xfrm>
            <a:off x="0" y="362880"/>
            <a:ext cx="9144000" cy="6463308"/>
          </a:xfrm>
          <a:prstGeom prst="rect">
            <a:avLst/>
          </a:prstGeom>
        </p:spPr>
        <p:txBody>
          <a:bodyPr wrap="square">
            <a:spAutoFit/>
          </a:bodyPr>
          <a:lstStyle/>
          <a:p>
            <a:pPr algn="just"/>
            <a:r>
              <a:rPr lang="en-US" dirty="0" err="1"/>
              <a:t>Acelasi</a:t>
            </a:r>
            <a:r>
              <a:rPr lang="en-US" dirty="0"/>
              <a:t> </a:t>
            </a:r>
            <a:r>
              <a:rPr lang="en-US" dirty="0" err="1"/>
              <a:t>exemplu</a:t>
            </a:r>
            <a:r>
              <a:rPr lang="en-US" dirty="0"/>
              <a:t> sub </a:t>
            </a:r>
            <a:r>
              <a:rPr lang="en-US" dirty="0" err="1"/>
              <a:t>numele</a:t>
            </a:r>
            <a:r>
              <a:rPr lang="en-US" dirty="0"/>
              <a:t> </a:t>
            </a:r>
            <a:r>
              <a:rPr lang="en-US" b="1" dirty="0" err="1" smtClean="0"/>
              <a:t>6clients123GF</a:t>
            </a:r>
            <a:r>
              <a:rPr lang="en-US" dirty="0" smtClean="0"/>
              <a:t> </a:t>
            </a:r>
            <a:r>
              <a:rPr lang="en-US" dirty="0" err="1"/>
              <a:t>pentru</a:t>
            </a:r>
            <a:r>
              <a:rPr lang="en-US" dirty="0"/>
              <a:t> </a:t>
            </a:r>
            <a:r>
              <a:rPr lang="en-US" b="1" dirty="0" err="1" smtClean="0"/>
              <a:t>GlassFish</a:t>
            </a:r>
            <a:r>
              <a:rPr lang="en-US" dirty="0" smtClean="0"/>
              <a:t>. </a:t>
            </a:r>
            <a:r>
              <a:rPr lang="en-US" dirty="0" err="1" smtClean="0"/>
              <a:t>Exemplele</a:t>
            </a:r>
            <a:r>
              <a:rPr lang="en-US" dirty="0" smtClean="0"/>
              <a:t> </a:t>
            </a:r>
            <a:r>
              <a:rPr lang="en-US" dirty="0" err="1" smtClean="0"/>
              <a:t>sunt</a:t>
            </a:r>
            <a:r>
              <a:rPr lang="en-US" dirty="0" smtClean="0"/>
              <a:t> </a:t>
            </a:r>
            <a:r>
              <a:rPr lang="en-US" dirty="0" err="1" smtClean="0"/>
              <a:t>similare</a:t>
            </a:r>
            <a:r>
              <a:rPr lang="en-US" dirty="0" smtClean="0"/>
              <a:t> </a:t>
            </a:r>
            <a:r>
              <a:rPr lang="en-US" dirty="0" err="1" smtClean="0"/>
              <a:t>celor</a:t>
            </a:r>
            <a:r>
              <a:rPr lang="en-US" dirty="0" smtClean="0"/>
              <a:t> de la </a:t>
            </a:r>
            <a:r>
              <a:rPr lang="en-US" dirty="0" err="1" smtClean="0"/>
              <a:t>WildFly</a:t>
            </a:r>
            <a:r>
              <a:rPr lang="en-US" dirty="0" smtClean="0"/>
              <a:t> </a:t>
            </a:r>
            <a:r>
              <a:rPr lang="en-US" dirty="0" err="1" smtClean="0"/>
              <a:t>si</a:t>
            </a:r>
            <a:r>
              <a:rPr lang="en-US" dirty="0" smtClean="0"/>
              <a:t> </a:t>
            </a:r>
            <a:r>
              <a:rPr lang="en-US" dirty="0" err="1" smtClean="0"/>
              <a:t>anume</a:t>
            </a:r>
            <a:r>
              <a:rPr lang="en-US" dirty="0" smtClean="0"/>
              <a:t> </a:t>
            </a:r>
            <a:r>
              <a:rPr lang="en-US" dirty="0" err="1" smtClean="0"/>
              <a:t>trei</a:t>
            </a:r>
            <a:r>
              <a:rPr lang="en-US" dirty="0" smtClean="0"/>
              <a:t> </a:t>
            </a:r>
            <a:r>
              <a:rPr lang="en-US" dirty="0" err="1"/>
              <a:t>clienti</a:t>
            </a:r>
            <a:r>
              <a:rPr lang="en-US" dirty="0"/>
              <a:t> </a:t>
            </a:r>
            <a:r>
              <a:rPr lang="en-US" dirty="0" smtClean="0"/>
              <a:t>standalone: </a:t>
            </a:r>
            <a:r>
              <a:rPr lang="en-US" b="1" dirty="0" err="1"/>
              <a:t>Client1GF</a:t>
            </a:r>
            <a:r>
              <a:rPr lang="en-US" b="1" dirty="0"/>
              <a:t>, </a:t>
            </a:r>
            <a:r>
              <a:rPr lang="en-US" b="1" dirty="0" err="1"/>
              <a:t>Client2GF</a:t>
            </a:r>
            <a:r>
              <a:rPr lang="en-US" b="1" dirty="0"/>
              <a:t>, </a:t>
            </a:r>
            <a:r>
              <a:rPr lang="en-US" b="1" dirty="0" err="1"/>
              <a:t>Client3GF</a:t>
            </a:r>
            <a:r>
              <a:rPr lang="en-US" dirty="0" smtClean="0"/>
              <a:t> (in </a:t>
            </a:r>
            <a:r>
              <a:rPr lang="en-US" b="1" dirty="0" err="1" smtClean="0"/>
              <a:t>p.clients</a:t>
            </a:r>
            <a:r>
              <a:rPr lang="en-US" dirty="0" smtClean="0"/>
              <a:t>) care </a:t>
            </a:r>
            <a:r>
              <a:rPr lang="en-US" dirty="0" err="1"/>
              <a:t>apeleaza</a:t>
            </a:r>
            <a:r>
              <a:rPr lang="en-US" dirty="0"/>
              <a:t> </a:t>
            </a:r>
            <a:r>
              <a:rPr lang="en-US" b="1" dirty="0" err="1" smtClean="0"/>
              <a:t>1ejbSession</a:t>
            </a:r>
            <a:r>
              <a:rPr lang="en-US" b="1" dirty="0" smtClean="0"/>
              <a:t>,</a:t>
            </a:r>
            <a:r>
              <a:rPr lang="en-US" dirty="0" smtClean="0"/>
              <a:t> </a:t>
            </a:r>
            <a:r>
              <a:rPr lang="en-US" b="1" dirty="0" err="1" smtClean="0"/>
              <a:t>2ejbSingleton</a:t>
            </a:r>
            <a:r>
              <a:rPr lang="en-US" b="1" dirty="0" smtClean="0"/>
              <a:t>, </a:t>
            </a:r>
            <a:r>
              <a:rPr lang="en-US" b="1" dirty="0" err="1" smtClean="0"/>
              <a:t>3ejbCs</a:t>
            </a:r>
            <a:r>
              <a:rPr lang="en-US" dirty="0" smtClean="0"/>
              <a:t>. </a:t>
            </a:r>
            <a:r>
              <a:rPr lang="en-US" dirty="0"/>
              <a:t>In </a:t>
            </a:r>
            <a:r>
              <a:rPr lang="en-US" dirty="0" err="1"/>
              <a:t>exemplu</a:t>
            </a:r>
            <a:r>
              <a:rPr lang="en-US" dirty="0"/>
              <a:t> </a:t>
            </a:r>
            <a:r>
              <a:rPr lang="en-US" b="1" dirty="0" err="1"/>
              <a:t>p.interfaces</a:t>
            </a:r>
            <a:r>
              <a:rPr lang="en-US" dirty="0"/>
              <a:t> </a:t>
            </a:r>
            <a:r>
              <a:rPr lang="en-US" dirty="0" err="1"/>
              <a:t>contine</a:t>
            </a:r>
            <a:r>
              <a:rPr lang="en-US" dirty="0"/>
              <a:t> </a:t>
            </a:r>
            <a:r>
              <a:rPr lang="en-US" dirty="0" err="1" smtClean="0"/>
              <a:t>interfete</a:t>
            </a:r>
            <a:r>
              <a:rPr lang="en-US" dirty="0" smtClean="0"/>
              <a:t> </a:t>
            </a:r>
            <a:r>
              <a:rPr lang="en-US" b="1" dirty="0" err="1" smtClean="0"/>
              <a:t>Abac</a:t>
            </a:r>
            <a:r>
              <a:rPr lang="en-US" b="1" dirty="0" smtClean="0"/>
              <a:t>{</a:t>
            </a:r>
            <a:r>
              <a:rPr lang="en-US" b="1" dirty="0" err="1" smtClean="0"/>
              <a:t>1|2|R</a:t>
            </a:r>
            <a:r>
              <a:rPr lang="en-US" b="1" dirty="0" smtClean="0"/>
              <a:t>}</a:t>
            </a:r>
            <a:r>
              <a:rPr lang="en-US" dirty="0" smtClean="0"/>
              <a:t> </a:t>
            </a:r>
            <a:r>
              <a:rPr lang="en-US" dirty="0" err="1"/>
              <a:t>si</a:t>
            </a:r>
            <a:r>
              <a:rPr lang="en-US" dirty="0"/>
              <a:t> </a:t>
            </a:r>
            <a:r>
              <a:rPr lang="en-US" b="1" dirty="0" smtClean="0"/>
              <a:t>Counter{</a:t>
            </a:r>
            <a:r>
              <a:rPr lang="en-US" b="1" dirty="0" err="1" smtClean="0"/>
              <a:t>1|2|R</a:t>
            </a:r>
            <a:r>
              <a:rPr lang="en-US" b="1" dirty="0" smtClean="0"/>
              <a:t>}</a:t>
            </a:r>
            <a:r>
              <a:rPr lang="en-US" dirty="0" smtClean="0"/>
              <a:t>, </a:t>
            </a:r>
            <a:r>
              <a:rPr lang="en-US" dirty="0"/>
              <a:t>definite cu </a:t>
            </a:r>
            <a:r>
              <a:rPr lang="en-US" dirty="0" err="1"/>
              <a:t>nume</a:t>
            </a:r>
            <a:r>
              <a:rPr lang="en-US" dirty="0"/>
              <a:t> </a:t>
            </a:r>
            <a:r>
              <a:rPr lang="en-US" dirty="0" err="1"/>
              <a:t>distincte</a:t>
            </a:r>
            <a:r>
              <a:rPr lang="en-US" dirty="0"/>
              <a:t> </a:t>
            </a:r>
            <a:r>
              <a:rPr lang="en-US" dirty="0" err="1"/>
              <a:t>pentru</a:t>
            </a:r>
            <a:r>
              <a:rPr lang="en-US" dirty="0"/>
              <a:t> </a:t>
            </a:r>
            <a:r>
              <a:rPr lang="en-US" dirty="0" err="1" smtClean="0"/>
              <a:t>cele</a:t>
            </a:r>
            <a:r>
              <a:rPr lang="en-US" dirty="0" smtClean="0"/>
              <a:t> </a:t>
            </a:r>
            <a:r>
              <a:rPr lang="en-US" dirty="0" err="1" smtClean="0"/>
              <a:t>trei</a:t>
            </a:r>
            <a:r>
              <a:rPr lang="en-US" dirty="0" smtClean="0"/>
              <a:t> </a:t>
            </a:r>
            <a:r>
              <a:rPr lang="en-US" dirty="0" err="1" smtClean="0"/>
              <a:t>apeluri</a:t>
            </a:r>
            <a:r>
              <a:rPr lang="en-US" dirty="0" smtClean="0"/>
              <a:t>.</a:t>
            </a:r>
          </a:p>
          <a:p>
            <a:pPr algn="just"/>
            <a:r>
              <a:rPr lang="en-US" dirty="0" err="1" smtClean="0"/>
              <a:t>Clasele</a:t>
            </a:r>
            <a:r>
              <a:rPr lang="en-US" dirty="0" smtClean="0"/>
              <a:t> din </a:t>
            </a:r>
            <a:r>
              <a:rPr lang="en-US" b="1" dirty="0" err="1"/>
              <a:t>p.clients</a:t>
            </a:r>
            <a:r>
              <a:rPr lang="en-US" dirty="0"/>
              <a:t> </a:t>
            </a:r>
            <a:r>
              <a:rPr lang="en-US" dirty="0" err="1" smtClean="0"/>
              <a:t>difera</a:t>
            </a:r>
            <a:r>
              <a:rPr lang="en-US" dirty="0" smtClean="0"/>
              <a:t> </a:t>
            </a:r>
            <a:r>
              <a:rPr lang="en-US" dirty="0" err="1"/>
              <a:t>doar</a:t>
            </a:r>
            <a:r>
              <a:rPr lang="en-US" dirty="0"/>
              <a:t> </a:t>
            </a:r>
            <a:r>
              <a:rPr lang="en-US" dirty="0" err="1"/>
              <a:t>prin</a:t>
            </a:r>
            <a:r>
              <a:rPr lang="en-US" dirty="0"/>
              <a:t> </a:t>
            </a:r>
            <a:r>
              <a:rPr lang="en-US" dirty="0" err="1"/>
              <a:t>numele</a:t>
            </a:r>
            <a:r>
              <a:rPr lang="en-US" dirty="0"/>
              <a:t> JNDI de </a:t>
            </a:r>
            <a:r>
              <a:rPr lang="en-US" dirty="0" err="1"/>
              <a:t>acces</a:t>
            </a:r>
            <a:r>
              <a:rPr lang="en-US" dirty="0"/>
              <a:t> la </a:t>
            </a:r>
            <a:r>
              <a:rPr lang="en-US" dirty="0" err="1" smtClean="0"/>
              <a:t>beanuri</a:t>
            </a:r>
            <a:r>
              <a:rPr lang="en-US" dirty="0" smtClean="0"/>
              <a:t> (fata de </a:t>
            </a:r>
            <a:r>
              <a:rPr lang="en-US" dirty="0" err="1" smtClean="0"/>
              <a:t>WildFly</a:t>
            </a:r>
            <a:r>
              <a:rPr lang="en-US" dirty="0" smtClean="0"/>
              <a:t>, </a:t>
            </a:r>
            <a:r>
              <a:rPr lang="en-US" dirty="0" err="1" smtClean="0"/>
              <a:t>acestea</a:t>
            </a:r>
            <a:r>
              <a:rPr lang="en-US" dirty="0" smtClean="0"/>
              <a:t> au </a:t>
            </a:r>
            <a:r>
              <a:rPr lang="en-US" dirty="0" err="1" smtClean="0"/>
              <a:t>si</a:t>
            </a:r>
            <a:r>
              <a:rPr lang="en-US" dirty="0" smtClean="0"/>
              <a:t> </a:t>
            </a:r>
            <a:r>
              <a:rPr lang="en-US" dirty="0" err="1" smtClean="0"/>
              <a:t>prefixul</a:t>
            </a:r>
            <a:r>
              <a:rPr lang="en-US" dirty="0"/>
              <a:t> </a:t>
            </a:r>
            <a:r>
              <a:rPr lang="en-US" dirty="0" err="1">
                <a:latin typeface="Courier New" panose="02070309020205020404" pitchFamily="49" charset="0"/>
                <a:cs typeface="Courier New" panose="02070309020205020404" pitchFamily="49" charset="0"/>
              </a:rPr>
              <a:t>java:global</a:t>
            </a:r>
            <a:r>
              <a:rPr lang="en-US" dirty="0" smtClean="0">
                <a:latin typeface="Courier New" panose="02070309020205020404" pitchFamily="49" charset="0"/>
                <a:cs typeface="Courier New" panose="02070309020205020404" pitchFamily="49" charset="0"/>
              </a:rPr>
              <a:t>/</a:t>
            </a:r>
            <a:r>
              <a:rPr lang="en-US" dirty="0" smtClean="0"/>
              <a:t>). </a:t>
            </a:r>
            <a:r>
              <a:rPr lang="en-US" dirty="0"/>
              <a:t>In rest, se </a:t>
            </a:r>
            <a:r>
              <a:rPr lang="en-US" dirty="0" err="1"/>
              <a:t>definesc</a:t>
            </a:r>
            <a:r>
              <a:rPr lang="en-US" dirty="0"/>
              <a:t>, </a:t>
            </a:r>
            <a:r>
              <a:rPr lang="en-US" dirty="0" err="1"/>
              <a:t>hardcodate</a:t>
            </a:r>
            <a:r>
              <a:rPr lang="en-US" dirty="0"/>
              <a:t>, </a:t>
            </a:r>
            <a:r>
              <a:rPr lang="en-US" dirty="0" err="1"/>
              <a:t>trei</a:t>
            </a:r>
            <a:r>
              <a:rPr lang="en-US" dirty="0"/>
              <a:t> </a:t>
            </a:r>
            <a:r>
              <a:rPr lang="en-US" dirty="0" err="1"/>
              <a:t>proprietati</a:t>
            </a:r>
            <a:r>
              <a:rPr lang="en-US" dirty="0"/>
              <a:t> de </a:t>
            </a:r>
            <a:r>
              <a:rPr lang="en-US" dirty="0" err="1"/>
              <a:t>obtinere</a:t>
            </a:r>
            <a:r>
              <a:rPr lang="en-US" dirty="0"/>
              <a:t> </a:t>
            </a:r>
            <a:r>
              <a:rPr lang="en-US" b="1" dirty="0" err="1"/>
              <a:t>InitialContext</a:t>
            </a:r>
            <a:r>
              <a:rPr lang="en-US" dirty="0"/>
              <a:t> la AS </a:t>
            </a:r>
            <a:r>
              <a:rPr lang="en-US" b="1" dirty="0" err="1" smtClean="0"/>
              <a:t>GlassFish</a:t>
            </a:r>
            <a:r>
              <a:rPr lang="en-US" dirty="0" smtClean="0"/>
              <a:t>.</a:t>
            </a:r>
            <a:endParaRPr lang="en-US" dirty="0"/>
          </a:p>
          <a:p>
            <a:pPr algn="just"/>
            <a:r>
              <a:rPr lang="en-US" dirty="0" err="1" smtClean="0"/>
              <a:t>Dupa</a:t>
            </a:r>
            <a:r>
              <a:rPr lang="en-US" dirty="0" smtClean="0"/>
              <a:t> cum se </a:t>
            </a:r>
            <a:r>
              <a:rPr lang="en-US" dirty="0" err="1" smtClean="0"/>
              <a:t>vede</a:t>
            </a:r>
            <a:r>
              <a:rPr lang="en-US" dirty="0" smtClean="0"/>
              <a:t>, </a:t>
            </a:r>
            <a:r>
              <a:rPr lang="en-US" dirty="0" err="1" smtClean="0"/>
              <a:t>arhiva</a:t>
            </a:r>
            <a:r>
              <a:rPr lang="en-US" dirty="0" smtClean="0"/>
              <a:t> </a:t>
            </a:r>
            <a:r>
              <a:rPr lang="en-US" b="1" dirty="0" smtClean="0"/>
              <a:t>gf-</a:t>
            </a:r>
            <a:r>
              <a:rPr lang="en-US" b="1" dirty="0" err="1" smtClean="0"/>
              <a:t>client.jar</a:t>
            </a:r>
            <a:r>
              <a:rPr lang="en-US" dirty="0" smtClean="0"/>
              <a:t> nu </a:t>
            </a:r>
            <a:r>
              <a:rPr lang="en-US" dirty="0" err="1" smtClean="0"/>
              <a:t>este</a:t>
            </a:r>
            <a:r>
              <a:rPr lang="en-US" dirty="0" smtClean="0"/>
              <a:t> data ca </a:t>
            </a:r>
            <a:r>
              <a:rPr lang="en-US" dirty="0" err="1" smtClean="0"/>
              <a:t>dependenta</a:t>
            </a:r>
            <a:r>
              <a:rPr lang="en-US" dirty="0" smtClean="0"/>
              <a:t> in </a:t>
            </a:r>
            <a:r>
              <a:rPr lang="en-US" dirty="0" err="1" smtClean="0"/>
              <a:t>gradle</a:t>
            </a:r>
            <a:r>
              <a:rPr lang="en-US" dirty="0" smtClean="0"/>
              <a:t>, ci </a:t>
            </a:r>
            <a:r>
              <a:rPr lang="en-US" dirty="0" err="1" smtClean="0"/>
              <a:t>este</a:t>
            </a:r>
            <a:r>
              <a:rPr lang="en-US" dirty="0" smtClean="0"/>
              <a:t> </a:t>
            </a:r>
            <a:r>
              <a:rPr lang="en-US" dirty="0" err="1" smtClean="0"/>
              <a:t>citata</a:t>
            </a:r>
            <a:r>
              <a:rPr lang="en-US" dirty="0" smtClean="0"/>
              <a:t> direct in </a:t>
            </a:r>
            <a:r>
              <a:rPr lang="en-US" dirty="0" err="1" smtClean="0"/>
              <a:t>argumentul</a:t>
            </a:r>
            <a:r>
              <a:rPr lang="en-US" dirty="0" smtClean="0"/>
              <a:t> –cp. (${</a:t>
            </a:r>
            <a:r>
              <a:rPr lang="en-US" dirty="0" err="1" smtClean="0"/>
              <a:t>GF_HOME</a:t>
            </a:r>
            <a:r>
              <a:rPr lang="en-US" dirty="0" smtClean="0"/>
              <a:t>}/glassfish/lib/gf-</a:t>
            </a:r>
            <a:r>
              <a:rPr lang="en-US" dirty="0" err="1" smtClean="0"/>
              <a:t>client.jar</a:t>
            </a:r>
            <a:r>
              <a:rPr lang="en-US" dirty="0" smtClean="0"/>
              <a:t>, </a:t>
            </a:r>
            <a:r>
              <a:rPr lang="en-US" dirty="0" err="1" smtClean="0"/>
              <a:t>sau</a:t>
            </a:r>
            <a:r>
              <a:rPr lang="en-US" dirty="0" smtClean="0"/>
              <a:t> </a:t>
            </a:r>
            <a:r>
              <a:rPr lang="en-US" dirty="0" err="1" smtClean="0"/>
              <a:t>copiata</a:t>
            </a:r>
            <a:r>
              <a:rPr lang="en-US" dirty="0" smtClean="0"/>
              <a:t> direct in </a:t>
            </a:r>
            <a:r>
              <a:rPr lang="en-US" dirty="0" err="1" smtClean="0"/>
              <a:t>spatiul</a:t>
            </a:r>
            <a:r>
              <a:rPr lang="en-US" dirty="0" smtClean="0"/>
              <a:t> client). </a:t>
            </a:r>
            <a:r>
              <a:rPr lang="en-US" dirty="0" err="1" smtClean="0"/>
              <a:t>Motivul</a:t>
            </a:r>
            <a:r>
              <a:rPr lang="en-US" dirty="0" smtClean="0"/>
              <a:t> </a:t>
            </a:r>
            <a:r>
              <a:rPr lang="en-US" dirty="0" err="1" smtClean="0"/>
              <a:t>este</a:t>
            </a:r>
            <a:r>
              <a:rPr lang="en-US" dirty="0" smtClean="0"/>
              <a:t> ca </a:t>
            </a:r>
            <a:r>
              <a:rPr lang="en-US" dirty="0" err="1" smtClean="0"/>
              <a:t>acest</a:t>
            </a:r>
            <a:r>
              <a:rPr lang="en-US" dirty="0" smtClean="0"/>
              <a:t> </a:t>
            </a:r>
            <a:r>
              <a:rPr lang="en-US" dirty="0"/>
              <a:t>jar are </a:t>
            </a:r>
            <a:r>
              <a:rPr lang="en-US" dirty="0" err="1"/>
              <a:t>referinte</a:t>
            </a:r>
            <a:r>
              <a:rPr lang="en-US" dirty="0"/>
              <a:t> </a:t>
            </a:r>
            <a:r>
              <a:rPr lang="en-US" dirty="0" err="1"/>
              <a:t>specificate</a:t>
            </a:r>
            <a:r>
              <a:rPr lang="en-US" dirty="0"/>
              <a:t> </a:t>
            </a:r>
            <a:r>
              <a:rPr lang="en-US" dirty="0" err="1"/>
              <a:t>prin</a:t>
            </a:r>
            <a:r>
              <a:rPr lang="en-US" dirty="0"/>
              <a:t> </a:t>
            </a:r>
            <a:r>
              <a:rPr lang="en-US" dirty="0" err="1"/>
              <a:t>cai</a:t>
            </a:r>
            <a:r>
              <a:rPr lang="en-US" dirty="0"/>
              <a:t> relative </a:t>
            </a:r>
            <a:r>
              <a:rPr lang="en-US" dirty="0" smtClean="0"/>
              <a:t>(se </a:t>
            </a:r>
            <a:r>
              <a:rPr lang="en-US" dirty="0" err="1" smtClean="0"/>
              <a:t>vede</a:t>
            </a:r>
            <a:r>
              <a:rPr lang="en-US" dirty="0" smtClean="0"/>
              <a:t> </a:t>
            </a:r>
            <a:r>
              <a:rPr lang="en-US" dirty="0"/>
              <a:t>in MANIFEST.MF din jar). </a:t>
            </a:r>
            <a:r>
              <a:rPr lang="en-US" dirty="0" err="1"/>
              <a:t>Daca</a:t>
            </a:r>
            <a:r>
              <a:rPr lang="en-US" dirty="0"/>
              <a:t> jar-</a:t>
            </a:r>
            <a:r>
              <a:rPr lang="en-US" dirty="0" err="1"/>
              <a:t>ul</a:t>
            </a:r>
            <a:r>
              <a:rPr lang="en-US" dirty="0"/>
              <a:t> se da ca </a:t>
            </a:r>
            <a:r>
              <a:rPr lang="en-US" dirty="0" err="1"/>
              <a:t>dependenta</a:t>
            </a:r>
            <a:r>
              <a:rPr lang="en-US" dirty="0"/>
              <a:t> </a:t>
            </a:r>
            <a:r>
              <a:rPr lang="en-US" dirty="0" err="1"/>
              <a:t>gradle</a:t>
            </a:r>
            <a:r>
              <a:rPr lang="en-US" dirty="0"/>
              <a:t> </a:t>
            </a:r>
            <a:r>
              <a:rPr lang="en-US" dirty="0" err="1"/>
              <a:t>si</a:t>
            </a:r>
            <a:r>
              <a:rPr lang="en-US" dirty="0"/>
              <a:t> se include </a:t>
            </a:r>
            <a:r>
              <a:rPr lang="en-US" dirty="0" err="1"/>
              <a:t>intr</a:t>
            </a:r>
            <a:r>
              <a:rPr lang="en-US" dirty="0"/>
              <a:t>-un </a:t>
            </a:r>
            <a:r>
              <a:rPr lang="en-US" dirty="0" err="1" smtClean="0"/>
              <a:t>fatjar</a:t>
            </a:r>
            <a:r>
              <a:rPr lang="en-US" dirty="0" smtClean="0"/>
              <a:t>, </a:t>
            </a:r>
            <a:r>
              <a:rPr lang="en-US" dirty="0" err="1"/>
              <a:t>isi</a:t>
            </a:r>
            <a:r>
              <a:rPr lang="en-US" dirty="0"/>
              <a:t> </a:t>
            </a:r>
            <a:r>
              <a:rPr lang="en-US" dirty="0" err="1"/>
              <a:t>pierde</a:t>
            </a:r>
            <a:r>
              <a:rPr lang="en-US" dirty="0"/>
              <a:t> </a:t>
            </a:r>
            <a:r>
              <a:rPr lang="en-US" dirty="0" err="1"/>
              <a:t>referintele</a:t>
            </a:r>
            <a:r>
              <a:rPr lang="en-US" dirty="0"/>
              <a:t> </a:t>
            </a:r>
            <a:r>
              <a:rPr lang="en-US" dirty="0" err="1"/>
              <a:t>spre</a:t>
            </a:r>
            <a:r>
              <a:rPr lang="en-US" dirty="0"/>
              <a:t> </a:t>
            </a:r>
            <a:r>
              <a:rPr lang="en-US" dirty="0" err="1"/>
              <a:t>celelalte</a:t>
            </a:r>
            <a:r>
              <a:rPr lang="en-US" dirty="0"/>
              <a:t> </a:t>
            </a:r>
            <a:r>
              <a:rPr lang="en-US" dirty="0" smtClean="0"/>
              <a:t>jar-</a:t>
            </a:r>
            <a:r>
              <a:rPr lang="en-US" dirty="0" err="1" smtClean="0"/>
              <a:t>uri</a:t>
            </a:r>
            <a:r>
              <a:rPr lang="en-US" dirty="0" smtClean="0"/>
              <a:t>.</a:t>
            </a:r>
          </a:p>
          <a:p>
            <a:pPr algn="just"/>
            <a:endParaRPr lang="en-US" dirty="0"/>
          </a:p>
          <a:p>
            <a:pPr algn="just"/>
            <a:r>
              <a:rPr lang="en-US" dirty="0" err="1" smtClean="0"/>
              <a:t>Comanda</a:t>
            </a:r>
            <a:r>
              <a:rPr lang="en-US" dirty="0" smtClean="0"/>
              <a:t> de </a:t>
            </a:r>
            <a:r>
              <a:rPr lang="en-US" dirty="0" err="1" smtClean="0"/>
              <a:t>lansare</a:t>
            </a:r>
            <a:r>
              <a:rPr lang="en-US" dirty="0" smtClean="0"/>
              <a:t> </a:t>
            </a:r>
            <a:r>
              <a:rPr lang="en-US" dirty="0" err="1" smtClean="0"/>
              <a:t>va</a:t>
            </a:r>
            <a:r>
              <a:rPr lang="en-US" dirty="0" smtClean="0"/>
              <a:t> fi:</a:t>
            </a:r>
          </a:p>
          <a:p>
            <a:r>
              <a:rPr lang="en-US" b="1" dirty="0" smtClean="0"/>
              <a:t>java </a:t>
            </a:r>
            <a:r>
              <a:rPr lang="en-US" b="1" dirty="0"/>
              <a:t>-</a:t>
            </a:r>
            <a:r>
              <a:rPr lang="en-US" b="1" dirty="0" err="1"/>
              <a:t>cp</a:t>
            </a:r>
            <a:r>
              <a:rPr lang="en-US" b="1" dirty="0"/>
              <a:t> </a:t>
            </a:r>
            <a:r>
              <a:rPr lang="en-US" b="1" dirty="0" smtClean="0"/>
              <a:t>$</a:t>
            </a:r>
            <a:r>
              <a:rPr lang="en-US" b="1" dirty="0" err="1" smtClean="0"/>
              <a:t>GF_HOME</a:t>
            </a:r>
            <a:r>
              <a:rPr lang="en-US" b="1" dirty="0" smtClean="0"/>
              <a:t>/</a:t>
            </a:r>
            <a:r>
              <a:rPr lang="en-US" b="1" dirty="0" err="1" smtClean="0"/>
              <a:t>gassfish</a:t>
            </a:r>
            <a:r>
              <a:rPr lang="en-US" b="1" dirty="0" smtClean="0"/>
              <a:t>/lib/</a:t>
            </a:r>
            <a:r>
              <a:rPr lang="en-US" b="1" dirty="0" err="1" smtClean="0"/>
              <a:t>gf-client.jar;6clients123GF.jar</a:t>
            </a:r>
            <a:r>
              <a:rPr lang="en-US" b="1" dirty="0" smtClean="0"/>
              <a:t> </a:t>
            </a:r>
            <a:r>
              <a:rPr lang="en-US" b="1" dirty="0" err="1" smtClean="0"/>
              <a:t>p.clients.Client</a:t>
            </a:r>
            <a:r>
              <a:rPr lang="en-US" b="1" u="sng" dirty="0" err="1" smtClean="0"/>
              <a:t>1GF</a:t>
            </a:r>
            <a:r>
              <a:rPr lang="en-US" dirty="0" smtClean="0"/>
              <a:t> (</a:t>
            </a:r>
            <a:r>
              <a:rPr lang="en-US" dirty="0" err="1" smtClean="0"/>
              <a:t>sau</a:t>
            </a:r>
            <a:r>
              <a:rPr lang="en-US" dirty="0" smtClean="0"/>
              <a:t> </a:t>
            </a:r>
            <a:r>
              <a:rPr lang="en-US" b="1" dirty="0" smtClean="0"/>
              <a:t>2GF</a:t>
            </a:r>
            <a:r>
              <a:rPr lang="en-US" dirty="0" smtClean="0"/>
              <a:t>, </a:t>
            </a:r>
            <a:r>
              <a:rPr lang="en-US" b="1" dirty="0" err="1" smtClean="0"/>
              <a:t>3GF</a:t>
            </a:r>
            <a:r>
              <a:rPr lang="en-US" dirty="0" smtClean="0"/>
              <a:t>)</a:t>
            </a:r>
          </a:p>
          <a:p>
            <a:endParaRPr lang="en-US" dirty="0" smtClean="0"/>
          </a:p>
          <a:p>
            <a:r>
              <a:rPr lang="en-US" dirty="0" err="1"/>
              <a:t>Exemplul</a:t>
            </a:r>
            <a:r>
              <a:rPr lang="en-US" dirty="0"/>
              <a:t> </a:t>
            </a:r>
            <a:r>
              <a:rPr lang="en-US" b="1" dirty="0" err="1"/>
              <a:t>3ejbCs</a:t>
            </a:r>
            <a:r>
              <a:rPr lang="en-US" dirty="0"/>
              <a:t> </a:t>
            </a:r>
            <a:r>
              <a:rPr lang="en-US" dirty="0" err="1"/>
              <a:t>este</a:t>
            </a:r>
            <a:r>
              <a:rPr lang="en-US" dirty="0"/>
              <a:t> </a:t>
            </a:r>
            <a:r>
              <a:rPr lang="en-US" dirty="0" err="1"/>
              <a:t>invocat</a:t>
            </a:r>
            <a:r>
              <a:rPr lang="en-US" dirty="0"/>
              <a:t> </a:t>
            </a:r>
            <a:r>
              <a:rPr lang="en-US" dirty="0" err="1"/>
              <a:t>prin</a:t>
            </a:r>
            <a:r>
              <a:rPr lang="en-US" dirty="0"/>
              <a:t> </a:t>
            </a:r>
            <a:r>
              <a:rPr lang="en-US" dirty="0" err="1"/>
              <a:t>JNDI</a:t>
            </a:r>
            <a:r>
              <a:rPr lang="en-US" dirty="0"/>
              <a:t> </a:t>
            </a:r>
            <a:r>
              <a:rPr lang="en-US" dirty="0" err="1"/>
              <a:t>folosind</a:t>
            </a:r>
            <a:r>
              <a:rPr lang="en-US" dirty="0"/>
              <a:t> </a:t>
            </a:r>
            <a:r>
              <a:rPr lang="en-US" dirty="0" err="1"/>
              <a:t>interfetele</a:t>
            </a:r>
            <a:r>
              <a:rPr lang="en-US" dirty="0"/>
              <a:t> remote. El </a:t>
            </a:r>
            <a:r>
              <a:rPr lang="en-US" dirty="0" err="1"/>
              <a:t>mai</a:t>
            </a:r>
            <a:r>
              <a:rPr lang="en-US" dirty="0"/>
              <a:t> </a:t>
            </a:r>
            <a:r>
              <a:rPr lang="en-US" dirty="0" err="1"/>
              <a:t>poate</a:t>
            </a:r>
            <a:r>
              <a:rPr lang="en-US" dirty="0"/>
              <a:t> fi </a:t>
            </a:r>
            <a:r>
              <a:rPr lang="en-US" dirty="0" err="1"/>
              <a:t>invocat</a:t>
            </a:r>
            <a:r>
              <a:rPr lang="en-US" dirty="0"/>
              <a:t> </a:t>
            </a:r>
            <a:r>
              <a:rPr lang="en-US" dirty="0" err="1"/>
              <a:t>si</a:t>
            </a:r>
            <a:r>
              <a:rPr lang="en-US" dirty="0"/>
              <a:t> </a:t>
            </a:r>
            <a:r>
              <a:rPr lang="en-US" dirty="0" err="1"/>
              <a:t>peste</a:t>
            </a:r>
            <a:r>
              <a:rPr lang="en-US" dirty="0"/>
              <a:t> web, </a:t>
            </a:r>
            <a:r>
              <a:rPr lang="en-US" dirty="0" err="1"/>
              <a:t>folosind</a:t>
            </a:r>
            <a:r>
              <a:rPr lang="en-US" dirty="0"/>
              <a:t> </a:t>
            </a:r>
            <a:r>
              <a:rPr lang="en-US" dirty="0" err="1"/>
              <a:t>interfetele</a:t>
            </a:r>
            <a:r>
              <a:rPr lang="en-US" dirty="0"/>
              <a:t> locale: </a:t>
            </a:r>
            <a:r>
              <a:rPr lang="en-US" b="1" dirty="0">
                <a:hlinkClick r:id="rId3"/>
              </a:rPr>
              <a:t>http://</a:t>
            </a:r>
            <a:r>
              <a:rPr lang="en-US" b="1" dirty="0" err="1">
                <a:hlinkClick r:id="rId3"/>
              </a:rPr>
              <a:t>localhost:8080</a:t>
            </a:r>
            <a:r>
              <a:rPr lang="en-US" b="1" dirty="0">
                <a:hlinkClick r:id="rId3"/>
              </a:rPr>
              <a:t>/</a:t>
            </a:r>
            <a:r>
              <a:rPr lang="en-US" b="1" dirty="0" err="1">
                <a:hlinkClick r:id="rId3"/>
              </a:rPr>
              <a:t>3ejbCs</a:t>
            </a:r>
            <a:r>
              <a:rPr lang="en-US" b="1" dirty="0">
                <a:hlinkClick r:id="rId3"/>
              </a:rPr>
              <a:t>/client</a:t>
            </a:r>
            <a:endParaRPr lang="en-US" b="1" dirty="0"/>
          </a:p>
          <a:p>
            <a:endParaRPr lang="en-US" dirty="0"/>
          </a:p>
          <a:p>
            <a:r>
              <a:rPr lang="en-US" dirty="0" err="1"/>
              <a:t>Exemplul</a:t>
            </a:r>
            <a:r>
              <a:rPr lang="en-US" dirty="0"/>
              <a:t> </a:t>
            </a:r>
            <a:r>
              <a:rPr lang="en-US" b="1" dirty="0" err="1"/>
              <a:t>3ejbCs2</a:t>
            </a:r>
            <a:r>
              <a:rPr lang="en-US" dirty="0"/>
              <a:t> </a:t>
            </a:r>
            <a:r>
              <a:rPr lang="en-US" dirty="0" err="1"/>
              <a:t>poate</a:t>
            </a:r>
            <a:r>
              <a:rPr lang="en-US" dirty="0"/>
              <a:t> fi </a:t>
            </a:r>
            <a:r>
              <a:rPr lang="en-US" dirty="0" err="1"/>
              <a:t>invocat</a:t>
            </a:r>
            <a:r>
              <a:rPr lang="en-US" dirty="0"/>
              <a:t> </a:t>
            </a:r>
            <a:r>
              <a:rPr lang="en-US" u="sng" dirty="0" err="1"/>
              <a:t>numai</a:t>
            </a:r>
            <a:r>
              <a:rPr lang="en-US" u="sng" dirty="0"/>
              <a:t> local:</a:t>
            </a:r>
            <a:r>
              <a:rPr lang="en-US" dirty="0"/>
              <a:t> </a:t>
            </a:r>
            <a:r>
              <a:rPr lang="en-US" b="1" dirty="0">
                <a:hlinkClick r:id="rId4"/>
              </a:rPr>
              <a:t>http://</a:t>
            </a:r>
            <a:r>
              <a:rPr lang="en-US" b="1" dirty="0" err="1">
                <a:hlinkClick r:id="rId4"/>
              </a:rPr>
              <a:t>localhost:8080</a:t>
            </a:r>
            <a:r>
              <a:rPr lang="en-US" b="1" dirty="0">
                <a:hlinkClick r:id="rId4"/>
              </a:rPr>
              <a:t>/</a:t>
            </a:r>
            <a:r>
              <a:rPr lang="en-US" b="1" dirty="0" err="1">
                <a:hlinkClick r:id="rId4"/>
              </a:rPr>
              <a:t>3ejbCs2</a:t>
            </a:r>
            <a:r>
              <a:rPr lang="en-US" b="1" dirty="0">
                <a:hlinkClick r:id="rId4"/>
              </a:rPr>
              <a:t>/client</a:t>
            </a:r>
            <a:endParaRPr lang="en-US" b="1" dirty="0"/>
          </a:p>
          <a:p>
            <a:endParaRPr lang="en-US" b="1" u="sng" dirty="0"/>
          </a:p>
        </p:txBody>
      </p:sp>
    </p:spTree>
    <p:extLst>
      <p:ext uri="{BB962C8B-B14F-4D97-AF65-F5344CB8AC3E}">
        <p14:creationId xmlns:p14="http://schemas.microsoft.com/office/powerpoint/2010/main" val="8845197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7010400" y="6492875"/>
            <a:ext cx="2133600" cy="365125"/>
          </a:xfrm>
        </p:spPr>
        <p:txBody>
          <a:bodyPr/>
          <a:lstStyle/>
          <a:p>
            <a:pPr>
              <a:defRPr/>
            </a:pPr>
            <a:r>
              <a:rPr lang="en-US" dirty="0" err="1" smtClean="0"/>
              <a:t>BoianFl_JMS</a:t>
            </a:r>
            <a:r>
              <a:rPr lang="en-US" dirty="0" smtClean="0"/>
              <a:t>_</a:t>
            </a:r>
            <a:fld id="{72B8EA01-026F-47F6-9276-6B06F9F7F42F}" type="slidenum">
              <a:rPr lang="en-US" smtClean="0"/>
              <a:pPr>
                <a:defRPr/>
              </a:pPr>
              <a:t>16</a:t>
            </a:fld>
            <a:r>
              <a:rPr lang="en-US" dirty="0" smtClean="0"/>
              <a:t>/_25_</a:t>
            </a:r>
            <a:endParaRPr lang="en-US" dirty="0"/>
          </a:p>
        </p:txBody>
      </p:sp>
      <p:sp>
        <p:nvSpPr>
          <p:cNvPr id="44036" name="Text Box 2"/>
          <p:cNvSpPr txBox="1">
            <a:spLocks noChangeArrowheads="1"/>
          </p:cNvSpPr>
          <p:nvPr/>
        </p:nvSpPr>
        <p:spPr bwMode="auto">
          <a:xfrm>
            <a:off x="6384925" y="4608513"/>
            <a:ext cx="1235075" cy="366712"/>
          </a:xfrm>
          <a:prstGeom prst="rect">
            <a:avLst/>
          </a:prstGeom>
          <a:noFill/>
          <a:ln w="9525">
            <a:noFill/>
            <a:miter lim="800000"/>
            <a:headEnd/>
            <a:tailEnd/>
          </a:ln>
        </p:spPr>
        <p:txBody>
          <a:bodyPr>
            <a:spAutoFit/>
          </a:bodyPr>
          <a:lstStyle/>
          <a:p>
            <a:endParaRPr lang="ro-RO">
              <a:latin typeface="Calibri" pitchFamily="34" charset="0"/>
            </a:endParaRPr>
          </a:p>
        </p:txBody>
      </p:sp>
      <p:sp>
        <p:nvSpPr>
          <p:cNvPr id="44037" name="Text Box 4"/>
          <p:cNvSpPr txBox="1">
            <a:spLocks noChangeArrowheads="1"/>
          </p:cNvSpPr>
          <p:nvPr/>
        </p:nvSpPr>
        <p:spPr bwMode="auto">
          <a:xfrm>
            <a:off x="2590800" y="1905000"/>
            <a:ext cx="3810000" cy="366713"/>
          </a:xfrm>
          <a:prstGeom prst="rect">
            <a:avLst/>
          </a:prstGeom>
          <a:noFill/>
          <a:ln w="9525">
            <a:noFill/>
            <a:miter lim="800000"/>
            <a:headEnd/>
            <a:tailEnd/>
          </a:ln>
        </p:spPr>
        <p:txBody>
          <a:bodyPr>
            <a:spAutoFit/>
          </a:bodyPr>
          <a:lstStyle/>
          <a:p>
            <a:pPr>
              <a:spcBef>
                <a:spcPct val="50000"/>
              </a:spcBef>
            </a:pPr>
            <a:endParaRPr lang="ro-RO">
              <a:latin typeface="Calibri" pitchFamily="34" charset="0"/>
            </a:endParaRPr>
          </a:p>
        </p:txBody>
      </p:sp>
      <p:sp>
        <p:nvSpPr>
          <p:cNvPr id="44038" name="Text Box 5"/>
          <p:cNvSpPr txBox="1">
            <a:spLocks noChangeArrowheads="1"/>
          </p:cNvSpPr>
          <p:nvPr/>
        </p:nvSpPr>
        <p:spPr bwMode="auto">
          <a:xfrm>
            <a:off x="0" y="0"/>
            <a:ext cx="9144000" cy="366713"/>
          </a:xfrm>
          <a:prstGeom prst="rect">
            <a:avLst/>
          </a:prstGeom>
          <a:solidFill>
            <a:srgbClr val="CCFFFF"/>
          </a:solidFill>
          <a:ln w="9525">
            <a:noFill/>
            <a:miter lim="800000"/>
            <a:headEnd/>
            <a:tailEnd/>
          </a:ln>
        </p:spPr>
        <p:txBody>
          <a:bodyPr>
            <a:spAutoFit/>
          </a:bodyPr>
          <a:lstStyle/>
          <a:p>
            <a:pPr algn="ctr">
              <a:spcBef>
                <a:spcPct val="50000"/>
              </a:spcBef>
            </a:pPr>
            <a:r>
              <a:rPr lang="en-US" dirty="0" err="1" smtClean="0">
                <a:solidFill>
                  <a:srgbClr val="FF0000"/>
                </a:solidFill>
                <a:latin typeface="Calibri" pitchFamily="34" charset="0"/>
              </a:rPr>
              <a:t>Servicii</a:t>
            </a:r>
            <a:r>
              <a:rPr lang="en-US" dirty="0" smtClean="0">
                <a:solidFill>
                  <a:srgbClr val="FF0000"/>
                </a:solidFill>
                <a:latin typeface="Calibri" pitchFamily="34" charset="0"/>
              </a:rPr>
              <a:t> de </a:t>
            </a:r>
            <a:r>
              <a:rPr lang="en-US" dirty="0" err="1" smtClean="0">
                <a:solidFill>
                  <a:srgbClr val="FF0000"/>
                </a:solidFill>
                <a:latin typeface="Calibri" pitchFamily="34" charset="0"/>
              </a:rPr>
              <a:t>mesagerie</a:t>
            </a:r>
            <a:r>
              <a:rPr lang="en-US" dirty="0" smtClean="0">
                <a:solidFill>
                  <a:srgbClr val="FF0000"/>
                </a:solidFill>
                <a:latin typeface="Calibri" pitchFamily="34" charset="0"/>
              </a:rPr>
              <a:t>: JMS </a:t>
            </a:r>
            <a:r>
              <a:rPr lang="en-US" dirty="0" err="1" smtClean="0">
                <a:solidFill>
                  <a:srgbClr val="FF0000"/>
                </a:solidFill>
                <a:latin typeface="Calibri" pitchFamily="34" charset="0"/>
              </a:rPr>
              <a:t>si</a:t>
            </a:r>
            <a:r>
              <a:rPr lang="en-US" dirty="0" smtClean="0">
                <a:solidFill>
                  <a:srgbClr val="FF0000"/>
                </a:solidFill>
                <a:latin typeface="Calibri" pitchFamily="34" charset="0"/>
              </a:rPr>
              <a:t> </a:t>
            </a:r>
            <a:r>
              <a:rPr lang="en-US" dirty="0" err="1" smtClean="0">
                <a:solidFill>
                  <a:srgbClr val="FF0000"/>
                </a:solidFill>
                <a:latin typeface="Calibri" pitchFamily="34" charset="0"/>
              </a:rPr>
              <a:t>stompest</a:t>
            </a:r>
            <a:endParaRPr lang="en-US" dirty="0">
              <a:solidFill>
                <a:srgbClr val="FF0000"/>
              </a:solidFill>
              <a:latin typeface="Calibri" pitchFamily="34" charset="0"/>
            </a:endParaRPr>
          </a:p>
        </p:txBody>
      </p:sp>
      <p:sp>
        <p:nvSpPr>
          <p:cNvPr id="7" name="TextBox 6"/>
          <p:cNvSpPr txBox="1"/>
          <p:nvPr/>
        </p:nvSpPr>
        <p:spPr>
          <a:xfrm>
            <a:off x="0" y="685800"/>
            <a:ext cx="9144000" cy="5354638"/>
          </a:xfrm>
          <a:prstGeom prst="rect">
            <a:avLst/>
          </a:prstGeom>
          <a:noFill/>
        </p:spPr>
        <p:txBody>
          <a:bodyPr>
            <a:spAutoFit/>
          </a:bodyPr>
          <a:lstStyle/>
          <a:p>
            <a:r>
              <a:rPr lang="ro-RO" dirty="0"/>
              <a:t>Un </a:t>
            </a:r>
            <a:r>
              <a:rPr lang="ro-RO" i="1" dirty="0"/>
              <a:t>serviciu de mesagerie</a:t>
            </a:r>
            <a:r>
              <a:rPr lang="ro-RO" dirty="0"/>
              <a:t> se ocupă de crearea, trimiterea şi recepţia mesajelor între persoane şi / sau procese de calcul. </a:t>
            </a:r>
            <a:r>
              <a:rPr lang="ro-RO" i="1" dirty="0"/>
              <a:t>Clienţii</a:t>
            </a:r>
            <a:r>
              <a:rPr lang="ro-RO" dirty="0"/>
              <a:t> abonaţi la serviciu sunt de două feluri</a:t>
            </a:r>
            <a:r>
              <a:rPr lang="ro-RO" dirty="0" smtClean="0"/>
              <a:t>:</a:t>
            </a:r>
            <a:endParaRPr lang="en-US" dirty="0" smtClean="0"/>
          </a:p>
          <a:p>
            <a:pPr marL="285750" indent="-285750">
              <a:buFont typeface="Arial" pitchFamily="34" charset="0"/>
              <a:buChar char="•"/>
            </a:pPr>
            <a:r>
              <a:rPr lang="ro-RO" i="1" dirty="0" smtClean="0"/>
              <a:t>clienţi </a:t>
            </a:r>
            <a:r>
              <a:rPr lang="ro-RO" i="1" dirty="0"/>
              <a:t>cititori</a:t>
            </a:r>
            <a:r>
              <a:rPr lang="ro-RO" dirty="0"/>
              <a:t> care preiau </a:t>
            </a:r>
            <a:r>
              <a:rPr lang="ro-RO" dirty="0" smtClean="0"/>
              <a:t>mesaje</a:t>
            </a:r>
            <a:r>
              <a:rPr lang="en-US" dirty="0" smtClean="0"/>
              <a:t>, </a:t>
            </a:r>
            <a:r>
              <a:rPr lang="en-US" dirty="0" err="1" smtClean="0"/>
              <a:t>sincron</a:t>
            </a:r>
            <a:r>
              <a:rPr lang="en-US" dirty="0" smtClean="0"/>
              <a:t> </a:t>
            </a:r>
            <a:r>
              <a:rPr lang="en-US" dirty="0" err="1" smtClean="0"/>
              <a:t>sau</a:t>
            </a:r>
            <a:r>
              <a:rPr lang="en-US" dirty="0" smtClean="0"/>
              <a:t> </a:t>
            </a:r>
            <a:r>
              <a:rPr lang="en-US" dirty="0" err="1" smtClean="0"/>
              <a:t>asincron</a:t>
            </a:r>
            <a:r>
              <a:rPr lang="en-US" dirty="0" smtClean="0"/>
              <a:t>;</a:t>
            </a:r>
          </a:p>
          <a:p>
            <a:pPr marL="285750" indent="-285750">
              <a:buFont typeface="Arial" pitchFamily="34" charset="0"/>
              <a:buChar char="•"/>
            </a:pPr>
            <a:r>
              <a:rPr lang="ro-RO" i="1" dirty="0" smtClean="0"/>
              <a:t>clienţi </a:t>
            </a:r>
            <a:r>
              <a:rPr lang="ro-RO" i="1" dirty="0"/>
              <a:t>scriitori</a:t>
            </a:r>
            <a:r>
              <a:rPr lang="ro-RO" dirty="0"/>
              <a:t> care depun mesajele </a:t>
            </a:r>
            <a:r>
              <a:rPr lang="ro-RO" dirty="0" smtClean="0"/>
              <a:t>într-o </a:t>
            </a:r>
            <a:r>
              <a:rPr lang="ro-RO" dirty="0"/>
              <a:t>coadă </a:t>
            </a:r>
            <a:r>
              <a:rPr lang="en-US" dirty="0" smtClean="0"/>
              <a:t>/ topic </a:t>
            </a:r>
            <a:r>
              <a:rPr lang="ro-RO" dirty="0" smtClean="0"/>
              <a:t>de </a:t>
            </a:r>
            <a:r>
              <a:rPr lang="en-US" dirty="0" err="1" smtClean="0"/>
              <a:t>oferita</a:t>
            </a:r>
            <a:r>
              <a:rPr lang="en-US" dirty="0" smtClean="0"/>
              <a:t> </a:t>
            </a:r>
            <a:r>
              <a:rPr lang="ro-RO" dirty="0" smtClean="0"/>
              <a:t>de serviciu.</a:t>
            </a:r>
            <a:endParaRPr lang="en-US" dirty="0" smtClean="0"/>
          </a:p>
          <a:p>
            <a:r>
              <a:rPr lang="ro-RO" dirty="0" smtClean="0"/>
              <a:t>In </a:t>
            </a:r>
            <a:r>
              <a:rPr lang="ro-RO" dirty="0"/>
              <a:t>serviciile de mesagerie nu este cazul ca scriitorul unui mesaj să fie în viaţă atunci când un cititor preia mesajul din coadă</a:t>
            </a:r>
            <a:r>
              <a:rPr lang="en-US" dirty="0"/>
              <a:t>.</a:t>
            </a:r>
          </a:p>
          <a:p>
            <a:endParaRPr lang="en-US" dirty="0"/>
          </a:p>
          <a:p>
            <a:r>
              <a:rPr lang="en-US" dirty="0" err="1"/>
              <a:t>Componente</a:t>
            </a:r>
            <a:r>
              <a:rPr lang="en-US" dirty="0"/>
              <a:t> </a:t>
            </a:r>
            <a:r>
              <a:rPr lang="ro-RO" dirty="0"/>
              <a:t>JMS:</a:t>
            </a:r>
            <a:endParaRPr lang="en-US" dirty="0"/>
          </a:p>
          <a:p>
            <a:pPr>
              <a:buFont typeface="Calibri" pitchFamily="34" charset="0"/>
              <a:buAutoNum type="arabicPeriod"/>
            </a:pPr>
            <a:r>
              <a:rPr lang="en-US" dirty="0"/>
              <a:t>P</a:t>
            </a:r>
            <a:r>
              <a:rPr lang="ro-RO" i="1" dirty="0"/>
              <a:t>rovider JMS</a:t>
            </a:r>
            <a:r>
              <a:rPr lang="ro-RO" dirty="0"/>
              <a:t>. </a:t>
            </a:r>
            <a:r>
              <a:rPr lang="en-US" dirty="0"/>
              <a:t>I</a:t>
            </a:r>
            <a:r>
              <a:rPr lang="ro-RO" dirty="0"/>
              <a:t>mplementează interfeţele JMS</a:t>
            </a:r>
            <a:r>
              <a:rPr lang="en-US" dirty="0"/>
              <a:t>,</a:t>
            </a:r>
            <a:r>
              <a:rPr lang="ro-RO" dirty="0"/>
              <a:t> furnizează facilităţile administrative şi de control ale serviciului. </a:t>
            </a:r>
            <a:r>
              <a:rPr lang="en-US" dirty="0" err="1"/>
              <a:t>Principalele</a:t>
            </a:r>
            <a:r>
              <a:rPr lang="ro-RO" dirty="0"/>
              <a:t> </a:t>
            </a:r>
            <a:r>
              <a:rPr lang="en-US" dirty="0"/>
              <a:t>AS</a:t>
            </a:r>
            <a:r>
              <a:rPr lang="ro-RO" dirty="0"/>
              <a:t> (</a:t>
            </a:r>
            <a:r>
              <a:rPr lang="ro-RO" b="1" dirty="0" smtClean="0"/>
              <a:t>Jboss</a:t>
            </a:r>
            <a:r>
              <a:rPr lang="en-US" b="1" dirty="0" smtClean="0"/>
              <a:t>/</a:t>
            </a:r>
            <a:r>
              <a:rPr lang="en-US" b="1" dirty="0" err="1" smtClean="0"/>
              <a:t>WildFly</a:t>
            </a:r>
            <a:r>
              <a:rPr lang="ro-RO" dirty="0" smtClean="0"/>
              <a:t>, </a:t>
            </a:r>
            <a:r>
              <a:rPr lang="ro-RO" b="1" dirty="0"/>
              <a:t>GlassFish</a:t>
            </a:r>
            <a:r>
              <a:rPr lang="en-US" dirty="0"/>
              <a:t> </a:t>
            </a:r>
            <a:r>
              <a:rPr lang="en-US" dirty="0" err="1"/>
              <a:t>etc</a:t>
            </a:r>
            <a:r>
              <a:rPr lang="ro-RO" dirty="0"/>
              <a:t>.) livrează şi </a:t>
            </a:r>
            <a:r>
              <a:rPr lang="en-US" dirty="0"/>
              <a:t>JMS</a:t>
            </a:r>
            <a:r>
              <a:rPr lang="ro-RO" dirty="0"/>
              <a:t>. Există</a:t>
            </a:r>
            <a:r>
              <a:rPr lang="en-US" dirty="0"/>
              <a:t> </a:t>
            </a:r>
            <a:r>
              <a:rPr lang="ro-RO" dirty="0"/>
              <a:t>distribuţii special destinate serviciului de mesagerie</a:t>
            </a:r>
            <a:r>
              <a:rPr lang="en-US" dirty="0"/>
              <a:t>, de </a:t>
            </a:r>
            <a:r>
              <a:rPr lang="en-US" dirty="0" err="1"/>
              <a:t>exemplu</a:t>
            </a:r>
            <a:r>
              <a:rPr lang="en-US" dirty="0"/>
              <a:t> </a:t>
            </a:r>
            <a:r>
              <a:rPr lang="ro-RO" b="1" dirty="0"/>
              <a:t>ActiveMq</a:t>
            </a:r>
            <a:r>
              <a:rPr lang="ro-RO" dirty="0"/>
              <a:t>.</a:t>
            </a:r>
            <a:endParaRPr lang="en-US" dirty="0"/>
          </a:p>
          <a:p>
            <a:pPr>
              <a:buFont typeface="Calibri" pitchFamily="34" charset="0"/>
              <a:buAutoNum type="arabicPeriod"/>
            </a:pPr>
            <a:r>
              <a:rPr lang="ro-RO" i="1" dirty="0"/>
              <a:t>Clienţii JMS</a:t>
            </a:r>
            <a:r>
              <a:rPr lang="ro-RO" dirty="0"/>
              <a:t>. </a:t>
            </a:r>
            <a:r>
              <a:rPr lang="en-US" dirty="0"/>
              <a:t>P</a:t>
            </a:r>
            <a:r>
              <a:rPr lang="ro-RO" dirty="0"/>
              <a:t>rograme </a:t>
            </a:r>
            <a:r>
              <a:rPr lang="en-US" dirty="0"/>
              <a:t>/</a:t>
            </a:r>
            <a:r>
              <a:rPr lang="ro-RO" dirty="0"/>
              <a:t> componente Java care produc sau consumă mesaje.</a:t>
            </a:r>
            <a:endParaRPr lang="en-US" dirty="0"/>
          </a:p>
          <a:p>
            <a:pPr>
              <a:buFont typeface="Calibri" pitchFamily="34" charset="0"/>
              <a:buAutoNum type="arabicPeriod"/>
            </a:pPr>
            <a:r>
              <a:rPr lang="ro-RO" i="1" dirty="0"/>
              <a:t>Mesaje</a:t>
            </a:r>
            <a:r>
              <a:rPr lang="ro-RO" dirty="0"/>
              <a:t>. Sunt obiecte prin intermediul cărora se comunică informaţii între clienţii JMS.</a:t>
            </a:r>
            <a:endParaRPr lang="en-US" dirty="0"/>
          </a:p>
          <a:p>
            <a:pPr>
              <a:buFont typeface="Calibri" pitchFamily="34" charset="0"/>
              <a:buAutoNum type="arabicPeriod"/>
            </a:pPr>
            <a:r>
              <a:rPr lang="ro-RO" i="1" dirty="0"/>
              <a:t>Obiecte administrative</a:t>
            </a:r>
            <a:r>
              <a:rPr lang="en-US" i="1" dirty="0"/>
              <a:t> </a:t>
            </a:r>
            <a:r>
              <a:rPr lang="en-US" i="1" dirty="0" err="1"/>
              <a:t>sunt</a:t>
            </a:r>
            <a:r>
              <a:rPr lang="ro-RO" dirty="0"/>
              <a:t> create de provider</a:t>
            </a:r>
            <a:r>
              <a:rPr lang="en-US" dirty="0"/>
              <a:t>: </a:t>
            </a:r>
            <a:r>
              <a:rPr lang="ro-RO" i="1" dirty="0"/>
              <a:t>fabricanţi de conexiuni </a:t>
            </a:r>
            <a:r>
              <a:rPr lang="ro-RO" dirty="0"/>
              <a:t>(</a:t>
            </a:r>
            <a:r>
              <a:rPr lang="ro-RO" b="1" dirty="0"/>
              <a:t>Connection</a:t>
            </a:r>
            <a:r>
              <a:rPr lang="ro-RO" dirty="0"/>
              <a:t> </a:t>
            </a:r>
            <a:r>
              <a:rPr lang="ro-RO" b="1" dirty="0"/>
              <a:t>Factories</a:t>
            </a:r>
            <a:r>
              <a:rPr lang="ro-RO" dirty="0"/>
              <a:t>) şi </a:t>
            </a:r>
            <a:r>
              <a:rPr lang="ro-RO" i="1" dirty="0"/>
              <a:t>destinaţii.</a:t>
            </a:r>
            <a:r>
              <a:rPr lang="ro-RO" dirty="0"/>
              <a:t> </a:t>
            </a:r>
            <a:r>
              <a:rPr lang="en-US" dirty="0" err="1"/>
              <a:t>Destinatiile</a:t>
            </a:r>
            <a:r>
              <a:rPr lang="en-US" dirty="0"/>
              <a:t> </a:t>
            </a:r>
            <a:r>
              <a:rPr lang="ro-RO" dirty="0"/>
              <a:t>sunt: </a:t>
            </a:r>
            <a:r>
              <a:rPr lang="ro-RO" i="1" dirty="0"/>
              <a:t>cozi</a:t>
            </a:r>
            <a:r>
              <a:rPr lang="ro-RO" dirty="0"/>
              <a:t> (</a:t>
            </a:r>
            <a:r>
              <a:rPr lang="ro-RO" i="1" dirty="0"/>
              <a:t>queue</a:t>
            </a:r>
            <a:r>
              <a:rPr lang="ro-RO" dirty="0"/>
              <a:t>) </a:t>
            </a:r>
            <a:r>
              <a:rPr lang="en-US" dirty="0" err="1"/>
              <a:t>sau</a:t>
            </a:r>
            <a:r>
              <a:rPr lang="ro-RO" dirty="0"/>
              <a:t> </a:t>
            </a:r>
            <a:r>
              <a:rPr lang="ro-RO" i="1" dirty="0"/>
              <a:t>subiecte</a:t>
            </a:r>
            <a:r>
              <a:rPr lang="ro-RO" dirty="0"/>
              <a:t> (</a:t>
            </a:r>
            <a:r>
              <a:rPr lang="ro-RO" i="1" dirty="0"/>
              <a:t>topics)</a:t>
            </a:r>
            <a:r>
              <a:rPr lang="ro-RO" dirty="0"/>
              <a:t>.</a:t>
            </a:r>
            <a:endParaRPr lang="en-US" dirty="0"/>
          </a:p>
          <a:p>
            <a:pPr>
              <a:buFont typeface="Calibri" pitchFamily="34" charset="0"/>
              <a:buAutoNum type="arabicPeriod"/>
            </a:pPr>
            <a:r>
              <a:rPr lang="ro-RO" i="1" dirty="0"/>
              <a:t>Clienţi non JMS </a:t>
            </a:r>
            <a:r>
              <a:rPr lang="ro-RO" dirty="0"/>
              <a:t>sunt programe care scriu / consumă mesaje din serviciu, dar care nu sunt implementate în Java, ci într-o manieră nativă, dependentă de platformă.</a:t>
            </a:r>
            <a:r>
              <a:rPr lang="en-US" dirty="0"/>
              <a:t> </a:t>
            </a:r>
            <a:r>
              <a:rPr lang="en-US" dirty="0" err="1"/>
              <a:t>Vom</a:t>
            </a:r>
            <a:r>
              <a:rPr lang="en-US" dirty="0"/>
              <a:t> </a:t>
            </a:r>
            <a:r>
              <a:rPr lang="en-US" dirty="0" err="1"/>
              <a:t>prezenta</a:t>
            </a:r>
            <a:r>
              <a:rPr lang="en-US" dirty="0"/>
              <a:t> un </a:t>
            </a:r>
            <a:r>
              <a:rPr lang="en-US" dirty="0" err="1"/>
              <a:t>exemplu</a:t>
            </a:r>
            <a:r>
              <a:rPr lang="en-US" dirty="0"/>
              <a:t> cu </a:t>
            </a:r>
            <a:r>
              <a:rPr lang="en-US" dirty="0" err="1"/>
              <a:t>distributia</a:t>
            </a:r>
            <a:r>
              <a:rPr lang="en-US" dirty="0"/>
              <a:t> </a:t>
            </a:r>
            <a:r>
              <a:rPr lang="en-US" b="1" dirty="0" err="1"/>
              <a:t>stompest</a:t>
            </a:r>
            <a:r>
              <a:rPr lang="en-US" dirty="0"/>
              <a:t>, care </a:t>
            </a:r>
            <a:r>
              <a:rPr lang="en-US" dirty="0" err="1"/>
              <a:t>emuleaza</a:t>
            </a:r>
            <a:r>
              <a:rPr lang="en-US" dirty="0"/>
              <a:t> (cu </a:t>
            </a:r>
            <a:r>
              <a:rPr lang="en-US" dirty="0" err="1"/>
              <a:t>mai</a:t>
            </a:r>
            <a:r>
              <a:rPr lang="en-US" dirty="0"/>
              <a:t> </a:t>
            </a:r>
            <a:r>
              <a:rPr lang="en-US" dirty="0" err="1"/>
              <a:t>mult</a:t>
            </a:r>
            <a:r>
              <a:rPr lang="en-US" dirty="0"/>
              <a:t> </a:t>
            </a:r>
            <a:r>
              <a:rPr lang="en-US" dirty="0" err="1"/>
              <a:t>sau</a:t>
            </a:r>
            <a:r>
              <a:rPr lang="en-US" dirty="0"/>
              <a:t> </a:t>
            </a:r>
            <a:r>
              <a:rPr lang="en-US" dirty="0" err="1"/>
              <a:t>mai</a:t>
            </a:r>
            <a:r>
              <a:rPr lang="en-US" dirty="0"/>
              <a:t> </a:t>
            </a:r>
            <a:r>
              <a:rPr lang="en-US" dirty="0" err="1"/>
              <a:t>putin</a:t>
            </a:r>
            <a:r>
              <a:rPr lang="en-US" dirty="0"/>
              <a:t> </a:t>
            </a:r>
            <a:r>
              <a:rPr lang="en-US" dirty="0" err="1"/>
              <a:t>succes</a:t>
            </a:r>
            <a:r>
              <a:rPr lang="en-US" dirty="0"/>
              <a:t>), in </a:t>
            </a:r>
            <a:r>
              <a:rPr lang="en-US" dirty="0" err="1"/>
              <a:t>diferite</a:t>
            </a:r>
            <a:r>
              <a:rPr lang="en-US" dirty="0"/>
              <a:t> </a:t>
            </a:r>
            <a:r>
              <a:rPr lang="en-US" dirty="0" err="1"/>
              <a:t>limbaje</a:t>
            </a:r>
            <a:r>
              <a:rPr lang="en-US" dirty="0"/>
              <a:t> – </a:t>
            </a:r>
            <a:r>
              <a:rPr lang="en-US" dirty="0" smtClean="0"/>
              <a:t>Python, </a:t>
            </a:r>
            <a:r>
              <a:rPr lang="en-US" dirty="0" err="1"/>
              <a:t>N</a:t>
            </a:r>
            <a:r>
              <a:rPr lang="en-US" dirty="0" err="1" smtClean="0"/>
              <a:t>odeJs</a:t>
            </a:r>
            <a:r>
              <a:rPr lang="en-US" dirty="0" smtClean="0"/>
              <a:t> </a:t>
            </a:r>
            <a:r>
              <a:rPr lang="en-US" dirty="0" err="1"/>
              <a:t>s.a.</a:t>
            </a:r>
            <a:r>
              <a:rPr lang="en-US" dirty="0"/>
              <a:t>, un </a:t>
            </a:r>
            <a:r>
              <a:rPr lang="en-US" dirty="0" err="1"/>
              <a:t>serviciu</a:t>
            </a:r>
            <a:r>
              <a:rPr lang="en-US" dirty="0"/>
              <a:t> de tip JMS.</a:t>
            </a:r>
            <a:r>
              <a:rPr lang="ro-RO" dirty="0"/>
              <a:t> </a:t>
            </a:r>
            <a:r>
              <a:rPr lang="en-US" dirty="0"/>
              <a:t> </a:t>
            </a:r>
          </a:p>
        </p:txBody>
      </p:sp>
    </p:spTree>
    <p:extLst>
      <p:ext uri="{BB962C8B-B14F-4D97-AF65-F5344CB8AC3E}">
        <p14:creationId xmlns:p14="http://schemas.microsoft.com/office/powerpoint/2010/main" val="15956099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7010400" y="6492875"/>
            <a:ext cx="2133600" cy="365125"/>
          </a:xfrm>
        </p:spPr>
        <p:txBody>
          <a:bodyPr/>
          <a:lstStyle/>
          <a:p>
            <a:pPr>
              <a:defRPr/>
            </a:pPr>
            <a:r>
              <a:rPr lang="en-US" dirty="0" err="1" smtClean="0"/>
              <a:t>BoianFl_JMS</a:t>
            </a:r>
            <a:r>
              <a:rPr lang="en-US" dirty="0" smtClean="0"/>
              <a:t>_</a:t>
            </a:r>
            <a:fld id="{A397E841-928D-4D96-AE9D-3DBD04341208}" type="slidenum">
              <a:rPr lang="en-US" smtClean="0"/>
              <a:pPr>
                <a:defRPr/>
              </a:pPr>
              <a:t>17</a:t>
            </a:fld>
            <a:r>
              <a:rPr lang="en-US" dirty="0" smtClean="0"/>
              <a:t>/_25_</a:t>
            </a:r>
            <a:endParaRPr lang="en-US" dirty="0"/>
          </a:p>
        </p:txBody>
      </p:sp>
      <p:sp>
        <p:nvSpPr>
          <p:cNvPr id="45060" name="Text Box 2"/>
          <p:cNvSpPr txBox="1">
            <a:spLocks noChangeArrowheads="1"/>
          </p:cNvSpPr>
          <p:nvPr/>
        </p:nvSpPr>
        <p:spPr bwMode="auto">
          <a:xfrm>
            <a:off x="6384925" y="4608513"/>
            <a:ext cx="1235075" cy="366712"/>
          </a:xfrm>
          <a:prstGeom prst="rect">
            <a:avLst/>
          </a:prstGeom>
          <a:noFill/>
          <a:ln w="9525">
            <a:noFill/>
            <a:miter lim="800000"/>
            <a:headEnd/>
            <a:tailEnd/>
          </a:ln>
        </p:spPr>
        <p:txBody>
          <a:bodyPr>
            <a:spAutoFit/>
          </a:bodyPr>
          <a:lstStyle/>
          <a:p>
            <a:endParaRPr lang="ro-RO">
              <a:latin typeface="Calibri" pitchFamily="34" charset="0"/>
            </a:endParaRPr>
          </a:p>
        </p:txBody>
      </p:sp>
      <p:sp>
        <p:nvSpPr>
          <p:cNvPr id="45061" name="Text Box 4"/>
          <p:cNvSpPr txBox="1">
            <a:spLocks noChangeArrowheads="1"/>
          </p:cNvSpPr>
          <p:nvPr/>
        </p:nvSpPr>
        <p:spPr bwMode="auto">
          <a:xfrm>
            <a:off x="2590800" y="1905000"/>
            <a:ext cx="3810000" cy="366713"/>
          </a:xfrm>
          <a:prstGeom prst="rect">
            <a:avLst/>
          </a:prstGeom>
          <a:noFill/>
          <a:ln w="9525">
            <a:noFill/>
            <a:miter lim="800000"/>
            <a:headEnd/>
            <a:tailEnd/>
          </a:ln>
        </p:spPr>
        <p:txBody>
          <a:bodyPr>
            <a:spAutoFit/>
          </a:bodyPr>
          <a:lstStyle/>
          <a:p>
            <a:pPr>
              <a:spcBef>
                <a:spcPct val="50000"/>
              </a:spcBef>
            </a:pPr>
            <a:endParaRPr lang="ro-RO">
              <a:latin typeface="Calibri" pitchFamily="34" charset="0"/>
            </a:endParaRPr>
          </a:p>
        </p:txBody>
      </p:sp>
      <p:sp>
        <p:nvSpPr>
          <p:cNvPr id="45062" name="Text Box 5"/>
          <p:cNvSpPr txBox="1">
            <a:spLocks noChangeArrowheads="1"/>
          </p:cNvSpPr>
          <p:nvPr/>
        </p:nvSpPr>
        <p:spPr bwMode="auto">
          <a:xfrm>
            <a:off x="0" y="0"/>
            <a:ext cx="9144000" cy="366713"/>
          </a:xfrm>
          <a:prstGeom prst="rect">
            <a:avLst/>
          </a:prstGeom>
          <a:solidFill>
            <a:srgbClr val="CCFFFF"/>
          </a:solidFill>
          <a:ln w="9525">
            <a:noFill/>
            <a:miter lim="800000"/>
            <a:headEnd/>
            <a:tailEnd/>
          </a:ln>
        </p:spPr>
        <p:txBody>
          <a:bodyPr>
            <a:spAutoFit/>
          </a:bodyPr>
          <a:lstStyle/>
          <a:p>
            <a:pPr algn="ctr">
              <a:spcBef>
                <a:spcPct val="50000"/>
              </a:spcBef>
            </a:pPr>
            <a:r>
              <a:rPr lang="en-US">
                <a:solidFill>
                  <a:srgbClr val="FF0000"/>
                </a:solidFill>
                <a:latin typeface="Calibri" pitchFamily="34" charset="0"/>
              </a:rPr>
              <a:t>JMS: Queue si Topic</a:t>
            </a:r>
          </a:p>
        </p:txBody>
      </p:sp>
      <p:pic>
        <p:nvPicPr>
          <p:cNvPr id="45063" name="Picture 1"/>
          <p:cNvPicPr>
            <a:picLocks noChangeAspect="1" noChangeArrowheads="1"/>
          </p:cNvPicPr>
          <p:nvPr/>
        </p:nvPicPr>
        <p:blipFill>
          <a:blip r:embed="rId3" cstate="print"/>
          <a:srcRect/>
          <a:stretch>
            <a:fillRect/>
          </a:stretch>
        </p:blipFill>
        <p:spPr bwMode="auto">
          <a:xfrm>
            <a:off x="0" y="381000"/>
            <a:ext cx="5715000" cy="1143000"/>
          </a:xfrm>
          <a:prstGeom prst="rect">
            <a:avLst/>
          </a:prstGeom>
          <a:noFill/>
          <a:ln w="9525">
            <a:noFill/>
            <a:miter lim="800000"/>
            <a:headEnd/>
            <a:tailEnd/>
          </a:ln>
        </p:spPr>
      </p:pic>
      <p:pic>
        <p:nvPicPr>
          <p:cNvPr id="45064" name="Picture 2"/>
          <p:cNvPicPr>
            <a:picLocks noChangeAspect="1" noChangeArrowheads="1"/>
          </p:cNvPicPr>
          <p:nvPr/>
        </p:nvPicPr>
        <p:blipFill>
          <a:blip r:embed="rId4" cstate="print"/>
          <a:srcRect/>
          <a:stretch>
            <a:fillRect/>
          </a:stretch>
        </p:blipFill>
        <p:spPr bwMode="auto">
          <a:xfrm>
            <a:off x="3505200" y="1524000"/>
            <a:ext cx="5464175" cy="2438400"/>
          </a:xfrm>
          <a:prstGeom prst="rect">
            <a:avLst/>
          </a:prstGeom>
          <a:noFill/>
          <a:ln w="9525">
            <a:noFill/>
            <a:miter lim="800000"/>
            <a:headEnd/>
            <a:tailEnd/>
          </a:ln>
        </p:spPr>
      </p:pic>
      <p:sp>
        <p:nvSpPr>
          <p:cNvPr id="9" name="TextBox 8"/>
          <p:cNvSpPr txBox="1"/>
          <p:nvPr/>
        </p:nvSpPr>
        <p:spPr>
          <a:xfrm>
            <a:off x="0" y="4191000"/>
            <a:ext cx="9144000" cy="2586038"/>
          </a:xfrm>
          <a:prstGeom prst="rect">
            <a:avLst/>
          </a:prstGeom>
          <a:noFill/>
        </p:spPr>
        <p:txBody>
          <a:bodyPr>
            <a:spAutoFit/>
          </a:bodyPr>
          <a:lstStyle/>
          <a:p>
            <a:r>
              <a:rPr lang="ro-RO" dirty="0"/>
              <a:t>Consumarea mesajelor JMS se poate face în două moduri:</a:t>
            </a:r>
            <a:endParaRPr lang="en-US" dirty="0"/>
          </a:p>
          <a:p>
            <a:pPr>
              <a:buFont typeface="Calibri" pitchFamily="34" charset="0"/>
              <a:buAutoNum type="arabicPeriod"/>
            </a:pPr>
            <a:r>
              <a:rPr lang="ro-RO" i="1" dirty="0"/>
              <a:t>Consumare sincronă</a:t>
            </a:r>
            <a:r>
              <a:rPr lang="ro-RO" dirty="0"/>
              <a:t> când clientul cititor specifică explicit obiectului destinaţie metoda </a:t>
            </a:r>
            <a:r>
              <a:rPr lang="ro-RO" b="1" dirty="0"/>
              <a:t>receive</a:t>
            </a:r>
            <a:r>
              <a:rPr lang="ro-RO" dirty="0"/>
              <a:t>. Metoda invocată bloc</a:t>
            </a:r>
            <a:r>
              <a:rPr lang="en-US" dirty="0" err="1"/>
              <a:t>heaza</a:t>
            </a:r>
            <a:r>
              <a:rPr lang="ro-RO" dirty="0"/>
              <a:t> clientul cititor până la apariţia mesajului</a:t>
            </a:r>
            <a:r>
              <a:rPr lang="en-US" dirty="0"/>
              <a:t> (eventual maximum</a:t>
            </a:r>
            <a:r>
              <a:rPr lang="ro-RO" dirty="0"/>
              <a:t> un interval maximal de timp</a:t>
            </a:r>
            <a:r>
              <a:rPr lang="en-US" dirty="0"/>
              <a:t>)</a:t>
            </a:r>
            <a:r>
              <a:rPr lang="ro-RO" dirty="0"/>
              <a:t>.</a:t>
            </a:r>
            <a:endParaRPr lang="en-US" dirty="0"/>
          </a:p>
          <a:p>
            <a:pPr>
              <a:buFont typeface="Calibri" pitchFamily="34" charset="0"/>
              <a:buAutoNum type="arabicPeriod"/>
            </a:pPr>
            <a:r>
              <a:rPr lang="ro-RO" i="1" dirty="0"/>
              <a:t>Consumare asincronă </a:t>
            </a:r>
            <a:r>
              <a:rPr lang="ro-RO" dirty="0"/>
              <a:t>când clientul cititor defineşte un obiect aşteptător al mesajului - </a:t>
            </a:r>
            <a:r>
              <a:rPr lang="ro-RO" i="1" dirty="0"/>
              <a:t>message listener</a:t>
            </a:r>
            <a:r>
              <a:rPr lang="ro-RO" dirty="0"/>
              <a:t>. In momentul în care mesajul soseşte la destinaţie, providerul livrează mesajul către acest </a:t>
            </a:r>
            <a:r>
              <a:rPr lang="en-US" dirty="0"/>
              <a:t>listener </a:t>
            </a:r>
            <a:r>
              <a:rPr lang="ro-RO" dirty="0"/>
              <a:t>ca şi argument al </a:t>
            </a:r>
            <a:r>
              <a:rPr lang="en-US" dirty="0" err="1"/>
              <a:t>unei</a:t>
            </a:r>
            <a:r>
              <a:rPr lang="en-US" dirty="0"/>
              <a:t> </a:t>
            </a:r>
            <a:r>
              <a:rPr lang="ro-RO" dirty="0"/>
              <a:t>metode</a:t>
            </a:r>
            <a:r>
              <a:rPr lang="en-US" dirty="0"/>
              <a:t> </a:t>
            </a:r>
            <a:r>
              <a:rPr lang="en-US" dirty="0" err="1"/>
              <a:t>numite</a:t>
            </a:r>
            <a:r>
              <a:rPr lang="ro-RO" dirty="0"/>
              <a:t> </a:t>
            </a:r>
            <a:r>
              <a:rPr lang="ro-RO" b="1" dirty="0"/>
              <a:t>onMessage</a:t>
            </a:r>
            <a:r>
              <a:rPr lang="en-US" dirty="0"/>
              <a:t>, care </a:t>
            </a:r>
            <a:r>
              <a:rPr lang="en-US" dirty="0" err="1"/>
              <a:t>trebuie</a:t>
            </a:r>
            <a:r>
              <a:rPr lang="en-US" dirty="0"/>
              <a:t> </a:t>
            </a:r>
            <a:r>
              <a:rPr lang="en-US" dirty="0" err="1"/>
              <a:t>rescrisa</a:t>
            </a:r>
            <a:r>
              <a:rPr lang="en-US" dirty="0"/>
              <a:t> conform </a:t>
            </a:r>
            <a:r>
              <a:rPr lang="en-US" dirty="0" err="1"/>
              <a:t>cerintelor</a:t>
            </a:r>
            <a:r>
              <a:rPr lang="en-US" dirty="0"/>
              <a:t> de </a:t>
            </a:r>
            <a:r>
              <a:rPr lang="en-US" dirty="0" err="1"/>
              <a:t>consum</a:t>
            </a:r>
            <a:r>
              <a:rPr lang="en-US" dirty="0"/>
              <a:t> al </a:t>
            </a:r>
            <a:r>
              <a:rPr lang="en-US" dirty="0" err="1"/>
              <a:t>mesajului</a:t>
            </a:r>
            <a:r>
              <a:rPr lang="ro-RO" dirty="0"/>
              <a:t>.</a:t>
            </a:r>
            <a:endParaRPr lang="en-US" dirty="0"/>
          </a:p>
          <a:p>
            <a:endParaRPr lang="en-US" dirty="0"/>
          </a:p>
        </p:txBody>
      </p:sp>
    </p:spTree>
    <p:extLst>
      <p:ext uri="{BB962C8B-B14F-4D97-AF65-F5344CB8AC3E}">
        <p14:creationId xmlns:p14="http://schemas.microsoft.com/office/powerpoint/2010/main" val="255135982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7010400" y="6492875"/>
            <a:ext cx="2133600" cy="365125"/>
          </a:xfrm>
        </p:spPr>
        <p:txBody>
          <a:bodyPr/>
          <a:lstStyle/>
          <a:p>
            <a:pPr>
              <a:defRPr/>
            </a:pPr>
            <a:r>
              <a:rPr lang="en-US" dirty="0" err="1" smtClean="0"/>
              <a:t>BoianFl_JMS</a:t>
            </a:r>
            <a:r>
              <a:rPr lang="en-US" dirty="0" smtClean="0"/>
              <a:t>_</a:t>
            </a:r>
            <a:fld id="{15989116-178E-44D5-91FC-490E3DBE74AD}" type="slidenum">
              <a:rPr lang="en-US" smtClean="0"/>
              <a:pPr>
                <a:defRPr/>
              </a:pPr>
              <a:t>18</a:t>
            </a:fld>
            <a:r>
              <a:rPr lang="en-US" dirty="0" smtClean="0"/>
              <a:t>/_25_</a:t>
            </a:r>
            <a:endParaRPr lang="en-US" dirty="0"/>
          </a:p>
        </p:txBody>
      </p:sp>
      <p:sp>
        <p:nvSpPr>
          <p:cNvPr id="4101" name="Text Box 2"/>
          <p:cNvSpPr txBox="1">
            <a:spLocks noChangeArrowheads="1"/>
          </p:cNvSpPr>
          <p:nvPr/>
        </p:nvSpPr>
        <p:spPr bwMode="auto">
          <a:xfrm>
            <a:off x="6384925" y="4608513"/>
            <a:ext cx="1235075" cy="366712"/>
          </a:xfrm>
          <a:prstGeom prst="rect">
            <a:avLst/>
          </a:prstGeom>
          <a:noFill/>
          <a:ln w="9525">
            <a:noFill/>
            <a:miter lim="800000"/>
            <a:headEnd/>
            <a:tailEnd/>
          </a:ln>
        </p:spPr>
        <p:txBody>
          <a:bodyPr>
            <a:spAutoFit/>
          </a:bodyPr>
          <a:lstStyle/>
          <a:p>
            <a:endParaRPr lang="ro-RO">
              <a:latin typeface="Calibri" pitchFamily="34" charset="0"/>
            </a:endParaRPr>
          </a:p>
        </p:txBody>
      </p:sp>
      <p:sp>
        <p:nvSpPr>
          <p:cNvPr id="4102" name="Text Box 4"/>
          <p:cNvSpPr txBox="1">
            <a:spLocks noChangeArrowheads="1"/>
          </p:cNvSpPr>
          <p:nvPr/>
        </p:nvSpPr>
        <p:spPr bwMode="auto">
          <a:xfrm>
            <a:off x="2590800" y="1905000"/>
            <a:ext cx="3810000" cy="366713"/>
          </a:xfrm>
          <a:prstGeom prst="rect">
            <a:avLst/>
          </a:prstGeom>
          <a:noFill/>
          <a:ln w="9525">
            <a:noFill/>
            <a:miter lim="800000"/>
            <a:headEnd/>
            <a:tailEnd/>
          </a:ln>
        </p:spPr>
        <p:txBody>
          <a:bodyPr>
            <a:spAutoFit/>
          </a:bodyPr>
          <a:lstStyle/>
          <a:p>
            <a:pPr>
              <a:spcBef>
                <a:spcPct val="50000"/>
              </a:spcBef>
            </a:pPr>
            <a:endParaRPr lang="ro-RO">
              <a:latin typeface="Calibri" pitchFamily="34" charset="0"/>
            </a:endParaRPr>
          </a:p>
        </p:txBody>
      </p:sp>
      <p:sp>
        <p:nvSpPr>
          <p:cNvPr id="4103" name="Text Box 5"/>
          <p:cNvSpPr txBox="1">
            <a:spLocks noChangeArrowheads="1"/>
          </p:cNvSpPr>
          <p:nvPr/>
        </p:nvSpPr>
        <p:spPr bwMode="auto">
          <a:xfrm>
            <a:off x="0" y="0"/>
            <a:ext cx="9144000" cy="366713"/>
          </a:xfrm>
          <a:prstGeom prst="rect">
            <a:avLst/>
          </a:prstGeom>
          <a:solidFill>
            <a:srgbClr val="CCFFFF"/>
          </a:solidFill>
          <a:ln w="9525">
            <a:noFill/>
            <a:miter lim="800000"/>
            <a:headEnd/>
            <a:tailEnd/>
          </a:ln>
        </p:spPr>
        <p:txBody>
          <a:bodyPr>
            <a:spAutoFit/>
          </a:bodyPr>
          <a:lstStyle/>
          <a:p>
            <a:pPr algn="ctr">
              <a:spcBef>
                <a:spcPct val="50000"/>
              </a:spcBef>
            </a:pPr>
            <a:r>
              <a:rPr lang="en-US">
                <a:solidFill>
                  <a:srgbClr val="FF0000"/>
                </a:solidFill>
                <a:latin typeface="Calibri" pitchFamily="34" charset="0"/>
              </a:rPr>
              <a:t>JMS: modelul de programare </a:t>
            </a:r>
          </a:p>
        </p:txBody>
      </p:sp>
      <p:sp>
        <p:nvSpPr>
          <p:cNvPr id="4104"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ro-RO"/>
          </a:p>
        </p:txBody>
      </p:sp>
      <p:graphicFrame>
        <p:nvGraphicFramePr>
          <p:cNvPr id="4098" name="Object 1"/>
          <p:cNvGraphicFramePr>
            <a:graphicFrameLocks noChangeAspect="1"/>
          </p:cNvGraphicFramePr>
          <p:nvPr/>
        </p:nvGraphicFramePr>
        <p:xfrm>
          <a:off x="0" y="381000"/>
          <a:ext cx="5114925" cy="3505200"/>
        </p:xfrm>
        <a:graphic>
          <a:graphicData uri="http://schemas.openxmlformats.org/presentationml/2006/ole">
            <mc:AlternateContent xmlns:mc="http://schemas.openxmlformats.org/markup-compatibility/2006">
              <mc:Choice xmlns:v="urn:schemas-microsoft-com:vml" Requires="v">
                <p:oleObj spid="_x0000_s1046" name="Visio" r:id="rId4" imgW="5554016" imgH="3804259" progId="">
                  <p:embed/>
                </p:oleObj>
              </mc:Choice>
              <mc:Fallback>
                <p:oleObj name="Visio" r:id="rId4" imgW="5554016" imgH="3804259"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381000"/>
                        <a:ext cx="5114925" cy="3505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5" name="TextBox 8"/>
          <p:cNvSpPr txBox="1">
            <a:spLocks noChangeArrowheads="1"/>
          </p:cNvSpPr>
          <p:nvPr/>
        </p:nvSpPr>
        <p:spPr bwMode="auto">
          <a:xfrm>
            <a:off x="5105400" y="533400"/>
            <a:ext cx="4038600" cy="3416300"/>
          </a:xfrm>
          <a:prstGeom prst="rect">
            <a:avLst/>
          </a:prstGeom>
          <a:noFill/>
          <a:ln w="9525">
            <a:noFill/>
            <a:miter lim="800000"/>
            <a:headEnd/>
            <a:tailEnd/>
          </a:ln>
        </p:spPr>
        <p:txBody>
          <a:bodyPr>
            <a:spAutoFit/>
          </a:bodyPr>
          <a:lstStyle/>
          <a:p>
            <a:r>
              <a:rPr lang="ro-RO" i="1"/>
              <a:t>Connection factory</a:t>
            </a:r>
            <a:r>
              <a:rPr lang="ro-RO"/>
              <a:t>. </a:t>
            </a:r>
            <a:r>
              <a:rPr lang="en-US"/>
              <a:t>U</a:t>
            </a:r>
            <a:r>
              <a:rPr lang="ro-RO"/>
              <a:t>n obiect utilizat de client pentru a crea conexiunea cu un provider.</a:t>
            </a:r>
            <a:r>
              <a:rPr lang="en-US"/>
              <a:t>E</a:t>
            </a:r>
            <a:r>
              <a:rPr lang="ro-RO"/>
              <a:t>ste o instanţă a uneia dintre interfeţe</a:t>
            </a:r>
            <a:r>
              <a:rPr lang="en-US"/>
              <a:t>le</a:t>
            </a:r>
            <a:r>
              <a:rPr lang="ro-RO"/>
              <a:t>: </a:t>
            </a:r>
            <a:r>
              <a:rPr lang="ro-RO" b="1"/>
              <a:t>QueueConnectionFactory</a:t>
            </a:r>
            <a:r>
              <a:rPr lang="ro-RO"/>
              <a:t>, </a:t>
            </a:r>
            <a:r>
              <a:rPr lang="ro-RO" b="1"/>
              <a:t>TopicConnectionFactory</a:t>
            </a:r>
            <a:r>
              <a:rPr lang="ro-RO"/>
              <a:t>. </a:t>
            </a:r>
            <a:endParaRPr lang="en-US"/>
          </a:p>
          <a:p>
            <a:endParaRPr lang="en-US"/>
          </a:p>
          <a:p>
            <a:r>
              <a:rPr lang="en-US"/>
              <a:t>C</a:t>
            </a:r>
            <a:r>
              <a:rPr lang="ro-RO" i="1"/>
              <a:t>on</a:t>
            </a:r>
            <a:r>
              <a:rPr lang="en-US" i="1"/>
              <a:t>n</a:t>
            </a:r>
            <a:r>
              <a:rPr lang="ro-RO" i="1"/>
              <a:t>e</a:t>
            </a:r>
            <a:r>
              <a:rPr lang="en-US" i="1"/>
              <a:t>ction</a:t>
            </a:r>
            <a:r>
              <a:rPr lang="ro-RO"/>
              <a:t> încapsulează conexiunea la un provider JMS. </a:t>
            </a:r>
            <a:r>
              <a:rPr lang="en-US"/>
              <a:t>I</a:t>
            </a:r>
            <a:r>
              <a:rPr lang="ro-RO"/>
              <a:t>mplementează una dintre următoarele două interfeţe: </a:t>
            </a:r>
            <a:r>
              <a:rPr lang="ro-RO" b="1"/>
              <a:t>QueueConnection</a:t>
            </a:r>
            <a:r>
              <a:rPr lang="en-US"/>
              <a:t>,</a:t>
            </a:r>
            <a:r>
              <a:rPr lang="ro-RO"/>
              <a:t> </a:t>
            </a:r>
            <a:r>
              <a:rPr lang="ro-RO" b="1"/>
              <a:t>TopicConnection</a:t>
            </a:r>
            <a:r>
              <a:rPr lang="ro-RO"/>
              <a:t>. </a:t>
            </a:r>
            <a:endParaRPr lang="en-US"/>
          </a:p>
        </p:txBody>
      </p:sp>
      <p:sp>
        <p:nvSpPr>
          <p:cNvPr id="4106" name="TextBox 9"/>
          <p:cNvSpPr txBox="1">
            <a:spLocks noChangeArrowheads="1"/>
          </p:cNvSpPr>
          <p:nvPr/>
        </p:nvSpPr>
        <p:spPr bwMode="auto">
          <a:xfrm>
            <a:off x="0" y="4038600"/>
            <a:ext cx="9144000" cy="2862263"/>
          </a:xfrm>
          <a:prstGeom prst="rect">
            <a:avLst/>
          </a:prstGeom>
          <a:noFill/>
          <a:ln w="9525">
            <a:noFill/>
            <a:miter lim="800000"/>
            <a:headEnd/>
            <a:tailEnd/>
          </a:ln>
        </p:spPr>
        <p:txBody>
          <a:bodyPr>
            <a:spAutoFit/>
          </a:bodyPr>
          <a:lstStyle/>
          <a:p>
            <a:r>
              <a:rPr lang="en-US" i="1" dirty="0"/>
              <a:t>S</a:t>
            </a:r>
            <a:r>
              <a:rPr lang="ro-RO" i="1" dirty="0"/>
              <a:t>es</a:t>
            </a:r>
            <a:r>
              <a:rPr lang="en-US" i="1" dirty="0"/>
              <a:t>s</a:t>
            </a:r>
            <a:r>
              <a:rPr lang="ro-RO" i="1" dirty="0"/>
              <a:t>i</a:t>
            </a:r>
            <a:r>
              <a:rPr lang="en-US" i="1" dirty="0"/>
              <a:t>on</a:t>
            </a:r>
            <a:r>
              <a:rPr lang="ro-RO" dirty="0"/>
              <a:t> este un context destinat producerii sau consumării de mesaje. Se utilizează pentru crearea de producători de mesaje, consumatori de mesaje şi mesaje. Prin intermediul sesiunii se pot executa obiectele care aşteaptă evenimente, ca şi manevrarea tranzacţională a unor grupuri de emiteri şi receptări de mesaje.</a:t>
            </a:r>
            <a:endParaRPr lang="en-US" dirty="0"/>
          </a:p>
          <a:p>
            <a:endParaRPr lang="en-US" i="1" dirty="0"/>
          </a:p>
          <a:p>
            <a:r>
              <a:rPr lang="ro-RO" i="1" dirty="0"/>
              <a:t>Destinaţie</a:t>
            </a:r>
            <a:r>
              <a:rPr lang="ro-RO" dirty="0"/>
              <a:t> </a:t>
            </a:r>
            <a:r>
              <a:rPr lang="en-US" dirty="0" err="1" smtClean="0"/>
              <a:t>este</a:t>
            </a:r>
            <a:r>
              <a:rPr lang="en-US" dirty="0" smtClean="0"/>
              <a:t> un o</a:t>
            </a:r>
            <a:r>
              <a:rPr lang="ro-RO" dirty="0" smtClean="0"/>
              <a:t>biect </a:t>
            </a:r>
            <a:r>
              <a:rPr lang="ro-RO" dirty="0"/>
              <a:t>client utilizat pentru </a:t>
            </a:r>
            <a:r>
              <a:rPr lang="ro-RO" dirty="0" smtClean="0"/>
              <a:t>ţint</a:t>
            </a:r>
            <a:r>
              <a:rPr lang="en-US" dirty="0" smtClean="0"/>
              <a:t>a</a:t>
            </a:r>
            <a:r>
              <a:rPr lang="ro-RO" dirty="0" smtClean="0"/>
              <a:t> </a:t>
            </a:r>
            <a:r>
              <a:rPr lang="ro-RO" dirty="0"/>
              <a:t>mesajelor produse, respectiv </a:t>
            </a:r>
            <a:r>
              <a:rPr lang="ro-RO" dirty="0" smtClean="0"/>
              <a:t>surs</a:t>
            </a:r>
            <a:r>
              <a:rPr lang="en-US" dirty="0" smtClean="0"/>
              <a:t>a</a:t>
            </a:r>
            <a:r>
              <a:rPr lang="ro-RO" dirty="0" smtClean="0"/>
              <a:t> </a:t>
            </a:r>
            <a:r>
              <a:rPr lang="ro-RO" dirty="0"/>
              <a:t>mesajelor consumate. Fiecare destinaţie primeşte un </a:t>
            </a:r>
            <a:r>
              <a:rPr lang="ro-RO" i="1" dirty="0"/>
              <a:t>nume</a:t>
            </a:r>
            <a:r>
              <a:rPr lang="ro-RO" dirty="0"/>
              <a:t>. In acest nume se indică atât adresa Internet a maşinii care găzduieşte destinaţia, cât şi localizarea destinaţiei în cadrul maşinii. </a:t>
            </a:r>
            <a:r>
              <a:rPr lang="en-US" dirty="0"/>
              <a:t>N</a:t>
            </a:r>
            <a:r>
              <a:rPr lang="ro-RO" dirty="0"/>
              <a:t>umele este </a:t>
            </a:r>
            <a:r>
              <a:rPr lang="en-US" dirty="0" err="1"/>
              <a:t>dat</a:t>
            </a:r>
            <a:r>
              <a:rPr lang="en-US" dirty="0"/>
              <a:t> de </a:t>
            </a:r>
            <a:r>
              <a:rPr lang="ro-RO" dirty="0"/>
              <a:t>un serviciu </a:t>
            </a:r>
            <a:r>
              <a:rPr lang="ro-RO" i="1" dirty="0"/>
              <a:t>JNDI</a:t>
            </a:r>
            <a:r>
              <a:rPr lang="en-US" i="1" dirty="0"/>
              <a:t> </a:t>
            </a:r>
            <a:r>
              <a:rPr lang="en-US" dirty="0" err="1"/>
              <a:t>asociat</a:t>
            </a:r>
            <a:r>
              <a:rPr lang="en-US" dirty="0"/>
              <a:t> </a:t>
            </a:r>
            <a:r>
              <a:rPr lang="en-US" dirty="0" err="1"/>
              <a:t>providerului</a:t>
            </a:r>
            <a:r>
              <a:rPr lang="ro-RO" dirty="0"/>
              <a:t> </a:t>
            </a:r>
            <a:r>
              <a:rPr lang="en-US" dirty="0"/>
              <a:t>JMS</a:t>
            </a:r>
            <a:r>
              <a:rPr lang="ro-RO" dirty="0"/>
              <a:t>.</a:t>
            </a:r>
            <a:endParaRPr lang="en-US" dirty="0"/>
          </a:p>
          <a:p>
            <a:r>
              <a:rPr lang="ro-RO" dirty="0"/>
              <a:t> </a:t>
            </a:r>
            <a:endParaRPr lang="en-US" dirty="0"/>
          </a:p>
        </p:txBody>
      </p:sp>
    </p:spTree>
    <p:extLst>
      <p:ext uri="{BB962C8B-B14F-4D97-AF65-F5344CB8AC3E}">
        <p14:creationId xmlns:p14="http://schemas.microsoft.com/office/powerpoint/2010/main" val="9140940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7010400" y="6492875"/>
            <a:ext cx="2133600" cy="365125"/>
          </a:xfrm>
        </p:spPr>
        <p:txBody>
          <a:bodyPr/>
          <a:lstStyle/>
          <a:p>
            <a:pPr>
              <a:defRPr/>
            </a:pPr>
            <a:r>
              <a:rPr lang="en-US" dirty="0" err="1" smtClean="0"/>
              <a:t>BoianFl_JMS</a:t>
            </a:r>
            <a:r>
              <a:rPr lang="en-US" dirty="0" smtClean="0"/>
              <a:t>_</a:t>
            </a:r>
            <a:fld id="{877B580C-4994-4CE2-9E8B-77F8133E9C53}" type="slidenum">
              <a:rPr lang="en-US" smtClean="0"/>
              <a:pPr>
                <a:defRPr/>
              </a:pPr>
              <a:t>19</a:t>
            </a:fld>
            <a:r>
              <a:rPr lang="en-US" dirty="0" smtClean="0"/>
              <a:t>/_25_</a:t>
            </a:r>
            <a:endParaRPr lang="en-US" dirty="0"/>
          </a:p>
        </p:txBody>
      </p:sp>
      <p:sp>
        <p:nvSpPr>
          <p:cNvPr id="46084" name="Text Box 2"/>
          <p:cNvSpPr txBox="1">
            <a:spLocks noChangeArrowheads="1"/>
          </p:cNvSpPr>
          <p:nvPr/>
        </p:nvSpPr>
        <p:spPr bwMode="auto">
          <a:xfrm>
            <a:off x="6384925" y="4608513"/>
            <a:ext cx="1235075" cy="366712"/>
          </a:xfrm>
          <a:prstGeom prst="rect">
            <a:avLst/>
          </a:prstGeom>
          <a:noFill/>
          <a:ln w="9525">
            <a:noFill/>
            <a:miter lim="800000"/>
            <a:headEnd/>
            <a:tailEnd/>
          </a:ln>
        </p:spPr>
        <p:txBody>
          <a:bodyPr>
            <a:spAutoFit/>
          </a:bodyPr>
          <a:lstStyle/>
          <a:p>
            <a:endParaRPr lang="ro-RO">
              <a:latin typeface="Calibri" pitchFamily="34" charset="0"/>
            </a:endParaRPr>
          </a:p>
        </p:txBody>
      </p:sp>
      <p:sp>
        <p:nvSpPr>
          <p:cNvPr id="46085" name="Text Box 4"/>
          <p:cNvSpPr txBox="1">
            <a:spLocks noChangeArrowheads="1"/>
          </p:cNvSpPr>
          <p:nvPr/>
        </p:nvSpPr>
        <p:spPr bwMode="auto">
          <a:xfrm>
            <a:off x="2590800" y="1905000"/>
            <a:ext cx="3810000" cy="366713"/>
          </a:xfrm>
          <a:prstGeom prst="rect">
            <a:avLst/>
          </a:prstGeom>
          <a:noFill/>
          <a:ln w="9525">
            <a:noFill/>
            <a:miter lim="800000"/>
            <a:headEnd/>
            <a:tailEnd/>
          </a:ln>
        </p:spPr>
        <p:txBody>
          <a:bodyPr>
            <a:spAutoFit/>
          </a:bodyPr>
          <a:lstStyle/>
          <a:p>
            <a:pPr>
              <a:spcBef>
                <a:spcPct val="50000"/>
              </a:spcBef>
            </a:pPr>
            <a:endParaRPr lang="ro-RO">
              <a:latin typeface="Calibri" pitchFamily="34" charset="0"/>
            </a:endParaRPr>
          </a:p>
        </p:txBody>
      </p:sp>
      <p:sp>
        <p:nvSpPr>
          <p:cNvPr id="46086" name="Text Box 5"/>
          <p:cNvSpPr txBox="1">
            <a:spLocks noChangeArrowheads="1"/>
          </p:cNvSpPr>
          <p:nvPr/>
        </p:nvSpPr>
        <p:spPr bwMode="auto">
          <a:xfrm>
            <a:off x="0" y="0"/>
            <a:ext cx="9144000" cy="366713"/>
          </a:xfrm>
          <a:prstGeom prst="rect">
            <a:avLst/>
          </a:prstGeom>
          <a:solidFill>
            <a:srgbClr val="CCFFFF"/>
          </a:solidFill>
          <a:ln w="9525">
            <a:noFill/>
            <a:miter lim="800000"/>
            <a:headEnd/>
            <a:tailEnd/>
          </a:ln>
        </p:spPr>
        <p:txBody>
          <a:bodyPr>
            <a:spAutoFit/>
          </a:bodyPr>
          <a:lstStyle/>
          <a:p>
            <a:pPr algn="ctr">
              <a:spcBef>
                <a:spcPct val="50000"/>
              </a:spcBef>
            </a:pPr>
            <a:r>
              <a:rPr lang="en-US">
                <a:solidFill>
                  <a:srgbClr val="FF0000"/>
                </a:solidFill>
                <a:latin typeface="Calibri" pitchFamily="34" charset="0"/>
              </a:rPr>
              <a:t>JMS: mesaj </a:t>
            </a:r>
          </a:p>
        </p:txBody>
      </p:sp>
      <p:sp>
        <p:nvSpPr>
          <p:cNvPr id="46087" name="TextBox 6"/>
          <p:cNvSpPr txBox="1">
            <a:spLocks noChangeArrowheads="1"/>
          </p:cNvSpPr>
          <p:nvPr/>
        </p:nvSpPr>
        <p:spPr bwMode="auto">
          <a:xfrm>
            <a:off x="304800" y="533400"/>
            <a:ext cx="8839200" cy="2308225"/>
          </a:xfrm>
          <a:prstGeom prst="rect">
            <a:avLst/>
          </a:prstGeom>
          <a:noFill/>
          <a:ln w="9525">
            <a:noFill/>
            <a:miter lim="800000"/>
            <a:headEnd/>
            <a:tailEnd/>
          </a:ln>
        </p:spPr>
        <p:txBody>
          <a:bodyPr>
            <a:spAutoFit/>
          </a:bodyPr>
          <a:lstStyle/>
          <a:p>
            <a:r>
              <a:rPr lang="ro-RO"/>
              <a:t>Un </a:t>
            </a:r>
            <a:r>
              <a:rPr lang="ro-RO" i="1"/>
              <a:t>mesaj</a:t>
            </a:r>
            <a:r>
              <a:rPr lang="ro-RO"/>
              <a:t> este format din trei părţi: antet (singurul obligatoriu), proprietăţi şi corp. </a:t>
            </a:r>
            <a:endParaRPr lang="en-US"/>
          </a:p>
          <a:p>
            <a:endParaRPr lang="en-US"/>
          </a:p>
          <a:p>
            <a:r>
              <a:rPr lang="ro-RO" i="1"/>
              <a:t>Antetul </a:t>
            </a:r>
            <a:r>
              <a:rPr lang="ro-RO"/>
              <a:t>conţine un număr de câmpuri predefinite</a:t>
            </a:r>
            <a:r>
              <a:rPr lang="en-US"/>
              <a:t> (vezi tabelul).</a:t>
            </a:r>
          </a:p>
          <a:p>
            <a:endParaRPr lang="en-US" i="1"/>
          </a:p>
          <a:p>
            <a:r>
              <a:rPr lang="ro-RO" i="1"/>
              <a:t>Proprietăţi mesaj</a:t>
            </a:r>
            <a:r>
              <a:rPr lang="ro-RO"/>
              <a:t> se pot defini şi introduce pe lângă antet în vederea selectării mesajelor. API JMS oferă o serie de proprietăţi predefinite, precum şi un mecanism de definire a unor proprietăţi utilizator.</a:t>
            </a:r>
            <a:endParaRPr lang="en-US"/>
          </a:p>
          <a:p>
            <a:r>
              <a:rPr lang="ro-RO" i="1"/>
              <a:t>Corpul mesajului</a:t>
            </a:r>
            <a:r>
              <a:rPr lang="ro-RO"/>
              <a:t> poate fi unul din următoarele tipuri</a:t>
            </a:r>
            <a:r>
              <a:rPr lang="en-US"/>
              <a:t> (vezi tabelul).</a:t>
            </a:r>
          </a:p>
        </p:txBody>
      </p:sp>
      <p:graphicFrame>
        <p:nvGraphicFramePr>
          <p:cNvPr id="8" name="Table 7"/>
          <p:cNvGraphicFramePr>
            <a:graphicFrameLocks noGrp="1"/>
          </p:cNvGraphicFramePr>
          <p:nvPr/>
        </p:nvGraphicFramePr>
        <p:xfrm>
          <a:off x="0" y="3048000"/>
          <a:ext cx="3352800" cy="2357443"/>
        </p:xfrm>
        <a:graphic>
          <a:graphicData uri="http://schemas.openxmlformats.org/drawingml/2006/table">
            <a:tbl>
              <a:tblPr/>
              <a:tblGrid>
                <a:gridCol w="1608138"/>
                <a:gridCol w="1744662"/>
              </a:tblGrid>
              <a:tr h="2143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1" i="0" u="none" strike="noStrike" cap="none" normalizeH="0" baseline="0" smtClean="0">
                          <a:ln>
                            <a:noFill/>
                          </a:ln>
                          <a:solidFill>
                            <a:schemeClr val="tx1"/>
                          </a:solidFill>
                          <a:effectLst/>
                          <a:latin typeface="Times New Roman" pitchFamily="18" charset="0"/>
                          <a:cs typeface="Times New Roman" pitchFamily="18" charset="0"/>
                        </a:rPr>
                        <a:t>Câmp antet</a:t>
                      </a:r>
                      <a:endParaRPr kumimoji="0" lang="en-US" sz="1200" b="1"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1" i="0" u="none" strike="noStrike" cap="none" normalizeH="0" baseline="0" smtClean="0">
                          <a:ln>
                            <a:noFill/>
                          </a:ln>
                          <a:solidFill>
                            <a:schemeClr val="tx1"/>
                          </a:solidFill>
                          <a:effectLst/>
                          <a:latin typeface="Times New Roman" pitchFamily="18" charset="0"/>
                          <a:cs typeface="Times New Roman" pitchFamily="18" charset="0"/>
                        </a:rPr>
                        <a:t>Cine setează</a:t>
                      </a:r>
                      <a:endParaRPr kumimoji="0" lang="en-US" sz="1200" b="1"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43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JMSDestination</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Courier New" pitchFamily="49" charset="0"/>
                          <a:cs typeface="Times New Roman" pitchFamily="18" charset="0"/>
                        </a:rPr>
                        <a:t>send</a:t>
                      </a: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 sau </a:t>
                      </a:r>
                      <a:r>
                        <a:rPr kumimoji="0" lang="ro-RO" sz="1200" b="0" i="0" u="none" strike="noStrike" cap="none" normalizeH="0" baseline="0" smtClean="0">
                          <a:ln>
                            <a:noFill/>
                          </a:ln>
                          <a:solidFill>
                            <a:schemeClr val="tx1"/>
                          </a:solidFill>
                          <a:effectLst/>
                          <a:latin typeface="Courier New" pitchFamily="49" charset="0"/>
                          <a:cs typeface="Times New Roman" pitchFamily="18" charset="0"/>
                        </a:rPr>
                        <a:t>publish</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43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JMSDeliveryMode</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Courier New" pitchFamily="49" charset="0"/>
                          <a:cs typeface="Times New Roman" pitchFamily="18" charset="0"/>
                        </a:rPr>
                        <a:t>send</a:t>
                      </a: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 sau </a:t>
                      </a:r>
                      <a:r>
                        <a:rPr kumimoji="0" lang="ro-RO" sz="1200" b="0" i="0" u="none" strike="noStrike" cap="none" normalizeH="0" baseline="0" smtClean="0">
                          <a:ln>
                            <a:noFill/>
                          </a:ln>
                          <a:solidFill>
                            <a:schemeClr val="tx1"/>
                          </a:solidFill>
                          <a:effectLst/>
                          <a:latin typeface="Courier New" pitchFamily="49" charset="0"/>
                          <a:cs typeface="Times New Roman" pitchFamily="18" charset="0"/>
                        </a:rPr>
                        <a:t>publish</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43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JMSExpiration</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Courier New" pitchFamily="49" charset="0"/>
                          <a:cs typeface="Times New Roman" pitchFamily="18" charset="0"/>
                        </a:rPr>
                        <a:t>send</a:t>
                      </a: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 sau </a:t>
                      </a:r>
                      <a:r>
                        <a:rPr kumimoji="0" lang="ro-RO" sz="1200" b="0" i="0" u="none" strike="noStrike" cap="none" normalizeH="0" baseline="0" smtClean="0">
                          <a:ln>
                            <a:noFill/>
                          </a:ln>
                          <a:solidFill>
                            <a:schemeClr val="tx1"/>
                          </a:solidFill>
                          <a:effectLst/>
                          <a:latin typeface="Courier New" pitchFamily="49" charset="0"/>
                          <a:cs typeface="Times New Roman" pitchFamily="18" charset="0"/>
                        </a:rPr>
                        <a:t>publish</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43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JMSPriority</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Courier New" pitchFamily="49" charset="0"/>
                          <a:cs typeface="Times New Roman" pitchFamily="18" charset="0"/>
                        </a:rPr>
                        <a:t>send</a:t>
                      </a: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 sau </a:t>
                      </a:r>
                      <a:r>
                        <a:rPr kumimoji="0" lang="ro-RO" sz="1200" b="0" i="0" u="none" strike="noStrike" cap="none" normalizeH="0" baseline="0" smtClean="0">
                          <a:ln>
                            <a:noFill/>
                          </a:ln>
                          <a:solidFill>
                            <a:schemeClr val="tx1"/>
                          </a:solidFill>
                          <a:effectLst/>
                          <a:latin typeface="Courier New" pitchFamily="49" charset="0"/>
                          <a:cs typeface="Times New Roman" pitchFamily="18" charset="0"/>
                        </a:rPr>
                        <a:t>publish</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43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JMSMessageID</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Courier New" pitchFamily="49" charset="0"/>
                          <a:cs typeface="Times New Roman" pitchFamily="18" charset="0"/>
                        </a:rPr>
                        <a:t>send</a:t>
                      </a: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 sau </a:t>
                      </a:r>
                      <a:r>
                        <a:rPr kumimoji="0" lang="ro-RO" sz="1200" b="0" i="0" u="none" strike="noStrike" cap="none" normalizeH="0" baseline="0" smtClean="0">
                          <a:ln>
                            <a:noFill/>
                          </a:ln>
                          <a:solidFill>
                            <a:schemeClr val="tx1"/>
                          </a:solidFill>
                          <a:effectLst/>
                          <a:latin typeface="Courier New" pitchFamily="49" charset="0"/>
                          <a:cs typeface="Times New Roman" pitchFamily="18" charset="0"/>
                        </a:rPr>
                        <a:t>publish</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43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JMSTimesstamp</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Courier New" pitchFamily="49" charset="0"/>
                          <a:cs typeface="Times New Roman" pitchFamily="18" charset="0"/>
                        </a:rPr>
                        <a:t>send</a:t>
                      </a: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 sau </a:t>
                      </a:r>
                      <a:r>
                        <a:rPr kumimoji="0" lang="ro-RO" sz="1200" b="0" i="0" u="none" strike="noStrike" cap="none" normalizeH="0" baseline="0" smtClean="0">
                          <a:ln>
                            <a:noFill/>
                          </a:ln>
                          <a:solidFill>
                            <a:schemeClr val="tx1"/>
                          </a:solidFill>
                          <a:effectLst/>
                          <a:latin typeface="Courier New" pitchFamily="49" charset="0"/>
                          <a:cs typeface="Times New Roman" pitchFamily="18" charset="0"/>
                        </a:rPr>
                        <a:t>publish</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43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JMSCorrelationID</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Client</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43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JMSReplyTo</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Client</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43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JMSType</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Client</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143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JMSRedelivered</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JMS provider</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9" name="Table 8"/>
          <p:cNvGraphicFramePr>
            <a:graphicFrameLocks noGrp="1"/>
          </p:cNvGraphicFramePr>
          <p:nvPr/>
        </p:nvGraphicFramePr>
        <p:xfrm>
          <a:off x="3429000" y="2971800"/>
          <a:ext cx="5715000" cy="2973391"/>
        </p:xfrm>
        <a:graphic>
          <a:graphicData uri="http://schemas.openxmlformats.org/drawingml/2006/table">
            <a:tbl>
              <a:tblPr/>
              <a:tblGrid>
                <a:gridCol w="1638300"/>
                <a:gridCol w="4076700"/>
              </a:tblGrid>
              <a:tr h="3127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1" i="0" u="none" strike="noStrike" cap="none" normalizeH="0" baseline="0" smtClean="0">
                          <a:ln>
                            <a:noFill/>
                          </a:ln>
                          <a:solidFill>
                            <a:schemeClr val="tx1"/>
                          </a:solidFill>
                          <a:effectLst/>
                          <a:latin typeface="Times New Roman" pitchFamily="18" charset="0"/>
                          <a:cs typeface="Times New Roman" pitchFamily="18" charset="0"/>
                        </a:rPr>
                        <a:t>Tip mesaj</a:t>
                      </a:r>
                      <a:endParaRPr kumimoji="0" lang="en-US" sz="1200" b="1"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1" i="0" u="none" strike="noStrike" cap="none" normalizeH="0" baseline="0" smtClean="0">
                          <a:ln>
                            <a:noFill/>
                          </a:ln>
                          <a:solidFill>
                            <a:schemeClr val="tx1"/>
                          </a:solidFill>
                          <a:effectLst/>
                          <a:latin typeface="Times New Roman" pitchFamily="18" charset="0"/>
                          <a:cs typeface="Times New Roman" pitchFamily="18" charset="0"/>
                        </a:rPr>
                        <a:t>Conţinutul corpului</a:t>
                      </a:r>
                      <a:endParaRPr kumimoji="0" lang="en-US" sz="1200" b="1"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27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TextMessage</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Un String</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85813">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MapMessage</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Un set de perechi nume-valoare, unde nume sunt stringuri, iar valorile sunt tipuri de date primitive Java. Intrările pot fi accesate secvenţial prin enumerator sau direct prin numeI</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27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BytesMessage</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Un şir de octeţi fără interpretare</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2388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StreamMessage</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Un şir de valori de tip primitiv Java, valori accesate secvenţial prin operaţii read</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27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ObjectMessage</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Serializarea unui obiect</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2738">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Message</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ro-RO" sz="1200" b="0" i="0" u="none" strike="noStrike" cap="none" normalizeH="0" baseline="0" smtClean="0">
                          <a:ln>
                            <a:noFill/>
                          </a:ln>
                          <a:solidFill>
                            <a:schemeClr val="tx1"/>
                          </a:solidFill>
                          <a:effectLst/>
                          <a:latin typeface="Times New Roman" pitchFamily="18" charset="0"/>
                          <a:cs typeface="Times New Roman" pitchFamily="18" charset="0"/>
                        </a:rPr>
                        <a:t>Conţinut vid, mesajul are doar antet şi proprietăţi</a:t>
                      </a:r>
                      <a:endParaRPr kumimoji="0" lang="en-US" sz="1200" b="0" i="0" u="none" strike="noStrike" cap="none" normalizeH="0" baseline="0" smtClean="0">
                        <a:ln>
                          <a:noFill/>
                        </a:ln>
                        <a:solidFill>
                          <a:schemeClr val="tx1"/>
                        </a:solidFill>
                        <a:effectLst/>
                        <a:latin typeface="Times New Roman" pitchFamily="18" charset="0"/>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3784475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20</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933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smtClean="0">
                <a:solidFill>
                  <a:srgbClr val="FF0000"/>
                </a:solidFill>
                <a:latin typeface="Calibri" pitchFamily="34" charset="0"/>
              </a:rPr>
              <a:t>O prima </a:t>
            </a:r>
            <a:r>
              <a:rPr lang="en-US" altLang="en-US" dirty="0" err="1" smtClean="0">
                <a:solidFill>
                  <a:srgbClr val="FF0000"/>
                </a:solidFill>
                <a:latin typeface="Calibri" pitchFamily="34" charset="0"/>
              </a:rPr>
              <a:t>pereche</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ce</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comunica</a:t>
            </a:r>
            <a:r>
              <a:rPr lang="en-US" altLang="en-US" dirty="0" smtClean="0">
                <a:solidFill>
                  <a:srgbClr val="FF0000"/>
                </a:solidFill>
                <a:latin typeface="Calibri" pitchFamily="34" charset="0"/>
              </a:rPr>
              <a:t> </a:t>
            </a:r>
            <a:r>
              <a:rPr lang="en-US" altLang="en-US" dirty="0" err="1" smtClean="0">
                <a:solidFill>
                  <a:srgbClr val="FF0000"/>
                </a:solidFill>
                <a:latin typeface="Calibri" pitchFamily="34" charset="0"/>
              </a:rPr>
              <a:t>prin</a:t>
            </a:r>
            <a:r>
              <a:rPr lang="en-US" altLang="en-US" dirty="0" smtClean="0">
                <a:solidFill>
                  <a:srgbClr val="FF0000"/>
                </a:solidFill>
                <a:latin typeface="Calibri" pitchFamily="34" charset="0"/>
              </a:rPr>
              <a:t> JMS ( </a:t>
            </a:r>
            <a:r>
              <a:rPr lang="en-US" altLang="en-US" dirty="0" err="1" smtClean="0">
                <a:solidFill>
                  <a:srgbClr val="FF0000"/>
                </a:solidFill>
                <a:latin typeface="Calibri" pitchFamily="34" charset="0"/>
              </a:rPr>
              <a:t>vezi</a:t>
            </a:r>
            <a:r>
              <a:rPr lang="en-US" altLang="en-US" dirty="0" smtClean="0">
                <a:solidFill>
                  <a:srgbClr val="FF0000"/>
                </a:solidFill>
                <a:latin typeface="Calibri" pitchFamily="34" charset="0"/>
              </a:rPr>
              <a:t> </a:t>
            </a:r>
            <a:r>
              <a:rPr lang="en-US" altLang="en-US" b="1" dirty="0" err="1" smtClean="0">
                <a:solidFill>
                  <a:srgbClr val="FF0000"/>
                </a:solidFill>
                <a:latin typeface="Calibri" pitchFamily="34" charset="0"/>
              </a:rPr>
              <a:t>1JmsSendRecv</a:t>
            </a:r>
            <a:r>
              <a:rPr lang="en-US" altLang="en-US" dirty="0" smtClean="0">
                <a:solidFill>
                  <a:srgbClr val="FF0000"/>
                </a:solidFill>
                <a:latin typeface="Calibri" pitchFamily="34" charset="0"/>
              </a:rPr>
              <a:t>/ )</a:t>
            </a:r>
            <a:endParaRPr lang="en-US" altLang="en-US" dirty="0">
              <a:solidFill>
                <a:srgbClr val="FF0000"/>
              </a:solidFill>
              <a:latin typeface="Calibri" pitchFamily="34" charset="0"/>
            </a:endParaRPr>
          </a:p>
        </p:txBody>
      </p:sp>
      <p:sp>
        <p:nvSpPr>
          <p:cNvPr id="2" name="TextBox 1"/>
          <p:cNvSpPr txBox="1"/>
          <p:nvPr/>
        </p:nvSpPr>
        <p:spPr>
          <a:xfrm>
            <a:off x="0" y="366713"/>
            <a:ext cx="9144000" cy="646331"/>
          </a:xfrm>
          <a:prstGeom prst="rect">
            <a:avLst/>
          </a:prstGeom>
          <a:noFill/>
        </p:spPr>
        <p:txBody>
          <a:bodyPr wrap="square" rtlCol="0">
            <a:spAutoFit/>
          </a:bodyPr>
          <a:lstStyle/>
          <a:p>
            <a:pPr algn="just"/>
            <a:r>
              <a:rPr lang="en-US" dirty="0" err="1" smtClean="0"/>
              <a:t>Comunicarea</a:t>
            </a:r>
            <a:r>
              <a:rPr lang="en-US" dirty="0" smtClean="0"/>
              <a:t> </a:t>
            </a:r>
            <a:r>
              <a:rPr lang="en-US" dirty="0" err="1" smtClean="0"/>
              <a:t>prin</a:t>
            </a:r>
            <a:r>
              <a:rPr lang="en-US" dirty="0" smtClean="0"/>
              <a:t> </a:t>
            </a:r>
            <a:r>
              <a:rPr lang="en-US" dirty="0" err="1" smtClean="0"/>
              <a:t>mesaje</a:t>
            </a:r>
            <a:r>
              <a:rPr lang="en-US" dirty="0"/>
              <a:t> </a:t>
            </a:r>
            <a:r>
              <a:rPr lang="en-US" dirty="0" err="1" smtClean="0"/>
              <a:t>este</a:t>
            </a:r>
            <a:r>
              <a:rPr lang="en-US" dirty="0" smtClean="0"/>
              <a:t> un </a:t>
            </a:r>
            <a:r>
              <a:rPr lang="en-US" dirty="0" err="1" smtClean="0"/>
              <a:t>mecanism</a:t>
            </a:r>
            <a:r>
              <a:rPr lang="en-US" dirty="0" smtClean="0"/>
              <a:t> de </a:t>
            </a:r>
            <a:r>
              <a:rPr lang="en-US" b="1" dirty="0" err="1" smtClean="0"/>
              <a:t>conectare</a:t>
            </a:r>
            <a:r>
              <a:rPr lang="en-US" b="1" dirty="0" smtClean="0"/>
              <a:t> </a:t>
            </a:r>
            <a:r>
              <a:rPr lang="en-US" b="1" dirty="0" err="1" smtClean="0"/>
              <a:t>slaba</a:t>
            </a:r>
            <a:r>
              <a:rPr lang="en-US" dirty="0" smtClean="0"/>
              <a:t>. </a:t>
            </a:r>
            <a:r>
              <a:rPr lang="en-US" dirty="0" err="1" smtClean="0"/>
              <a:t>Cea</a:t>
            </a:r>
            <a:r>
              <a:rPr lang="en-US" dirty="0" smtClean="0"/>
              <a:t> </a:t>
            </a:r>
            <a:r>
              <a:rPr lang="en-US" dirty="0" err="1" smtClean="0"/>
              <a:t>mai</a:t>
            </a:r>
            <a:r>
              <a:rPr lang="en-US" dirty="0" smtClean="0"/>
              <a:t> </a:t>
            </a:r>
            <a:r>
              <a:rPr lang="en-US" dirty="0" err="1" smtClean="0"/>
              <a:t>simpla</a:t>
            </a:r>
            <a:r>
              <a:rPr lang="en-US" dirty="0" smtClean="0"/>
              <a:t> forma de </a:t>
            </a:r>
            <a:r>
              <a:rPr lang="en-US" dirty="0" err="1" smtClean="0"/>
              <a:t>comunicare</a:t>
            </a:r>
            <a:r>
              <a:rPr lang="en-US" dirty="0" smtClean="0"/>
              <a:t> </a:t>
            </a:r>
            <a:r>
              <a:rPr lang="en-US" dirty="0" err="1" smtClean="0"/>
              <a:t>este</a:t>
            </a:r>
            <a:r>
              <a:rPr lang="en-US" dirty="0" smtClean="0"/>
              <a:t> </a:t>
            </a:r>
            <a:r>
              <a:rPr lang="en-US" dirty="0" err="1" smtClean="0"/>
              <a:t>ilustrata</a:t>
            </a:r>
            <a:r>
              <a:rPr lang="en-US" dirty="0" smtClean="0"/>
              <a:t> </a:t>
            </a:r>
            <a:r>
              <a:rPr lang="en-US" dirty="0" err="1" smtClean="0"/>
              <a:t>mai</a:t>
            </a:r>
            <a:r>
              <a:rPr lang="en-US" dirty="0" smtClean="0"/>
              <a:t> </a:t>
            </a:r>
            <a:r>
              <a:rPr lang="en-US" dirty="0" err="1" smtClean="0"/>
              <a:t>jos</a:t>
            </a:r>
            <a:r>
              <a:rPr lang="en-US" dirty="0" smtClean="0"/>
              <a:t> (</a:t>
            </a:r>
            <a:r>
              <a:rPr lang="en-US" dirty="0" err="1" smtClean="0"/>
              <a:t>vezi</a:t>
            </a:r>
            <a:r>
              <a:rPr lang="en-US" dirty="0" smtClean="0"/>
              <a:t> </a:t>
            </a:r>
            <a:r>
              <a:rPr lang="en-US" b="1" dirty="0" err="1" smtClean="0"/>
              <a:t>1JmsSendRecv</a:t>
            </a:r>
            <a:r>
              <a:rPr lang="en-US" dirty="0" smtClean="0"/>
              <a:t>/:</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013044"/>
            <a:ext cx="6096000" cy="173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76200" y="2623354"/>
            <a:ext cx="9144000" cy="3693319"/>
          </a:xfrm>
          <a:prstGeom prst="rect">
            <a:avLst/>
          </a:prstGeom>
          <a:noFill/>
        </p:spPr>
        <p:txBody>
          <a:bodyPr wrap="square" rtlCol="0">
            <a:spAutoFit/>
          </a:bodyPr>
          <a:lstStyle/>
          <a:p>
            <a:pPr algn="just"/>
            <a:r>
              <a:rPr lang="en-US" dirty="0" err="1" smtClean="0"/>
              <a:t>Componenta</a:t>
            </a:r>
            <a:r>
              <a:rPr lang="en-US" dirty="0" smtClean="0"/>
              <a:t> </a:t>
            </a:r>
            <a:r>
              <a:rPr lang="en-US" b="1" dirty="0" smtClean="0"/>
              <a:t>Queue</a:t>
            </a:r>
            <a:r>
              <a:rPr lang="en-US" dirty="0" smtClean="0"/>
              <a:t> </a:t>
            </a:r>
            <a:r>
              <a:rPr lang="en-US" dirty="0" err="1" smtClean="0"/>
              <a:t>este</a:t>
            </a:r>
            <a:r>
              <a:rPr lang="en-US" dirty="0" smtClean="0"/>
              <a:t> </a:t>
            </a:r>
            <a:r>
              <a:rPr lang="en-US" dirty="0" err="1" smtClean="0"/>
              <a:t>gestionata</a:t>
            </a:r>
            <a:r>
              <a:rPr lang="en-US" dirty="0" smtClean="0"/>
              <a:t> de un </a:t>
            </a:r>
            <a:r>
              <a:rPr lang="en-US" b="1" dirty="0" err="1" smtClean="0"/>
              <a:t>serviciu</a:t>
            </a:r>
            <a:r>
              <a:rPr lang="en-US" b="1" dirty="0" smtClean="0"/>
              <a:t> de </a:t>
            </a:r>
            <a:r>
              <a:rPr lang="en-US" b="1" dirty="0" err="1" smtClean="0"/>
              <a:t>mesagerie</a:t>
            </a:r>
            <a:r>
              <a:rPr lang="en-US" dirty="0" smtClean="0"/>
              <a:t>. </a:t>
            </a:r>
            <a:r>
              <a:rPr lang="en-US" dirty="0" err="1" smtClean="0"/>
              <a:t>Acsta</a:t>
            </a:r>
            <a:r>
              <a:rPr lang="en-US" dirty="0" smtClean="0"/>
              <a:t> </a:t>
            </a:r>
            <a:r>
              <a:rPr lang="en-US" dirty="0" err="1" smtClean="0"/>
              <a:t>poate</a:t>
            </a:r>
            <a:r>
              <a:rPr lang="en-US" dirty="0" smtClean="0"/>
              <a:t> fi de sine </a:t>
            </a:r>
            <a:r>
              <a:rPr lang="en-US" dirty="0" err="1" smtClean="0"/>
              <a:t>statator</a:t>
            </a:r>
            <a:r>
              <a:rPr lang="en-US" dirty="0" smtClean="0"/>
              <a:t> (de </a:t>
            </a:r>
            <a:r>
              <a:rPr lang="en-US" dirty="0" err="1" smtClean="0"/>
              <a:t>exemplu</a:t>
            </a:r>
            <a:r>
              <a:rPr lang="en-US" dirty="0" smtClean="0"/>
              <a:t> </a:t>
            </a:r>
            <a:r>
              <a:rPr lang="en-US" b="1" dirty="0" err="1" smtClean="0"/>
              <a:t>ActiveMQ</a:t>
            </a:r>
            <a:r>
              <a:rPr lang="en-US" dirty="0" smtClean="0"/>
              <a:t>), </a:t>
            </a:r>
            <a:r>
              <a:rPr lang="en-US" dirty="0" err="1" smtClean="0"/>
              <a:t>sau</a:t>
            </a:r>
            <a:r>
              <a:rPr lang="en-US" dirty="0" smtClean="0"/>
              <a:t> </a:t>
            </a:r>
            <a:r>
              <a:rPr lang="en-US" dirty="0" err="1" smtClean="0"/>
              <a:t>serviciul</a:t>
            </a:r>
            <a:r>
              <a:rPr lang="en-US" dirty="0" smtClean="0"/>
              <a:t> </a:t>
            </a:r>
            <a:r>
              <a:rPr lang="en-US" dirty="0" err="1" smtClean="0"/>
              <a:t>este</a:t>
            </a:r>
            <a:r>
              <a:rPr lang="en-US" dirty="0" smtClean="0"/>
              <a:t> </a:t>
            </a:r>
            <a:r>
              <a:rPr lang="en-US" dirty="0" err="1" smtClean="0"/>
              <a:t>integrat</a:t>
            </a:r>
            <a:r>
              <a:rPr lang="en-US" dirty="0" smtClean="0"/>
              <a:t> </a:t>
            </a:r>
            <a:r>
              <a:rPr lang="en-US" dirty="0" err="1" smtClean="0"/>
              <a:t>intr</a:t>
            </a:r>
            <a:r>
              <a:rPr lang="en-US" dirty="0" smtClean="0"/>
              <a:t>-un AS </a:t>
            </a:r>
            <a:r>
              <a:rPr lang="en-US" b="1" dirty="0" smtClean="0"/>
              <a:t>JavaEE8</a:t>
            </a:r>
            <a:r>
              <a:rPr lang="en-US" dirty="0" smtClean="0"/>
              <a:t>. </a:t>
            </a:r>
            <a:r>
              <a:rPr lang="en-US" dirty="0" err="1" smtClean="0"/>
              <a:t>Clientii</a:t>
            </a:r>
            <a:r>
              <a:rPr lang="en-US" dirty="0" smtClean="0"/>
              <a:t> pot fi </a:t>
            </a:r>
            <a:r>
              <a:rPr lang="en-US" dirty="0" err="1" smtClean="0"/>
              <a:t>aplicatii</a:t>
            </a:r>
            <a:r>
              <a:rPr lang="en-US" dirty="0" smtClean="0"/>
              <a:t> standalone, </a:t>
            </a:r>
            <a:r>
              <a:rPr lang="en-US" dirty="0" err="1" smtClean="0"/>
              <a:t>componente</a:t>
            </a:r>
            <a:r>
              <a:rPr lang="en-US" dirty="0" smtClean="0"/>
              <a:t> web, </a:t>
            </a:r>
            <a:r>
              <a:rPr lang="en-US" dirty="0" err="1" smtClean="0"/>
              <a:t>componente</a:t>
            </a:r>
            <a:r>
              <a:rPr lang="en-US" dirty="0" smtClean="0"/>
              <a:t> </a:t>
            </a:r>
            <a:r>
              <a:rPr lang="en-US" dirty="0" err="1" smtClean="0"/>
              <a:t>EJB</a:t>
            </a:r>
            <a:r>
              <a:rPr lang="en-US" dirty="0" smtClean="0"/>
              <a:t> </a:t>
            </a:r>
            <a:r>
              <a:rPr lang="en-US" dirty="0" err="1" smtClean="0"/>
              <a:t>s.a.</a:t>
            </a:r>
            <a:endParaRPr lang="en-US" dirty="0" smtClean="0"/>
          </a:p>
          <a:p>
            <a:endParaRPr lang="en-US" dirty="0" smtClean="0"/>
          </a:p>
          <a:p>
            <a:pPr algn="just"/>
            <a:r>
              <a:rPr lang="en-US" b="1" dirty="0" err="1" smtClean="0"/>
              <a:t>JmsSend</a:t>
            </a:r>
            <a:r>
              <a:rPr lang="en-US" dirty="0" smtClean="0"/>
              <a:t> </a:t>
            </a:r>
            <a:r>
              <a:rPr lang="en-US" dirty="0" err="1" smtClean="0"/>
              <a:t>este</a:t>
            </a:r>
            <a:r>
              <a:rPr lang="en-US" dirty="0" smtClean="0"/>
              <a:t> </a:t>
            </a:r>
            <a:r>
              <a:rPr lang="en-US" b="1" dirty="0" err="1" smtClean="0"/>
              <a:t>Client1</a:t>
            </a:r>
            <a:r>
              <a:rPr lang="en-US" dirty="0" smtClean="0"/>
              <a:t>. El </a:t>
            </a:r>
            <a:r>
              <a:rPr lang="en-US" dirty="0" err="1" smtClean="0"/>
              <a:t>trimite</a:t>
            </a:r>
            <a:r>
              <a:rPr lang="en-US" dirty="0" smtClean="0"/>
              <a:t> in Queue un string. </a:t>
            </a:r>
          </a:p>
          <a:p>
            <a:pPr algn="just"/>
            <a:endParaRPr lang="en-US" dirty="0" smtClean="0"/>
          </a:p>
          <a:p>
            <a:pPr algn="just"/>
            <a:r>
              <a:rPr lang="en-US" dirty="0" err="1" smtClean="0"/>
              <a:t>Daca</a:t>
            </a:r>
            <a:r>
              <a:rPr lang="en-US" dirty="0" smtClean="0"/>
              <a:t> </a:t>
            </a:r>
            <a:r>
              <a:rPr lang="en-US" b="1" dirty="0" err="1" smtClean="0"/>
              <a:t>JmsRecv</a:t>
            </a:r>
            <a:r>
              <a:rPr lang="en-US" dirty="0" smtClean="0"/>
              <a:t>, care </a:t>
            </a:r>
            <a:r>
              <a:rPr lang="en-US" dirty="0" err="1" smtClean="0"/>
              <a:t>este</a:t>
            </a:r>
            <a:r>
              <a:rPr lang="en-US" dirty="0" smtClean="0"/>
              <a:t> </a:t>
            </a:r>
            <a:r>
              <a:rPr lang="en-US" b="1" dirty="0" err="1" smtClean="0"/>
              <a:t>Client2</a:t>
            </a:r>
            <a:r>
              <a:rPr lang="en-US" dirty="0" smtClean="0"/>
              <a:t>, </a:t>
            </a:r>
            <a:r>
              <a:rPr lang="en-US" dirty="0" err="1" smtClean="0"/>
              <a:t>este</a:t>
            </a:r>
            <a:r>
              <a:rPr lang="en-US" dirty="0" smtClean="0"/>
              <a:t> </a:t>
            </a:r>
            <a:r>
              <a:rPr lang="en-US" dirty="0" err="1" smtClean="0"/>
              <a:t>activ</a:t>
            </a:r>
            <a:r>
              <a:rPr lang="en-US" dirty="0" smtClean="0"/>
              <a:t>, el </a:t>
            </a:r>
            <a:r>
              <a:rPr lang="en-US" dirty="0" err="1" smtClean="0"/>
              <a:t>va</a:t>
            </a:r>
            <a:r>
              <a:rPr lang="en-US" dirty="0" smtClean="0"/>
              <a:t> fi </a:t>
            </a:r>
            <a:r>
              <a:rPr lang="en-US" dirty="0" err="1" smtClean="0"/>
              <a:t>informat</a:t>
            </a:r>
            <a:r>
              <a:rPr lang="en-US" dirty="0" smtClean="0"/>
              <a:t> </a:t>
            </a:r>
            <a:r>
              <a:rPr lang="en-US" dirty="0" err="1" smtClean="0"/>
              <a:t>imediat</a:t>
            </a:r>
            <a:r>
              <a:rPr lang="en-US" dirty="0" smtClean="0"/>
              <a:t> – </a:t>
            </a:r>
            <a:r>
              <a:rPr lang="en-US" dirty="0" err="1" smtClean="0"/>
              <a:t>prin</a:t>
            </a:r>
            <a:r>
              <a:rPr lang="en-US" dirty="0" smtClean="0"/>
              <a:t> </a:t>
            </a:r>
            <a:r>
              <a:rPr lang="en-US" dirty="0" err="1" smtClean="0"/>
              <a:t>metoda</a:t>
            </a:r>
            <a:r>
              <a:rPr lang="en-US" dirty="0" smtClean="0"/>
              <a:t> </a:t>
            </a:r>
            <a:r>
              <a:rPr lang="en-US" b="1" dirty="0" err="1" smtClean="0"/>
              <a:t>onMessage</a:t>
            </a:r>
            <a:r>
              <a:rPr lang="en-US" dirty="0" smtClean="0"/>
              <a:t> – </a:t>
            </a:r>
            <a:r>
              <a:rPr lang="en-US" dirty="0" err="1" smtClean="0"/>
              <a:t>si</a:t>
            </a:r>
            <a:r>
              <a:rPr lang="en-US" dirty="0" smtClean="0"/>
              <a:t> </a:t>
            </a:r>
            <a:r>
              <a:rPr lang="en-US" dirty="0" err="1" smtClean="0"/>
              <a:t>va</a:t>
            </a:r>
            <a:r>
              <a:rPr lang="en-US" dirty="0" smtClean="0"/>
              <a:t> </a:t>
            </a:r>
            <a:r>
              <a:rPr lang="en-US" dirty="0" err="1" smtClean="0"/>
              <a:t>afisa</a:t>
            </a:r>
            <a:r>
              <a:rPr lang="en-US" dirty="0" smtClean="0"/>
              <a:t> </a:t>
            </a:r>
            <a:r>
              <a:rPr lang="en-US" dirty="0" err="1" smtClean="0"/>
              <a:t>stringul</a:t>
            </a:r>
            <a:r>
              <a:rPr lang="en-US" dirty="0" smtClean="0"/>
              <a:t> la </a:t>
            </a:r>
            <a:r>
              <a:rPr lang="en-US" dirty="0" err="1" smtClean="0"/>
              <a:t>iesirea</a:t>
            </a:r>
            <a:r>
              <a:rPr lang="en-US" dirty="0" smtClean="0"/>
              <a:t> </a:t>
            </a:r>
            <a:r>
              <a:rPr lang="en-US" dirty="0" err="1" smtClean="0"/>
              <a:t>lui</a:t>
            </a:r>
            <a:r>
              <a:rPr lang="en-US" dirty="0" smtClean="0"/>
              <a:t> standard. </a:t>
            </a:r>
            <a:r>
              <a:rPr lang="en-US" dirty="0" err="1" smtClean="0"/>
              <a:t>Daca</a:t>
            </a:r>
            <a:r>
              <a:rPr lang="en-US" dirty="0" smtClean="0"/>
              <a:t> nu </a:t>
            </a:r>
            <a:r>
              <a:rPr lang="en-US" dirty="0" err="1" smtClean="0"/>
              <a:t>este</a:t>
            </a:r>
            <a:r>
              <a:rPr lang="en-US" dirty="0" smtClean="0"/>
              <a:t> </a:t>
            </a:r>
            <a:r>
              <a:rPr lang="en-US" dirty="0" err="1" smtClean="0"/>
              <a:t>activ</a:t>
            </a:r>
            <a:r>
              <a:rPr lang="en-US" dirty="0" smtClean="0"/>
              <a:t> </a:t>
            </a:r>
            <a:r>
              <a:rPr lang="en-US" dirty="0" err="1" smtClean="0"/>
              <a:t>si</a:t>
            </a:r>
            <a:r>
              <a:rPr lang="en-US" dirty="0" smtClean="0"/>
              <a:t> in </a:t>
            </a:r>
            <a:r>
              <a:rPr lang="en-US" b="1" dirty="0" smtClean="0"/>
              <a:t>Queue</a:t>
            </a:r>
            <a:r>
              <a:rPr lang="en-US" dirty="0" smtClean="0"/>
              <a:t> are un </a:t>
            </a:r>
            <a:r>
              <a:rPr lang="en-US" dirty="0" err="1" smtClean="0"/>
              <a:t>mesaj</a:t>
            </a:r>
            <a:r>
              <a:rPr lang="en-US" dirty="0" smtClean="0"/>
              <a:t>, </a:t>
            </a:r>
            <a:r>
              <a:rPr lang="en-US" dirty="0" err="1" smtClean="0"/>
              <a:t>acesta</a:t>
            </a:r>
            <a:r>
              <a:rPr lang="en-US" dirty="0" smtClean="0"/>
              <a:t> </a:t>
            </a:r>
            <a:r>
              <a:rPr lang="en-US" dirty="0" err="1" smtClean="0"/>
              <a:t>va</a:t>
            </a:r>
            <a:r>
              <a:rPr lang="en-US" dirty="0" smtClean="0"/>
              <a:t> fi </a:t>
            </a:r>
            <a:r>
              <a:rPr lang="en-US" dirty="0" err="1" smtClean="0"/>
              <a:t>afisat</a:t>
            </a:r>
            <a:r>
              <a:rPr lang="en-US" dirty="0" smtClean="0"/>
              <a:t> in </a:t>
            </a:r>
            <a:r>
              <a:rPr lang="en-US" dirty="0" err="1" smtClean="0"/>
              <a:t>momentul</a:t>
            </a:r>
            <a:r>
              <a:rPr lang="en-US" dirty="0" smtClean="0"/>
              <a:t> </a:t>
            </a:r>
            <a:r>
              <a:rPr lang="en-US" dirty="0" err="1" smtClean="0"/>
              <a:t>cand</a:t>
            </a:r>
            <a:r>
              <a:rPr lang="en-US" dirty="0" smtClean="0"/>
              <a:t> </a:t>
            </a:r>
            <a:r>
              <a:rPr lang="en-US" b="1" dirty="0" err="1" smtClean="0"/>
              <a:t>Clienr2</a:t>
            </a:r>
            <a:r>
              <a:rPr lang="en-US" dirty="0" smtClean="0"/>
              <a:t> </a:t>
            </a:r>
            <a:r>
              <a:rPr lang="en-US" dirty="0" err="1" smtClean="0"/>
              <a:t>va</a:t>
            </a:r>
            <a:r>
              <a:rPr lang="en-US" dirty="0" smtClean="0"/>
              <a:t> </a:t>
            </a:r>
            <a:r>
              <a:rPr lang="en-US" dirty="0" err="1" smtClean="0"/>
              <a:t>deveni</a:t>
            </a:r>
            <a:r>
              <a:rPr lang="en-US" dirty="0" smtClean="0"/>
              <a:t> </a:t>
            </a:r>
            <a:r>
              <a:rPr lang="en-US" dirty="0" err="1" smtClean="0"/>
              <a:t>activ</a:t>
            </a:r>
            <a:endParaRPr lang="en-US" dirty="0" smtClean="0"/>
          </a:p>
          <a:p>
            <a:pPr algn="just"/>
            <a:endParaRPr lang="en-US" dirty="0"/>
          </a:p>
          <a:p>
            <a:pPr algn="just"/>
            <a:r>
              <a:rPr lang="en-US" dirty="0" err="1" smtClean="0"/>
              <a:t>Acestea</a:t>
            </a:r>
            <a:r>
              <a:rPr lang="en-US" dirty="0" smtClean="0"/>
              <a:t> </a:t>
            </a:r>
            <a:r>
              <a:rPr lang="en-US" dirty="0" err="1" smtClean="0"/>
              <a:t>comunica</a:t>
            </a:r>
            <a:r>
              <a:rPr lang="en-US" dirty="0" smtClean="0"/>
              <a:t> </a:t>
            </a:r>
            <a:r>
              <a:rPr lang="en-US" dirty="0" err="1" smtClean="0"/>
              <a:t>prin</a:t>
            </a:r>
            <a:r>
              <a:rPr lang="en-US" dirty="0" smtClean="0"/>
              <a:t> </a:t>
            </a:r>
            <a:r>
              <a:rPr lang="en-US" dirty="0" err="1" smtClean="0"/>
              <a:t>serviciul</a:t>
            </a:r>
            <a:r>
              <a:rPr lang="en-US" dirty="0" smtClean="0"/>
              <a:t> independent de </a:t>
            </a:r>
            <a:r>
              <a:rPr lang="en-US" dirty="0" err="1" smtClean="0"/>
              <a:t>mesagerie</a:t>
            </a:r>
            <a:r>
              <a:rPr lang="en-US" dirty="0" smtClean="0"/>
              <a:t> </a:t>
            </a:r>
            <a:r>
              <a:rPr lang="en-US" b="1" dirty="0" err="1" smtClean="0"/>
              <a:t>ActiveMQ</a:t>
            </a:r>
            <a:r>
              <a:rPr lang="en-US" b="1" dirty="0" smtClean="0"/>
              <a:t>-5.15.16</a:t>
            </a:r>
            <a:r>
              <a:rPr lang="en-US" dirty="0" smtClean="0"/>
              <a:t> care </a:t>
            </a:r>
            <a:r>
              <a:rPr lang="en-US" dirty="0" err="1" smtClean="0"/>
              <a:t>opereaza</a:t>
            </a:r>
            <a:r>
              <a:rPr lang="en-US" dirty="0" smtClean="0"/>
              <a:t> un </a:t>
            </a:r>
            <a:r>
              <a:rPr lang="en-US" b="1" dirty="0" smtClean="0"/>
              <a:t>Queue</a:t>
            </a:r>
            <a:r>
              <a:rPr lang="en-US" dirty="0" smtClean="0"/>
              <a:t> </a:t>
            </a:r>
            <a:r>
              <a:rPr lang="en-US" dirty="0" err="1" smtClean="0"/>
              <a:t>numit</a:t>
            </a:r>
            <a:r>
              <a:rPr lang="en-US" dirty="0" smtClean="0"/>
              <a:t> </a:t>
            </a:r>
            <a:r>
              <a:rPr lang="en-US" b="1" dirty="0" err="1" smtClean="0"/>
              <a:t>COADA</a:t>
            </a:r>
            <a:r>
              <a:rPr lang="en-US" dirty="0" smtClean="0"/>
              <a:t>.  </a:t>
            </a:r>
            <a:r>
              <a:rPr lang="en-US" dirty="0" err="1" smtClean="0"/>
              <a:t>Fiecare</a:t>
            </a:r>
            <a:r>
              <a:rPr lang="en-US" dirty="0" smtClean="0"/>
              <a:t> </a:t>
            </a:r>
            <a:r>
              <a:rPr lang="en-US" dirty="0" err="1" smtClean="0"/>
              <a:t>dintre</a:t>
            </a:r>
            <a:r>
              <a:rPr lang="en-US" dirty="0" smtClean="0"/>
              <a:t> </a:t>
            </a:r>
            <a:r>
              <a:rPr lang="en-US" dirty="0" err="1" smtClean="0"/>
              <a:t>cei</a:t>
            </a:r>
            <a:r>
              <a:rPr lang="en-US" dirty="0" smtClean="0"/>
              <a:t> </a:t>
            </a:r>
            <a:r>
              <a:rPr lang="en-US" dirty="0" err="1" smtClean="0"/>
              <a:t>doi</a:t>
            </a:r>
            <a:r>
              <a:rPr lang="en-US" dirty="0" smtClean="0"/>
              <a:t> </a:t>
            </a:r>
            <a:r>
              <a:rPr lang="en-US" dirty="0" err="1" smtClean="0"/>
              <a:t>clienti</a:t>
            </a:r>
            <a:r>
              <a:rPr lang="en-US" dirty="0" smtClean="0"/>
              <a:t> </a:t>
            </a:r>
            <a:r>
              <a:rPr lang="en-US" dirty="0" err="1" smtClean="0"/>
              <a:t>sunt</a:t>
            </a:r>
            <a:r>
              <a:rPr lang="en-US" dirty="0" smtClean="0"/>
              <a:t> </a:t>
            </a:r>
            <a:r>
              <a:rPr lang="en-US" dirty="0" err="1" smtClean="0"/>
              <a:t>aplicatii</a:t>
            </a:r>
            <a:r>
              <a:rPr lang="en-US" dirty="0" smtClean="0"/>
              <a:t> simple Java standalone, </a:t>
            </a:r>
            <a:r>
              <a:rPr lang="en-US" dirty="0" err="1" smtClean="0"/>
              <a:t>impachetate</a:t>
            </a:r>
            <a:r>
              <a:rPr lang="en-US" dirty="0" smtClean="0"/>
              <a:t> in </a:t>
            </a:r>
            <a:r>
              <a:rPr lang="en-US" dirty="0" err="1" smtClean="0"/>
              <a:t>arhive</a:t>
            </a:r>
            <a:r>
              <a:rPr lang="en-US" dirty="0" smtClean="0"/>
              <a:t> jar </a:t>
            </a:r>
            <a:r>
              <a:rPr lang="en-US" dirty="0" err="1" smtClean="0"/>
              <a:t>autolansabile</a:t>
            </a:r>
            <a:r>
              <a:rPr lang="en-US" dirty="0" smtClean="0"/>
              <a:t>.</a:t>
            </a:r>
            <a:endParaRPr lang="en-US" dirty="0"/>
          </a:p>
        </p:txBody>
      </p:sp>
    </p:spTree>
    <p:extLst>
      <p:ext uri="{BB962C8B-B14F-4D97-AF65-F5344CB8AC3E}">
        <p14:creationId xmlns:p14="http://schemas.microsoft.com/office/powerpoint/2010/main" val="26597593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7010400" y="6492875"/>
            <a:ext cx="2133600" cy="365125"/>
          </a:xfrm>
        </p:spPr>
        <p:txBody>
          <a:bodyPr/>
          <a:lstStyle/>
          <a:p>
            <a:pPr>
              <a:defRPr/>
            </a:pPr>
            <a:r>
              <a:rPr lang="en-US" dirty="0" err="1" smtClean="0"/>
              <a:t>BoianFl_JMS</a:t>
            </a:r>
            <a:r>
              <a:rPr lang="en-US" dirty="0" smtClean="0"/>
              <a:t>_</a:t>
            </a:r>
            <a:fld id="{562FC6DD-9BAA-4664-B88C-0734E59C0A31}" type="slidenum">
              <a:rPr lang="en-US" smtClean="0"/>
              <a:pPr>
                <a:defRPr/>
              </a:pPr>
              <a:t>21</a:t>
            </a:fld>
            <a:r>
              <a:rPr lang="en-US" dirty="0" smtClean="0"/>
              <a:t>/_25_</a:t>
            </a:r>
            <a:endParaRPr lang="en-US" dirty="0"/>
          </a:p>
        </p:txBody>
      </p:sp>
      <p:sp>
        <p:nvSpPr>
          <p:cNvPr id="47108" name="Text Box 2"/>
          <p:cNvSpPr txBox="1">
            <a:spLocks noChangeArrowheads="1"/>
          </p:cNvSpPr>
          <p:nvPr/>
        </p:nvSpPr>
        <p:spPr bwMode="auto">
          <a:xfrm>
            <a:off x="6384925" y="4608513"/>
            <a:ext cx="1235075" cy="366712"/>
          </a:xfrm>
          <a:prstGeom prst="rect">
            <a:avLst/>
          </a:prstGeom>
          <a:noFill/>
          <a:ln w="9525">
            <a:noFill/>
            <a:miter lim="800000"/>
            <a:headEnd/>
            <a:tailEnd/>
          </a:ln>
        </p:spPr>
        <p:txBody>
          <a:bodyPr>
            <a:spAutoFit/>
          </a:bodyPr>
          <a:lstStyle/>
          <a:p>
            <a:endParaRPr lang="ro-RO">
              <a:latin typeface="Calibri" pitchFamily="34" charset="0"/>
            </a:endParaRPr>
          </a:p>
        </p:txBody>
      </p:sp>
      <p:sp>
        <p:nvSpPr>
          <p:cNvPr id="47109" name="Text Box 4"/>
          <p:cNvSpPr txBox="1">
            <a:spLocks noChangeArrowheads="1"/>
          </p:cNvSpPr>
          <p:nvPr/>
        </p:nvSpPr>
        <p:spPr bwMode="auto">
          <a:xfrm>
            <a:off x="2590800" y="1905000"/>
            <a:ext cx="3810000" cy="366713"/>
          </a:xfrm>
          <a:prstGeom prst="rect">
            <a:avLst/>
          </a:prstGeom>
          <a:noFill/>
          <a:ln w="9525">
            <a:noFill/>
            <a:miter lim="800000"/>
            <a:headEnd/>
            <a:tailEnd/>
          </a:ln>
        </p:spPr>
        <p:txBody>
          <a:bodyPr>
            <a:spAutoFit/>
          </a:bodyPr>
          <a:lstStyle/>
          <a:p>
            <a:pPr>
              <a:spcBef>
                <a:spcPct val="50000"/>
              </a:spcBef>
            </a:pPr>
            <a:endParaRPr lang="ro-RO">
              <a:latin typeface="Calibri" pitchFamily="34" charset="0"/>
            </a:endParaRPr>
          </a:p>
        </p:txBody>
      </p:sp>
      <p:sp>
        <p:nvSpPr>
          <p:cNvPr id="47110" name="Text Box 5"/>
          <p:cNvSpPr txBox="1">
            <a:spLocks noChangeArrowheads="1"/>
          </p:cNvSpPr>
          <p:nvPr/>
        </p:nvSpPr>
        <p:spPr bwMode="auto">
          <a:xfrm>
            <a:off x="0" y="0"/>
            <a:ext cx="9144000" cy="366713"/>
          </a:xfrm>
          <a:prstGeom prst="rect">
            <a:avLst/>
          </a:prstGeom>
          <a:solidFill>
            <a:srgbClr val="CCFFFF"/>
          </a:solidFill>
          <a:ln w="9525">
            <a:noFill/>
            <a:miter lim="800000"/>
            <a:headEnd/>
            <a:tailEnd/>
          </a:ln>
        </p:spPr>
        <p:txBody>
          <a:bodyPr>
            <a:spAutoFit/>
          </a:bodyPr>
          <a:lstStyle/>
          <a:p>
            <a:pPr algn="ctr">
              <a:spcBef>
                <a:spcPct val="50000"/>
              </a:spcBef>
            </a:pPr>
            <a:r>
              <a:rPr lang="en-US" dirty="0" err="1" smtClean="0">
                <a:solidFill>
                  <a:srgbClr val="FF0000"/>
                </a:solidFill>
                <a:latin typeface="Calibri" pitchFamily="34" charset="0"/>
              </a:rPr>
              <a:t>Implementari</a:t>
            </a:r>
            <a:r>
              <a:rPr lang="en-US" dirty="0" smtClean="0">
                <a:solidFill>
                  <a:srgbClr val="FF0000"/>
                </a:solidFill>
                <a:latin typeface="Calibri" pitchFamily="34" charset="0"/>
              </a:rPr>
              <a:t> </a:t>
            </a:r>
            <a:r>
              <a:rPr lang="en-US" dirty="0" err="1">
                <a:solidFill>
                  <a:srgbClr val="FF0000"/>
                </a:solidFill>
                <a:latin typeface="Calibri" pitchFamily="34" charset="0"/>
              </a:rPr>
              <a:t>ExecJms</a:t>
            </a:r>
            <a:r>
              <a:rPr lang="en-US" dirty="0">
                <a:solidFill>
                  <a:srgbClr val="FF0000"/>
                </a:solidFill>
                <a:latin typeface="Calibri" pitchFamily="34" charset="0"/>
              </a:rPr>
              <a:t> </a:t>
            </a:r>
            <a:r>
              <a:rPr lang="en-US" dirty="0" err="1">
                <a:solidFill>
                  <a:srgbClr val="FF0000"/>
                </a:solidFill>
                <a:latin typeface="Calibri" pitchFamily="34" charset="0"/>
              </a:rPr>
              <a:t>folosind</a:t>
            </a:r>
            <a:r>
              <a:rPr lang="en-US" dirty="0">
                <a:solidFill>
                  <a:srgbClr val="FF0000"/>
                </a:solidFill>
                <a:latin typeface="Calibri" pitchFamily="34" charset="0"/>
              </a:rPr>
              <a:t> </a:t>
            </a:r>
            <a:r>
              <a:rPr lang="en-US" dirty="0" err="1" smtClean="0">
                <a:solidFill>
                  <a:srgbClr val="FF0000"/>
                </a:solidFill>
                <a:latin typeface="Calibri" pitchFamily="34" charset="0"/>
              </a:rPr>
              <a:t>ActiveMQ</a:t>
            </a:r>
            <a:r>
              <a:rPr lang="en-US" dirty="0" smtClean="0">
                <a:solidFill>
                  <a:srgbClr val="FF0000"/>
                </a:solidFill>
                <a:latin typeface="Calibri" pitchFamily="34" charset="0"/>
              </a:rPr>
              <a:t> (</a:t>
            </a:r>
            <a:r>
              <a:rPr lang="en-US" dirty="0" err="1" smtClean="0">
                <a:solidFill>
                  <a:srgbClr val="FF0000"/>
                </a:solidFill>
                <a:latin typeface="Calibri" pitchFamily="34" charset="0"/>
              </a:rPr>
              <a:t>vezi</a:t>
            </a:r>
            <a:r>
              <a:rPr lang="en-US" dirty="0" smtClean="0">
                <a:solidFill>
                  <a:srgbClr val="FF0000"/>
                </a:solidFill>
                <a:latin typeface="Calibri" pitchFamily="34" charset="0"/>
              </a:rPr>
              <a:t> </a:t>
            </a:r>
            <a:r>
              <a:rPr lang="en-US" b="1" dirty="0" err="1" smtClean="0">
                <a:solidFill>
                  <a:srgbClr val="FF0000"/>
                </a:solidFill>
                <a:latin typeface="Calibri" pitchFamily="34" charset="0"/>
              </a:rPr>
              <a:t>2ExecJmsCS</a:t>
            </a:r>
            <a:r>
              <a:rPr lang="en-US" b="1" dirty="0" smtClean="0">
                <a:solidFill>
                  <a:srgbClr val="FF0000"/>
                </a:solidFill>
                <a:latin typeface="Calibri" pitchFamily="34" charset="0"/>
              </a:rPr>
              <a:t>/</a:t>
            </a:r>
            <a:r>
              <a:rPr lang="en-US" dirty="0" smtClean="0">
                <a:solidFill>
                  <a:srgbClr val="FF0000"/>
                </a:solidFill>
                <a:latin typeface="Calibri" pitchFamily="34" charset="0"/>
              </a:rPr>
              <a:t> ) (1/2)  </a:t>
            </a:r>
            <a:endParaRPr lang="en-US" dirty="0">
              <a:solidFill>
                <a:srgbClr val="FF0000"/>
              </a:solidFill>
              <a:latin typeface="Calibri" pitchFamily="34" charset="0"/>
            </a:endParaRPr>
          </a:p>
        </p:txBody>
      </p:sp>
      <p:sp>
        <p:nvSpPr>
          <p:cNvPr id="47111" name="TextBox 7"/>
          <p:cNvSpPr txBox="1">
            <a:spLocks noChangeArrowheads="1"/>
          </p:cNvSpPr>
          <p:nvPr/>
        </p:nvSpPr>
        <p:spPr bwMode="auto">
          <a:xfrm>
            <a:off x="0" y="381000"/>
            <a:ext cx="9144000" cy="6463308"/>
          </a:xfrm>
          <a:prstGeom prst="rect">
            <a:avLst/>
          </a:prstGeom>
          <a:noFill/>
          <a:ln w="9525">
            <a:noFill/>
            <a:miter lim="800000"/>
            <a:headEnd/>
            <a:tailEnd/>
          </a:ln>
        </p:spPr>
        <p:txBody>
          <a:bodyPr>
            <a:spAutoFit/>
          </a:bodyPr>
          <a:lstStyle/>
          <a:p>
            <a:r>
              <a:rPr lang="en-US" dirty="0" smtClean="0"/>
              <a:t>Se </a:t>
            </a:r>
            <a:r>
              <a:rPr lang="en-US" dirty="0" err="1" smtClean="0"/>
              <a:t>implementeaza</a:t>
            </a:r>
            <a:r>
              <a:rPr lang="en-US" dirty="0" smtClean="0"/>
              <a:t> </a:t>
            </a:r>
            <a:r>
              <a:rPr lang="en-US" dirty="0" err="1" smtClean="0"/>
              <a:t>prin</a:t>
            </a:r>
            <a:r>
              <a:rPr lang="en-US" dirty="0" smtClean="0"/>
              <a:t> </a:t>
            </a:r>
            <a:r>
              <a:rPr lang="en-US" dirty="0" err="1" smtClean="0"/>
              <a:t>ActiveMQ</a:t>
            </a:r>
            <a:r>
              <a:rPr lang="en-US" dirty="0" smtClean="0"/>
              <a:t> </a:t>
            </a:r>
            <a:r>
              <a:rPr lang="en-US" dirty="0" err="1" smtClean="0"/>
              <a:t>trei</a:t>
            </a:r>
            <a:r>
              <a:rPr lang="en-US" dirty="0" smtClean="0"/>
              <a:t> </a:t>
            </a:r>
            <a:r>
              <a:rPr lang="en-US" dirty="0" err="1" smtClean="0"/>
              <a:t>perechi</a:t>
            </a:r>
            <a:r>
              <a:rPr lang="en-US" dirty="0" smtClean="0"/>
              <a:t> client-server in Java, Python </a:t>
            </a:r>
            <a:r>
              <a:rPr lang="en-US" dirty="0" err="1" smtClean="0"/>
              <a:t>si</a:t>
            </a:r>
            <a:r>
              <a:rPr lang="en-US" dirty="0" smtClean="0"/>
              <a:t> </a:t>
            </a:r>
            <a:r>
              <a:rPr lang="en-US" dirty="0" err="1" smtClean="0"/>
              <a:t>Node.js</a:t>
            </a:r>
            <a:r>
              <a:rPr lang="en-US" dirty="0" smtClean="0"/>
              <a:t>. </a:t>
            </a:r>
            <a:r>
              <a:rPr lang="en-US" dirty="0" err="1" smtClean="0"/>
              <a:t>Functiile</a:t>
            </a:r>
            <a:r>
              <a:rPr lang="en-US" dirty="0" smtClean="0"/>
              <a:t> </a:t>
            </a:r>
            <a:r>
              <a:rPr lang="en-US" dirty="0" err="1" smtClean="0"/>
              <a:t>cerute</a:t>
            </a:r>
            <a:r>
              <a:rPr lang="en-US" dirty="0" smtClean="0"/>
              <a:t> de </a:t>
            </a:r>
            <a:r>
              <a:rPr lang="en-US" dirty="0" err="1" smtClean="0"/>
              <a:t>clienti</a:t>
            </a:r>
            <a:r>
              <a:rPr lang="en-US" dirty="0" smtClean="0"/>
              <a:t> </a:t>
            </a:r>
            <a:r>
              <a:rPr lang="en-US" dirty="0" err="1" smtClean="0"/>
              <a:t>si</a:t>
            </a:r>
            <a:r>
              <a:rPr lang="en-US" dirty="0" smtClean="0"/>
              <a:t> </a:t>
            </a:r>
            <a:r>
              <a:rPr lang="en-US" dirty="0" err="1" smtClean="0"/>
              <a:t>realizate</a:t>
            </a:r>
            <a:r>
              <a:rPr lang="en-US" dirty="0" smtClean="0"/>
              <a:t> de </a:t>
            </a:r>
            <a:r>
              <a:rPr lang="en-US" dirty="0" err="1" smtClean="0"/>
              <a:t>serverebsunt</a:t>
            </a:r>
            <a:r>
              <a:rPr lang="en-US" dirty="0" smtClean="0"/>
              <a:t> </a:t>
            </a:r>
            <a:r>
              <a:rPr lang="en-US" b="1" dirty="0" smtClean="0"/>
              <a:t>ping</a:t>
            </a:r>
            <a:r>
              <a:rPr lang="en-US" dirty="0" smtClean="0"/>
              <a:t>, </a:t>
            </a:r>
            <a:r>
              <a:rPr lang="en-US" b="1" dirty="0" err="1" smtClean="0"/>
              <a:t>upcase</a:t>
            </a:r>
            <a:r>
              <a:rPr lang="en-US" dirty="0" smtClean="0"/>
              <a:t> </a:t>
            </a:r>
            <a:r>
              <a:rPr lang="en-US" i="1" dirty="0" smtClean="0"/>
              <a:t>sir</a:t>
            </a:r>
            <a:r>
              <a:rPr lang="en-US" dirty="0" smtClean="0"/>
              <a:t>, </a:t>
            </a:r>
            <a:r>
              <a:rPr lang="en-US" b="1" dirty="0" smtClean="0"/>
              <a:t>add</a:t>
            </a:r>
            <a:r>
              <a:rPr lang="en-US" dirty="0" smtClean="0"/>
              <a:t> </a:t>
            </a:r>
            <a:r>
              <a:rPr lang="en-US" i="1" dirty="0" err="1" smtClean="0"/>
              <a:t>nr1</a:t>
            </a:r>
            <a:r>
              <a:rPr lang="en-US" dirty="0" smtClean="0"/>
              <a:t> </a:t>
            </a:r>
            <a:r>
              <a:rPr lang="en-US" i="1" dirty="0" err="1" smtClean="0"/>
              <a:t>nr2</a:t>
            </a:r>
            <a:r>
              <a:rPr lang="en-US" dirty="0" smtClean="0"/>
              <a:t> </a:t>
            </a:r>
          </a:p>
          <a:p>
            <a:endParaRPr lang="en-US" dirty="0"/>
          </a:p>
          <a:p>
            <a:r>
              <a:rPr lang="en-US" dirty="0"/>
              <a:t>F</a:t>
            </a:r>
            <a:r>
              <a:rPr lang="en-US" dirty="0" smtClean="0"/>
              <a:t>ata de </a:t>
            </a:r>
            <a:r>
              <a:rPr lang="en-US" dirty="0" err="1" smtClean="0"/>
              <a:t>serviciul</a:t>
            </a:r>
            <a:r>
              <a:rPr lang="en-US" dirty="0" smtClean="0"/>
              <a:t> de </a:t>
            </a:r>
            <a:r>
              <a:rPr lang="en-US" dirty="0" err="1" smtClean="0"/>
              <a:t>mesagerie</a:t>
            </a:r>
            <a:r>
              <a:rPr lang="en-US" dirty="0" smtClean="0"/>
              <a:t> </a:t>
            </a:r>
            <a:r>
              <a:rPr lang="en-US" dirty="0" err="1" smtClean="0"/>
              <a:t>toti</a:t>
            </a:r>
            <a:r>
              <a:rPr lang="en-US" dirty="0" smtClean="0"/>
              <a:t> </a:t>
            </a:r>
            <a:r>
              <a:rPr lang="en-US" dirty="0" err="1"/>
              <a:t>sunt</a:t>
            </a:r>
            <a:r>
              <a:rPr lang="en-US" dirty="0"/>
              <a:t> </a:t>
            </a:r>
            <a:r>
              <a:rPr lang="en-US" i="1" dirty="0" err="1"/>
              <a:t>clienti</a:t>
            </a:r>
            <a:r>
              <a:rPr lang="en-US" dirty="0"/>
              <a:t> </a:t>
            </a:r>
            <a:r>
              <a:rPr lang="en-US" dirty="0" err="1" smtClean="0"/>
              <a:t>Datorita</a:t>
            </a:r>
            <a:r>
              <a:rPr lang="en-US" dirty="0" smtClean="0"/>
              <a:t> </a:t>
            </a:r>
            <a:r>
              <a:rPr lang="en-US" dirty="0" err="1" smtClean="0"/>
              <a:t>c</a:t>
            </a:r>
            <a:r>
              <a:rPr lang="en-US" dirty="0" err="1" smtClean="0"/>
              <a:t>ontinutul</a:t>
            </a:r>
            <a:r>
              <a:rPr lang="en-US" dirty="0" smtClean="0"/>
              <a:t> </a:t>
            </a:r>
            <a:r>
              <a:rPr lang="en-US" dirty="0" err="1" smtClean="0"/>
              <a:t>aplicatiei</a:t>
            </a:r>
            <a:r>
              <a:rPr lang="en-US" dirty="0" smtClean="0"/>
              <a:t> </a:t>
            </a:r>
            <a:r>
              <a:rPr lang="en-US" dirty="0" err="1" smtClean="0"/>
              <a:t>vom</a:t>
            </a:r>
            <a:r>
              <a:rPr lang="en-US" dirty="0" smtClean="0"/>
              <a:t> </a:t>
            </a:r>
            <a:r>
              <a:rPr lang="en-US" dirty="0" err="1"/>
              <a:t>pastra</a:t>
            </a:r>
            <a:r>
              <a:rPr lang="en-US" dirty="0"/>
              <a:t> </a:t>
            </a:r>
            <a:r>
              <a:rPr lang="en-US" dirty="0" err="1" smtClean="0"/>
              <a:t>termenii</a:t>
            </a:r>
            <a:r>
              <a:rPr lang="en-US" dirty="0" smtClean="0"/>
              <a:t> </a:t>
            </a:r>
            <a:r>
              <a:rPr lang="en-US" b="1" dirty="0" smtClean="0"/>
              <a:t>server</a:t>
            </a:r>
            <a:r>
              <a:rPr lang="en-US" dirty="0" smtClean="0"/>
              <a:t>  </a:t>
            </a:r>
            <a:r>
              <a:rPr lang="en-US" dirty="0" err="1"/>
              <a:t>si</a:t>
            </a:r>
            <a:r>
              <a:rPr lang="en-US" dirty="0"/>
              <a:t> </a:t>
            </a:r>
            <a:r>
              <a:rPr lang="en-US" b="1" dirty="0"/>
              <a:t>client </a:t>
            </a:r>
            <a:r>
              <a:rPr lang="en-US" b="1" dirty="0" smtClean="0"/>
              <a:t>. </a:t>
            </a:r>
            <a:endParaRPr lang="en-US" dirty="0"/>
          </a:p>
          <a:p>
            <a:r>
              <a:rPr lang="en-US" dirty="0" err="1" smtClean="0"/>
              <a:t>Cele</a:t>
            </a:r>
            <a:r>
              <a:rPr lang="en-US" dirty="0" smtClean="0"/>
              <a:t> </a:t>
            </a:r>
            <a:r>
              <a:rPr lang="en-US" dirty="0" err="1" smtClean="0"/>
              <a:t>sase</a:t>
            </a:r>
            <a:r>
              <a:rPr lang="en-US" dirty="0" smtClean="0"/>
              <a:t> </a:t>
            </a:r>
            <a:r>
              <a:rPr lang="en-US" dirty="0" err="1" smtClean="0"/>
              <a:t>fisiere</a:t>
            </a:r>
            <a:r>
              <a:rPr lang="en-US" dirty="0" smtClean="0"/>
              <a:t> </a:t>
            </a:r>
            <a:r>
              <a:rPr lang="en-US" dirty="0" err="1" smtClean="0"/>
              <a:t>sursa</a:t>
            </a:r>
            <a:r>
              <a:rPr lang="en-US" dirty="0" smtClean="0"/>
              <a:t> </a:t>
            </a:r>
            <a:r>
              <a:rPr lang="en-US" dirty="0" err="1" smtClean="0"/>
              <a:t>sunt</a:t>
            </a:r>
            <a:r>
              <a:rPr lang="en-US" dirty="0" smtClean="0"/>
              <a:t>:</a:t>
            </a:r>
          </a:p>
          <a:p>
            <a:pPr algn="ctr"/>
            <a:r>
              <a:rPr lang="en-US" b="1" dirty="0" err="1" smtClean="0">
                <a:latin typeface="Courier New" panose="02070309020205020404" pitchFamily="49" charset="0"/>
                <a:cs typeface="Courier New" panose="02070309020205020404" pitchFamily="49" charset="0"/>
              </a:rPr>
              <a:t>ExecJmsServ</a:t>
            </a:r>
            <a:r>
              <a:rPr lang="en-US" b="1" dirty="0" smtClean="0">
                <a:latin typeface="Courier New" panose="02070309020205020404" pitchFamily="49" charset="0"/>
                <a:cs typeface="Courier New" panose="02070309020205020404" pitchFamily="49" charset="0"/>
              </a:rPr>
              <a:t>.{</a:t>
            </a:r>
            <a:r>
              <a:rPr lang="en-US" b="1" dirty="0" err="1" smtClean="0">
                <a:latin typeface="Courier New" panose="02070309020205020404" pitchFamily="49" charset="0"/>
                <a:cs typeface="Courier New" panose="02070309020205020404" pitchFamily="49" charset="0"/>
              </a:rPr>
              <a:t>java|py|js</a:t>
            </a:r>
            <a:r>
              <a:rPr lang="en-US" b="1" dirty="0" smtClean="0">
                <a:latin typeface="Courier New" panose="02070309020205020404" pitchFamily="49" charset="0"/>
                <a:cs typeface="Courier New" panose="02070309020205020404" pitchFamily="49" charset="0"/>
              </a:rPr>
              <a:t>}</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si</a:t>
            </a:r>
            <a:r>
              <a:rPr lang="en-US" dirty="0" smtClean="0">
                <a:latin typeface="Arial" panose="020B0604020202020204" pitchFamily="34" charset="0"/>
                <a:cs typeface="Arial" panose="020B0604020202020204" pitchFamily="34" charset="0"/>
              </a:rPr>
              <a:t> </a:t>
            </a:r>
            <a:r>
              <a:rPr lang="en-US" b="1" dirty="0" err="1" smtClean="0">
                <a:latin typeface="Courier New" panose="02070309020205020404" pitchFamily="49" charset="0"/>
                <a:cs typeface="Courier New" panose="02070309020205020404" pitchFamily="49" charset="0"/>
              </a:rPr>
              <a:t>ExecJmsClie</a:t>
            </a:r>
            <a:r>
              <a:rPr lang="en-US" b="1" dirty="0" smtClean="0">
                <a:latin typeface="Courier New" panose="02070309020205020404" pitchFamily="49" charset="0"/>
                <a:cs typeface="Courier New" panose="02070309020205020404" pitchFamily="49" charset="0"/>
              </a:rPr>
              <a:t>.{</a:t>
            </a:r>
            <a:r>
              <a:rPr lang="en-US" b="1" dirty="0" err="1" smtClean="0">
                <a:latin typeface="Courier New" panose="02070309020205020404" pitchFamily="49" charset="0"/>
                <a:cs typeface="Courier New" panose="02070309020205020404" pitchFamily="49" charset="0"/>
              </a:rPr>
              <a:t>java|py|js</a:t>
            </a:r>
            <a:r>
              <a:rPr lang="en-US" b="1" dirty="0" smtClean="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a:p>
            <a:endParaRPr lang="en-US" dirty="0" smtClean="0"/>
          </a:p>
          <a:p>
            <a:r>
              <a:rPr lang="en-US" dirty="0" err="1" smtClean="0"/>
              <a:t>Serverele</a:t>
            </a:r>
            <a:r>
              <a:rPr lang="en-US" dirty="0" smtClean="0"/>
              <a:t> </a:t>
            </a:r>
            <a:r>
              <a:rPr lang="en-US" dirty="0" err="1" smtClean="0"/>
              <a:t>si</a:t>
            </a:r>
            <a:r>
              <a:rPr lang="en-US" dirty="0" smtClean="0"/>
              <a:t> </a:t>
            </a:r>
            <a:r>
              <a:rPr lang="en-US" dirty="0" err="1" smtClean="0"/>
              <a:t>clientii</a:t>
            </a:r>
            <a:r>
              <a:rPr lang="en-US" dirty="0" smtClean="0"/>
              <a:t> se pot </a:t>
            </a:r>
            <a:r>
              <a:rPr lang="en-US" dirty="0" err="1" smtClean="0"/>
              <a:t>conecta</a:t>
            </a:r>
            <a:r>
              <a:rPr lang="en-US" dirty="0" smtClean="0"/>
              <a:t> la cate o </a:t>
            </a:r>
            <a:r>
              <a:rPr lang="en-US" dirty="0" err="1" smtClean="0"/>
              <a:t>pereche</a:t>
            </a:r>
            <a:r>
              <a:rPr lang="en-US" dirty="0" smtClean="0"/>
              <a:t> de </a:t>
            </a:r>
            <a:r>
              <a:rPr lang="en-US" dirty="0" err="1" smtClean="0"/>
              <a:t>cozi</a:t>
            </a:r>
            <a:r>
              <a:rPr lang="en-US" dirty="0" smtClean="0"/>
              <a:t>: </a:t>
            </a:r>
          </a:p>
          <a:p>
            <a:pPr algn="ctr"/>
            <a:r>
              <a:rPr lang="en-US" dirty="0" smtClean="0"/>
              <a:t>{</a:t>
            </a:r>
            <a:r>
              <a:rPr lang="en-US" b="1" dirty="0" err="1" smtClean="0"/>
              <a:t>J|P|N</a:t>
            </a:r>
            <a:r>
              <a:rPr lang="en-US" b="1" dirty="0" smtClean="0"/>
              <a:t>}</a:t>
            </a:r>
            <a:r>
              <a:rPr lang="en-US" b="1" dirty="0" err="1" smtClean="0"/>
              <a:t>cerere</a:t>
            </a:r>
            <a:r>
              <a:rPr lang="en-US" dirty="0" smtClean="0"/>
              <a:t> </a:t>
            </a:r>
            <a:r>
              <a:rPr lang="en-US" dirty="0" err="1" smtClean="0"/>
              <a:t>si</a:t>
            </a:r>
            <a:r>
              <a:rPr lang="en-US" dirty="0"/>
              <a:t>  {</a:t>
            </a:r>
            <a:r>
              <a:rPr lang="en-US" b="1" dirty="0" err="1" smtClean="0"/>
              <a:t>J|P|N</a:t>
            </a:r>
            <a:r>
              <a:rPr lang="en-US" b="1" dirty="0" smtClean="0"/>
              <a:t>}</a:t>
            </a:r>
            <a:r>
              <a:rPr lang="en-US" b="1" dirty="0" err="1" smtClean="0"/>
              <a:t>raspuns</a:t>
            </a:r>
            <a:r>
              <a:rPr lang="en-US" dirty="0" smtClean="0"/>
              <a:t>. </a:t>
            </a:r>
          </a:p>
          <a:p>
            <a:r>
              <a:rPr lang="en-US" dirty="0" err="1" smtClean="0"/>
              <a:t>Pe</a:t>
            </a:r>
            <a:r>
              <a:rPr lang="en-US" dirty="0" smtClean="0"/>
              <a:t> prima un client </a:t>
            </a:r>
            <a:r>
              <a:rPr lang="en-US" dirty="0" err="1" smtClean="0"/>
              <a:t>trimite</a:t>
            </a:r>
            <a:r>
              <a:rPr lang="en-US" dirty="0" smtClean="0"/>
              <a:t> </a:t>
            </a:r>
            <a:r>
              <a:rPr lang="en-US" dirty="0" err="1" smtClean="0"/>
              <a:t>cererea</a:t>
            </a:r>
            <a:r>
              <a:rPr lang="en-US" dirty="0" smtClean="0"/>
              <a:t> ca un string cu </a:t>
            </a:r>
            <a:r>
              <a:rPr lang="en-US" dirty="0" err="1" smtClean="0"/>
              <a:t>campurile</a:t>
            </a:r>
            <a:r>
              <a:rPr lang="en-US" dirty="0" smtClean="0"/>
              <a:t> separate </a:t>
            </a:r>
            <a:r>
              <a:rPr lang="en-US" dirty="0" err="1" smtClean="0"/>
              <a:t>prin</a:t>
            </a:r>
            <a:r>
              <a:rPr lang="en-US" dirty="0" smtClean="0"/>
              <a:t> |. </a:t>
            </a:r>
            <a:r>
              <a:rPr lang="en-US" dirty="0" err="1" smtClean="0"/>
              <a:t>Pe</a:t>
            </a:r>
            <a:r>
              <a:rPr lang="en-US" dirty="0" smtClean="0"/>
              <a:t> </a:t>
            </a:r>
            <a:r>
              <a:rPr lang="en-US" dirty="0" err="1" smtClean="0"/>
              <a:t>cea</a:t>
            </a:r>
            <a:r>
              <a:rPr lang="en-US" dirty="0" smtClean="0"/>
              <a:t> de-a </a:t>
            </a:r>
            <a:r>
              <a:rPr lang="en-US" dirty="0" err="1" smtClean="0"/>
              <a:t>doua</a:t>
            </a:r>
            <a:r>
              <a:rPr lang="en-US" dirty="0" smtClean="0"/>
              <a:t> </a:t>
            </a:r>
            <a:r>
              <a:rPr lang="en-US" dirty="0" err="1" smtClean="0"/>
              <a:t>coada</a:t>
            </a:r>
            <a:r>
              <a:rPr lang="en-US" dirty="0" smtClean="0"/>
              <a:t> </a:t>
            </a:r>
            <a:r>
              <a:rPr lang="en-US" dirty="0" err="1" smtClean="0"/>
              <a:t>clientul</a:t>
            </a:r>
            <a:r>
              <a:rPr lang="en-US" dirty="0" smtClean="0"/>
              <a:t> </a:t>
            </a:r>
            <a:r>
              <a:rPr lang="en-US" dirty="0" err="1" smtClean="0"/>
              <a:t>primeste</a:t>
            </a:r>
            <a:r>
              <a:rPr lang="en-US" dirty="0" smtClean="0"/>
              <a:t> </a:t>
            </a:r>
            <a:r>
              <a:rPr lang="en-US" dirty="0" err="1" smtClean="0"/>
              <a:t>raspunsul</a:t>
            </a:r>
            <a:r>
              <a:rPr lang="en-US" dirty="0" smtClean="0"/>
              <a:t>. </a:t>
            </a:r>
          </a:p>
          <a:p>
            <a:endParaRPr lang="en-US" dirty="0"/>
          </a:p>
          <a:p>
            <a:r>
              <a:rPr lang="en-US" dirty="0" err="1" smtClean="0"/>
              <a:t>Cele</a:t>
            </a:r>
            <a:r>
              <a:rPr lang="en-US" dirty="0" smtClean="0"/>
              <a:t> </a:t>
            </a:r>
            <a:r>
              <a:rPr lang="en-US" dirty="0" err="1" smtClean="0"/>
              <a:t>sase</a:t>
            </a:r>
            <a:r>
              <a:rPr lang="en-US" dirty="0" smtClean="0"/>
              <a:t> </a:t>
            </a:r>
            <a:r>
              <a:rPr lang="en-US" dirty="0" err="1" smtClean="0"/>
              <a:t>implementari</a:t>
            </a:r>
            <a:r>
              <a:rPr lang="en-US" dirty="0" smtClean="0"/>
              <a:t> au </a:t>
            </a:r>
            <a:r>
              <a:rPr lang="en-US" dirty="0" err="1" smtClean="0"/>
              <a:t>fiecare</a:t>
            </a:r>
            <a:r>
              <a:rPr lang="en-US" dirty="0" smtClean="0"/>
              <a:t> cate o </a:t>
            </a:r>
            <a:r>
              <a:rPr lang="en-US" dirty="0" err="1" smtClean="0"/>
              <a:t>pereche</a:t>
            </a:r>
            <a:r>
              <a:rPr lang="en-US" dirty="0" smtClean="0"/>
              <a:t> de </a:t>
            </a:r>
            <a:r>
              <a:rPr lang="en-US" dirty="0" err="1" smtClean="0"/>
              <a:t>cozi</a:t>
            </a:r>
            <a:r>
              <a:rPr lang="en-US" dirty="0" smtClean="0"/>
              <a:t> </a:t>
            </a:r>
            <a:r>
              <a:rPr lang="en-US" dirty="0" err="1" smtClean="0"/>
              <a:t>implicita</a:t>
            </a:r>
            <a:r>
              <a:rPr lang="en-US" dirty="0" smtClean="0"/>
              <a:t>, </a:t>
            </a:r>
            <a:r>
              <a:rPr lang="en-US" dirty="0" err="1" smtClean="0"/>
              <a:t>dar</a:t>
            </a:r>
            <a:r>
              <a:rPr lang="en-US" dirty="0" smtClean="0"/>
              <a:t> la </a:t>
            </a:r>
            <a:r>
              <a:rPr lang="en-US" dirty="0" err="1" smtClean="0"/>
              <a:t>linia</a:t>
            </a:r>
            <a:r>
              <a:rPr lang="en-US" dirty="0" smtClean="0"/>
              <a:t> de </a:t>
            </a:r>
            <a:r>
              <a:rPr lang="en-US" dirty="0" err="1" smtClean="0"/>
              <a:t>comanda</a:t>
            </a:r>
            <a:r>
              <a:rPr lang="en-US" dirty="0" smtClean="0"/>
              <a:t> se pot da ca </a:t>
            </a:r>
            <a:r>
              <a:rPr lang="en-US" dirty="0" err="1" smtClean="0"/>
              <a:t>parametri</a:t>
            </a:r>
            <a:r>
              <a:rPr lang="en-US" dirty="0" smtClean="0"/>
              <a:t> </a:t>
            </a:r>
            <a:r>
              <a:rPr lang="en-US" dirty="0" err="1" smtClean="0"/>
              <a:t>adresa</a:t>
            </a:r>
            <a:r>
              <a:rPr lang="en-US" dirty="0" smtClean="0"/>
              <a:t> </a:t>
            </a:r>
            <a:r>
              <a:rPr lang="en-US" dirty="0" err="1" smtClean="0"/>
              <a:t>serviciului</a:t>
            </a:r>
            <a:r>
              <a:rPr lang="en-US" dirty="0" smtClean="0"/>
              <a:t> de </a:t>
            </a:r>
            <a:r>
              <a:rPr lang="en-US" dirty="0" err="1" smtClean="0"/>
              <a:t>mesagerie</a:t>
            </a:r>
            <a:r>
              <a:rPr lang="en-US" dirty="0" smtClean="0"/>
              <a:t> </a:t>
            </a:r>
            <a:r>
              <a:rPr lang="en-US" dirty="0" err="1" smtClean="0"/>
              <a:t>si</a:t>
            </a:r>
            <a:r>
              <a:rPr lang="en-US" dirty="0" smtClean="0"/>
              <a:t> </a:t>
            </a:r>
            <a:r>
              <a:rPr lang="en-US" dirty="0" err="1" smtClean="0"/>
              <a:t>numele</a:t>
            </a:r>
            <a:r>
              <a:rPr lang="en-US" dirty="0" smtClean="0"/>
              <a:t> </a:t>
            </a:r>
            <a:r>
              <a:rPr lang="en-US" dirty="0" err="1" smtClean="0"/>
              <a:t>unei</a:t>
            </a:r>
            <a:r>
              <a:rPr lang="en-US" dirty="0" smtClean="0"/>
              <a:t> </a:t>
            </a:r>
            <a:r>
              <a:rPr lang="en-US" dirty="0" err="1" smtClean="0"/>
              <a:t>perechi</a:t>
            </a:r>
            <a:r>
              <a:rPr lang="en-US" dirty="0" smtClean="0"/>
              <a:t> de </a:t>
            </a:r>
            <a:r>
              <a:rPr lang="en-US" dirty="0" err="1" smtClean="0"/>
              <a:t>cozi</a:t>
            </a:r>
            <a:r>
              <a:rPr lang="en-US" dirty="0" smtClean="0"/>
              <a:t>, </a:t>
            </a:r>
            <a:r>
              <a:rPr lang="en-US" b="1" dirty="0" err="1" smtClean="0"/>
              <a:t>asa</a:t>
            </a:r>
            <a:r>
              <a:rPr lang="en-US" b="1" dirty="0" smtClean="0"/>
              <a:t> ca </a:t>
            </a:r>
            <a:r>
              <a:rPr lang="en-US" b="1" dirty="0" err="1" smtClean="0"/>
              <a:t>avem</a:t>
            </a:r>
            <a:r>
              <a:rPr lang="en-US" b="1" dirty="0" smtClean="0"/>
              <a:t> </a:t>
            </a:r>
            <a:r>
              <a:rPr lang="en-US" b="1" dirty="0" err="1" smtClean="0"/>
              <a:t>noua</a:t>
            </a:r>
            <a:r>
              <a:rPr lang="en-US" b="1" dirty="0" smtClean="0"/>
              <a:t> </a:t>
            </a:r>
            <a:r>
              <a:rPr lang="en-US" b="1" dirty="0" err="1" smtClean="0"/>
              <a:t>posibilitati</a:t>
            </a:r>
            <a:r>
              <a:rPr lang="en-US" b="1" dirty="0" smtClean="0"/>
              <a:t> de </a:t>
            </a:r>
            <a:r>
              <a:rPr lang="en-US" b="1" dirty="0" err="1" smtClean="0"/>
              <a:t>legare</a:t>
            </a:r>
            <a:endParaRPr lang="en-US" b="1" dirty="0" smtClean="0"/>
          </a:p>
          <a:p>
            <a:endParaRPr lang="en-US" dirty="0" smtClean="0"/>
          </a:p>
          <a:p>
            <a:r>
              <a:rPr lang="en-US" b="1" dirty="0" err="1" smtClean="0"/>
              <a:t>ActiveMq</a:t>
            </a:r>
            <a:r>
              <a:rPr lang="en-US" dirty="0" smtClean="0"/>
              <a:t> </a:t>
            </a:r>
            <a:r>
              <a:rPr lang="en-US" dirty="0" err="1" smtClean="0"/>
              <a:t>asculta</a:t>
            </a:r>
            <a:r>
              <a:rPr lang="en-US" dirty="0" smtClean="0"/>
              <a:t> la </a:t>
            </a:r>
            <a:r>
              <a:rPr lang="en-US" dirty="0" err="1" smtClean="0"/>
              <a:t>portul</a:t>
            </a:r>
            <a:r>
              <a:rPr lang="en-US" dirty="0" smtClean="0"/>
              <a:t> </a:t>
            </a:r>
            <a:r>
              <a:rPr lang="en-US" b="1" dirty="0" smtClean="0"/>
              <a:t>61616</a:t>
            </a:r>
            <a:r>
              <a:rPr lang="en-US" dirty="0" smtClean="0"/>
              <a:t> </a:t>
            </a:r>
            <a:r>
              <a:rPr lang="en-US" dirty="0" err="1" smtClean="0"/>
              <a:t>pentru</a:t>
            </a:r>
            <a:r>
              <a:rPr lang="en-US" dirty="0" smtClean="0"/>
              <a:t> java </a:t>
            </a:r>
            <a:r>
              <a:rPr lang="en-US" dirty="0" err="1" smtClean="0"/>
              <a:t>si</a:t>
            </a:r>
            <a:r>
              <a:rPr lang="en-US" dirty="0" smtClean="0"/>
              <a:t> </a:t>
            </a:r>
            <a:r>
              <a:rPr lang="en-US" b="1" dirty="0" smtClean="0"/>
              <a:t>61613</a:t>
            </a:r>
            <a:r>
              <a:rPr lang="en-US" dirty="0" smtClean="0"/>
              <a:t> </a:t>
            </a:r>
            <a:r>
              <a:rPr lang="en-US" dirty="0" err="1" smtClean="0"/>
              <a:t>pentru</a:t>
            </a:r>
            <a:r>
              <a:rPr lang="en-US" dirty="0" smtClean="0"/>
              <a:t> </a:t>
            </a:r>
            <a:r>
              <a:rPr lang="en-US" dirty="0" err="1" smtClean="0"/>
              <a:t>protocolul</a:t>
            </a:r>
            <a:r>
              <a:rPr lang="en-US" dirty="0" smtClean="0"/>
              <a:t> </a:t>
            </a:r>
            <a:r>
              <a:rPr lang="en-US" dirty="0" err="1" smtClean="0"/>
              <a:t>STOMPEST</a:t>
            </a:r>
            <a:r>
              <a:rPr lang="en-US" dirty="0" smtClean="0"/>
              <a:t>, </a:t>
            </a:r>
            <a:r>
              <a:rPr lang="en-US" dirty="0" err="1" smtClean="0"/>
              <a:t>folosit</a:t>
            </a:r>
            <a:r>
              <a:rPr lang="en-US" dirty="0" smtClean="0"/>
              <a:t> de </a:t>
            </a:r>
            <a:r>
              <a:rPr lang="en-US" dirty="0" err="1" smtClean="0"/>
              <a:t>implementarile</a:t>
            </a:r>
            <a:r>
              <a:rPr lang="en-US" dirty="0" smtClean="0"/>
              <a:t> </a:t>
            </a:r>
            <a:r>
              <a:rPr lang="en-US" b="1" dirty="0" smtClean="0"/>
              <a:t>Python</a:t>
            </a:r>
            <a:r>
              <a:rPr lang="en-US" dirty="0" smtClean="0"/>
              <a:t> </a:t>
            </a:r>
            <a:r>
              <a:rPr lang="en-US" dirty="0" err="1" smtClean="0"/>
              <a:t>si</a:t>
            </a:r>
            <a:r>
              <a:rPr lang="en-US" dirty="0" smtClean="0"/>
              <a:t> </a:t>
            </a:r>
            <a:r>
              <a:rPr lang="en-US" b="1" dirty="0" err="1" smtClean="0"/>
              <a:t>Node.Js</a:t>
            </a:r>
            <a:endParaRPr lang="en-US" b="1" dirty="0" smtClean="0"/>
          </a:p>
          <a:p>
            <a:endParaRPr lang="en-US" dirty="0"/>
          </a:p>
          <a:p>
            <a:r>
              <a:rPr lang="en-US" dirty="0" smtClean="0"/>
              <a:t>Ca </a:t>
            </a:r>
            <a:r>
              <a:rPr lang="en-US" dirty="0" err="1" smtClean="0"/>
              <a:t>elemente</a:t>
            </a:r>
            <a:r>
              <a:rPr lang="en-US" dirty="0" smtClean="0"/>
              <a:t> </a:t>
            </a:r>
            <a:r>
              <a:rPr lang="en-US" dirty="0" err="1" smtClean="0"/>
              <a:t>pregatitoare</a:t>
            </a:r>
            <a:r>
              <a:rPr lang="en-US" dirty="0" smtClean="0"/>
              <a:t>, </a:t>
            </a:r>
            <a:r>
              <a:rPr lang="en-US" dirty="0" err="1" smtClean="0"/>
              <a:t>trebuie</a:t>
            </a:r>
            <a:r>
              <a:rPr lang="en-US" dirty="0" smtClean="0"/>
              <a:t> </a:t>
            </a:r>
            <a:r>
              <a:rPr lang="en-US" dirty="0" err="1" smtClean="0"/>
              <a:t>definita</a:t>
            </a:r>
            <a:r>
              <a:rPr lang="en-US" dirty="0" smtClean="0"/>
              <a:t> </a:t>
            </a:r>
            <a:r>
              <a:rPr lang="en-US" dirty="0" err="1" smtClean="0"/>
              <a:t>variabila</a:t>
            </a:r>
            <a:r>
              <a:rPr lang="en-US" dirty="0" smtClean="0"/>
              <a:t> de </a:t>
            </a:r>
            <a:r>
              <a:rPr lang="en-US" dirty="0" err="1" smtClean="0"/>
              <a:t>mediu</a:t>
            </a:r>
            <a:r>
              <a:rPr lang="en-US" dirty="0" smtClean="0"/>
              <a:t> </a:t>
            </a:r>
            <a:r>
              <a:rPr lang="en-US" b="1" dirty="0" err="1" smtClean="0"/>
              <a:t>ACTIVEMQ_HOME</a:t>
            </a:r>
            <a:r>
              <a:rPr lang="en-US" dirty="0" smtClean="0"/>
              <a:t> </a:t>
            </a:r>
            <a:r>
              <a:rPr lang="en-US" dirty="0" err="1" smtClean="0"/>
              <a:t>ce</a:t>
            </a:r>
            <a:r>
              <a:rPr lang="en-US" dirty="0" smtClean="0"/>
              <a:t> </a:t>
            </a:r>
            <a:r>
              <a:rPr lang="en-US" dirty="0" err="1" smtClean="0"/>
              <a:t>indica</a:t>
            </a:r>
            <a:r>
              <a:rPr lang="en-US" dirty="0" smtClean="0"/>
              <a:t> </a:t>
            </a:r>
            <a:r>
              <a:rPr lang="en-US" dirty="0" err="1" smtClean="0"/>
              <a:t>radacina</a:t>
            </a:r>
            <a:r>
              <a:rPr lang="en-US" dirty="0" smtClean="0"/>
              <a:t> </a:t>
            </a:r>
            <a:r>
              <a:rPr lang="en-US" dirty="0" err="1" smtClean="0"/>
              <a:t>serviciului</a:t>
            </a:r>
            <a:r>
              <a:rPr lang="en-US" dirty="0" smtClean="0"/>
              <a:t> de </a:t>
            </a:r>
            <a:r>
              <a:rPr lang="en-US" dirty="0" err="1" smtClean="0"/>
              <a:t>mesagerie</a:t>
            </a:r>
            <a:r>
              <a:rPr lang="en-US" dirty="0" smtClean="0"/>
              <a:t>. </a:t>
            </a:r>
            <a:r>
              <a:rPr lang="en-US" dirty="0" err="1" smtClean="0"/>
              <a:t>Pentru</a:t>
            </a:r>
            <a:r>
              <a:rPr lang="en-US" dirty="0" smtClean="0"/>
              <a:t> Python </a:t>
            </a:r>
            <a:r>
              <a:rPr lang="en-US" dirty="0" err="1" smtClean="0"/>
              <a:t>trebuie</a:t>
            </a:r>
            <a:r>
              <a:rPr lang="en-US" dirty="0" smtClean="0"/>
              <a:t> </a:t>
            </a:r>
            <a:r>
              <a:rPr lang="en-US" dirty="0" err="1" smtClean="0"/>
              <a:t>instalat</a:t>
            </a:r>
            <a:r>
              <a:rPr lang="en-US" dirty="0" smtClean="0"/>
              <a:t> </a:t>
            </a:r>
            <a:r>
              <a:rPr lang="en-US" dirty="0" err="1" smtClean="0"/>
              <a:t>modulul</a:t>
            </a:r>
            <a:r>
              <a:rPr lang="en-US" dirty="0" smtClean="0"/>
              <a:t> </a:t>
            </a:r>
            <a:r>
              <a:rPr lang="en-US" b="1" dirty="0" err="1" smtClean="0"/>
              <a:t>stompest</a:t>
            </a:r>
            <a:r>
              <a:rPr lang="en-US" dirty="0" smtClean="0"/>
              <a:t>, </a:t>
            </a:r>
            <a:r>
              <a:rPr lang="en-US" dirty="0" err="1" smtClean="0"/>
              <a:t>iar</a:t>
            </a:r>
            <a:r>
              <a:rPr lang="en-US" dirty="0" smtClean="0"/>
              <a:t> </a:t>
            </a:r>
            <a:r>
              <a:rPr lang="en-US" dirty="0" err="1" smtClean="0"/>
              <a:t>pentru</a:t>
            </a:r>
            <a:r>
              <a:rPr lang="en-US" dirty="0" smtClean="0"/>
              <a:t> </a:t>
            </a:r>
            <a:r>
              <a:rPr lang="en-US" dirty="0" err="1" smtClean="0"/>
              <a:t>Node.Js</a:t>
            </a:r>
            <a:r>
              <a:rPr lang="en-US" dirty="0" smtClean="0"/>
              <a:t> </a:t>
            </a:r>
            <a:r>
              <a:rPr lang="en-US" dirty="0" err="1" smtClean="0"/>
              <a:t>trebuie</a:t>
            </a:r>
            <a:r>
              <a:rPr lang="en-US" dirty="0" smtClean="0"/>
              <a:t> </a:t>
            </a:r>
            <a:r>
              <a:rPr lang="en-US" dirty="0" err="1" smtClean="0"/>
              <a:t>instalat</a:t>
            </a:r>
            <a:r>
              <a:rPr lang="en-US" dirty="0" smtClean="0"/>
              <a:t> </a:t>
            </a:r>
            <a:r>
              <a:rPr lang="en-US" dirty="0" err="1" smtClean="0"/>
              <a:t>modulul</a:t>
            </a:r>
            <a:r>
              <a:rPr lang="en-US" dirty="0" smtClean="0"/>
              <a:t> </a:t>
            </a:r>
            <a:r>
              <a:rPr lang="en-US" b="1" dirty="0" smtClean="0"/>
              <a:t>stomp-client</a:t>
            </a:r>
            <a:r>
              <a:rPr lang="en-US" dirty="0" smtClean="0"/>
              <a:t>.</a:t>
            </a:r>
          </a:p>
        </p:txBody>
      </p:sp>
    </p:spTree>
    <p:extLst>
      <p:ext uri="{BB962C8B-B14F-4D97-AF65-F5344CB8AC3E}">
        <p14:creationId xmlns:p14="http://schemas.microsoft.com/office/powerpoint/2010/main" val="299793896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7010400" y="6492875"/>
            <a:ext cx="2133600" cy="365125"/>
          </a:xfrm>
        </p:spPr>
        <p:txBody>
          <a:bodyPr/>
          <a:lstStyle/>
          <a:p>
            <a:pPr>
              <a:defRPr/>
            </a:pPr>
            <a:r>
              <a:rPr lang="en-US" dirty="0" err="1" smtClean="0"/>
              <a:t>BoianFl_JMS</a:t>
            </a:r>
            <a:r>
              <a:rPr lang="en-US" dirty="0" smtClean="0"/>
              <a:t>_</a:t>
            </a:r>
            <a:fld id="{562FC6DD-9BAA-4664-B88C-0734E59C0A31}" type="slidenum">
              <a:rPr lang="en-US" smtClean="0"/>
              <a:pPr>
                <a:defRPr/>
              </a:pPr>
              <a:t>22</a:t>
            </a:fld>
            <a:r>
              <a:rPr lang="en-US" dirty="0" smtClean="0"/>
              <a:t>/_25_</a:t>
            </a:r>
            <a:endParaRPr lang="en-US" dirty="0"/>
          </a:p>
        </p:txBody>
      </p:sp>
      <p:sp>
        <p:nvSpPr>
          <p:cNvPr id="47108" name="Text Box 2"/>
          <p:cNvSpPr txBox="1">
            <a:spLocks noChangeArrowheads="1"/>
          </p:cNvSpPr>
          <p:nvPr/>
        </p:nvSpPr>
        <p:spPr bwMode="auto">
          <a:xfrm>
            <a:off x="6384925" y="4608513"/>
            <a:ext cx="1235075" cy="366712"/>
          </a:xfrm>
          <a:prstGeom prst="rect">
            <a:avLst/>
          </a:prstGeom>
          <a:noFill/>
          <a:ln w="9525">
            <a:noFill/>
            <a:miter lim="800000"/>
            <a:headEnd/>
            <a:tailEnd/>
          </a:ln>
        </p:spPr>
        <p:txBody>
          <a:bodyPr>
            <a:spAutoFit/>
          </a:bodyPr>
          <a:lstStyle/>
          <a:p>
            <a:endParaRPr lang="ro-RO">
              <a:latin typeface="Calibri" pitchFamily="34" charset="0"/>
            </a:endParaRPr>
          </a:p>
        </p:txBody>
      </p:sp>
      <p:sp>
        <p:nvSpPr>
          <p:cNvPr id="47109" name="Text Box 4"/>
          <p:cNvSpPr txBox="1">
            <a:spLocks noChangeArrowheads="1"/>
          </p:cNvSpPr>
          <p:nvPr/>
        </p:nvSpPr>
        <p:spPr bwMode="auto">
          <a:xfrm>
            <a:off x="2590800" y="1905000"/>
            <a:ext cx="3810000" cy="366713"/>
          </a:xfrm>
          <a:prstGeom prst="rect">
            <a:avLst/>
          </a:prstGeom>
          <a:noFill/>
          <a:ln w="9525">
            <a:noFill/>
            <a:miter lim="800000"/>
            <a:headEnd/>
            <a:tailEnd/>
          </a:ln>
        </p:spPr>
        <p:txBody>
          <a:bodyPr>
            <a:spAutoFit/>
          </a:bodyPr>
          <a:lstStyle/>
          <a:p>
            <a:pPr>
              <a:spcBef>
                <a:spcPct val="50000"/>
              </a:spcBef>
            </a:pPr>
            <a:endParaRPr lang="ro-RO">
              <a:latin typeface="Calibri" pitchFamily="34" charset="0"/>
            </a:endParaRPr>
          </a:p>
        </p:txBody>
      </p:sp>
      <p:sp>
        <p:nvSpPr>
          <p:cNvPr id="47110" name="Text Box 5"/>
          <p:cNvSpPr txBox="1">
            <a:spLocks noChangeArrowheads="1"/>
          </p:cNvSpPr>
          <p:nvPr/>
        </p:nvSpPr>
        <p:spPr bwMode="auto">
          <a:xfrm>
            <a:off x="0" y="0"/>
            <a:ext cx="9144000" cy="366713"/>
          </a:xfrm>
          <a:prstGeom prst="rect">
            <a:avLst/>
          </a:prstGeom>
          <a:solidFill>
            <a:srgbClr val="CCFFFF"/>
          </a:solidFill>
          <a:ln w="9525">
            <a:noFill/>
            <a:miter lim="800000"/>
            <a:headEnd/>
            <a:tailEnd/>
          </a:ln>
        </p:spPr>
        <p:txBody>
          <a:bodyPr>
            <a:spAutoFit/>
          </a:bodyPr>
          <a:lstStyle/>
          <a:p>
            <a:pPr algn="ctr">
              <a:spcBef>
                <a:spcPct val="50000"/>
              </a:spcBef>
            </a:pPr>
            <a:r>
              <a:rPr lang="en-US" dirty="0" err="1">
                <a:solidFill>
                  <a:srgbClr val="FF0000"/>
                </a:solidFill>
                <a:latin typeface="Calibri" pitchFamily="34" charset="0"/>
              </a:rPr>
              <a:t>Implementari</a:t>
            </a:r>
            <a:r>
              <a:rPr lang="en-US" dirty="0">
                <a:solidFill>
                  <a:srgbClr val="FF0000"/>
                </a:solidFill>
                <a:latin typeface="Calibri" pitchFamily="34" charset="0"/>
              </a:rPr>
              <a:t> </a:t>
            </a:r>
            <a:r>
              <a:rPr lang="en-US" dirty="0" err="1">
                <a:solidFill>
                  <a:srgbClr val="FF0000"/>
                </a:solidFill>
                <a:latin typeface="Calibri" pitchFamily="34" charset="0"/>
              </a:rPr>
              <a:t>ExecJms</a:t>
            </a:r>
            <a:r>
              <a:rPr lang="en-US" dirty="0">
                <a:solidFill>
                  <a:srgbClr val="FF0000"/>
                </a:solidFill>
                <a:latin typeface="Calibri" pitchFamily="34" charset="0"/>
              </a:rPr>
              <a:t> </a:t>
            </a:r>
            <a:r>
              <a:rPr lang="en-US" dirty="0" err="1">
                <a:solidFill>
                  <a:srgbClr val="FF0000"/>
                </a:solidFill>
                <a:latin typeface="Calibri" pitchFamily="34" charset="0"/>
              </a:rPr>
              <a:t>folosind</a:t>
            </a:r>
            <a:r>
              <a:rPr lang="en-US" dirty="0">
                <a:solidFill>
                  <a:srgbClr val="FF0000"/>
                </a:solidFill>
                <a:latin typeface="Calibri" pitchFamily="34" charset="0"/>
              </a:rPr>
              <a:t> </a:t>
            </a:r>
            <a:r>
              <a:rPr lang="en-US" dirty="0" err="1">
                <a:solidFill>
                  <a:srgbClr val="FF0000"/>
                </a:solidFill>
                <a:latin typeface="Calibri" pitchFamily="34" charset="0"/>
              </a:rPr>
              <a:t>ActiveMQ</a:t>
            </a:r>
            <a:r>
              <a:rPr lang="en-US" dirty="0">
                <a:solidFill>
                  <a:srgbClr val="FF0000"/>
                </a:solidFill>
                <a:latin typeface="Calibri" pitchFamily="34" charset="0"/>
              </a:rPr>
              <a:t> (</a:t>
            </a:r>
            <a:r>
              <a:rPr lang="en-US" dirty="0" err="1">
                <a:solidFill>
                  <a:srgbClr val="FF0000"/>
                </a:solidFill>
                <a:latin typeface="Calibri" pitchFamily="34" charset="0"/>
              </a:rPr>
              <a:t>vezi</a:t>
            </a:r>
            <a:r>
              <a:rPr lang="en-US" dirty="0">
                <a:solidFill>
                  <a:srgbClr val="FF0000"/>
                </a:solidFill>
                <a:latin typeface="Calibri" pitchFamily="34" charset="0"/>
              </a:rPr>
              <a:t> </a:t>
            </a:r>
            <a:r>
              <a:rPr lang="en-US" b="1" dirty="0" err="1">
                <a:solidFill>
                  <a:srgbClr val="FF0000"/>
                </a:solidFill>
                <a:latin typeface="Calibri" pitchFamily="34" charset="0"/>
              </a:rPr>
              <a:t>2ExecJmsCS</a:t>
            </a:r>
            <a:r>
              <a:rPr lang="en-US" b="1" dirty="0">
                <a:solidFill>
                  <a:srgbClr val="FF0000"/>
                </a:solidFill>
                <a:latin typeface="Calibri" pitchFamily="34" charset="0"/>
              </a:rPr>
              <a:t>/</a:t>
            </a:r>
            <a:r>
              <a:rPr lang="en-US" dirty="0">
                <a:solidFill>
                  <a:srgbClr val="FF0000"/>
                </a:solidFill>
                <a:latin typeface="Calibri" pitchFamily="34" charset="0"/>
              </a:rPr>
              <a:t> ) </a:t>
            </a:r>
            <a:r>
              <a:rPr lang="en-US" dirty="0" smtClean="0">
                <a:solidFill>
                  <a:srgbClr val="FF0000"/>
                </a:solidFill>
                <a:latin typeface="Calibri" pitchFamily="34" charset="0"/>
              </a:rPr>
              <a:t>(2/2</a:t>
            </a:r>
            <a:r>
              <a:rPr lang="en-US" dirty="0">
                <a:solidFill>
                  <a:srgbClr val="FF0000"/>
                </a:solidFill>
                <a:latin typeface="Calibri" pitchFamily="34" charset="0"/>
              </a:rPr>
              <a:t>)  </a:t>
            </a:r>
          </a:p>
        </p:txBody>
      </p:sp>
      <p:sp>
        <p:nvSpPr>
          <p:cNvPr id="47111" name="TextBox 7"/>
          <p:cNvSpPr txBox="1">
            <a:spLocks noChangeArrowheads="1"/>
          </p:cNvSpPr>
          <p:nvPr/>
        </p:nvSpPr>
        <p:spPr bwMode="auto">
          <a:xfrm>
            <a:off x="0" y="381000"/>
            <a:ext cx="9144000" cy="1754326"/>
          </a:xfrm>
          <a:prstGeom prst="rect">
            <a:avLst/>
          </a:prstGeom>
          <a:noFill/>
          <a:ln w="9525">
            <a:noFill/>
            <a:miter lim="800000"/>
            <a:headEnd/>
            <a:tailEnd/>
          </a:ln>
        </p:spPr>
        <p:txBody>
          <a:bodyPr>
            <a:spAutoFit/>
          </a:bodyPr>
          <a:lstStyle/>
          <a:p>
            <a:r>
              <a:rPr lang="en-US" dirty="0" smtClean="0"/>
              <a:t>In </a:t>
            </a:r>
            <a:r>
              <a:rPr lang="en-US" dirty="0" err="1"/>
              <a:t>directorul</a:t>
            </a:r>
            <a:r>
              <a:rPr lang="en-US" dirty="0"/>
              <a:t> </a:t>
            </a:r>
            <a:r>
              <a:rPr lang="en-US" dirty="0" smtClean="0">
                <a:latin typeface="Courier New" pitchFamily="49" charset="0"/>
                <a:cs typeface="Courier New" pitchFamily="49" charset="0"/>
              </a:rPr>
              <a:t>...2</a:t>
            </a:r>
            <a:r>
              <a:rPr lang="en-US" b="1" dirty="0" smtClean="0">
                <a:latin typeface="Courier New" pitchFamily="49" charset="0"/>
                <a:cs typeface="Courier New" pitchFamily="49" charset="0"/>
              </a:rPr>
              <a:t>ExecJms/</a:t>
            </a:r>
            <a:r>
              <a:rPr lang="en-US" dirty="0" smtClean="0">
                <a:latin typeface="Arial" panose="020B0604020202020204" pitchFamily="34" charset="0"/>
                <a:cs typeface="Arial" panose="020B0604020202020204" pitchFamily="34" charset="0"/>
              </a:rPr>
              <a:t> se </a:t>
            </a:r>
            <a:r>
              <a:rPr lang="en-US" dirty="0" err="1" smtClean="0">
                <a:latin typeface="Arial" panose="020B0604020202020204" pitchFamily="34" charset="0"/>
                <a:cs typeface="Arial" panose="020B0604020202020204" pitchFamily="34" charset="0"/>
              </a:rPr>
              <a:t>afla</a:t>
            </a:r>
            <a:r>
              <a:rPr lang="en-US" dirty="0" smtClean="0">
                <a:latin typeface="Arial" panose="020B0604020202020204" pitchFamily="34" charset="0"/>
                <a:cs typeface="Arial" panose="020B0604020202020204" pitchFamily="34" charset="0"/>
              </a:rPr>
              <a:t>:</a:t>
            </a:r>
          </a:p>
          <a:p>
            <a:endParaRPr lang="en-US" dirty="0" smtClean="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err="1" smtClean="0">
                <a:latin typeface="Arial" panose="020B0604020202020204" pitchFamily="34" charset="0"/>
                <a:cs typeface="Arial" panose="020B0604020202020204" pitchFamily="34" charset="0"/>
              </a:rPr>
              <a:t>sursele</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celor</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sase</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fisiere</a:t>
            </a:r>
            <a:r>
              <a:rPr lang="en-US" dirty="0">
                <a:latin typeface="Arial" panose="020B0604020202020204" pitchFamily="34" charset="0"/>
                <a:cs typeface="Arial" panose="020B0604020202020204" pitchFamily="34" charset="0"/>
              </a:rPr>
              <a:t> </a:t>
            </a:r>
            <a:r>
              <a:rPr lang="en-US" dirty="0" smtClean="0">
                <a:latin typeface="Arial" panose="020B0604020202020204" pitchFamily="34" charset="0"/>
                <a:cs typeface="Arial" panose="020B0604020202020204" pitchFamily="34" charset="0"/>
              </a:rPr>
              <a:t>(</a:t>
            </a:r>
            <a:r>
              <a:rPr lang="en-US" dirty="0" err="1" smtClean="0">
                <a:latin typeface="Arial" panose="020B0604020202020204" pitchFamily="34" charset="0"/>
                <a:cs typeface="Arial" panose="020B0604020202020204" pitchFamily="34" charset="0"/>
              </a:rPr>
              <a:t>numele</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lor</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sunt</a:t>
            </a:r>
            <a:r>
              <a:rPr lang="en-US" dirty="0" smtClean="0">
                <a:latin typeface="Arial" panose="020B0604020202020204" pitchFamily="34" charset="0"/>
                <a:cs typeface="Arial" panose="020B0604020202020204" pitchFamily="34" charset="0"/>
              </a:rPr>
              <a:t> in slide-</a:t>
            </a:r>
            <a:r>
              <a:rPr lang="en-US" dirty="0" err="1" smtClean="0">
                <a:latin typeface="Arial" panose="020B0604020202020204" pitchFamily="34" charset="0"/>
                <a:cs typeface="Arial" panose="020B0604020202020204" pitchFamily="34" charset="0"/>
              </a:rPr>
              <a:t>ul</a:t>
            </a:r>
            <a:r>
              <a:rPr lang="en-US" dirty="0" smtClean="0">
                <a:latin typeface="Arial" panose="020B0604020202020204" pitchFamily="34" charset="0"/>
                <a:cs typeface="Arial" panose="020B0604020202020204" pitchFamily="34" charset="0"/>
              </a:rPr>
              <a:t> precedent); </a:t>
            </a:r>
          </a:p>
          <a:p>
            <a:pPr marL="742950" lvl="1" indent="-285750">
              <a:buFont typeface="Arial" panose="020B0604020202020204" pitchFamily="34" charset="0"/>
              <a:buChar char="•"/>
            </a:pPr>
            <a:r>
              <a:rPr lang="en-US" dirty="0" err="1" smtClean="0">
                <a:latin typeface="Arial" panose="020B0604020202020204" pitchFamily="34" charset="0"/>
                <a:cs typeface="Arial" panose="020B0604020202020204" pitchFamily="34" charset="0"/>
              </a:rPr>
              <a:t>sapte</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fisiere</a:t>
            </a:r>
            <a:r>
              <a:rPr lang="en-US" dirty="0" smtClean="0">
                <a:latin typeface="Arial" panose="020B0604020202020204" pitchFamily="34" charset="0"/>
                <a:cs typeface="Arial" panose="020B0604020202020204" pitchFamily="34" charset="0"/>
              </a:rPr>
              <a:t> de </a:t>
            </a:r>
            <a:r>
              <a:rPr lang="en-US" dirty="0" err="1" smtClean="0">
                <a:latin typeface="Arial" panose="020B0604020202020204" pitchFamily="34" charset="0"/>
                <a:cs typeface="Arial" panose="020B0604020202020204" pitchFamily="34" charset="0"/>
              </a:rPr>
              <a:t>comenzi</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pentru</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dirijarea</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implementarii</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si</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executiei</a:t>
            </a:r>
            <a:r>
              <a:rPr lang="en-US" dirty="0" smtClean="0">
                <a:latin typeface="Arial" panose="020B0604020202020204" pitchFamily="34" charset="0"/>
                <a:cs typeface="Arial" panose="020B0604020202020204" pitchFamily="34" charset="0"/>
              </a:rPr>
              <a:t>.</a:t>
            </a:r>
          </a:p>
          <a:p>
            <a:endParaRPr lang="en-US" dirty="0" smtClean="0">
              <a:latin typeface="Arial" panose="020B0604020202020204" pitchFamily="34" charset="0"/>
              <a:cs typeface="Arial" panose="020B0604020202020204" pitchFamily="34" charset="0"/>
            </a:endParaRPr>
          </a:p>
          <a:p>
            <a:r>
              <a:rPr lang="en-US" dirty="0" err="1" smtClean="0">
                <a:latin typeface="Arial" panose="020B0604020202020204" pitchFamily="34" charset="0"/>
                <a:cs typeface="Arial" panose="020B0604020202020204" pitchFamily="34" charset="0"/>
              </a:rPr>
              <a:t>Tabelul</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urmator</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precizeaza</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rolurile</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celor</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sapte</a:t>
            </a:r>
            <a:r>
              <a:rPr lang="en-US" dirty="0" smtClean="0">
                <a:latin typeface="Arial" panose="020B0604020202020204" pitchFamily="34" charset="0"/>
                <a:cs typeface="Arial" panose="020B0604020202020204" pitchFamily="34" charset="0"/>
              </a:rPr>
              <a:t> </a:t>
            </a:r>
            <a:r>
              <a:rPr lang="en-US" dirty="0" err="1" smtClean="0">
                <a:latin typeface="Arial" panose="020B0604020202020204" pitchFamily="34" charset="0"/>
                <a:cs typeface="Arial" panose="020B0604020202020204" pitchFamily="34" charset="0"/>
              </a:rPr>
              <a:t>fisiere</a:t>
            </a:r>
            <a:r>
              <a:rPr lang="en-US" dirty="0" smtClean="0">
                <a:latin typeface="Arial" panose="020B0604020202020204" pitchFamily="34" charset="0"/>
                <a:cs typeface="Arial" panose="020B0604020202020204" pitchFamily="34" charset="0"/>
              </a:rPr>
              <a:t> de </a:t>
            </a:r>
            <a:r>
              <a:rPr lang="en-US" dirty="0" err="1" smtClean="0">
                <a:latin typeface="Arial" panose="020B0604020202020204" pitchFamily="34" charset="0"/>
                <a:cs typeface="Arial" panose="020B0604020202020204" pitchFamily="34" charset="0"/>
              </a:rPr>
              <a:t>comenzi</a:t>
            </a:r>
            <a:r>
              <a:rPr lang="en-US" dirty="0" smtClean="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p:txBody>
      </p:sp>
      <p:graphicFrame>
        <p:nvGraphicFramePr>
          <p:cNvPr id="10" name="Table 9"/>
          <p:cNvGraphicFramePr>
            <a:graphicFrameLocks noGrp="1"/>
          </p:cNvGraphicFramePr>
          <p:nvPr>
            <p:extLst>
              <p:ext uri="{D42A27DB-BD31-4B8C-83A1-F6EECF244321}">
                <p14:modId xmlns:p14="http://schemas.microsoft.com/office/powerpoint/2010/main" val="1562372707"/>
              </p:ext>
            </p:extLst>
          </p:nvPr>
        </p:nvGraphicFramePr>
        <p:xfrm>
          <a:off x="762000" y="2326553"/>
          <a:ext cx="7162800" cy="4236242"/>
        </p:xfrm>
        <a:graphic>
          <a:graphicData uri="http://schemas.openxmlformats.org/drawingml/2006/table">
            <a:tbl>
              <a:tblPr firstRow="1" bandRow="1">
                <a:tableStyleId>{5C22544A-7EE6-4342-B048-85BDC9FD1C3A}</a:tableStyleId>
              </a:tblPr>
              <a:tblGrid>
                <a:gridCol w="1665768"/>
                <a:gridCol w="5497032"/>
              </a:tblGrid>
              <a:tr h="508349">
                <a:tc>
                  <a:txBody>
                    <a:bodyPr/>
                    <a:lstStyle/>
                    <a:p>
                      <a:r>
                        <a:rPr lang="en-US" dirty="0" err="1" smtClean="0"/>
                        <a:t>Nume</a:t>
                      </a:r>
                      <a:r>
                        <a:rPr lang="en-US" baseline="0" dirty="0" smtClean="0"/>
                        <a:t> </a:t>
                      </a:r>
                      <a:r>
                        <a:rPr lang="en-US" baseline="0" dirty="0" err="1" smtClean="0"/>
                        <a:t>fisier</a:t>
                      </a:r>
                      <a:endParaRPr lang="en-US" dirty="0"/>
                    </a:p>
                  </a:txBody>
                  <a:tcPr/>
                </a:tc>
                <a:tc>
                  <a:txBody>
                    <a:bodyPr/>
                    <a:lstStyle/>
                    <a:p>
                      <a:r>
                        <a:rPr lang="en-US" dirty="0" err="1" smtClean="0"/>
                        <a:t>Rolul</a:t>
                      </a:r>
                      <a:r>
                        <a:rPr lang="en-US" dirty="0" smtClean="0"/>
                        <a:t> </a:t>
                      </a:r>
                      <a:r>
                        <a:rPr lang="en-US" dirty="0" err="1" smtClean="0"/>
                        <a:t>lui</a:t>
                      </a:r>
                      <a:endParaRPr lang="en-US" dirty="0"/>
                    </a:p>
                  </a:txBody>
                  <a:tcPr/>
                </a:tc>
              </a:tr>
              <a:tr h="508349">
                <a:tc>
                  <a:txBody>
                    <a:bodyPr/>
                    <a:lstStyle/>
                    <a:p>
                      <a:r>
                        <a:rPr lang="en-US" b="1" dirty="0" err="1" smtClean="0"/>
                        <a:t>amq.bat</a:t>
                      </a:r>
                      <a:endParaRPr lang="en-US" b="1" dirty="0"/>
                    </a:p>
                  </a:txBody>
                  <a:tcPr/>
                </a:tc>
                <a:tc>
                  <a:txBody>
                    <a:bodyPr/>
                    <a:lstStyle/>
                    <a:p>
                      <a:r>
                        <a:rPr lang="en-US" b="0" dirty="0" err="1" smtClean="0">
                          <a:latin typeface="Arial" panose="020B0604020202020204" pitchFamily="34" charset="0"/>
                          <a:cs typeface="Arial" panose="020B0604020202020204" pitchFamily="34" charset="0"/>
                        </a:rPr>
                        <a:t>Lanseaza</a:t>
                      </a:r>
                      <a:r>
                        <a:rPr lang="en-US" b="0" dirty="0" smtClean="0">
                          <a:latin typeface="Arial" panose="020B0604020202020204" pitchFamily="34" charset="0"/>
                          <a:cs typeface="Arial" panose="020B0604020202020204" pitchFamily="34" charset="0"/>
                        </a:rPr>
                        <a:t> in </a:t>
                      </a:r>
                      <a:r>
                        <a:rPr lang="en-US" b="0" dirty="0" err="1" smtClean="0">
                          <a:latin typeface="Arial" panose="020B0604020202020204" pitchFamily="34" charset="0"/>
                          <a:cs typeface="Arial" panose="020B0604020202020204" pitchFamily="34" charset="0"/>
                        </a:rPr>
                        <a:t>lucru</a:t>
                      </a:r>
                      <a:r>
                        <a:rPr lang="en-US" b="0" dirty="0" smtClean="0">
                          <a:latin typeface="Arial" panose="020B0604020202020204" pitchFamily="34" charset="0"/>
                          <a:cs typeface="Arial" panose="020B0604020202020204" pitchFamily="34" charset="0"/>
                        </a:rPr>
                        <a:t> </a:t>
                      </a:r>
                      <a:r>
                        <a:rPr lang="en-US" b="0" dirty="0" err="1" smtClean="0">
                          <a:latin typeface="Arial" panose="020B0604020202020204" pitchFamily="34" charset="0"/>
                          <a:cs typeface="Arial" panose="020B0604020202020204" pitchFamily="34" charset="0"/>
                        </a:rPr>
                        <a:t>serviciul</a:t>
                      </a:r>
                      <a:r>
                        <a:rPr lang="en-US" b="0" dirty="0" smtClean="0">
                          <a:latin typeface="Arial" panose="020B0604020202020204" pitchFamily="34" charset="0"/>
                          <a:cs typeface="Arial" panose="020B0604020202020204" pitchFamily="34" charset="0"/>
                        </a:rPr>
                        <a:t> de </a:t>
                      </a:r>
                      <a:r>
                        <a:rPr lang="en-US" b="0" dirty="0" err="1" smtClean="0">
                          <a:latin typeface="Arial" panose="020B0604020202020204" pitchFamily="34" charset="0"/>
                          <a:cs typeface="Arial" panose="020B0604020202020204" pitchFamily="34" charset="0"/>
                        </a:rPr>
                        <a:t>mesagerie</a:t>
                      </a:r>
                      <a:endParaRPr lang="en-US" b="0" dirty="0">
                        <a:latin typeface="Arial" panose="020B0604020202020204" pitchFamily="34" charset="0"/>
                        <a:cs typeface="Arial" panose="020B0604020202020204" pitchFamily="34" charset="0"/>
                      </a:endParaRPr>
                    </a:p>
                  </a:txBody>
                  <a:tcPr/>
                </a:tc>
              </a:tr>
              <a:tr h="508349">
                <a:tc>
                  <a:txBody>
                    <a:bodyPr/>
                    <a:lstStyle/>
                    <a:p>
                      <a:r>
                        <a:rPr lang="en-US" sz="1800" b="1" dirty="0" err="1" smtClean="0">
                          <a:latin typeface="Courier New" pitchFamily="49" charset="0"/>
                          <a:cs typeface="Courier New" pitchFamily="49" charset="0"/>
                        </a:rPr>
                        <a:t>j.bat</a:t>
                      </a:r>
                      <a:endParaRPr lang="en-US" sz="1800" b="1" dirty="0" smtClean="0">
                        <a:latin typeface="Courier New" pitchFamily="49" charset="0"/>
                        <a:cs typeface="Courier New" pitchFamily="49" charset="0"/>
                      </a:endParaRPr>
                    </a:p>
                  </a:txBody>
                  <a:tcPr/>
                </a:tc>
                <a:tc>
                  <a:txBody>
                    <a:bodyPr/>
                    <a:lstStyle/>
                    <a:p>
                      <a:r>
                        <a:rPr lang="en-US" b="0" dirty="0" err="1" smtClean="0">
                          <a:latin typeface="Arial" panose="020B0604020202020204" pitchFamily="34" charset="0"/>
                          <a:cs typeface="Arial" panose="020B0604020202020204" pitchFamily="34" charset="0"/>
                        </a:rPr>
                        <a:t>Compileaza</a:t>
                      </a:r>
                      <a:r>
                        <a:rPr lang="en-US" b="0" dirty="0" smtClean="0">
                          <a:latin typeface="Arial" panose="020B0604020202020204" pitchFamily="34" charset="0"/>
                          <a:cs typeface="Arial" panose="020B0604020202020204" pitchFamily="34" charset="0"/>
                        </a:rPr>
                        <a:t> </a:t>
                      </a:r>
                      <a:r>
                        <a:rPr lang="en-US" b="0" dirty="0" err="1" smtClean="0">
                          <a:latin typeface="Arial" panose="020B0604020202020204" pitchFamily="34" charset="0"/>
                          <a:cs typeface="Arial" panose="020B0604020202020204" pitchFamily="34" charset="0"/>
                        </a:rPr>
                        <a:t>si</a:t>
                      </a:r>
                      <a:r>
                        <a:rPr lang="en-US" b="0" dirty="0" smtClean="0">
                          <a:latin typeface="Arial" panose="020B0604020202020204" pitchFamily="34" charset="0"/>
                          <a:cs typeface="Arial" panose="020B0604020202020204" pitchFamily="34" charset="0"/>
                        </a:rPr>
                        <a:t> </a:t>
                      </a:r>
                      <a:r>
                        <a:rPr lang="en-US" b="0" dirty="0" err="1" smtClean="0">
                          <a:latin typeface="Arial" panose="020B0604020202020204" pitchFamily="34" charset="0"/>
                          <a:cs typeface="Arial" panose="020B0604020202020204" pitchFamily="34" charset="0"/>
                        </a:rPr>
                        <a:t>lanseaza</a:t>
                      </a:r>
                      <a:r>
                        <a:rPr lang="en-US" b="0" dirty="0" smtClean="0">
                          <a:latin typeface="Arial" panose="020B0604020202020204" pitchFamily="34" charset="0"/>
                          <a:cs typeface="Arial" panose="020B0604020202020204" pitchFamily="34" charset="0"/>
                        </a:rPr>
                        <a:t> in </a:t>
                      </a:r>
                      <a:r>
                        <a:rPr lang="en-US" b="0" dirty="0" err="1" smtClean="0">
                          <a:latin typeface="Arial" panose="020B0604020202020204" pitchFamily="34" charset="0"/>
                          <a:cs typeface="Arial" panose="020B0604020202020204" pitchFamily="34" charset="0"/>
                        </a:rPr>
                        <a:t>lucru</a:t>
                      </a:r>
                      <a:r>
                        <a:rPr lang="en-US" b="0" dirty="0" smtClean="0">
                          <a:latin typeface="Arial" panose="020B0604020202020204" pitchFamily="34" charset="0"/>
                          <a:cs typeface="Arial" panose="020B0604020202020204" pitchFamily="34" charset="0"/>
                        </a:rPr>
                        <a:t> </a:t>
                      </a:r>
                      <a:r>
                        <a:rPr lang="en-US" b="0" dirty="0" err="1" smtClean="0">
                          <a:latin typeface="Arial" panose="020B0604020202020204" pitchFamily="34" charset="0"/>
                          <a:cs typeface="Arial" panose="020B0604020202020204" pitchFamily="34" charset="0"/>
                        </a:rPr>
                        <a:t>serverul</a:t>
                      </a:r>
                      <a:r>
                        <a:rPr lang="en-US" b="0" dirty="0" smtClean="0">
                          <a:latin typeface="Arial" panose="020B0604020202020204" pitchFamily="34" charset="0"/>
                          <a:cs typeface="Arial" panose="020B0604020202020204" pitchFamily="34" charset="0"/>
                        </a:rPr>
                        <a:t> Java</a:t>
                      </a:r>
                      <a:endParaRPr lang="en-US" b="0" dirty="0">
                        <a:latin typeface="Arial" panose="020B0604020202020204" pitchFamily="34" charset="0"/>
                        <a:cs typeface="Arial" panose="020B0604020202020204" pitchFamily="34" charset="0"/>
                      </a:endParaRPr>
                    </a:p>
                  </a:txBody>
                  <a:tcPr/>
                </a:tc>
              </a:tr>
              <a:tr h="593074">
                <a:tc>
                  <a:txBody>
                    <a:bodyPr/>
                    <a:lstStyle/>
                    <a:p>
                      <a:r>
                        <a:rPr lang="en-US" b="1" dirty="0" err="1" smtClean="0">
                          <a:latin typeface="Courier New" pitchFamily="49" charset="0"/>
                          <a:cs typeface="Courier New" pitchFamily="49" charset="0"/>
                        </a:rPr>
                        <a:t>y.bat</a:t>
                      </a:r>
                      <a:endParaRPr lang="en-US" b="1" dirty="0" smtClean="0">
                        <a:latin typeface="Courier New" pitchFamily="49" charset="0"/>
                        <a:cs typeface="Courier New" pitchFamily="49" charset="0"/>
                      </a:endParaRPr>
                    </a:p>
                  </a:txBody>
                  <a:tcPr/>
                </a:tc>
                <a:tc>
                  <a:txBody>
                    <a:bodyPr/>
                    <a:lstStyle/>
                    <a:p>
                      <a:r>
                        <a:rPr lang="en-US" b="0" dirty="0" err="1" smtClean="0">
                          <a:latin typeface="Arial" panose="020B0604020202020204" pitchFamily="34" charset="0"/>
                          <a:cs typeface="Arial" panose="020B0604020202020204" pitchFamily="34" charset="0"/>
                        </a:rPr>
                        <a:t>Lanseaza</a:t>
                      </a:r>
                      <a:r>
                        <a:rPr lang="en-US" b="0" dirty="0" smtClean="0">
                          <a:latin typeface="Arial" panose="020B0604020202020204" pitchFamily="34" charset="0"/>
                          <a:cs typeface="Arial" panose="020B0604020202020204" pitchFamily="34" charset="0"/>
                        </a:rPr>
                        <a:t> in </a:t>
                      </a:r>
                      <a:r>
                        <a:rPr lang="en-US" b="0" dirty="0" err="1" smtClean="0">
                          <a:latin typeface="Arial" panose="020B0604020202020204" pitchFamily="34" charset="0"/>
                          <a:cs typeface="Arial" panose="020B0604020202020204" pitchFamily="34" charset="0"/>
                        </a:rPr>
                        <a:t>lucru</a:t>
                      </a:r>
                      <a:r>
                        <a:rPr lang="en-US" b="0" dirty="0" smtClean="0">
                          <a:latin typeface="Arial" panose="020B0604020202020204" pitchFamily="34" charset="0"/>
                          <a:cs typeface="Arial" panose="020B0604020202020204" pitchFamily="34" charset="0"/>
                        </a:rPr>
                        <a:t> </a:t>
                      </a:r>
                      <a:r>
                        <a:rPr lang="en-US" b="0" dirty="0" err="1" smtClean="0">
                          <a:latin typeface="Arial" panose="020B0604020202020204" pitchFamily="34" charset="0"/>
                          <a:cs typeface="Arial" panose="020B0604020202020204" pitchFamily="34" charset="0"/>
                        </a:rPr>
                        <a:t>serverul</a:t>
                      </a:r>
                      <a:r>
                        <a:rPr lang="en-US" b="0" dirty="0" smtClean="0">
                          <a:latin typeface="Arial" panose="020B0604020202020204" pitchFamily="34" charset="0"/>
                          <a:cs typeface="Arial" panose="020B0604020202020204" pitchFamily="34" charset="0"/>
                        </a:rPr>
                        <a:t> python</a:t>
                      </a:r>
                    </a:p>
                  </a:txBody>
                  <a:tcPr/>
                </a:tc>
              </a:tr>
              <a:tr h="508349">
                <a:tc>
                  <a:txBody>
                    <a:bodyPr/>
                    <a:lstStyle/>
                    <a:p>
                      <a:r>
                        <a:rPr lang="en-US" b="1" dirty="0" err="1" smtClean="0">
                          <a:latin typeface="Courier New" pitchFamily="49" charset="0"/>
                          <a:cs typeface="Courier New" pitchFamily="49" charset="0"/>
                        </a:rPr>
                        <a:t>n.bat</a:t>
                      </a:r>
                      <a:endParaRPr lang="en-US" b="1" dirty="0" smtClean="0">
                        <a:latin typeface="Courier New" pitchFamily="49" charset="0"/>
                        <a:cs typeface="Courier New" pitchFamily="49" charset="0"/>
                      </a:endParaRPr>
                    </a:p>
                  </a:txBody>
                  <a:tcPr/>
                </a:tc>
                <a:tc>
                  <a:txBody>
                    <a:bodyPr/>
                    <a:lstStyle/>
                    <a:p>
                      <a:r>
                        <a:rPr lang="en-US" b="0" dirty="0" err="1" smtClean="0">
                          <a:latin typeface="Arial" panose="020B0604020202020204" pitchFamily="34" charset="0"/>
                          <a:cs typeface="Arial" panose="020B0604020202020204" pitchFamily="34" charset="0"/>
                        </a:rPr>
                        <a:t>Lanseaza</a:t>
                      </a:r>
                      <a:r>
                        <a:rPr lang="en-US" b="0" dirty="0" smtClean="0">
                          <a:latin typeface="Arial" panose="020B0604020202020204" pitchFamily="34" charset="0"/>
                          <a:cs typeface="Arial" panose="020B0604020202020204" pitchFamily="34" charset="0"/>
                        </a:rPr>
                        <a:t> in </a:t>
                      </a:r>
                      <a:r>
                        <a:rPr lang="en-US" b="0" dirty="0" err="1" smtClean="0">
                          <a:latin typeface="Arial" panose="020B0604020202020204" pitchFamily="34" charset="0"/>
                          <a:cs typeface="Arial" panose="020B0604020202020204" pitchFamily="34" charset="0"/>
                        </a:rPr>
                        <a:t>lucru</a:t>
                      </a:r>
                      <a:r>
                        <a:rPr lang="en-US" b="0" dirty="0" smtClean="0">
                          <a:latin typeface="Arial" panose="020B0604020202020204" pitchFamily="34" charset="0"/>
                          <a:cs typeface="Arial" panose="020B0604020202020204" pitchFamily="34" charset="0"/>
                        </a:rPr>
                        <a:t> </a:t>
                      </a:r>
                      <a:r>
                        <a:rPr lang="en-US" b="0" dirty="0" err="1" smtClean="0">
                          <a:latin typeface="Arial" panose="020B0604020202020204" pitchFamily="34" charset="0"/>
                          <a:cs typeface="Arial" panose="020B0604020202020204" pitchFamily="34" charset="0"/>
                        </a:rPr>
                        <a:t>serverul</a:t>
                      </a:r>
                      <a:r>
                        <a:rPr lang="en-US" b="0" dirty="0" smtClean="0">
                          <a:latin typeface="Arial" panose="020B0604020202020204" pitchFamily="34" charset="0"/>
                          <a:cs typeface="Arial" panose="020B0604020202020204" pitchFamily="34" charset="0"/>
                        </a:rPr>
                        <a:t> </a:t>
                      </a:r>
                      <a:r>
                        <a:rPr lang="en-US" b="0" dirty="0" err="1" smtClean="0">
                          <a:latin typeface="Arial" panose="020B0604020202020204" pitchFamily="34" charset="0"/>
                          <a:cs typeface="Arial" panose="020B0604020202020204" pitchFamily="34" charset="0"/>
                        </a:rPr>
                        <a:t>NodeJs</a:t>
                      </a:r>
                      <a:endParaRPr lang="en-US" b="0" dirty="0">
                        <a:latin typeface="Arial" panose="020B0604020202020204" pitchFamily="34" charset="0"/>
                        <a:cs typeface="Arial" panose="020B0604020202020204" pitchFamily="34" charset="0"/>
                      </a:endParaRPr>
                    </a:p>
                  </a:txBody>
                  <a:tcPr/>
                </a:tc>
              </a:tr>
              <a:tr h="593074">
                <a:tc>
                  <a:txBody>
                    <a:bodyPr/>
                    <a:lstStyle/>
                    <a:p>
                      <a:r>
                        <a:rPr lang="en-US" b="1" dirty="0" err="1" smtClean="0">
                          <a:latin typeface="Courier New" pitchFamily="49" charset="0"/>
                          <a:cs typeface="Courier New" pitchFamily="49" charset="0"/>
                        </a:rPr>
                        <a:t>jj.bat</a:t>
                      </a:r>
                      <a:endParaRPr lang="en-US" b="1" dirty="0" smtClean="0">
                        <a:latin typeface="Courier New" pitchFamily="49" charset="0"/>
                        <a:cs typeface="Courier New" pitchFamily="49" charset="0"/>
                      </a:endParaRPr>
                    </a:p>
                  </a:txBody>
                  <a:tcPr/>
                </a:tc>
                <a:tc>
                  <a:txBody>
                    <a:bodyPr/>
                    <a:lstStyle/>
                    <a:p>
                      <a:r>
                        <a:rPr lang="en-US" b="0" dirty="0" err="1" smtClean="0">
                          <a:latin typeface="Arial" panose="020B0604020202020204" pitchFamily="34" charset="0"/>
                          <a:cs typeface="Arial" panose="020B0604020202020204" pitchFamily="34" charset="0"/>
                        </a:rPr>
                        <a:t>Compileaza</a:t>
                      </a:r>
                      <a:r>
                        <a:rPr lang="en-US" b="0" dirty="0" smtClean="0">
                          <a:latin typeface="Arial" panose="020B0604020202020204" pitchFamily="34" charset="0"/>
                          <a:cs typeface="Arial" panose="020B0604020202020204" pitchFamily="34" charset="0"/>
                        </a:rPr>
                        <a:t> </a:t>
                      </a:r>
                      <a:r>
                        <a:rPr lang="en-US" b="0" dirty="0" err="1" smtClean="0">
                          <a:latin typeface="Arial" panose="020B0604020202020204" pitchFamily="34" charset="0"/>
                          <a:cs typeface="Arial" panose="020B0604020202020204" pitchFamily="34" charset="0"/>
                        </a:rPr>
                        <a:t>si</a:t>
                      </a:r>
                      <a:r>
                        <a:rPr lang="en-US" b="0" dirty="0" smtClean="0">
                          <a:latin typeface="Arial" panose="020B0604020202020204" pitchFamily="34" charset="0"/>
                          <a:cs typeface="Arial" panose="020B0604020202020204" pitchFamily="34" charset="0"/>
                        </a:rPr>
                        <a:t> </a:t>
                      </a:r>
                      <a:r>
                        <a:rPr lang="en-US" b="0" dirty="0" err="1" smtClean="0">
                          <a:latin typeface="Arial" panose="020B0604020202020204" pitchFamily="34" charset="0"/>
                          <a:cs typeface="Arial" panose="020B0604020202020204" pitchFamily="34" charset="0"/>
                        </a:rPr>
                        <a:t>lanseaza</a:t>
                      </a:r>
                      <a:r>
                        <a:rPr lang="en-US" b="0" dirty="0" smtClean="0">
                          <a:latin typeface="Arial" panose="020B0604020202020204" pitchFamily="34" charset="0"/>
                          <a:cs typeface="Arial" panose="020B0604020202020204" pitchFamily="34" charset="0"/>
                        </a:rPr>
                        <a:t> in </a:t>
                      </a:r>
                      <a:r>
                        <a:rPr lang="en-US" b="0" dirty="0" err="1" smtClean="0">
                          <a:latin typeface="Arial" panose="020B0604020202020204" pitchFamily="34" charset="0"/>
                          <a:cs typeface="Arial" panose="020B0604020202020204" pitchFamily="34" charset="0"/>
                        </a:rPr>
                        <a:t>lucru</a:t>
                      </a:r>
                      <a:r>
                        <a:rPr lang="en-US" b="0" dirty="0" smtClean="0">
                          <a:latin typeface="Arial" panose="020B0604020202020204" pitchFamily="34" charset="0"/>
                          <a:cs typeface="Arial" panose="020B0604020202020204" pitchFamily="34" charset="0"/>
                        </a:rPr>
                        <a:t> </a:t>
                      </a:r>
                      <a:r>
                        <a:rPr lang="en-US" b="0" dirty="0" err="1" smtClean="0">
                          <a:latin typeface="Arial" panose="020B0604020202020204" pitchFamily="34" charset="0"/>
                          <a:cs typeface="Arial" panose="020B0604020202020204" pitchFamily="34" charset="0"/>
                        </a:rPr>
                        <a:t>clientul</a:t>
                      </a:r>
                      <a:r>
                        <a:rPr lang="en-US" b="0" dirty="0" smtClean="0">
                          <a:latin typeface="Arial" panose="020B0604020202020204" pitchFamily="34" charset="0"/>
                          <a:cs typeface="Arial" panose="020B0604020202020204" pitchFamily="34" charset="0"/>
                        </a:rPr>
                        <a:t> Java</a:t>
                      </a:r>
                      <a:endParaRPr lang="en-US" b="0" dirty="0">
                        <a:latin typeface="Arial" panose="020B0604020202020204" pitchFamily="34" charset="0"/>
                        <a:cs typeface="Arial" panose="020B0604020202020204" pitchFamily="34" charset="0"/>
                      </a:endParaRPr>
                    </a:p>
                  </a:txBody>
                  <a:tcPr/>
                </a:tc>
              </a:tr>
              <a:tr h="508349">
                <a:tc>
                  <a:txBody>
                    <a:bodyPr/>
                    <a:lstStyle/>
                    <a:p>
                      <a:r>
                        <a:rPr lang="en-US" b="1" dirty="0" err="1" smtClean="0">
                          <a:latin typeface="Courier New" pitchFamily="49" charset="0"/>
                          <a:cs typeface="Courier New" pitchFamily="49" charset="0"/>
                        </a:rPr>
                        <a:t>yy.bat</a:t>
                      </a:r>
                      <a:endParaRPr lang="en-US" b="1" dirty="0" smtClean="0">
                        <a:latin typeface="Courier New" pitchFamily="49" charset="0"/>
                        <a:cs typeface="Courier New" pitchFamily="49" charset="0"/>
                      </a:endParaRPr>
                    </a:p>
                  </a:txBody>
                  <a:tcPr/>
                </a:tc>
                <a:tc>
                  <a:txBody>
                    <a:bodyPr/>
                    <a:lstStyle/>
                    <a:p>
                      <a:r>
                        <a:rPr lang="en-US" b="0" dirty="0" err="1" smtClean="0">
                          <a:latin typeface="Arial" panose="020B0604020202020204" pitchFamily="34" charset="0"/>
                          <a:cs typeface="Arial" panose="020B0604020202020204" pitchFamily="34" charset="0"/>
                        </a:rPr>
                        <a:t>Lanseaza</a:t>
                      </a:r>
                      <a:r>
                        <a:rPr lang="en-US" b="0" dirty="0" smtClean="0">
                          <a:latin typeface="Arial" panose="020B0604020202020204" pitchFamily="34" charset="0"/>
                          <a:cs typeface="Arial" panose="020B0604020202020204" pitchFamily="34" charset="0"/>
                        </a:rPr>
                        <a:t> in </a:t>
                      </a:r>
                      <a:r>
                        <a:rPr lang="en-US" b="0" dirty="0" err="1" smtClean="0">
                          <a:latin typeface="Arial" panose="020B0604020202020204" pitchFamily="34" charset="0"/>
                          <a:cs typeface="Arial" panose="020B0604020202020204" pitchFamily="34" charset="0"/>
                        </a:rPr>
                        <a:t>lucru</a:t>
                      </a:r>
                      <a:r>
                        <a:rPr lang="en-US" b="0" dirty="0" smtClean="0">
                          <a:latin typeface="Arial" panose="020B0604020202020204" pitchFamily="34" charset="0"/>
                          <a:cs typeface="Arial" panose="020B0604020202020204" pitchFamily="34" charset="0"/>
                        </a:rPr>
                        <a:t> </a:t>
                      </a:r>
                      <a:r>
                        <a:rPr lang="en-US" b="0" dirty="0" err="1" smtClean="0">
                          <a:latin typeface="Arial" panose="020B0604020202020204" pitchFamily="34" charset="0"/>
                          <a:cs typeface="Arial" panose="020B0604020202020204" pitchFamily="34" charset="0"/>
                        </a:rPr>
                        <a:t>clientul</a:t>
                      </a:r>
                      <a:r>
                        <a:rPr lang="en-US" b="0" dirty="0" smtClean="0">
                          <a:latin typeface="Arial" panose="020B0604020202020204" pitchFamily="34" charset="0"/>
                          <a:cs typeface="Arial" panose="020B0604020202020204" pitchFamily="34" charset="0"/>
                        </a:rPr>
                        <a:t> python</a:t>
                      </a:r>
                    </a:p>
                  </a:txBody>
                  <a:tcPr/>
                </a:tc>
              </a:tr>
              <a:tr h="508349">
                <a:tc>
                  <a:txBody>
                    <a:bodyPr/>
                    <a:lstStyle/>
                    <a:p>
                      <a:r>
                        <a:rPr lang="en-US" b="1" dirty="0" err="1" smtClean="0">
                          <a:latin typeface="Courier New" pitchFamily="49" charset="0"/>
                          <a:cs typeface="Courier New" pitchFamily="49" charset="0"/>
                        </a:rPr>
                        <a:t>nn.bat</a:t>
                      </a:r>
                      <a:endParaRPr lang="en-US" b="1" dirty="0" smtClean="0">
                        <a:latin typeface="Courier New" pitchFamily="49" charset="0"/>
                        <a:cs typeface="Courier New" pitchFamily="49" charset="0"/>
                      </a:endParaRPr>
                    </a:p>
                  </a:txBody>
                  <a:tcPr/>
                </a:tc>
                <a:tc>
                  <a:txBody>
                    <a:bodyPr/>
                    <a:lstStyle/>
                    <a:p>
                      <a:r>
                        <a:rPr lang="en-US" b="0" dirty="0" err="1" smtClean="0">
                          <a:latin typeface="Arial" panose="020B0604020202020204" pitchFamily="34" charset="0"/>
                          <a:cs typeface="Arial" panose="020B0604020202020204" pitchFamily="34" charset="0"/>
                        </a:rPr>
                        <a:t>Lanseaza</a:t>
                      </a:r>
                      <a:r>
                        <a:rPr lang="en-US" b="0" dirty="0" smtClean="0">
                          <a:latin typeface="Arial" panose="020B0604020202020204" pitchFamily="34" charset="0"/>
                          <a:cs typeface="Arial" panose="020B0604020202020204" pitchFamily="34" charset="0"/>
                        </a:rPr>
                        <a:t> in </a:t>
                      </a:r>
                      <a:r>
                        <a:rPr lang="en-US" b="0" dirty="0" err="1" smtClean="0">
                          <a:latin typeface="Arial" panose="020B0604020202020204" pitchFamily="34" charset="0"/>
                          <a:cs typeface="Arial" panose="020B0604020202020204" pitchFamily="34" charset="0"/>
                        </a:rPr>
                        <a:t>lucru</a:t>
                      </a:r>
                      <a:r>
                        <a:rPr lang="en-US" b="0" dirty="0" smtClean="0">
                          <a:latin typeface="Arial" panose="020B0604020202020204" pitchFamily="34" charset="0"/>
                          <a:cs typeface="Arial" panose="020B0604020202020204" pitchFamily="34" charset="0"/>
                        </a:rPr>
                        <a:t> </a:t>
                      </a:r>
                      <a:r>
                        <a:rPr lang="en-US" b="0" dirty="0" err="1" smtClean="0">
                          <a:latin typeface="Arial" panose="020B0604020202020204" pitchFamily="34" charset="0"/>
                          <a:cs typeface="Arial" panose="020B0604020202020204" pitchFamily="34" charset="0"/>
                        </a:rPr>
                        <a:t>clientul</a:t>
                      </a:r>
                      <a:r>
                        <a:rPr lang="en-US" b="0" dirty="0" smtClean="0">
                          <a:latin typeface="Arial" panose="020B0604020202020204" pitchFamily="34" charset="0"/>
                          <a:cs typeface="Arial" panose="020B0604020202020204" pitchFamily="34" charset="0"/>
                        </a:rPr>
                        <a:t> </a:t>
                      </a:r>
                      <a:r>
                        <a:rPr lang="en-US" b="0" dirty="0" err="1" smtClean="0">
                          <a:latin typeface="Arial" panose="020B0604020202020204" pitchFamily="34" charset="0"/>
                          <a:cs typeface="Arial" panose="020B0604020202020204" pitchFamily="34" charset="0"/>
                        </a:rPr>
                        <a:t>NodeJs</a:t>
                      </a:r>
                      <a:endParaRPr lang="en-US" b="0" dirty="0">
                        <a:latin typeface="Arial" panose="020B0604020202020204" pitchFamily="34" charset="0"/>
                        <a:cs typeface="Arial" panose="020B0604020202020204" pitchFamily="34" charset="0"/>
                      </a:endParaRPr>
                    </a:p>
                  </a:txBody>
                  <a:tcPr/>
                </a:tc>
              </a:tr>
            </a:tbl>
          </a:graphicData>
        </a:graphic>
      </p:graphicFrame>
    </p:spTree>
    <p:extLst>
      <p:ext uri="{BB962C8B-B14F-4D97-AF65-F5344CB8AC3E}">
        <p14:creationId xmlns:p14="http://schemas.microsoft.com/office/powerpoint/2010/main" val="14413314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23</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933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a:solidFill>
                  <a:srgbClr val="FF0000"/>
                </a:solidFill>
                <a:latin typeface="Calibri" pitchFamily="34" charset="0"/>
              </a:rPr>
              <a:t>Java EE </a:t>
            </a:r>
            <a:r>
              <a:rPr lang="en-US" altLang="en-US" dirty="0" smtClean="0">
                <a:solidFill>
                  <a:srgbClr val="FF0000"/>
                </a:solidFill>
                <a:latin typeface="Calibri" pitchFamily="34" charset="0"/>
              </a:rPr>
              <a:t>8: </a:t>
            </a:r>
            <a:r>
              <a:rPr lang="en-US" altLang="en-US" dirty="0" err="1">
                <a:solidFill>
                  <a:srgbClr val="FF0000"/>
                </a:solidFill>
                <a:latin typeface="Calibri" pitchFamily="34" charset="0"/>
              </a:rPr>
              <a:t>comunicarea</a:t>
            </a:r>
            <a:r>
              <a:rPr lang="en-US" altLang="en-US" dirty="0">
                <a:solidFill>
                  <a:srgbClr val="FF0000"/>
                </a:solidFill>
                <a:latin typeface="Calibri" pitchFamily="34" charset="0"/>
              </a:rPr>
              <a:t> </a:t>
            </a:r>
            <a:r>
              <a:rPr lang="en-US" altLang="en-US" dirty="0" err="1">
                <a:solidFill>
                  <a:srgbClr val="FF0000"/>
                </a:solidFill>
                <a:latin typeface="Calibri" pitchFamily="34" charset="0"/>
              </a:rPr>
              <a:t>prin</a:t>
            </a:r>
            <a:r>
              <a:rPr lang="en-US" altLang="en-US" dirty="0">
                <a:solidFill>
                  <a:srgbClr val="FF0000"/>
                </a:solidFill>
                <a:latin typeface="Calibri" pitchFamily="34" charset="0"/>
              </a:rPr>
              <a:t> </a:t>
            </a:r>
            <a:r>
              <a:rPr lang="en-US" altLang="en-US" dirty="0" err="1">
                <a:solidFill>
                  <a:srgbClr val="FF0000"/>
                </a:solidFill>
                <a:latin typeface="Calibri" pitchFamily="34" charset="0"/>
              </a:rPr>
              <a:t>mesaje</a:t>
            </a:r>
            <a:r>
              <a:rPr lang="en-US" altLang="en-US" dirty="0">
                <a:solidFill>
                  <a:srgbClr val="FF0000"/>
                </a:solidFill>
                <a:latin typeface="Calibri" pitchFamily="34" charset="0"/>
              </a:rPr>
              <a:t>; JMS (Java Message Services) </a:t>
            </a:r>
            <a:r>
              <a:rPr lang="en-US" altLang="en-US" dirty="0" smtClean="0">
                <a:solidFill>
                  <a:srgbClr val="FF0000"/>
                </a:solidFill>
                <a:latin typeface="Calibri" pitchFamily="34" charset="0"/>
              </a:rPr>
              <a:t>(1/2).</a:t>
            </a:r>
            <a:endParaRPr lang="en-US" altLang="en-US" dirty="0">
              <a:solidFill>
                <a:srgbClr val="FF0000"/>
              </a:solidFill>
              <a:latin typeface="Calibri" pitchFamily="34" charset="0"/>
            </a:endParaRPr>
          </a:p>
        </p:txBody>
      </p:sp>
      <p:sp>
        <p:nvSpPr>
          <p:cNvPr id="3" name="TextBox 2"/>
          <p:cNvSpPr txBox="1"/>
          <p:nvPr/>
        </p:nvSpPr>
        <p:spPr>
          <a:xfrm>
            <a:off x="-53855" y="2968099"/>
            <a:ext cx="9176084" cy="3970318"/>
          </a:xfrm>
          <a:prstGeom prst="rect">
            <a:avLst/>
          </a:prstGeom>
          <a:noFill/>
        </p:spPr>
        <p:txBody>
          <a:bodyPr wrap="square" rtlCol="0">
            <a:spAutoFit/>
          </a:bodyPr>
          <a:lstStyle/>
          <a:p>
            <a:r>
              <a:rPr lang="en-US" dirty="0" err="1" smtClean="0"/>
              <a:t>Vom</a:t>
            </a:r>
            <a:r>
              <a:rPr lang="en-US" dirty="0" smtClean="0"/>
              <a:t> </a:t>
            </a:r>
            <a:r>
              <a:rPr lang="en-US" dirty="0" err="1" smtClean="0"/>
              <a:t>exemplifica</a:t>
            </a:r>
            <a:r>
              <a:rPr lang="en-US" dirty="0" smtClean="0"/>
              <a:t> in </a:t>
            </a:r>
            <a:r>
              <a:rPr lang="en-US" dirty="0" err="1" smtClean="0"/>
              <a:t>WildFly</a:t>
            </a:r>
            <a:r>
              <a:rPr lang="en-US" dirty="0" smtClean="0"/>
              <a:t> </a:t>
            </a:r>
            <a:r>
              <a:rPr lang="en-US" dirty="0" err="1" smtClean="0"/>
              <a:t>folosind</a:t>
            </a:r>
            <a:r>
              <a:rPr lang="en-US" dirty="0" smtClean="0"/>
              <a:t> o </a:t>
            </a:r>
            <a:r>
              <a:rPr lang="en-US" dirty="0" err="1" smtClean="0"/>
              <a:t>coada</a:t>
            </a:r>
            <a:r>
              <a:rPr lang="en-US" dirty="0" smtClean="0"/>
              <a:t> </a:t>
            </a:r>
            <a:r>
              <a:rPr lang="en-US" b="1" dirty="0" err="1"/>
              <a:t>COADA_in_EJB</a:t>
            </a:r>
            <a:r>
              <a:rPr lang="en-US" dirty="0"/>
              <a:t> </a:t>
            </a:r>
            <a:r>
              <a:rPr lang="en-US" dirty="0" err="1" smtClean="0"/>
              <a:t>si</a:t>
            </a:r>
            <a:r>
              <a:rPr lang="en-US" dirty="0" smtClean="0"/>
              <a:t> </a:t>
            </a:r>
            <a:r>
              <a:rPr lang="en-US" dirty="0" err="1" smtClean="0"/>
              <a:t>tripletul</a:t>
            </a:r>
            <a:r>
              <a:rPr lang="en-US" dirty="0" smtClean="0"/>
              <a:t> </a:t>
            </a:r>
            <a:r>
              <a:rPr lang="en-US" b="1" dirty="0" err="1" smtClean="0"/>
              <a:t>8ejbMDB</a:t>
            </a:r>
            <a:r>
              <a:rPr lang="en-US" b="1" dirty="0" smtClean="0"/>
              <a:t>, </a:t>
            </a:r>
            <a:r>
              <a:rPr lang="en-US" b="1" dirty="0" err="1" smtClean="0"/>
              <a:t>9ejbSend8</a:t>
            </a:r>
            <a:r>
              <a:rPr lang="en-US" b="1" dirty="0" smtClean="0"/>
              <a:t>, </a:t>
            </a:r>
            <a:r>
              <a:rPr lang="en-US" b="1" dirty="0" err="1" smtClean="0"/>
              <a:t>9client8WF</a:t>
            </a:r>
            <a:r>
              <a:rPr lang="en-US" b="1" dirty="0" smtClean="0"/>
              <a:t>.</a:t>
            </a:r>
            <a:r>
              <a:rPr lang="en-US" dirty="0" smtClean="0"/>
              <a:t> </a:t>
            </a:r>
          </a:p>
          <a:p>
            <a:endParaRPr lang="en-US" dirty="0" smtClean="0"/>
          </a:p>
          <a:p>
            <a:r>
              <a:rPr lang="en-US" dirty="0" err="1" smtClean="0"/>
              <a:t>Modulul</a:t>
            </a:r>
            <a:r>
              <a:rPr lang="en-US" dirty="0" smtClean="0"/>
              <a:t> </a:t>
            </a:r>
            <a:r>
              <a:rPr lang="en-US" b="1" dirty="0" err="1" smtClean="0"/>
              <a:t>8ejbMDB</a:t>
            </a:r>
            <a:r>
              <a:rPr lang="en-US" dirty="0" smtClean="0"/>
              <a:t> </a:t>
            </a:r>
            <a:r>
              <a:rPr lang="en-US" dirty="0" err="1" smtClean="0"/>
              <a:t>este</a:t>
            </a:r>
            <a:r>
              <a:rPr lang="en-US" dirty="0" smtClean="0"/>
              <a:t> de tip </a:t>
            </a:r>
            <a:r>
              <a:rPr lang="en-US" b="1" dirty="0" err="1" smtClean="0"/>
              <a:t>MessageDriven</a:t>
            </a:r>
            <a:r>
              <a:rPr lang="en-US" dirty="0" smtClean="0"/>
              <a:t> </a:t>
            </a:r>
            <a:r>
              <a:rPr lang="en-US" dirty="0" err="1" smtClean="0"/>
              <a:t>si</a:t>
            </a:r>
            <a:r>
              <a:rPr lang="en-US" dirty="0" smtClean="0"/>
              <a:t> </a:t>
            </a:r>
            <a:r>
              <a:rPr lang="en-US" dirty="0" err="1" smtClean="0"/>
              <a:t>asteapta</a:t>
            </a:r>
            <a:r>
              <a:rPr lang="en-US" dirty="0" smtClean="0"/>
              <a:t> </a:t>
            </a:r>
            <a:r>
              <a:rPr lang="en-US" dirty="0" err="1" smtClean="0"/>
              <a:t>mesaje</a:t>
            </a:r>
            <a:r>
              <a:rPr lang="en-US" dirty="0" smtClean="0"/>
              <a:t> in </a:t>
            </a:r>
            <a:r>
              <a:rPr lang="en-US" dirty="0" err="1" smtClean="0"/>
              <a:t>coada</a:t>
            </a:r>
            <a:r>
              <a:rPr lang="en-US" dirty="0" smtClean="0"/>
              <a:t>. </a:t>
            </a:r>
          </a:p>
          <a:p>
            <a:r>
              <a:rPr lang="en-US" dirty="0" err="1" smtClean="0"/>
              <a:t>Modulul</a:t>
            </a:r>
            <a:r>
              <a:rPr lang="en-US" dirty="0" smtClean="0"/>
              <a:t> </a:t>
            </a:r>
            <a:r>
              <a:rPr lang="en-US" b="1" dirty="0" err="1" smtClean="0"/>
              <a:t>9ejbSend8</a:t>
            </a:r>
            <a:r>
              <a:rPr lang="en-US" dirty="0" smtClean="0"/>
              <a:t> </a:t>
            </a:r>
            <a:r>
              <a:rPr lang="en-US" dirty="0" err="1" smtClean="0"/>
              <a:t>este</a:t>
            </a:r>
            <a:r>
              <a:rPr lang="en-US" dirty="0" smtClean="0"/>
              <a:t> de tip </a:t>
            </a:r>
            <a:r>
              <a:rPr lang="en-US" b="1" dirty="0" smtClean="0"/>
              <a:t>Stateless</a:t>
            </a:r>
            <a:r>
              <a:rPr lang="en-US" dirty="0" smtClean="0"/>
              <a:t> </a:t>
            </a:r>
            <a:r>
              <a:rPr lang="en-US" dirty="0" err="1" smtClean="0"/>
              <a:t>si</a:t>
            </a:r>
            <a:r>
              <a:rPr lang="en-US" dirty="0" smtClean="0"/>
              <a:t> </a:t>
            </a:r>
            <a:r>
              <a:rPr lang="en-US" dirty="0" err="1" smtClean="0"/>
              <a:t>stie</a:t>
            </a:r>
            <a:r>
              <a:rPr lang="en-US" dirty="0" smtClean="0"/>
              <a:t> </a:t>
            </a:r>
            <a:r>
              <a:rPr lang="en-US" dirty="0" err="1" smtClean="0"/>
              <a:t>sa</a:t>
            </a:r>
            <a:r>
              <a:rPr lang="en-US" dirty="0" smtClean="0"/>
              <a:t> </a:t>
            </a:r>
            <a:r>
              <a:rPr lang="en-US" dirty="0" err="1" smtClean="0"/>
              <a:t>puna</a:t>
            </a:r>
            <a:r>
              <a:rPr lang="en-US" dirty="0" smtClean="0"/>
              <a:t> </a:t>
            </a:r>
            <a:r>
              <a:rPr lang="en-US" dirty="0" err="1" smtClean="0"/>
              <a:t>mesaje</a:t>
            </a:r>
            <a:r>
              <a:rPr lang="en-US" dirty="0" smtClean="0"/>
              <a:t> in </a:t>
            </a:r>
            <a:r>
              <a:rPr lang="en-US" dirty="0" err="1" smtClean="0"/>
              <a:t>aceeasi</a:t>
            </a:r>
            <a:r>
              <a:rPr lang="en-US" dirty="0" smtClean="0"/>
              <a:t> </a:t>
            </a:r>
            <a:r>
              <a:rPr lang="en-US" dirty="0" err="1" smtClean="0"/>
              <a:t>coada</a:t>
            </a:r>
            <a:r>
              <a:rPr lang="en-US" dirty="0" smtClean="0"/>
              <a:t>. </a:t>
            </a:r>
            <a:r>
              <a:rPr lang="en-US" dirty="0" err="1" smtClean="0"/>
              <a:t>Ambele</a:t>
            </a:r>
            <a:r>
              <a:rPr lang="en-US" dirty="0" smtClean="0"/>
              <a:t> </a:t>
            </a:r>
            <a:r>
              <a:rPr lang="en-US" dirty="0" err="1" smtClean="0"/>
              <a:t>sunt</a:t>
            </a:r>
            <a:r>
              <a:rPr lang="en-US" dirty="0" smtClean="0"/>
              <a:t> </a:t>
            </a:r>
            <a:r>
              <a:rPr lang="en-US" dirty="0" err="1" smtClean="0"/>
              <a:t>deployate</a:t>
            </a:r>
            <a:r>
              <a:rPr lang="en-US" dirty="0" smtClean="0"/>
              <a:t> </a:t>
            </a:r>
            <a:r>
              <a:rPr lang="en-US" dirty="0" err="1" smtClean="0"/>
              <a:t>pe</a:t>
            </a:r>
            <a:r>
              <a:rPr lang="en-US" dirty="0" smtClean="0"/>
              <a:t> </a:t>
            </a:r>
            <a:r>
              <a:rPr lang="en-US" dirty="0" err="1" smtClean="0"/>
              <a:t>acelasi</a:t>
            </a:r>
            <a:r>
              <a:rPr lang="en-US" dirty="0" smtClean="0"/>
              <a:t> AS. </a:t>
            </a:r>
          </a:p>
          <a:p>
            <a:endParaRPr lang="en-US" dirty="0" smtClean="0"/>
          </a:p>
          <a:p>
            <a:r>
              <a:rPr lang="en-US" dirty="0" err="1" smtClean="0"/>
              <a:t>Aplicatia</a:t>
            </a:r>
            <a:r>
              <a:rPr lang="en-US" dirty="0" smtClean="0"/>
              <a:t> standalone </a:t>
            </a:r>
            <a:r>
              <a:rPr lang="en-US" b="1" dirty="0" err="1" smtClean="0"/>
              <a:t>9Client8WF</a:t>
            </a:r>
            <a:r>
              <a:rPr lang="en-US" dirty="0" smtClean="0"/>
              <a:t> </a:t>
            </a:r>
            <a:r>
              <a:rPr lang="en-US" dirty="0" err="1" smtClean="0"/>
              <a:t>stie</a:t>
            </a:r>
            <a:r>
              <a:rPr lang="en-US" dirty="0" smtClean="0"/>
              <a:t> </a:t>
            </a:r>
            <a:r>
              <a:rPr lang="en-US" dirty="0" err="1" smtClean="0"/>
              <a:t>sa</a:t>
            </a:r>
            <a:r>
              <a:rPr lang="en-US" dirty="0" smtClean="0"/>
              <a:t> </a:t>
            </a:r>
            <a:r>
              <a:rPr lang="en-US" dirty="0" err="1" smtClean="0"/>
              <a:t>invoce</a:t>
            </a:r>
            <a:r>
              <a:rPr lang="en-US" dirty="0" smtClean="0"/>
              <a:t> </a:t>
            </a:r>
            <a:r>
              <a:rPr lang="en-US" dirty="0" err="1" smtClean="0"/>
              <a:t>prin</a:t>
            </a:r>
            <a:r>
              <a:rPr lang="en-US" dirty="0" smtClean="0"/>
              <a:t> </a:t>
            </a:r>
            <a:r>
              <a:rPr lang="en-US" dirty="0" err="1" smtClean="0"/>
              <a:t>JNDI</a:t>
            </a:r>
            <a:r>
              <a:rPr lang="en-US" dirty="0" smtClean="0"/>
              <a:t> </a:t>
            </a:r>
            <a:r>
              <a:rPr lang="en-US" dirty="0" err="1" smtClean="0"/>
              <a:t>pe</a:t>
            </a:r>
            <a:r>
              <a:rPr lang="en-US" dirty="0" smtClean="0"/>
              <a:t> </a:t>
            </a:r>
            <a:r>
              <a:rPr lang="en-US" b="1" dirty="0" err="1" smtClean="0"/>
              <a:t>9ejbSend8</a:t>
            </a:r>
            <a:r>
              <a:rPr lang="en-US" dirty="0" smtClean="0"/>
              <a:t> </a:t>
            </a:r>
            <a:r>
              <a:rPr lang="en-US" dirty="0" err="1" smtClean="0"/>
              <a:t>si</a:t>
            </a:r>
            <a:r>
              <a:rPr lang="en-US" dirty="0" smtClean="0"/>
              <a:t> </a:t>
            </a:r>
            <a:r>
              <a:rPr lang="en-US" dirty="0" err="1" smtClean="0"/>
              <a:t>sa</a:t>
            </a:r>
            <a:r>
              <a:rPr lang="en-US" dirty="0" smtClean="0"/>
              <a:t> ii </a:t>
            </a:r>
            <a:r>
              <a:rPr lang="en-US" dirty="0" err="1" smtClean="0"/>
              <a:t>dea</a:t>
            </a:r>
            <a:r>
              <a:rPr lang="en-US" dirty="0" smtClean="0"/>
              <a:t> </a:t>
            </a:r>
            <a:r>
              <a:rPr lang="en-US" dirty="0" err="1" smtClean="0"/>
              <a:t>mesaje</a:t>
            </a:r>
            <a:r>
              <a:rPr lang="en-US" dirty="0" smtClean="0"/>
              <a:t> </a:t>
            </a:r>
            <a:r>
              <a:rPr lang="en-US" dirty="0" err="1" smtClean="0"/>
              <a:t>spre</a:t>
            </a:r>
            <a:r>
              <a:rPr lang="en-US" dirty="0" smtClean="0"/>
              <a:t> a fi </a:t>
            </a:r>
            <a:r>
              <a:rPr lang="en-US" dirty="0" err="1" smtClean="0"/>
              <a:t>depuse</a:t>
            </a:r>
            <a:r>
              <a:rPr lang="en-US" dirty="0" smtClean="0"/>
              <a:t> in </a:t>
            </a:r>
            <a:r>
              <a:rPr lang="en-US" dirty="0" err="1" smtClean="0"/>
              <a:t>coada</a:t>
            </a:r>
            <a:r>
              <a:rPr lang="en-US" dirty="0" smtClean="0"/>
              <a:t>.</a:t>
            </a:r>
          </a:p>
          <a:p>
            <a:r>
              <a:rPr lang="en-US" dirty="0" smtClean="0"/>
              <a:t> </a:t>
            </a:r>
          </a:p>
          <a:p>
            <a:r>
              <a:rPr lang="en-US" dirty="0" err="1" smtClean="0"/>
              <a:t>Pentru</a:t>
            </a:r>
            <a:r>
              <a:rPr lang="en-US" dirty="0" smtClean="0"/>
              <a:t> a </a:t>
            </a:r>
            <a:r>
              <a:rPr lang="en-US" dirty="0" err="1" smtClean="0"/>
              <a:t>utiza</a:t>
            </a:r>
            <a:r>
              <a:rPr lang="en-US" dirty="0" smtClean="0"/>
              <a:t> </a:t>
            </a:r>
            <a:r>
              <a:rPr lang="en-US" dirty="0" err="1" smtClean="0"/>
              <a:t>acest</a:t>
            </a:r>
            <a:r>
              <a:rPr lang="en-US" dirty="0" smtClean="0"/>
              <a:t> tip de </a:t>
            </a:r>
            <a:r>
              <a:rPr lang="en-US" dirty="0" err="1" smtClean="0"/>
              <a:t>beanuri</a:t>
            </a:r>
            <a:r>
              <a:rPr lang="en-US" dirty="0" smtClean="0"/>
              <a:t>, </a:t>
            </a:r>
            <a:r>
              <a:rPr lang="en-US" dirty="0" err="1" smtClean="0"/>
              <a:t>Wildfly</a:t>
            </a:r>
            <a:r>
              <a:rPr lang="en-US" dirty="0" smtClean="0"/>
              <a:t> </a:t>
            </a:r>
            <a:r>
              <a:rPr lang="en-US" dirty="0" err="1" smtClean="0"/>
              <a:t>trebuie</a:t>
            </a:r>
            <a:r>
              <a:rPr lang="en-US" dirty="0" smtClean="0"/>
              <a:t> </a:t>
            </a:r>
            <a:r>
              <a:rPr lang="en-US" dirty="0" err="1" smtClean="0"/>
              <a:t>lansat</a:t>
            </a:r>
            <a:r>
              <a:rPr lang="en-US" dirty="0" smtClean="0">
                <a:solidFill>
                  <a:srgbClr val="C00000"/>
                </a:solidFill>
              </a:rPr>
              <a:t>:</a:t>
            </a:r>
          </a:p>
          <a:p>
            <a:r>
              <a:rPr lang="en-US" dirty="0" smtClean="0">
                <a:solidFill>
                  <a:srgbClr val="C00000"/>
                </a:solidFill>
              </a:rPr>
              <a:t>                               </a:t>
            </a:r>
            <a:r>
              <a:rPr lang="en-US" b="1" dirty="0">
                <a:solidFill>
                  <a:srgbClr val="C00000"/>
                </a:solidFill>
              </a:rPr>
              <a:t>standalone --</a:t>
            </a:r>
            <a:r>
              <a:rPr lang="en-US" b="1" dirty="0" smtClean="0">
                <a:solidFill>
                  <a:srgbClr val="C00000"/>
                </a:solidFill>
              </a:rPr>
              <a:t>server-</a:t>
            </a:r>
            <a:r>
              <a:rPr lang="en-US" b="1" dirty="0" err="1" smtClean="0">
                <a:solidFill>
                  <a:srgbClr val="C00000"/>
                </a:solidFill>
              </a:rPr>
              <a:t>config</a:t>
            </a:r>
            <a:r>
              <a:rPr lang="en-US" b="1" dirty="0" smtClean="0">
                <a:solidFill>
                  <a:srgbClr val="C00000"/>
                </a:solidFill>
              </a:rPr>
              <a:t>=standalone-</a:t>
            </a:r>
            <a:r>
              <a:rPr lang="en-US" b="1" dirty="0" err="1" smtClean="0">
                <a:solidFill>
                  <a:srgbClr val="C00000"/>
                </a:solidFill>
              </a:rPr>
              <a:t>full.xml</a:t>
            </a:r>
            <a:endParaRPr lang="en-US" b="1" dirty="0" smtClean="0">
              <a:solidFill>
                <a:srgbClr val="C00000"/>
              </a:solidFill>
            </a:endParaRPr>
          </a:p>
          <a:p>
            <a:endParaRPr lang="en-US" b="1" dirty="0" smtClean="0">
              <a:solidFill>
                <a:srgbClr val="C00000"/>
              </a:solidFill>
            </a:endParaRPr>
          </a:p>
          <a:p>
            <a:r>
              <a:rPr lang="en-US" i="1" u="sng" dirty="0" smtClean="0">
                <a:solidFill>
                  <a:srgbClr val="C00000"/>
                </a:solidFill>
              </a:rPr>
              <a:t>                           </a:t>
            </a:r>
            <a:r>
              <a:rPr lang="en-US" b="1" i="1" u="sng" dirty="0" smtClean="0">
                <a:solidFill>
                  <a:srgbClr val="0070C0"/>
                </a:solidFill>
              </a:rPr>
              <a:t>(</a:t>
            </a:r>
            <a:r>
              <a:rPr lang="en-US" b="1" i="1" u="sng" dirty="0" err="1" smtClean="0">
                <a:solidFill>
                  <a:srgbClr val="0070C0"/>
                </a:solidFill>
              </a:rPr>
              <a:t>Exemplul</a:t>
            </a:r>
            <a:r>
              <a:rPr lang="en-US" b="1" i="1" u="sng" dirty="0" smtClean="0">
                <a:solidFill>
                  <a:srgbClr val="0070C0"/>
                </a:solidFill>
              </a:rPr>
              <a:t> merge </a:t>
            </a:r>
            <a:r>
              <a:rPr lang="en-US" b="1" i="1" u="sng" dirty="0" err="1" smtClean="0">
                <a:solidFill>
                  <a:srgbClr val="0070C0"/>
                </a:solidFill>
              </a:rPr>
              <a:t>pe</a:t>
            </a:r>
            <a:r>
              <a:rPr lang="en-US" b="1" i="1" u="sng" dirty="0" smtClean="0">
                <a:solidFill>
                  <a:srgbClr val="0070C0"/>
                </a:solidFill>
              </a:rPr>
              <a:t> </a:t>
            </a:r>
            <a:r>
              <a:rPr lang="en-US" b="1" i="1" u="sng" dirty="0" err="1" smtClean="0">
                <a:solidFill>
                  <a:srgbClr val="0070C0"/>
                </a:solidFill>
              </a:rPr>
              <a:t>WildFly</a:t>
            </a:r>
            <a:r>
              <a:rPr lang="en-US" b="1" i="1" u="sng" dirty="0" smtClean="0">
                <a:solidFill>
                  <a:srgbClr val="0070C0"/>
                </a:solidFill>
              </a:rPr>
              <a:t> 21! </a:t>
            </a:r>
            <a:r>
              <a:rPr lang="en-US" b="1" i="1" u="sng" dirty="0" err="1" smtClean="0">
                <a:solidFill>
                  <a:srgbClr val="0070C0"/>
                </a:solidFill>
              </a:rPr>
              <a:t>Pe</a:t>
            </a:r>
            <a:r>
              <a:rPr lang="en-US" b="1" i="1" u="sng" dirty="0" smtClean="0">
                <a:solidFill>
                  <a:srgbClr val="0070C0"/>
                </a:solidFill>
              </a:rPr>
              <a:t> </a:t>
            </a:r>
            <a:r>
              <a:rPr lang="en-US" b="1" i="1" u="sng" dirty="0" err="1" smtClean="0">
                <a:solidFill>
                  <a:srgbClr val="0070C0"/>
                </a:solidFill>
              </a:rPr>
              <a:t>WildFly25</a:t>
            </a:r>
            <a:r>
              <a:rPr lang="en-US" b="1" i="1" u="sng" dirty="0" smtClean="0">
                <a:solidFill>
                  <a:srgbClr val="0070C0"/>
                </a:solidFill>
              </a:rPr>
              <a:t> nu! )</a:t>
            </a:r>
            <a:endParaRPr lang="en-US" b="1" i="1" u="sng" dirty="0">
              <a:solidFill>
                <a:srgbClr val="0070C0"/>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015663"/>
            <a:ext cx="6381066" cy="19268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0" y="369332"/>
            <a:ext cx="9144000" cy="646331"/>
          </a:xfrm>
          <a:prstGeom prst="rect">
            <a:avLst/>
          </a:prstGeom>
          <a:noFill/>
        </p:spPr>
        <p:txBody>
          <a:bodyPr wrap="square" rtlCol="0">
            <a:spAutoFit/>
          </a:bodyPr>
          <a:lstStyle/>
          <a:p>
            <a:r>
              <a:rPr lang="en-US" dirty="0" err="1" smtClean="0"/>
              <a:t>Comunicarea</a:t>
            </a:r>
            <a:r>
              <a:rPr lang="en-US" dirty="0" smtClean="0"/>
              <a:t> </a:t>
            </a:r>
            <a:r>
              <a:rPr lang="en-US" dirty="0" err="1" smtClean="0"/>
              <a:t>avand</a:t>
            </a:r>
            <a:r>
              <a:rPr lang="en-US" dirty="0" smtClean="0"/>
              <a:t> ca receptor un </a:t>
            </a:r>
            <a:r>
              <a:rPr lang="en-US" dirty="0" err="1" smtClean="0"/>
              <a:t>MessageDrivenBean</a:t>
            </a:r>
            <a:r>
              <a:rPr lang="en-US" dirty="0" smtClean="0"/>
              <a:t> (</a:t>
            </a:r>
            <a:r>
              <a:rPr lang="en-US" dirty="0" err="1" smtClean="0"/>
              <a:t>MDB</a:t>
            </a:r>
            <a:r>
              <a:rPr lang="en-US" dirty="0" smtClean="0"/>
              <a:t>) </a:t>
            </a:r>
            <a:r>
              <a:rPr lang="en-US" dirty="0" err="1" smtClean="0"/>
              <a:t>folosind</a:t>
            </a:r>
            <a:r>
              <a:rPr lang="en-US" dirty="0" smtClean="0"/>
              <a:t> un AS </a:t>
            </a:r>
            <a:r>
              <a:rPr lang="en-US" dirty="0" err="1" smtClean="0"/>
              <a:t>EJB</a:t>
            </a:r>
            <a:r>
              <a:rPr lang="en-US" dirty="0" smtClean="0"/>
              <a:t> se </a:t>
            </a:r>
            <a:r>
              <a:rPr lang="en-US" dirty="0" err="1" smtClean="0"/>
              <a:t>desfasoara</a:t>
            </a:r>
            <a:r>
              <a:rPr lang="en-US" dirty="0" smtClean="0"/>
              <a:t> conform </a:t>
            </a:r>
            <a:r>
              <a:rPr lang="en-US" dirty="0" err="1" smtClean="0"/>
              <a:t>schemei</a:t>
            </a:r>
            <a:r>
              <a:rPr lang="en-US" dirty="0" smtClean="0"/>
              <a:t> de </a:t>
            </a:r>
            <a:r>
              <a:rPr lang="en-US" dirty="0" err="1" smtClean="0"/>
              <a:t>mai</a:t>
            </a:r>
            <a:r>
              <a:rPr lang="en-US" dirty="0" smtClean="0"/>
              <a:t> </a:t>
            </a:r>
            <a:r>
              <a:rPr lang="en-US" dirty="0" err="1" smtClean="0"/>
              <a:t>jos.</a:t>
            </a:r>
            <a:endParaRPr lang="en-US" dirty="0"/>
          </a:p>
        </p:txBody>
      </p:sp>
    </p:spTree>
    <p:extLst>
      <p:ext uri="{BB962C8B-B14F-4D97-AF65-F5344CB8AC3E}">
        <p14:creationId xmlns:p14="http://schemas.microsoft.com/office/powerpoint/2010/main" val="40695283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24</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933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dirty="0">
                <a:solidFill>
                  <a:srgbClr val="FF0000"/>
                </a:solidFill>
                <a:latin typeface="Calibri" pitchFamily="34" charset="0"/>
              </a:rPr>
              <a:t>Java EE </a:t>
            </a:r>
            <a:r>
              <a:rPr lang="en-US" altLang="en-US" dirty="0" smtClean="0">
                <a:solidFill>
                  <a:srgbClr val="FF0000"/>
                </a:solidFill>
                <a:latin typeface="Calibri" pitchFamily="34" charset="0"/>
              </a:rPr>
              <a:t>8: </a:t>
            </a:r>
            <a:r>
              <a:rPr lang="en-US" altLang="en-US" dirty="0" err="1">
                <a:solidFill>
                  <a:srgbClr val="FF0000"/>
                </a:solidFill>
                <a:latin typeface="Calibri" pitchFamily="34" charset="0"/>
              </a:rPr>
              <a:t>comunicarea</a:t>
            </a:r>
            <a:r>
              <a:rPr lang="en-US" altLang="en-US" dirty="0">
                <a:solidFill>
                  <a:srgbClr val="FF0000"/>
                </a:solidFill>
                <a:latin typeface="Calibri" pitchFamily="34" charset="0"/>
              </a:rPr>
              <a:t> </a:t>
            </a:r>
            <a:r>
              <a:rPr lang="en-US" altLang="en-US" dirty="0" err="1">
                <a:solidFill>
                  <a:srgbClr val="FF0000"/>
                </a:solidFill>
                <a:latin typeface="Calibri" pitchFamily="34" charset="0"/>
              </a:rPr>
              <a:t>prin</a:t>
            </a:r>
            <a:r>
              <a:rPr lang="en-US" altLang="en-US" dirty="0">
                <a:solidFill>
                  <a:srgbClr val="FF0000"/>
                </a:solidFill>
                <a:latin typeface="Calibri" pitchFamily="34" charset="0"/>
              </a:rPr>
              <a:t> </a:t>
            </a:r>
            <a:r>
              <a:rPr lang="en-US" altLang="en-US" dirty="0" err="1">
                <a:solidFill>
                  <a:srgbClr val="FF0000"/>
                </a:solidFill>
                <a:latin typeface="Calibri" pitchFamily="34" charset="0"/>
              </a:rPr>
              <a:t>mesaje</a:t>
            </a:r>
            <a:r>
              <a:rPr lang="en-US" altLang="en-US" dirty="0">
                <a:solidFill>
                  <a:srgbClr val="FF0000"/>
                </a:solidFill>
                <a:latin typeface="Calibri" pitchFamily="34" charset="0"/>
              </a:rPr>
              <a:t>; JMS (Java Message Services</a:t>
            </a:r>
            <a:r>
              <a:rPr lang="en-US" altLang="en-US">
                <a:solidFill>
                  <a:srgbClr val="FF0000"/>
                </a:solidFill>
                <a:latin typeface="Calibri" pitchFamily="34" charset="0"/>
              </a:rPr>
              <a:t>) </a:t>
            </a:r>
            <a:r>
              <a:rPr lang="en-US" altLang="en-US" smtClean="0">
                <a:solidFill>
                  <a:srgbClr val="FF0000"/>
                </a:solidFill>
                <a:latin typeface="Calibri" pitchFamily="34" charset="0"/>
              </a:rPr>
              <a:t>(2/2).</a:t>
            </a:r>
            <a:endParaRPr lang="en-US" altLang="en-US" dirty="0">
              <a:solidFill>
                <a:srgbClr val="FF0000"/>
              </a:solidFill>
              <a:latin typeface="Calibri" pitchFamily="34" charset="0"/>
            </a:endParaRPr>
          </a:p>
        </p:txBody>
      </p:sp>
      <p:sp>
        <p:nvSpPr>
          <p:cNvPr id="2" name="Rectangle 1"/>
          <p:cNvSpPr/>
          <p:nvPr/>
        </p:nvSpPr>
        <p:spPr>
          <a:xfrm>
            <a:off x="10236" y="425053"/>
            <a:ext cx="9144000" cy="4524315"/>
          </a:xfrm>
          <a:prstGeom prst="rect">
            <a:avLst/>
          </a:prstGeom>
        </p:spPr>
        <p:txBody>
          <a:bodyPr wrap="square">
            <a:spAutoFit/>
          </a:bodyPr>
          <a:lstStyle/>
          <a:p>
            <a:r>
              <a:rPr lang="en-US" dirty="0" err="1"/>
              <a:t>Comunicarea</a:t>
            </a:r>
            <a:r>
              <a:rPr lang="en-US" dirty="0"/>
              <a:t> </a:t>
            </a:r>
            <a:r>
              <a:rPr lang="en-US" dirty="0" err="1"/>
              <a:t>prin</a:t>
            </a:r>
            <a:r>
              <a:rPr lang="en-US" dirty="0"/>
              <a:t> </a:t>
            </a:r>
            <a:r>
              <a:rPr lang="en-US" dirty="0" err="1"/>
              <a:t>mesaje</a:t>
            </a:r>
            <a:r>
              <a:rPr lang="en-US" dirty="0"/>
              <a:t> </a:t>
            </a:r>
            <a:r>
              <a:rPr lang="en-US" dirty="0" err="1"/>
              <a:t>devine</a:t>
            </a:r>
            <a:r>
              <a:rPr lang="en-US" dirty="0"/>
              <a:t> </a:t>
            </a:r>
            <a:r>
              <a:rPr lang="en-US" dirty="0" err="1"/>
              <a:t>interesanta</a:t>
            </a:r>
            <a:r>
              <a:rPr lang="en-US" dirty="0"/>
              <a:t> </a:t>
            </a:r>
            <a:r>
              <a:rPr lang="en-US" dirty="0" err="1"/>
              <a:t>atunci</a:t>
            </a:r>
            <a:r>
              <a:rPr lang="en-US" dirty="0"/>
              <a:t> </a:t>
            </a:r>
            <a:r>
              <a:rPr lang="en-US" dirty="0" err="1"/>
              <a:t>cand</a:t>
            </a:r>
            <a:r>
              <a:rPr lang="en-US" dirty="0"/>
              <a:t>, </a:t>
            </a:r>
            <a:r>
              <a:rPr lang="en-US" dirty="0" err="1"/>
              <a:t>spre</a:t>
            </a:r>
            <a:r>
              <a:rPr lang="en-US" dirty="0"/>
              <a:t> </a:t>
            </a:r>
            <a:r>
              <a:rPr lang="en-US" dirty="0" err="1"/>
              <a:t>exemplu</a:t>
            </a:r>
            <a:r>
              <a:rPr lang="en-US" dirty="0"/>
              <a:t>, un </a:t>
            </a:r>
            <a:r>
              <a:rPr lang="en-US" dirty="0" err="1"/>
              <a:t>EJB</a:t>
            </a:r>
            <a:r>
              <a:rPr lang="en-US" dirty="0"/>
              <a:t> de </a:t>
            </a:r>
            <a:r>
              <a:rPr lang="en-US" dirty="0" err="1"/>
              <a:t>tipul</a:t>
            </a:r>
            <a:r>
              <a:rPr lang="en-US" dirty="0"/>
              <a:t> </a:t>
            </a:r>
            <a:r>
              <a:rPr lang="en-US" dirty="0" err="1"/>
              <a:t>lui</a:t>
            </a:r>
            <a:r>
              <a:rPr lang="en-US" dirty="0"/>
              <a:t> </a:t>
            </a:r>
            <a:r>
              <a:rPr lang="en-US" b="1" dirty="0" err="1" smtClean="0"/>
              <a:t>9ejbSend8</a:t>
            </a:r>
            <a:r>
              <a:rPr lang="en-US" dirty="0" smtClean="0"/>
              <a:t> </a:t>
            </a:r>
            <a:r>
              <a:rPr lang="en-US" dirty="0" err="1"/>
              <a:t>trimite</a:t>
            </a:r>
            <a:r>
              <a:rPr lang="en-US" dirty="0"/>
              <a:t> </a:t>
            </a:r>
            <a:r>
              <a:rPr lang="en-US" dirty="0" err="1"/>
              <a:t>mesaje</a:t>
            </a:r>
            <a:r>
              <a:rPr lang="en-US" dirty="0"/>
              <a:t> </a:t>
            </a:r>
            <a:r>
              <a:rPr lang="en-US" dirty="0" err="1"/>
              <a:t>spre</a:t>
            </a:r>
            <a:r>
              <a:rPr lang="en-US" dirty="0"/>
              <a:t> o </a:t>
            </a:r>
            <a:r>
              <a:rPr lang="en-US" dirty="0" err="1"/>
              <a:t>coada</a:t>
            </a:r>
            <a:r>
              <a:rPr lang="en-US" dirty="0"/>
              <a:t> </a:t>
            </a:r>
            <a:r>
              <a:rPr lang="en-US" dirty="0" smtClean="0"/>
              <a:t>externa, </a:t>
            </a:r>
            <a:r>
              <a:rPr lang="en-US" dirty="0" err="1" smtClean="0"/>
              <a:t>aflata</a:t>
            </a:r>
            <a:r>
              <a:rPr lang="en-US" dirty="0" smtClean="0"/>
              <a:t> </a:t>
            </a:r>
            <a:r>
              <a:rPr lang="en-US" dirty="0" err="1" smtClean="0"/>
              <a:t>pe</a:t>
            </a:r>
            <a:r>
              <a:rPr lang="en-US" dirty="0" smtClean="0"/>
              <a:t> un alt server de </a:t>
            </a:r>
            <a:r>
              <a:rPr lang="en-US" dirty="0" err="1" smtClean="0"/>
              <a:t>aplicatii</a:t>
            </a:r>
            <a:r>
              <a:rPr lang="en-US" dirty="0" smtClean="0"/>
              <a:t> </a:t>
            </a:r>
            <a:r>
              <a:rPr lang="en-US" dirty="0" err="1" smtClean="0"/>
              <a:t>EJB</a:t>
            </a:r>
            <a:r>
              <a:rPr lang="en-US" dirty="0" smtClean="0"/>
              <a:t>. </a:t>
            </a:r>
            <a:endParaRPr lang="en-US" dirty="0"/>
          </a:p>
          <a:p>
            <a:endParaRPr lang="en-US" dirty="0"/>
          </a:p>
          <a:p>
            <a:r>
              <a:rPr lang="en-US" dirty="0"/>
              <a:t>De </a:t>
            </a:r>
            <a:r>
              <a:rPr lang="en-US" dirty="0" err="1"/>
              <a:t>asemenea</a:t>
            </a:r>
            <a:r>
              <a:rPr lang="en-US" dirty="0"/>
              <a:t>, </a:t>
            </a:r>
            <a:r>
              <a:rPr lang="en-US" dirty="0" err="1"/>
              <a:t>devine</a:t>
            </a:r>
            <a:r>
              <a:rPr lang="en-US" dirty="0"/>
              <a:t> </a:t>
            </a:r>
            <a:r>
              <a:rPr lang="en-US" dirty="0" err="1"/>
              <a:t>interesant</a:t>
            </a:r>
            <a:r>
              <a:rPr lang="en-US" dirty="0"/>
              <a:t> un client standalone de </a:t>
            </a:r>
            <a:r>
              <a:rPr lang="en-US" dirty="0" err="1"/>
              <a:t>tipul</a:t>
            </a:r>
            <a:r>
              <a:rPr lang="en-US" dirty="0"/>
              <a:t> </a:t>
            </a:r>
            <a:r>
              <a:rPr lang="en-US" b="1" dirty="0" err="1" smtClean="0"/>
              <a:t>9Client8WF</a:t>
            </a:r>
            <a:r>
              <a:rPr lang="en-US" dirty="0" smtClean="0"/>
              <a:t> </a:t>
            </a:r>
            <a:r>
              <a:rPr lang="en-US" dirty="0" err="1"/>
              <a:t>trimite</a:t>
            </a:r>
            <a:r>
              <a:rPr lang="en-US" dirty="0"/>
              <a:t> un </a:t>
            </a:r>
            <a:r>
              <a:rPr lang="en-US" dirty="0" err="1"/>
              <a:t>mesaj</a:t>
            </a:r>
            <a:r>
              <a:rPr lang="en-US" dirty="0"/>
              <a:t> </a:t>
            </a:r>
            <a:r>
              <a:rPr lang="en-US" dirty="0" err="1"/>
              <a:t>catre</a:t>
            </a:r>
            <a:r>
              <a:rPr lang="en-US" dirty="0"/>
              <a:t> </a:t>
            </a:r>
            <a:r>
              <a:rPr lang="en-US" b="1" dirty="0" err="1" smtClean="0"/>
              <a:t>COADA_in_EJB</a:t>
            </a:r>
            <a:r>
              <a:rPr lang="en-US" dirty="0"/>
              <a:t>, </a:t>
            </a:r>
            <a:r>
              <a:rPr lang="en-US" dirty="0" err="1"/>
              <a:t>provocand</a:t>
            </a:r>
            <a:r>
              <a:rPr lang="en-US" dirty="0"/>
              <a:t> </a:t>
            </a:r>
            <a:r>
              <a:rPr lang="en-US" dirty="0" err="1"/>
              <a:t>activarea</a:t>
            </a:r>
            <a:r>
              <a:rPr lang="en-US" dirty="0"/>
              <a:t> </a:t>
            </a:r>
            <a:r>
              <a:rPr lang="en-US" dirty="0" err="1"/>
              <a:t>directa</a:t>
            </a:r>
            <a:r>
              <a:rPr lang="en-US" dirty="0"/>
              <a:t> din exterior a </a:t>
            </a:r>
            <a:r>
              <a:rPr lang="en-US" b="1" dirty="0" err="1" smtClean="0"/>
              <a:t>8ejbMDB</a:t>
            </a:r>
            <a:r>
              <a:rPr lang="en-US" dirty="0" smtClean="0"/>
              <a:t>.</a:t>
            </a:r>
          </a:p>
          <a:p>
            <a:r>
              <a:rPr lang="en-US" dirty="0" smtClean="0"/>
              <a:t>Un </a:t>
            </a:r>
            <a:r>
              <a:rPr lang="en-US" dirty="0" err="1" smtClean="0"/>
              <a:t>astfel</a:t>
            </a:r>
            <a:r>
              <a:rPr lang="en-US" dirty="0" smtClean="0"/>
              <a:t> de client </a:t>
            </a:r>
            <a:r>
              <a:rPr lang="en-US" dirty="0" err="1" smtClean="0"/>
              <a:t>poate</a:t>
            </a:r>
            <a:r>
              <a:rPr lang="en-US" dirty="0" smtClean="0"/>
              <a:t> fi </a:t>
            </a:r>
            <a:r>
              <a:rPr lang="en-US" dirty="0" err="1" smtClean="0"/>
              <a:t>scris</a:t>
            </a:r>
            <a:r>
              <a:rPr lang="en-US" dirty="0" smtClean="0"/>
              <a:t> </a:t>
            </a:r>
            <a:r>
              <a:rPr lang="en-US" dirty="0" err="1" smtClean="0"/>
              <a:t>si</a:t>
            </a:r>
            <a:r>
              <a:rPr lang="en-US" dirty="0" smtClean="0"/>
              <a:t> in alt </a:t>
            </a:r>
            <a:r>
              <a:rPr lang="en-US" dirty="0" err="1" smtClean="0"/>
              <a:t>limbaj</a:t>
            </a:r>
            <a:r>
              <a:rPr lang="en-US" dirty="0" smtClean="0"/>
              <a:t>, de </a:t>
            </a:r>
            <a:r>
              <a:rPr lang="en-US" dirty="0" err="1" smtClean="0"/>
              <a:t>exemplu</a:t>
            </a:r>
            <a:r>
              <a:rPr lang="en-US" dirty="0" smtClean="0"/>
              <a:t> Python care </a:t>
            </a:r>
            <a:r>
              <a:rPr lang="en-US" dirty="0" err="1" smtClean="0"/>
              <a:t>sa</a:t>
            </a:r>
            <a:r>
              <a:rPr lang="en-US" dirty="0" smtClean="0"/>
              <a:t> </a:t>
            </a:r>
            <a:r>
              <a:rPr lang="en-US" dirty="0" err="1" smtClean="0"/>
              <a:t>scrie</a:t>
            </a:r>
            <a:r>
              <a:rPr lang="en-US" dirty="0" smtClean="0"/>
              <a:t> in </a:t>
            </a:r>
            <a:r>
              <a:rPr lang="en-US" dirty="0" err="1" smtClean="0"/>
              <a:t>coada</a:t>
            </a:r>
            <a:r>
              <a:rPr lang="en-US" dirty="0" smtClean="0"/>
              <a:t> </a:t>
            </a:r>
            <a:r>
              <a:rPr lang="en-US" dirty="0" err="1" smtClean="0"/>
              <a:t>prin</a:t>
            </a:r>
            <a:r>
              <a:rPr lang="en-US" dirty="0" smtClean="0"/>
              <a:t> </a:t>
            </a:r>
            <a:r>
              <a:rPr lang="en-US" dirty="0" err="1" smtClean="0"/>
              <a:t>protocolul</a:t>
            </a:r>
            <a:r>
              <a:rPr lang="en-US" dirty="0" smtClean="0"/>
              <a:t> STOMP . . .</a:t>
            </a:r>
          </a:p>
          <a:p>
            <a:endParaRPr lang="en-US" dirty="0"/>
          </a:p>
          <a:p>
            <a:endParaRPr lang="en-US" dirty="0"/>
          </a:p>
          <a:p>
            <a:r>
              <a:rPr lang="en-US" i="1" dirty="0"/>
              <a:t>In </a:t>
            </a:r>
            <a:r>
              <a:rPr lang="en-US" i="1" dirty="0" err="1"/>
              <a:t>cazul</a:t>
            </a:r>
            <a:r>
              <a:rPr lang="en-US" i="1" dirty="0"/>
              <a:t> </a:t>
            </a:r>
            <a:r>
              <a:rPr lang="en-US" i="1" dirty="0" err="1"/>
              <a:t>GlassFish</a:t>
            </a:r>
            <a:r>
              <a:rPr lang="en-US" i="1" dirty="0"/>
              <a:t> </a:t>
            </a:r>
            <a:r>
              <a:rPr lang="en-US" i="1" dirty="0" err="1" smtClean="0"/>
              <a:t>lucrul</a:t>
            </a:r>
            <a:r>
              <a:rPr lang="en-US" i="1" dirty="0" smtClean="0"/>
              <a:t> cu </a:t>
            </a:r>
            <a:r>
              <a:rPr lang="en-US" i="1" dirty="0" err="1" smtClean="0"/>
              <a:t>MDB</a:t>
            </a:r>
            <a:r>
              <a:rPr lang="en-US" i="1" dirty="0" smtClean="0"/>
              <a:t> </a:t>
            </a:r>
            <a:r>
              <a:rPr lang="en-US" i="1" dirty="0" err="1" smtClean="0"/>
              <a:t>este</a:t>
            </a:r>
            <a:r>
              <a:rPr lang="en-US" i="1" dirty="0" smtClean="0"/>
              <a:t> </a:t>
            </a:r>
            <a:r>
              <a:rPr lang="en-US" i="1" dirty="0" err="1" smtClean="0"/>
              <a:t>reletiv</a:t>
            </a:r>
            <a:r>
              <a:rPr lang="en-US" i="1" dirty="0" smtClean="0"/>
              <a:t> </a:t>
            </a:r>
            <a:r>
              <a:rPr lang="en-US" i="1" dirty="0" err="1" smtClean="0"/>
              <a:t>mai</a:t>
            </a:r>
            <a:r>
              <a:rPr lang="en-US" i="1" dirty="0" smtClean="0"/>
              <a:t> </a:t>
            </a:r>
            <a:r>
              <a:rPr lang="en-US" i="1" dirty="0" err="1" smtClean="0"/>
              <a:t>complexeste</a:t>
            </a:r>
            <a:r>
              <a:rPr lang="en-US" dirty="0" smtClean="0"/>
              <a:t> </a:t>
            </a:r>
            <a:r>
              <a:rPr lang="en-US" dirty="0" err="1"/>
              <a:t>puternic</a:t>
            </a:r>
            <a:r>
              <a:rPr lang="en-US" dirty="0"/>
              <a:t> </a:t>
            </a:r>
            <a:r>
              <a:rPr lang="en-US" dirty="0" smtClean="0"/>
              <a:t>dependent </a:t>
            </a:r>
            <a:r>
              <a:rPr lang="en-US" dirty="0"/>
              <a:t>de </a:t>
            </a:r>
            <a:r>
              <a:rPr lang="en-US" dirty="0" err="1" smtClean="0"/>
              <a:t>serverul</a:t>
            </a:r>
            <a:r>
              <a:rPr lang="en-US" dirty="0" smtClean="0"/>
              <a:t> de </a:t>
            </a:r>
            <a:r>
              <a:rPr lang="en-US" dirty="0" err="1" smtClean="0"/>
              <a:t>aplicatii</a:t>
            </a:r>
            <a:r>
              <a:rPr lang="en-US" dirty="0" smtClean="0"/>
              <a:t>. </a:t>
            </a:r>
            <a:r>
              <a:rPr lang="en-US" dirty="0" err="1"/>
              <a:t>Consultati</a:t>
            </a:r>
            <a:r>
              <a:rPr lang="en-US" dirty="0"/>
              <a:t>, in </a:t>
            </a:r>
            <a:r>
              <a:rPr lang="en-US" dirty="0" err="1"/>
              <a:t>acest</a:t>
            </a:r>
            <a:r>
              <a:rPr lang="en-US" dirty="0"/>
              <a:t> </a:t>
            </a:r>
            <a:r>
              <a:rPr lang="en-US" dirty="0" err="1" smtClean="0"/>
              <a:t>sens</a:t>
            </a:r>
            <a:r>
              <a:rPr lang="en-US" dirty="0" smtClean="0"/>
              <a:t>:</a:t>
            </a:r>
          </a:p>
          <a:p>
            <a:r>
              <a:rPr lang="en-US" dirty="0" smtClean="0"/>
              <a:t> </a:t>
            </a:r>
            <a:r>
              <a:rPr lang="en-US" dirty="0">
                <a:hlinkClick r:id="rId3"/>
              </a:rPr>
              <a:t>https://glassfish.java.net/docs/4.0/mq-dev-guide-java.pdf</a:t>
            </a:r>
            <a:r>
              <a:rPr lang="en-US" dirty="0"/>
              <a:t> </a:t>
            </a:r>
            <a:r>
              <a:rPr lang="en-US" dirty="0" err="1"/>
              <a:t>pentru</a:t>
            </a:r>
            <a:r>
              <a:rPr lang="en-US" dirty="0"/>
              <a:t> </a:t>
            </a:r>
            <a:r>
              <a:rPr lang="en-US" dirty="0" err="1"/>
              <a:t>GlassFish</a:t>
            </a:r>
            <a:r>
              <a:rPr lang="en-US" dirty="0" smtClean="0"/>
              <a:t>,</a:t>
            </a:r>
          </a:p>
          <a:p>
            <a:r>
              <a:rPr lang="en-US" dirty="0" err="1" smtClean="0"/>
              <a:t>Respectiv</a:t>
            </a:r>
            <a:endParaRPr lang="en-US" dirty="0" smtClean="0"/>
          </a:p>
          <a:p>
            <a:r>
              <a:rPr lang="en-US" dirty="0" smtClean="0"/>
              <a:t> </a:t>
            </a:r>
            <a:r>
              <a:rPr lang="en-US" dirty="0">
                <a:hlinkClick r:id="rId4"/>
              </a:rPr>
              <a:t>http://www.mastertheboss.com/jboss-server/jboss-jms/how-to-code-a-remote-jms-client-for-wildfly-8</a:t>
            </a:r>
            <a:r>
              <a:rPr lang="en-US" dirty="0"/>
              <a:t> </a:t>
            </a:r>
            <a:r>
              <a:rPr lang="en-US" dirty="0" err="1"/>
              <a:t>pentru</a:t>
            </a:r>
            <a:r>
              <a:rPr lang="en-US" dirty="0"/>
              <a:t> </a:t>
            </a:r>
            <a:r>
              <a:rPr lang="en-US" dirty="0" err="1" smtClean="0"/>
              <a:t>WildFly</a:t>
            </a:r>
            <a:r>
              <a:rPr lang="en-US" dirty="0"/>
              <a:t>. </a:t>
            </a:r>
          </a:p>
        </p:txBody>
      </p:sp>
    </p:spTree>
    <p:extLst>
      <p:ext uri="{BB962C8B-B14F-4D97-AF65-F5344CB8AC3E}">
        <p14:creationId xmlns:p14="http://schemas.microsoft.com/office/powerpoint/2010/main" val="29841296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25</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a:solidFill>
                  <a:srgbClr val="FF0000"/>
                </a:solidFill>
                <a:latin typeface="Calibri" pitchFamily="34" charset="0"/>
              </a:rPr>
              <a:t>TITLU </a:t>
            </a:r>
          </a:p>
        </p:txBody>
      </p:sp>
      <p:pic>
        <p:nvPicPr>
          <p:cNvPr id="7" name="Picture 9" descr="questionmark.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609600"/>
            <a:ext cx="5562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514729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a:xfrm>
            <a:off x="0" y="6492875"/>
            <a:ext cx="914400" cy="365125"/>
          </a:xfrm>
        </p:spPr>
        <p:txBody>
          <a:bodyPr/>
          <a:lstStyle/>
          <a:p>
            <a:pPr>
              <a:defRPr/>
            </a:pPr>
            <a:fld id="{F1A793E0-DBEC-450A-A313-EDCA65F1FE52}" type="datetime1">
              <a:rPr lang="ro-RO"/>
              <a:pPr>
                <a:defRPr/>
              </a:pPr>
              <a:t>02.11.2023</a:t>
            </a:fld>
            <a:endParaRPr lang="en-US" dirty="0"/>
          </a:p>
        </p:txBody>
      </p:sp>
      <p:sp>
        <p:nvSpPr>
          <p:cNvPr id="5" name="Slide Number Placeholder 4"/>
          <p:cNvSpPr>
            <a:spLocks noGrp="1"/>
          </p:cNvSpPr>
          <p:nvPr>
            <p:ph type="sldNum" sz="quarter" idx="12"/>
          </p:nvPr>
        </p:nvSpPr>
        <p:spPr>
          <a:xfrm>
            <a:off x="6858000" y="6492875"/>
            <a:ext cx="2286000" cy="365125"/>
          </a:xfrm>
        </p:spPr>
        <p:txBody>
          <a:bodyPr/>
          <a:lstStyle/>
          <a:p>
            <a:pPr>
              <a:defRPr/>
            </a:pPr>
            <a:r>
              <a:rPr lang="en-US" dirty="0" err="1" smtClean="0"/>
              <a:t>BFM_EJB32</a:t>
            </a:r>
            <a:r>
              <a:rPr lang="en-US" dirty="0" smtClean="0"/>
              <a:t>_</a:t>
            </a:r>
            <a:fld id="{59E50FDA-C59E-41D4-9B84-BDCF828F08BB}" type="slidenum">
              <a:rPr lang="en-US" smtClean="0"/>
              <a:pPr>
                <a:defRPr/>
              </a:pPr>
              <a:t>26</a:t>
            </a:fld>
            <a:r>
              <a:rPr lang="en-US" dirty="0" smtClean="0"/>
              <a:t>_/_25_</a:t>
            </a:r>
            <a:endParaRPr lang="en-US" dirty="0"/>
          </a:p>
        </p:txBody>
      </p:sp>
      <p:sp>
        <p:nvSpPr>
          <p:cNvPr id="23556" name="Text Box 2"/>
          <p:cNvSpPr txBox="1">
            <a:spLocks noChangeArrowheads="1"/>
          </p:cNvSpPr>
          <p:nvPr/>
        </p:nvSpPr>
        <p:spPr bwMode="auto">
          <a:xfrm>
            <a:off x="6384925" y="4608513"/>
            <a:ext cx="12350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endParaRPr lang="en-US" altLang="en-US">
              <a:latin typeface="Calibri" pitchFamily="34" charset="0"/>
            </a:endParaRPr>
          </a:p>
        </p:txBody>
      </p:sp>
      <p:sp>
        <p:nvSpPr>
          <p:cNvPr id="23557" name="Text Box 4"/>
          <p:cNvSpPr txBox="1">
            <a:spLocks noChangeArrowheads="1"/>
          </p:cNvSpPr>
          <p:nvPr/>
        </p:nvSpPr>
        <p:spPr bwMode="auto">
          <a:xfrm>
            <a:off x="2590800" y="1905000"/>
            <a:ext cx="3810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endParaRPr lang="en-US" altLang="en-US">
              <a:latin typeface="Calibri" pitchFamily="34" charset="0"/>
            </a:endParaRPr>
          </a:p>
        </p:txBody>
      </p:sp>
      <p:sp>
        <p:nvSpPr>
          <p:cNvPr id="23558" name="Text Box 5"/>
          <p:cNvSpPr txBox="1">
            <a:spLocks noChangeArrowheads="1"/>
          </p:cNvSpPr>
          <p:nvPr/>
        </p:nvSpPr>
        <p:spPr bwMode="auto">
          <a:xfrm>
            <a:off x="0" y="0"/>
            <a:ext cx="9144000" cy="3667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US" altLang="en-US">
                <a:solidFill>
                  <a:srgbClr val="FF0000"/>
                </a:solidFill>
                <a:latin typeface="Calibri" pitchFamily="34" charset="0"/>
              </a:rPr>
              <a:t>TITLU </a:t>
            </a:r>
          </a:p>
        </p:txBody>
      </p:sp>
    </p:spTree>
    <p:extLst>
      <p:ext uri="{BB962C8B-B14F-4D97-AF65-F5344CB8AC3E}">
        <p14:creationId xmlns:p14="http://schemas.microsoft.com/office/powerpoint/2010/main" val="4784975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904CC3ACF4D0747AA1FE12D19DCF021" ma:contentTypeVersion="10" ma:contentTypeDescription="Create a new document." ma:contentTypeScope="" ma:versionID="67fba6aa4b17e667eced50403a993aec">
  <xsd:schema xmlns:xsd="http://www.w3.org/2001/XMLSchema" xmlns:xs="http://www.w3.org/2001/XMLSchema" xmlns:p="http://schemas.microsoft.com/office/2006/metadata/properties" xmlns:ns2="fa0e77c9-1a0d-4ee8-b1f5-4ac48c790630" xmlns:ns3="db97ba85-579e-411b-948c-311c2e42328f" targetNamespace="http://schemas.microsoft.com/office/2006/metadata/properties" ma:root="true" ma:fieldsID="f9580e09431f531cb957aa4b42decfe8" ns2:_="" ns3:_="">
    <xsd:import namespace="fa0e77c9-1a0d-4ee8-b1f5-4ac48c790630"/>
    <xsd:import namespace="db97ba85-579e-411b-948c-311c2e4232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a0e77c9-1a0d-4ee8-b1f5-4ac48c7906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f85decb-1301-438d-8b3f-81c7864c2a9b"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db97ba85-579e-411b-948c-311c2e42328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1560ba9-541b-4abe-8009-15c2be7e61e6}" ma:internalName="TaxCatchAll" ma:showField="CatchAllData" ma:web="db97ba85-579e-411b-948c-311c2e42328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a0e77c9-1a0d-4ee8-b1f5-4ac48c790630">
      <Terms xmlns="http://schemas.microsoft.com/office/infopath/2007/PartnerControls"/>
    </lcf76f155ced4ddcb4097134ff3c332f>
    <TaxCatchAll xmlns="db97ba85-579e-411b-948c-311c2e42328f" xsi:nil="true"/>
  </documentManagement>
</p:properties>
</file>

<file path=customXml/itemProps1.xml><?xml version="1.0" encoding="utf-8"?>
<ds:datastoreItem xmlns:ds="http://schemas.openxmlformats.org/officeDocument/2006/customXml" ds:itemID="{859BD30E-BC3A-4E44-9673-36CCCA9F6E4C}"/>
</file>

<file path=customXml/itemProps2.xml><?xml version="1.0" encoding="utf-8"?>
<ds:datastoreItem xmlns:ds="http://schemas.openxmlformats.org/officeDocument/2006/customXml" ds:itemID="{36AB6881-102B-4C40-9B65-F8C9A397EA36}"/>
</file>

<file path=customXml/itemProps3.xml><?xml version="1.0" encoding="utf-8"?>
<ds:datastoreItem xmlns:ds="http://schemas.openxmlformats.org/officeDocument/2006/customXml" ds:itemID="{3A91AB11-C402-4B89-B2B0-FC51BC13364C}"/>
</file>

<file path=docProps/app.xml><?xml version="1.0" encoding="utf-8"?>
<Properties xmlns="http://schemas.openxmlformats.org/officeDocument/2006/extended-properties" xmlns:vt="http://schemas.openxmlformats.org/officeDocument/2006/docPropsVTypes">
  <TotalTime>3971</TotalTime>
  <Words>3799</Words>
  <Application>Microsoft Office PowerPoint</Application>
  <PresentationFormat>On-screen Show (4:3)</PresentationFormat>
  <Paragraphs>361</Paragraphs>
  <Slides>26</Slides>
  <Notes>26</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26</vt:i4>
      </vt:variant>
    </vt:vector>
  </HeadingPairs>
  <TitlesOfParts>
    <vt:vector size="28" baseType="lpstr">
      <vt:lpstr>Office Theme</vt:lpstr>
      <vt:lpstr>Visio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 prezentare generala</dc:title>
  <dc:creator>florin</dc:creator>
  <cp:lastModifiedBy>flori</cp:lastModifiedBy>
  <cp:revision>440</cp:revision>
  <dcterms:created xsi:type="dcterms:W3CDTF">2010-02-26T05:05:29Z</dcterms:created>
  <dcterms:modified xsi:type="dcterms:W3CDTF">2023-11-02T19:42:34Z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0x0101008904CC3ACF4D0747AA1FE12D19DCF021</vt:lpwstr>
  </property>
</Properties>
</file>