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1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73" r:id="rId9"/>
    <p:sldId id="263" r:id="rId10"/>
    <p:sldId id="264" r:id="rId11"/>
    <p:sldId id="274" r:id="rId12"/>
    <p:sldId id="265" r:id="rId13"/>
    <p:sldId id="266" r:id="rId14"/>
    <p:sldId id="267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4FECA-DC3F-42DF-8FE3-AB1093EE1C61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6EA407-ADBE-4845-93C3-1E032295C985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444281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6EA407-ADBE-4845-93C3-1E032295C985}" type="slidenum">
              <a:rPr lang="ro-RO" smtClean="0"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22184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918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3501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88939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88477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25370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15540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64518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7711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53169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9735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80837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859817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9748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0447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273079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928969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69882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93DD921-F1BC-4012-A284-B6375F31FD60}" type="datetimeFigureOut">
              <a:rPr lang="ro-RO" smtClean="0"/>
              <a:t>25.11.2025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2EC3341-5F83-4144-B7E3-5CC5B6B58DE9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324000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2B450-2B97-2216-CBE6-D7C17AF821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5600" y="1961103"/>
            <a:ext cx="6400800" cy="800100"/>
          </a:xfrm>
        </p:spPr>
        <p:txBody>
          <a:bodyPr>
            <a:normAutofit fontScale="90000"/>
          </a:bodyPr>
          <a:lstStyle/>
          <a:p>
            <a:r>
              <a:rPr lang="ro-RO" dirty="0"/>
              <a:t>Framework-ul spark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667F5-0EDC-1F5A-D60D-0BA78DA467BB}"/>
              </a:ext>
            </a:extLst>
          </p:cNvPr>
          <p:cNvSpPr txBox="1"/>
          <p:nvPr/>
        </p:nvSpPr>
        <p:spPr>
          <a:xfrm>
            <a:off x="3855218" y="3028890"/>
            <a:ext cx="44815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000" dirty="0"/>
              <a:t>Arhitectura, componente, utilizare</a:t>
            </a:r>
          </a:p>
        </p:txBody>
      </p:sp>
    </p:spTree>
    <p:extLst>
      <p:ext uri="{BB962C8B-B14F-4D97-AF65-F5344CB8AC3E}">
        <p14:creationId xmlns:p14="http://schemas.microsoft.com/office/powerpoint/2010/main" val="693512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15B29-EDB6-3D69-1299-F701E89E9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7" y="255860"/>
            <a:ext cx="3878664" cy="1507067"/>
          </a:xfrm>
        </p:spPr>
        <p:txBody>
          <a:bodyPr/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Ce este Spark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54624-4166-A193-437D-19C89C1BC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6" y="1621366"/>
            <a:ext cx="10660377" cy="361526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Framework complex pentru prelucrare a volumelor mari de date in mod distribuit;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Optimizat pentru procesare distribuita, in memorie;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Folosit in aplicatii Big Data, ML, BI, analiza de grafuri;</a:t>
            </a:r>
          </a:p>
        </p:txBody>
      </p:sp>
    </p:spTree>
    <p:extLst>
      <p:ext uri="{BB962C8B-B14F-4D97-AF65-F5344CB8AC3E}">
        <p14:creationId xmlns:p14="http://schemas.microsoft.com/office/powerpoint/2010/main" val="2240148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57ED4-D764-B23F-5531-9B736318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F774E-4C54-0EF6-34DB-3B601F933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749687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Arhitectura Master worker</a:t>
            </a:r>
          </a:p>
        </p:txBody>
      </p:sp>
      <p:pic>
        <p:nvPicPr>
          <p:cNvPr id="5" name="Picture 4" descr="A diagram of cluster manager&#10;&#10;AI-generated content may be incorrect.">
            <a:extLst>
              <a:ext uri="{FF2B5EF4-FFF2-40B4-BE49-F238E27FC236}">
                <a16:creationId xmlns:a16="http://schemas.microsoft.com/office/drawing/2014/main" id="{FDC36EB2-8448-53DF-2C58-962654E76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968" y="1762927"/>
            <a:ext cx="8288064" cy="3977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644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383BB-3AF9-F1F4-DF8E-8E983DBC1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54DE0-5E72-CB1D-A580-40231DFBD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749687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Arhitectura Master worker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0A6E-C12D-5DA3-C3EE-4F82A1CBE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6" y="1621366"/>
            <a:ext cx="10053263" cy="4504131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arhitectura construita special pentru procesare distribuita;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Compusa din Driver, Cluster Manager si noduri „Worker” sau „Executor”;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Scalabilitate dinamica a numarului de noduri;</a:t>
            </a:r>
          </a:p>
        </p:txBody>
      </p:sp>
    </p:spTree>
    <p:extLst>
      <p:ext uri="{BB962C8B-B14F-4D97-AF65-F5344CB8AC3E}">
        <p14:creationId xmlns:p14="http://schemas.microsoft.com/office/powerpoint/2010/main" val="3115093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EC053-2D90-DA7F-D8E0-D97E2714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0BCA0-6CB0-348D-ABA3-6AB02A39D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749687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Driver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D27CF-3330-1F0C-12C6-A43D2BFB8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6" y="1621366"/>
            <a:ext cx="10660377" cy="361526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Principala componenta a sistemului, detine 2 componente: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SparkSession: prin care aplicatiile client au acces la Spark;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SparkContext: comunica cu Cluster Manager-ul;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Primeste sarcina de procesare / job-ul de la aplicatia client / utilizator;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Imparte job-ul in task-uri mai mici si le distribuie catre executori;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Monitorizeaza progresul task-urilor si gestioneaza eventuale erori</a:t>
            </a:r>
          </a:p>
        </p:txBody>
      </p:sp>
    </p:spTree>
    <p:extLst>
      <p:ext uri="{BB962C8B-B14F-4D97-AF65-F5344CB8AC3E}">
        <p14:creationId xmlns:p14="http://schemas.microsoft.com/office/powerpoint/2010/main" val="1466203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3AD2A-03C8-BB02-4A2B-4FC7B10BF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80FF8-C6D5-EE56-5FCC-E105D778A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749687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Executorii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54F65-604F-8B0B-656B-3ED5EF127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6" y="1621366"/>
            <a:ext cx="10660377" cy="4859821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Executor = unitate de calcul / un nod dintr-un cluster;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Primeste un set de date (partitie) si un task de la Driver;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Trimite rezultatele inapoi la Driver;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Trimite periodic log-uri si metrice despre task-urile executate pentru toleranta la erori;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Resurse folosite de un executor: 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Nuclee de procesare: fiecare executor poate rula mai multe task-uri in paralel, cate un task pe nucleu alocat;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RAM: pentru stocare datelor in memorie;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Spatiu pe disk: pentru shuffle si persistarea datelor care nu incap in memorie;</a:t>
            </a:r>
          </a:p>
          <a:p>
            <a:pPr lvl="1">
              <a:buFontTx/>
              <a:buChar char="-"/>
            </a:pPr>
            <a:endParaRPr lang="ro-RO" sz="20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9523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3D8B4-6B54-E669-CCAB-C430C54F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82B99-C040-71EB-520B-618B143BF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749687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Shuffling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60A0-D3F9-B749-DCAB-36707BC88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6" y="1621366"/>
            <a:ext cx="10660377" cy="4980774"/>
          </a:xfrm>
        </p:spPr>
        <p:txBody>
          <a:bodyPr>
            <a:normAutofit fontScale="92500" lnSpcReduction="10000"/>
          </a:bodyPr>
          <a:lstStyle/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Proces in care datele sunt repartizate intre noduri in timpul unor operatii ce implica reorganizarea lor (reduceByKey, groupByKey, join, etc);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 timpul unui shuffle, datele cu aceleasi chei sunt migrate intre executori astfel incat datele necesare pentru un anumit task ajung impreuna in acelasi nod;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Dupa shuffle, fiecare executor primeste datele corespunzatoare task-ului sau, apoi poate continua procesarea;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Exemplu:</a:t>
            </a:r>
          </a:p>
          <a:p>
            <a:pPr lvl="1">
              <a:buFontTx/>
              <a:buChar char="-"/>
            </a:pPr>
            <a:r>
              <a:rPr lang="pt-BR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(a,1), (b,1), (a,1), (c,1)</a:t>
            </a: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, format (cheie, valoare)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Executor 1: (a, 1), (b, 1), Executor 2: (a, 1), (c, 1)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reduceByKey: toate valorile pentru aceeasi cheie trebuie sa fie in acelasi nod (valori adunate);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Shuffle: (a, 1) de la Executor2 se muta la Executor1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Dupa shuffle: Executor1 poate aplica „reduce” pe cheia a =&gt; valoarea 2; Executo2 aplica „reduce” pe cheile b si c =&gt; valoarea 1 pentru fiecare</a:t>
            </a:r>
          </a:p>
        </p:txBody>
      </p:sp>
    </p:spTree>
    <p:extLst>
      <p:ext uri="{BB962C8B-B14F-4D97-AF65-F5344CB8AC3E}">
        <p14:creationId xmlns:p14="http://schemas.microsoft.com/office/powerpoint/2010/main" val="3098694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C337B-71D8-A107-0CBB-467AAD5EC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72188-2851-6EF5-875F-D7EE7045F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749687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Shuffling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42B99-7B9C-2A48-E210-FC218D693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6" y="1621366"/>
            <a:ext cx="10660377" cy="4980774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Toate valorile cu aceeasi cheie trebuie sa ajunga in aceeasi partitie finala;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Operatie costisitoare: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Operatii IO pe disc (datele sunt scrise temporar pe disc pentru a fi trimise intre executori);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Trafic pe retea: datele sunt mutate intre noduri pentru a grupa valorile cu aceeasi cheie;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Creare de fisiere: pentru fiecare partitie se creeaza un fisier nou in fiecare nod;</a:t>
            </a:r>
          </a:p>
        </p:txBody>
      </p:sp>
    </p:spTree>
    <p:extLst>
      <p:ext uri="{BB962C8B-B14F-4D97-AF65-F5344CB8AC3E}">
        <p14:creationId xmlns:p14="http://schemas.microsoft.com/office/powerpoint/2010/main" val="4080521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855F6-4F71-DE32-B2B9-C67B17091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2CFAF-BF82-5004-C400-382ED00C1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749687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Cluster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32154-FCFE-DDF8-1095-960C6BF59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6" y="1621366"/>
            <a:ext cx="10660377" cy="361526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Responsabil de alocarea resurselor pentru job-urile Spark pe cluster;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Foloseste sisteme de accesare, gestionare si orchestrare a clusterelor;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Decide ce executor primeste resurse, ce resurse primeste si cand sa porneasca executorii;</a:t>
            </a:r>
          </a:p>
        </p:txBody>
      </p:sp>
    </p:spTree>
    <p:extLst>
      <p:ext uri="{BB962C8B-B14F-4D97-AF65-F5344CB8AC3E}">
        <p14:creationId xmlns:p14="http://schemas.microsoft.com/office/powerpoint/2010/main" val="3019897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046D6-D31B-BB26-BD99-9ADB02F56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4E1F1-A99B-9FEC-2C36-A91ADBEC5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849976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DAG (Directed Acyclic Graph) si programare de task-uri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794BC-4B5C-13E2-1309-D8B9EECF2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6" y="1762927"/>
            <a:ext cx="10660377" cy="4372402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Reprezinta toate transformarile si dependentele dintre date, sub forma de graf direct aciclic (nod = task, muchie = dependentele intre task-uri);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Contine mai multe stage-uri (seturi de task-uri ce pot fi executate fara shuffle);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Fiecare task proceseaza o partitie de date pe un executor;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Scheduler-ul decide ce task ruleaza pe ce executor;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Impartit in stagii (set de task-uri);</a:t>
            </a:r>
          </a:p>
          <a:p>
            <a:pPr>
              <a:buFontTx/>
              <a:buChar char="-"/>
            </a:pPr>
            <a:endParaRPr lang="ro-RO" sz="2200" dirty="0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997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43D1D-9178-0AD3-B624-E6E73FFB6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43392-65DE-2016-EDA8-6EC6D875D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849976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DAG (Directed Acyclic Graph) si programare de task-uri</a:t>
            </a:r>
          </a:p>
        </p:txBody>
      </p:sp>
      <p:pic>
        <p:nvPicPr>
          <p:cNvPr id="7" name="Picture 6" descr="A diagram of a diagram&#10;&#10;AI-generated content may be incorrect.">
            <a:extLst>
              <a:ext uri="{FF2B5EF4-FFF2-40B4-BE49-F238E27FC236}">
                <a16:creationId xmlns:a16="http://schemas.microsoft.com/office/drawing/2014/main" id="{073654A2-1FF9-4DAB-B5BC-53D3A1FBC4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9584" y="1688057"/>
            <a:ext cx="8772832" cy="4591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114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A7AB0-7B93-D3BE-6926-3CA20947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A6D67-49ED-8886-F6F4-111323D7F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749687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Stocare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35724B-0755-EFDD-7FA4-E09B796EC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6" y="1621366"/>
            <a:ext cx="10660377" cy="361526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Daca memoria nu e suficienta, Spark foloseste discul local;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Datele pot fi serializate pentru eficienta si transfer rapid intre noduri;</a:t>
            </a:r>
          </a:p>
        </p:txBody>
      </p:sp>
    </p:spTree>
    <p:extLst>
      <p:ext uri="{BB962C8B-B14F-4D97-AF65-F5344CB8AC3E}">
        <p14:creationId xmlns:p14="http://schemas.microsoft.com/office/powerpoint/2010/main" val="995951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658A-5678-326F-A427-19A0DB959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13EBD-199A-919A-E727-5FB66F7DA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749687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Toleranta la erori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F57B0-7AD0-D69E-3EE6-A43673BCBD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6" y="1621366"/>
            <a:ext cx="10660377" cy="361526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Mai multe moduri de a implementa toleranta la erori: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Monitorizare heartbeat: nodurile trimit periodic mesaje catre driver pentru a raporta starea si detecta esecurile;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Lineage: DAG-ul inregistreaza transformarile, datele pierdute se recalculeaza din sursa initiala;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Scalare elastica: clusterul poate adauga / elimina noduri sau redistribui task-urile in functie de incarcare;  </a:t>
            </a:r>
          </a:p>
        </p:txBody>
      </p:sp>
    </p:spTree>
    <p:extLst>
      <p:ext uri="{BB962C8B-B14F-4D97-AF65-F5344CB8AC3E}">
        <p14:creationId xmlns:p14="http://schemas.microsoft.com/office/powerpoint/2010/main" val="2726434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0382F-6408-24B6-590D-0FC0D1641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9D27F-B499-CB90-3351-46C7CA00B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8794734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Librarii si componente principale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6178E-6D8B-90EC-B500-B0872481B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6" y="1621366"/>
            <a:ext cx="10660377" cy="3615267"/>
          </a:xfrm>
        </p:spPr>
        <p:txBody>
          <a:bodyPr>
            <a:normAutofit fontScale="92500" lnSpcReduction="20000"/>
          </a:bodyPr>
          <a:lstStyle/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Spark Core: motorul principal de executie, managementul task-urilor, memorie si toleranta la erori;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RDD (Resilient Distributed Datasets): colectii distribuite (mai multe partitii / structuri de date de obiecte), nemodificabile, tolerante la erori;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Dataframe (type unsafe) / Dataset (type safe): API-uri structurate pentru tabulare, optimizate;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Spark SQL: procesare relationala de interogari SQL;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Structured Streaming: procesare de fluxuri de date;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Mllib: suport pentru algoritmii de ML;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GraphX: Analiza si procesare de grafuri;</a:t>
            </a:r>
          </a:p>
        </p:txBody>
      </p:sp>
    </p:spTree>
    <p:extLst>
      <p:ext uri="{BB962C8B-B14F-4D97-AF65-F5344CB8AC3E}">
        <p14:creationId xmlns:p14="http://schemas.microsoft.com/office/powerpoint/2010/main" val="2827741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41D31-A75B-B788-712F-06C4CE098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FC01-F5F0-ADB0-EE69-F4407FD72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749687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Exemple de implementare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489706-9E4E-A81E-1FD0-E28789B28A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4066" y="1760880"/>
            <a:ext cx="5845418" cy="1099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ADF7C8-5AC6-8394-C09D-504A55B29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66" y="3267947"/>
            <a:ext cx="5845418" cy="25902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28C70F-B02C-448C-EDEC-54279C3B6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6283" y="1425677"/>
            <a:ext cx="4511651" cy="506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416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B37AD-4B5D-2009-A646-1B2F94606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74ABBA-78C0-139A-82B3-83E3140F7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749687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Exemple de utilizare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43880-CE2A-DE5E-FAAA-06F3892E5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6" y="1621366"/>
            <a:ext cx="10660377" cy="361526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Monitorizare de fluxuri de date (logging, platforme social media, aplicatii care genereaza multe date);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Pipeline-uri ETL (extract-transform-load);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Antrenare modele de ML cu seturi de date foarte mari sau preprocesare a datelor pentur antrenare;</a:t>
            </a:r>
          </a:p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Analiza de conexiuni in retele complexe;</a:t>
            </a:r>
          </a:p>
        </p:txBody>
      </p:sp>
    </p:spTree>
    <p:extLst>
      <p:ext uri="{BB962C8B-B14F-4D97-AF65-F5344CB8AC3E}">
        <p14:creationId xmlns:p14="http://schemas.microsoft.com/office/powerpoint/2010/main" val="1323882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9447F-2900-7287-47A5-55C999E71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8BBA6-8FD6-9C28-A401-9460F7330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066" y="255860"/>
            <a:ext cx="7496876" cy="1507067"/>
          </a:xfrm>
        </p:spPr>
        <p:txBody>
          <a:bodyPr>
            <a:normAutofit/>
          </a:bodyPr>
          <a:lstStyle/>
          <a:p>
            <a:r>
              <a:rPr lang="ro-RO" dirty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Avantaje / dezavantaje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EEAD0-98DA-1A65-9F6E-9F1A0620CA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4066" y="1621366"/>
            <a:ext cx="10660377" cy="2134557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Avantaje: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Procesare in memorie (CPU are access direct la date);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DAG Scheduler: optimizeaza executia task-urilor;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API complex cu aplicabilitate in mai multe domenii: Core, SQL, Streaming, Mllib, GraphX;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4953471-0176-7A5C-D0C9-C673AE8C4C7F}"/>
              </a:ext>
            </a:extLst>
          </p:cNvPr>
          <p:cNvSpPr txBox="1">
            <a:spLocks/>
          </p:cNvSpPr>
          <p:nvPr/>
        </p:nvSpPr>
        <p:spPr>
          <a:xfrm>
            <a:off x="654066" y="3927031"/>
            <a:ext cx="10660377" cy="21345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Char char="-"/>
            </a:pPr>
            <a:r>
              <a:rPr lang="ro-RO" sz="22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Dezavantaje: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Consum mare de memorie (poate genera pauze JVM mai frecvente pentru curatare);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Multa memorie RAM necesara pentru functionare buna;</a:t>
            </a:r>
          </a:p>
          <a:p>
            <a:pPr lvl="1">
              <a:buFontTx/>
              <a:buChar char="-"/>
            </a:pPr>
            <a:r>
              <a:rPr lang="ro-RO" sz="2000" dirty="0">
                <a:solidFill>
                  <a:schemeClr val="bg1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Complexitate setup: in functie de cluster;</a:t>
            </a:r>
          </a:p>
        </p:txBody>
      </p:sp>
    </p:spTree>
    <p:extLst>
      <p:ext uri="{BB962C8B-B14F-4D97-AF65-F5344CB8AC3E}">
        <p14:creationId xmlns:p14="http://schemas.microsoft.com/office/powerpoint/2010/main" val="1589989020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152</TotalTime>
  <Words>930</Words>
  <Application>Microsoft Office PowerPoint</Application>
  <PresentationFormat>Widescreen</PresentationFormat>
  <Paragraphs>86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Century Gothic</vt:lpstr>
      <vt:lpstr>Sans Serif Collection</vt:lpstr>
      <vt:lpstr>Wingdings 3</vt:lpstr>
      <vt:lpstr>Slice</vt:lpstr>
      <vt:lpstr>Framework-ul spark</vt:lpstr>
      <vt:lpstr>Ce este Spark ?</vt:lpstr>
      <vt:lpstr>Arhitectura Master worker</vt:lpstr>
      <vt:lpstr>Arhitectura Master worker</vt:lpstr>
      <vt:lpstr>Driver</vt:lpstr>
      <vt:lpstr>Executorii</vt:lpstr>
      <vt:lpstr>Shuffling</vt:lpstr>
      <vt:lpstr>Shuffling</vt:lpstr>
      <vt:lpstr>Cluster Manager</vt:lpstr>
      <vt:lpstr>DAG (Directed Acyclic Graph) si programare de task-uri</vt:lpstr>
      <vt:lpstr>DAG (Directed Acyclic Graph) si programare de task-uri</vt:lpstr>
      <vt:lpstr>Stocare</vt:lpstr>
      <vt:lpstr>Toleranta la erori</vt:lpstr>
      <vt:lpstr>Librarii si componente principale</vt:lpstr>
      <vt:lpstr>Exemple de implementare</vt:lpstr>
      <vt:lpstr>Exemple de utilizare</vt:lpstr>
      <vt:lpstr>Avantaje / dezavantaje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SERGIU-RAREŞ GOIAN</dc:creator>
  <cp:lastModifiedBy>SERGIU-RAREŞ GOIAN</cp:lastModifiedBy>
  <cp:revision>10</cp:revision>
  <dcterms:created xsi:type="dcterms:W3CDTF">2025-11-24T20:22:18Z</dcterms:created>
  <dcterms:modified xsi:type="dcterms:W3CDTF">2025-11-25T13:55:40Z</dcterms:modified>
</cp:coreProperties>
</file>