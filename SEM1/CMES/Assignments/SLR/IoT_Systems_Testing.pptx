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UBB_Master_DistributedSystemsInInternet\SEM1\CMES\Assignments\SLR\CMES_SLR_papers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'Tabulated Data'!$B$24:$B$26</cx:f>
        <cx:lvl ptCount="3">
          <cx:pt idx="0">High</cx:pt>
          <cx:pt idx="1">Medium</cx:pt>
          <cx:pt idx="2">Low</cx:pt>
        </cx:lvl>
      </cx:strDim>
      <cx:numDim type="size">
        <cx:f>'Tabulated Data'!$C$24:$C$26</cx:f>
        <cx:lvl ptCount="3" formatCode="General">
          <cx:pt idx="0">3</cx:pt>
          <cx:pt idx="1">4</cx:pt>
          <cx:pt idx="2">3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ro-RO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Coverage</a:t>
            </a:r>
            <a:endPara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sunburst" uniqueId="{3044165A-DA80-4710-B0F4-BFC9D4A23629}">
          <cx:tx>
            <cx:txData>
              <cx:f>'Tabulated Data'!$C$23</cx:f>
              <cx:v>Count</cx:v>
            </cx:txData>
          </cx:tx>
          <cx:dataLabels pos="ctr">
            <cx:visibility seriesName="0" categoryName="1" value="0"/>
          </cx:dataLabels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290C1-791C-415E-9973-59FC7A7BA682}" type="datetimeFigureOut">
              <a:rPr lang="ro-RO" smtClean="0"/>
              <a:t>27.01.2026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5871B-4C64-491A-B1B7-F6D93CCBC2FF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43127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5871B-4C64-491A-B1B7-F6D93CCBC2FF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120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5871B-4C64-491A-B1B7-F6D93CCBC2FF}" type="slidenum">
              <a:rPr lang="ro-RO" smtClean="0"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26808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4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9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0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07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998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71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1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93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12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6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3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47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microsoft.com/office/2014/relationships/chartEx" Target="../charts/chartEx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95A0ABB6-E0FE-39B4-DE0A-1A23BB31A8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F0F32-0FD1-39BB-8507-B78EB4608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1"/>
            <a:ext cx="5041391" cy="3611880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Systematic Review on</a:t>
            </a:r>
            <a:br>
              <a:rPr lang="ro-RO" sz="6000" dirty="0">
                <a:solidFill>
                  <a:srgbClr val="FFFFFF"/>
                </a:solidFill>
              </a:rPr>
            </a:br>
            <a:r>
              <a:rPr lang="ro-RO" sz="6000" dirty="0">
                <a:solidFill>
                  <a:srgbClr val="FFFFFF"/>
                </a:solidFill>
              </a:rPr>
              <a:t>IoT Systems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F0AF0-DF7D-9CD9-0E0A-B63917899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1493" y="3041761"/>
            <a:ext cx="2429605" cy="2856204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Goian Sergiu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8CB1B5-064D-4590-A7F2-70C604854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238" y="571500"/>
            <a:ext cx="1106026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3F81E2-AE9A-4D71-87B5-D24817F3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571500"/>
            <a:ext cx="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C0F619-4F98-49B2-B92F-39B242F3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6287848"/>
            <a:ext cx="11060263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42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7866-0805-3799-CA64-F3A33290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551BBB2F-1C73-0FF0-28D4-CD3E687642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770DBD-F7FA-6BE2-54FE-6C676878D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0"/>
            <a:ext cx="1024204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Why this topic?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43A3CD-4F3A-22FB-F285-903CF2F776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545CD-6FE6-873E-08EF-32699D50D99F}"/>
              </a:ext>
            </a:extLst>
          </p:cNvPr>
          <p:cNvSpPr txBox="1"/>
          <p:nvPr/>
        </p:nvSpPr>
        <p:spPr>
          <a:xfrm>
            <a:off x="1508760" y="2093976"/>
            <a:ext cx="83667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</a:t>
            </a:r>
            <a:r>
              <a:rPr lang="en-US" sz="2200" b="1" dirty="0"/>
              <a:t>rapid growth in mainstream industries (</a:t>
            </a:r>
            <a:r>
              <a:rPr lang="ro-RO" sz="2200" b="1" dirty="0"/>
              <a:t>such as </a:t>
            </a:r>
            <a:r>
              <a:rPr lang="en-US" sz="2200" b="1" dirty="0"/>
              <a:t>healthcare, manufacturing, transportation)</a:t>
            </a:r>
            <a:endParaRPr lang="ro-RO" sz="2200" b="1" dirty="0"/>
          </a:p>
          <a:p>
            <a:endParaRPr lang="ro-RO" sz="2200" b="1" dirty="0"/>
          </a:p>
          <a:p>
            <a:r>
              <a:rPr lang="ro-RO" sz="2200" b="1" dirty="0"/>
              <a:t>-</a:t>
            </a:r>
            <a:r>
              <a:rPr lang="en-US" sz="2200" b="1" dirty="0"/>
              <a:t>resource constraints (limited CPU / RAM / Storage / bandwidth) decrease reliability</a:t>
            </a:r>
            <a:endParaRPr lang="ro-RO" sz="2200" b="1" dirty="0"/>
          </a:p>
          <a:p>
            <a:endParaRPr lang="ro-RO" sz="2200" b="1" dirty="0"/>
          </a:p>
          <a:p>
            <a:r>
              <a:rPr lang="ro-RO" sz="2200" b="1" dirty="0"/>
              <a:t>-devices heterogeneity =&gt; insufficiency of traditional testing</a:t>
            </a:r>
          </a:p>
          <a:p>
            <a:endParaRPr lang="ro-RO" sz="2200" b="1" dirty="0"/>
          </a:p>
          <a:p>
            <a:r>
              <a:rPr lang="ro-RO" sz="2200" b="1" dirty="0"/>
              <a:t>-r</a:t>
            </a:r>
            <a:r>
              <a:rPr lang="en-US" sz="2200" b="1" dirty="0" err="1"/>
              <a:t>esearch</a:t>
            </a:r>
            <a:r>
              <a:rPr lang="en-US" sz="2200" b="1" dirty="0"/>
              <a:t> </a:t>
            </a:r>
            <a:r>
              <a:rPr lang="ro-RO" sz="2200" b="1" dirty="0"/>
              <a:t>g</a:t>
            </a:r>
            <a:r>
              <a:rPr lang="en-US" sz="2200" b="1" dirty="0"/>
              <a:t>aps: while numerous studies exist, there is a lack of consolidated insights on which testing methodologies are most efficient and where automation falls short</a:t>
            </a:r>
            <a:br>
              <a:rPr lang="en-US" sz="2400" dirty="0"/>
            </a:br>
            <a:endParaRPr lang="ro-RO" sz="2200" b="1" dirty="0"/>
          </a:p>
        </p:txBody>
      </p:sp>
    </p:spTree>
    <p:extLst>
      <p:ext uri="{BB962C8B-B14F-4D97-AF65-F5344CB8AC3E}">
        <p14:creationId xmlns:p14="http://schemas.microsoft.com/office/powerpoint/2010/main" val="162908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97CF-A2FE-32C6-129C-9C5040A8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A5526E49-B056-FA49-D4E8-124300AF63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84F59C-435C-9B5E-BA53-9A8E683EA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 fontScale="90000"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Why Systematic Literature Review?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AF0BE72-C1E8-09E7-FC2A-C5D385E86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25E79-0FEB-9B81-8D7B-940E5105EDFD}"/>
              </a:ext>
            </a:extLst>
          </p:cNvPr>
          <p:cNvSpPr txBox="1"/>
          <p:nvPr/>
        </p:nvSpPr>
        <p:spPr>
          <a:xfrm>
            <a:off x="1508760" y="2093976"/>
            <a:ext cx="8366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-well defined guidelines</a:t>
            </a:r>
          </a:p>
          <a:p>
            <a:endParaRPr lang="ro-RO" sz="2200" b="1" dirty="0"/>
          </a:p>
          <a:p>
            <a:r>
              <a:rPr lang="ro-RO" sz="2200" b="1" dirty="0"/>
              <a:t>-rigurous / efficient approach</a:t>
            </a:r>
          </a:p>
          <a:p>
            <a:endParaRPr lang="ro-RO" sz="2200" b="1" dirty="0"/>
          </a:p>
          <a:p>
            <a:r>
              <a:rPr lang="ro-RO" sz="2200" b="1" dirty="0"/>
              <a:t>-every decision is documented</a:t>
            </a:r>
          </a:p>
          <a:p>
            <a:endParaRPr lang="ro-RO" sz="2200" b="1" dirty="0"/>
          </a:p>
          <a:p>
            <a:r>
              <a:rPr lang="ro-RO" sz="2200" b="1" dirty="0"/>
              <a:t>-protocol driven (starting from a predefined plan (the protocol), which prevents picking only papers that support a single / personal opinion</a:t>
            </a:r>
          </a:p>
        </p:txBody>
      </p:sp>
    </p:spTree>
    <p:extLst>
      <p:ext uri="{BB962C8B-B14F-4D97-AF65-F5344CB8AC3E}">
        <p14:creationId xmlns:p14="http://schemas.microsoft.com/office/powerpoint/2010/main" val="290813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BA6BA-D790-CB86-D999-F579ED4C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858080FD-5452-29DD-E809-3CBD95CC5D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FB9653-8F7D-7649-BA8C-941BCA992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1"/>
            <a:ext cx="11466575" cy="886968"/>
          </a:xfrm>
        </p:spPr>
        <p:txBody>
          <a:bodyPr>
            <a:normAutofit fontScale="90000"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What is SLR?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618291D-42F1-D2D4-4709-7183CE0620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D483B-8E60-C5E7-CE00-14D46179D201}"/>
              </a:ext>
            </a:extLst>
          </p:cNvPr>
          <p:cNvSpPr txBox="1"/>
          <p:nvPr/>
        </p:nvSpPr>
        <p:spPr>
          <a:xfrm>
            <a:off x="1508760" y="2093976"/>
            <a:ext cx="83667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-a series of guidelines, defined by Kitchenham (the „mother” of SLRs)</a:t>
            </a:r>
          </a:p>
          <a:p>
            <a:endParaRPr lang="ro-RO" sz="2200" b="1" dirty="0"/>
          </a:p>
          <a:p>
            <a:r>
              <a:rPr lang="ro-RO" sz="2200" b="1" dirty="0"/>
              <a:t>-helps us identify current trends, gaps, best practices (in our case, IoT testing)</a:t>
            </a:r>
          </a:p>
          <a:p>
            <a:endParaRPr lang="ro-RO" sz="2200" b="1" dirty="0"/>
          </a:p>
        </p:txBody>
      </p:sp>
      <p:pic>
        <p:nvPicPr>
          <p:cNvPr id="2050" name="Picture 2" descr="Systematic reviews - for researchers | Karolinska Institutet University  Library">
            <a:extLst>
              <a:ext uri="{FF2B5EF4-FFF2-40B4-BE49-F238E27FC236}">
                <a16:creationId xmlns:a16="http://schemas.microsoft.com/office/drawing/2014/main" id="{F5FFDE02-ABD2-9233-901F-215097A2C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802" y="4119874"/>
            <a:ext cx="7686675" cy="254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92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7280-01C1-A546-8049-9B644AA2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54127D3E-F632-692E-6192-7A11925D04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C9464A-6EBE-10E2-AEA3-625AA5938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1"/>
            <a:ext cx="11466575" cy="886968"/>
          </a:xfrm>
        </p:spPr>
        <p:txBody>
          <a:bodyPr>
            <a:normAutofit fontScale="90000"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BEF7FB-C674-E571-CABC-11FB2A484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2C8B-8B4D-F7A0-752F-CE92A96481B1}"/>
              </a:ext>
            </a:extLst>
          </p:cNvPr>
          <p:cNvSpPr txBox="1"/>
          <p:nvPr/>
        </p:nvSpPr>
        <p:spPr>
          <a:xfrm>
            <a:off x="1508760" y="2093976"/>
            <a:ext cx="83667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o-RO" b="1" dirty="0"/>
          </a:p>
          <a:p>
            <a:endParaRPr lang="ro-RO" b="1" dirty="0"/>
          </a:p>
          <a:p>
            <a:r>
              <a:rPr lang="en-US" sz="2400" b="1" dirty="0">
                <a:solidFill>
                  <a:srgbClr val="C00000"/>
                </a:solidFill>
              </a:rPr>
              <a:t>1: Most prevalent testing methodologies for security, reliability and performance?</a:t>
            </a:r>
            <a:endParaRPr lang="en-US" sz="2400" b="0" dirty="0">
              <a:solidFill>
                <a:srgbClr val="C00000"/>
              </a:solidFill>
              <a:effectLst/>
            </a:endParaRPr>
          </a:p>
          <a:p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2: Main challenges preventing full test automation in integrated environments?</a:t>
            </a:r>
            <a:endParaRPr lang="ro-RO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71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02A8-F221-3235-9C48-E93F9CEF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8BAF6824-9A95-2371-7368-3039227B39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2B8FDE-03AB-09F3-EB49-4F4FE50DC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670B47D-8B18-B47C-7576-1099FE0BE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201D8-5308-82FF-C0A3-2605F89453D1}"/>
              </a:ext>
            </a:extLst>
          </p:cNvPr>
          <p:cNvSpPr txBox="1"/>
          <p:nvPr/>
        </p:nvSpPr>
        <p:spPr>
          <a:xfrm>
            <a:off x="1508760" y="2093976"/>
            <a:ext cx="83667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-SLR</a:t>
            </a:r>
          </a:p>
          <a:p>
            <a:endParaRPr lang="ro-RO" sz="2200" b="1" dirty="0"/>
          </a:p>
          <a:p>
            <a:r>
              <a:rPr lang="ro-RO" sz="2200" b="1" dirty="0"/>
              <a:t>-Define keywords: IoT Testing, Quality</a:t>
            </a:r>
          </a:p>
          <a:p>
            <a:endParaRPr lang="ro-RO" sz="2200" b="1" dirty="0"/>
          </a:p>
          <a:p>
            <a:r>
              <a:rPr lang="ro-RO" sz="2200" b="1" dirty="0"/>
              <a:t>-Search: IEE, MDPI, ResearchGate, ArXiv</a:t>
            </a:r>
          </a:p>
          <a:p>
            <a:endParaRPr lang="ro-RO" sz="2200" b="1" dirty="0"/>
          </a:p>
          <a:p>
            <a:r>
              <a:rPr lang="ro-RO" sz="2200" b="1" dirty="0"/>
              <a:t>-Selection: initally 30 papers</a:t>
            </a:r>
          </a:p>
          <a:p>
            <a:endParaRPr lang="ro-RO" sz="2200" b="1" dirty="0"/>
          </a:p>
          <a:p>
            <a:r>
              <a:rPr lang="ro-RO" sz="2200" b="1" dirty="0"/>
              <a:t>-Filter: keep only the most relevant for our study =&gt; 10 primary studies</a:t>
            </a:r>
          </a:p>
        </p:txBody>
      </p:sp>
    </p:spTree>
    <p:extLst>
      <p:ext uri="{BB962C8B-B14F-4D97-AF65-F5344CB8AC3E}">
        <p14:creationId xmlns:p14="http://schemas.microsoft.com/office/powerpoint/2010/main" val="312213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E93C-7BF6-9631-0FC3-5A17B56C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5DD4886A-9A9D-362C-BBDA-2B689CEEDD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4103B5-3B79-EF82-3E25-A6A65634B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Data Extraction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B8E544D-8B64-3F50-BEE3-82A2B991F1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B8106-BD20-5100-4C09-AD3FFB95FF82}"/>
              </a:ext>
            </a:extLst>
          </p:cNvPr>
          <p:cNvSpPr txBox="1"/>
          <p:nvPr/>
        </p:nvSpPr>
        <p:spPr>
          <a:xfrm>
            <a:off x="1508760" y="2093976"/>
            <a:ext cx="836676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-testing methodology</a:t>
            </a:r>
          </a:p>
          <a:p>
            <a:endParaRPr lang="ro-RO" sz="2200" b="1" dirty="0"/>
          </a:p>
          <a:p>
            <a:r>
              <a:rPr lang="ro-RO" sz="2200" b="1" dirty="0"/>
              <a:t>-quality focus (security, performance, reliability, etc.)</a:t>
            </a:r>
          </a:p>
          <a:p>
            <a:endParaRPr lang="ro-RO" sz="2200" b="1" dirty="0"/>
          </a:p>
          <a:p>
            <a:r>
              <a:rPr lang="ro-RO" sz="2200" b="1" dirty="0"/>
              <a:t>-tools / datasets</a:t>
            </a:r>
          </a:p>
          <a:p>
            <a:endParaRPr lang="ro-RO" sz="2200" b="1" dirty="0"/>
          </a:p>
          <a:p>
            <a:r>
              <a:rPr lang="ro-RO" sz="2200" b="1" dirty="0"/>
              <a:t>-results (trade-offs)</a:t>
            </a:r>
          </a:p>
        </p:txBody>
      </p:sp>
    </p:spTree>
    <p:extLst>
      <p:ext uri="{BB962C8B-B14F-4D97-AF65-F5344CB8AC3E}">
        <p14:creationId xmlns:p14="http://schemas.microsoft.com/office/powerpoint/2010/main" val="304443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0665-0A01-BA95-48FC-69D4BDB6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59E865BE-0984-5BF2-653A-D8CA264A8A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DAE5CE-0394-FCBE-F2C3-968E5177B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Tabulation (Papers Overview)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120879-89F7-3F6B-83CF-8E4342396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B0F1-5A17-446E-158E-4682E56ABDA2}"/>
              </a:ext>
            </a:extLst>
          </p:cNvPr>
          <p:cNvSpPr txBox="1"/>
          <p:nvPr/>
        </p:nvSpPr>
        <p:spPr>
          <a:xfrm>
            <a:off x="1508760" y="2093976"/>
            <a:ext cx="836676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-table of the 10 selected papers and relevant extracted features / data</a:t>
            </a:r>
          </a:p>
          <a:p>
            <a:endParaRPr lang="ro-RO" sz="2200" b="1" dirty="0"/>
          </a:p>
          <a:p>
            <a:r>
              <a:rPr lang="ro-RO" sz="2200" b="1" dirty="0"/>
              <a:t>-keep only the most relevant information (to be used later for charts for a more visual experience)</a:t>
            </a:r>
          </a:p>
        </p:txBody>
      </p:sp>
    </p:spTree>
    <p:extLst>
      <p:ext uri="{BB962C8B-B14F-4D97-AF65-F5344CB8AC3E}">
        <p14:creationId xmlns:p14="http://schemas.microsoft.com/office/powerpoint/2010/main" val="3289119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0167-7AE0-433C-E552-280101FC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812C87DD-E9C5-E7A0-67B0-B2D0C6AFF2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189955-F4BB-A95B-FA92-2E05CD215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Prevalent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545122-4EBA-A13A-118A-AB1CCEF59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BFA5B-A247-F8C9-572D-DBCC3FD3530C}"/>
              </a:ext>
            </a:extLst>
          </p:cNvPr>
          <p:cNvSpPr txBox="1"/>
          <p:nvPr/>
        </p:nvSpPr>
        <p:spPr>
          <a:xfrm>
            <a:off x="1508760" y="2093976"/>
            <a:ext cx="91348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The focus was on Network / Edge layers</a:t>
            </a:r>
          </a:p>
          <a:p>
            <a:endParaRPr lang="ro-RO" sz="2200" b="1" dirty="0"/>
          </a:p>
          <a:p>
            <a:r>
              <a:rPr lang="ro-RO" sz="2200" b="1" dirty="0"/>
              <a:t>Security Methods:</a:t>
            </a:r>
          </a:p>
          <a:p>
            <a:r>
              <a:rPr lang="ro-RO" sz="2200" b="1" dirty="0"/>
              <a:t>	-Fuzzing, Penetration Testing, ML-based using LSTM / RNN</a:t>
            </a:r>
          </a:p>
          <a:p>
            <a:endParaRPr lang="ro-RO" sz="2200" b="1" dirty="0"/>
          </a:p>
          <a:p>
            <a:r>
              <a:rPr lang="ro-RO" sz="2200" b="1" dirty="0"/>
              <a:t>Reliability Methods:</a:t>
            </a:r>
          </a:p>
          <a:p>
            <a:r>
              <a:rPr lang="ro-RO" sz="2200" b="1" dirty="0"/>
              <a:t>	-Model-Based Testing (MBT), quality profiles for heterogenous IoT nodes following ISO/IEC 25010, protocol benchmarking (MQTT vs CoAP vs AMQP)</a:t>
            </a:r>
          </a:p>
        </p:txBody>
      </p:sp>
    </p:spTree>
    <p:extLst>
      <p:ext uri="{BB962C8B-B14F-4D97-AF65-F5344CB8AC3E}">
        <p14:creationId xmlns:p14="http://schemas.microsoft.com/office/powerpoint/2010/main" val="40231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F4C2-8EC0-42FA-B5AF-699C4582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3DB175FE-2931-7F1D-8DCB-8D62820584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688AFD-4198-A143-3001-265743858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 fontScale="90000"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Quality Measurement Techniques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ED1E9A-4823-8705-12E2-B0C47097C7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38BBE-FACF-CF9E-06F6-0CBDE72D8406}"/>
              </a:ext>
            </a:extLst>
          </p:cNvPr>
          <p:cNvSpPr txBox="1"/>
          <p:nvPr/>
        </p:nvSpPr>
        <p:spPr>
          <a:xfrm>
            <a:off x="1508760" y="2093976"/>
            <a:ext cx="91348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-metrics: latency implied, packet loss, fault tolerance</a:t>
            </a:r>
          </a:p>
          <a:p>
            <a:endParaRPr lang="ro-RO" sz="2200" b="1" dirty="0"/>
          </a:p>
          <a:p>
            <a:r>
              <a:rPr lang="ro-RO" sz="2200" b="1" dirty="0"/>
              <a:t>-energy efficiency and interoperability are prioritized</a:t>
            </a:r>
          </a:p>
          <a:p>
            <a:endParaRPr lang="ro-RO" sz="2200" b="1" dirty="0"/>
          </a:p>
          <a:p>
            <a:r>
              <a:rPr lang="ro-RO" sz="2200" b="1" dirty="0"/>
              <a:t>-recoverability and fault tolerance underdeveloped</a:t>
            </a:r>
          </a:p>
        </p:txBody>
      </p:sp>
    </p:spTree>
    <p:extLst>
      <p:ext uri="{BB962C8B-B14F-4D97-AF65-F5344CB8AC3E}">
        <p14:creationId xmlns:p14="http://schemas.microsoft.com/office/powerpoint/2010/main" val="320352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BA4C-1595-C0D6-916B-B3B2FCF8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596201B0-A41C-34D2-5E9A-D39ED89ECE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503DD2-9D45-2BDC-46ED-75B750DF4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513740B-172F-84CB-1011-6235BF9C8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4228B-0491-6A54-84B4-5F2DFF68DFA9}"/>
              </a:ext>
            </a:extLst>
          </p:cNvPr>
          <p:cNvSpPr txBox="1"/>
          <p:nvPr/>
        </p:nvSpPr>
        <p:spPr>
          <a:xfrm>
            <a:off x="1508760" y="2093976"/>
            <a:ext cx="91348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-PatrIoT for automated integration and interoperability</a:t>
            </a:r>
          </a:p>
          <a:p>
            <a:endParaRPr lang="ro-RO" sz="2200" b="1" dirty="0"/>
          </a:p>
          <a:p>
            <a:r>
              <a:rPr lang="ro-RO" sz="2200" b="1" dirty="0"/>
              <a:t>-Fuzzing for vulnerability detection</a:t>
            </a:r>
          </a:p>
          <a:p>
            <a:endParaRPr lang="ro-RO" sz="2200" b="1" dirty="0"/>
          </a:p>
          <a:p>
            <a:r>
              <a:rPr lang="ro-RO" sz="2200" b="1" dirty="0"/>
              <a:t>-penetration testing + ML / blockchain frameworks</a:t>
            </a:r>
          </a:p>
        </p:txBody>
      </p:sp>
    </p:spTree>
    <p:extLst>
      <p:ext uri="{BB962C8B-B14F-4D97-AF65-F5344CB8AC3E}">
        <p14:creationId xmlns:p14="http://schemas.microsoft.com/office/powerpoint/2010/main" val="471179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56AC1-DEE0-14DA-23E5-962719B6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B8D08A15-401F-B47C-FFE5-6E78FCB0F1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AE80CB-D3EB-EB41-B32C-729C071E3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Trade-offs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2ABDE7-4344-25FD-A38F-FB9E3C184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66011-018C-771B-91F5-325097C0D624}"/>
              </a:ext>
            </a:extLst>
          </p:cNvPr>
          <p:cNvSpPr txBox="1"/>
          <p:nvPr/>
        </p:nvSpPr>
        <p:spPr>
          <a:xfrm>
            <a:off x="1508760" y="2093976"/>
            <a:ext cx="91348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-Blockchain: induces a significant latency of up to 20%</a:t>
            </a:r>
          </a:p>
          <a:p>
            <a:endParaRPr lang="ro-RO" sz="2200" b="1" dirty="0"/>
          </a:p>
          <a:p>
            <a:r>
              <a:rPr lang="ro-RO" sz="2200" b="1" dirty="0"/>
              <a:t>-ML: demands high computational cost</a:t>
            </a:r>
          </a:p>
          <a:p>
            <a:endParaRPr lang="ro-RO" sz="2200" b="1" dirty="0"/>
          </a:p>
          <a:p>
            <a:r>
              <a:rPr lang="ro-RO" sz="2200" b="1" dirty="0"/>
              <a:t>-Emulators: fail to fully replicate real world problems</a:t>
            </a:r>
          </a:p>
        </p:txBody>
      </p:sp>
    </p:spTree>
    <p:extLst>
      <p:ext uri="{BB962C8B-B14F-4D97-AF65-F5344CB8AC3E}">
        <p14:creationId xmlns:p14="http://schemas.microsoft.com/office/powerpoint/2010/main" val="1653028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D3DA0-B55E-B9F9-356B-45AF166E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54887145-B10E-8DBB-EB53-720F1DF9C7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23FAAB-11A8-432C-F148-1CD1B6082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E8D631-2C83-B343-B2CB-403B63FBA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C06E1-842F-5BD4-EDCD-C1E6F3233B7E}"/>
              </a:ext>
            </a:extLst>
          </p:cNvPr>
          <p:cNvSpPr txBox="1"/>
          <p:nvPr/>
        </p:nvSpPr>
        <p:spPr>
          <a:xfrm>
            <a:off x="1508760" y="2093976"/>
            <a:ext cx="91348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-Specialized IoT audits =&gt; +40% more vulnerabilities detected</a:t>
            </a:r>
          </a:p>
          <a:p>
            <a:endParaRPr lang="ro-RO" sz="2200" b="1" dirty="0"/>
          </a:p>
          <a:p>
            <a:r>
              <a:rPr lang="ro-RO" sz="2200" b="1" dirty="0"/>
              <a:t>-LSTM / RNN =&gt; 98% detection accuracy of network attacks</a:t>
            </a:r>
          </a:p>
          <a:p>
            <a:endParaRPr lang="ro-RO" sz="2200" b="1" dirty="0"/>
          </a:p>
          <a:p>
            <a:r>
              <a:rPr lang="ro-RO" sz="2200" b="1" dirty="0"/>
              <a:t>-MBT =&gt; reduced manual effort in CI pipelines</a:t>
            </a:r>
          </a:p>
        </p:txBody>
      </p:sp>
    </p:spTree>
    <p:extLst>
      <p:ext uri="{BB962C8B-B14F-4D97-AF65-F5344CB8AC3E}">
        <p14:creationId xmlns:p14="http://schemas.microsoft.com/office/powerpoint/2010/main" val="3524765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2AEA-260F-53DD-3A1F-64DF4395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A7438E94-02F7-9FD7-DB70-5FFE5915B6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732F4C-4F3E-0C68-ABF0-9EA1B493C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700784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Visual Insights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EC05AE9-DCCF-F583-3950-096228E3F1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3C47841-AEAF-2D5C-0D45-515E6664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14" y="1967337"/>
            <a:ext cx="3513714" cy="209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190B02D-021B-0D09-FA30-8E73FF8A6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707" y="3129702"/>
            <a:ext cx="3633149" cy="216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DD6BB0B-B2CA-06F0-FFB8-BCDA8216F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894" y="1967336"/>
            <a:ext cx="3473902" cy="209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08A562CB-66E6-4AE9-968D-044B8C62BBB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4454180"/>
                  </p:ext>
                </p:extLst>
              </p:nvPr>
            </p:nvGraphicFramePr>
            <p:xfrm>
              <a:off x="7266275" y="203291"/>
              <a:ext cx="4570095" cy="274129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08A562CB-66E6-4AE9-968D-044B8C62BB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66275" y="203291"/>
                <a:ext cx="4570095" cy="2741295"/>
              </a:xfrm>
              <a:prstGeom prst="rect">
                <a:avLst/>
              </a:prstGeom>
            </p:spPr>
          </p:pic>
        </mc:Fallback>
      </mc:AlternateContent>
      <p:pic>
        <p:nvPicPr>
          <p:cNvPr id="3080" name="Picture 8">
            <a:extLst>
              <a:ext uri="{FF2B5EF4-FFF2-40B4-BE49-F238E27FC236}">
                <a16:creationId xmlns:a16="http://schemas.microsoft.com/office/drawing/2014/main" id="{001483D1-FC50-4B2F-D371-3B34461F2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840" y="4171850"/>
            <a:ext cx="43719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57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C4DE-916A-2DB2-2D04-BA792EB9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91CDDDEA-945B-16E5-B1D7-93095C27A5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E1AFE-9CCB-A720-B03E-DB928D741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Future Work and Discussion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F3F0B3-4B7D-41FD-A1CC-362CE96C2F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C14F8-653E-B0BD-FACA-29D65AE5E102}"/>
              </a:ext>
            </a:extLst>
          </p:cNvPr>
          <p:cNvSpPr txBox="1"/>
          <p:nvPr/>
        </p:nvSpPr>
        <p:spPr>
          <a:xfrm>
            <a:off x="1508760" y="2093976"/>
            <a:ext cx="913485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-surveys =&gt; applied frameworks</a:t>
            </a:r>
          </a:p>
          <a:p>
            <a:r>
              <a:rPr lang="ro-RO" sz="2200" b="1" dirty="0"/>
              <a:t>-industry gap remains</a:t>
            </a:r>
          </a:p>
          <a:p>
            <a:r>
              <a:rPr lang="ro-RO" sz="2200" b="1" dirty="0"/>
              <a:t>-hybrid approaches like ML / Blockchain are promising but costly</a:t>
            </a:r>
          </a:p>
          <a:p>
            <a:endParaRPr lang="ro-RO" sz="2200" b="1" dirty="0"/>
          </a:p>
          <a:p>
            <a:r>
              <a:rPr lang="ro-RO" sz="2200" b="1" dirty="0"/>
              <a:t>-state-aware fuzzers needed, together with lightweight ML for perception layer testing</a:t>
            </a:r>
          </a:p>
          <a:p>
            <a:r>
              <a:rPr lang="ro-RO" sz="2200" b="1" dirty="0"/>
              <a:t>-well defined metrics for fault tolerance and recoverability</a:t>
            </a:r>
          </a:p>
        </p:txBody>
      </p:sp>
    </p:spTree>
    <p:extLst>
      <p:ext uri="{BB962C8B-B14F-4D97-AF65-F5344CB8AC3E}">
        <p14:creationId xmlns:p14="http://schemas.microsoft.com/office/powerpoint/2010/main" val="2287020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E442-B01C-CC02-EFF7-738CDABC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n abstract genetic concept">
            <a:extLst>
              <a:ext uri="{FF2B5EF4-FFF2-40B4-BE49-F238E27FC236}">
                <a16:creationId xmlns:a16="http://schemas.microsoft.com/office/drawing/2014/main" id="{F6AB778E-08E2-6F35-7C5E-3A1ED578A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607" r="-1" b="18129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EAA19A-A3C4-5168-5A60-5E2996670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37" y="795528"/>
            <a:ext cx="11695031" cy="1091565"/>
          </a:xfrm>
        </p:spPr>
        <p:txBody>
          <a:bodyPr>
            <a:normAutofit/>
          </a:bodyPr>
          <a:lstStyle/>
          <a:p>
            <a:r>
              <a:rPr lang="ro-RO" sz="600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5A25BE8-7BC3-0132-37AF-882CAC2D9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98B3B-724F-95F9-4C02-0D6C41B30619}"/>
              </a:ext>
            </a:extLst>
          </p:cNvPr>
          <p:cNvSpPr txBox="1"/>
          <p:nvPr/>
        </p:nvSpPr>
        <p:spPr>
          <a:xfrm>
            <a:off x="1508760" y="2093976"/>
            <a:ext cx="913485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b="1" dirty="0"/>
              <a:t>-IoT testing is evloving toward automated specialized frameworks</a:t>
            </a:r>
          </a:p>
          <a:p>
            <a:endParaRPr lang="ro-RO" sz="2200" b="1" dirty="0"/>
          </a:p>
          <a:p>
            <a:r>
              <a:rPr lang="ro-RO" sz="2200" b="1" dirty="0"/>
              <a:t>-MBT + ML + pentesting = most effective combination today</a:t>
            </a:r>
          </a:p>
          <a:p>
            <a:endParaRPr lang="ro-RO" sz="2200" b="1" dirty="0"/>
          </a:p>
          <a:p>
            <a:r>
              <a:rPr lang="ro-RO" sz="2200" b="1" dirty="0"/>
              <a:t>-industry adoption requires balancing latency, cost, accuracy</a:t>
            </a:r>
          </a:p>
        </p:txBody>
      </p:sp>
    </p:spTree>
    <p:extLst>
      <p:ext uri="{BB962C8B-B14F-4D97-AF65-F5344CB8AC3E}">
        <p14:creationId xmlns:p14="http://schemas.microsoft.com/office/powerpoint/2010/main" val="3253346794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549</Words>
  <Application>Microsoft Office PowerPoint</Application>
  <PresentationFormat>Widescreen</PresentationFormat>
  <Paragraphs>98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Batang</vt:lpstr>
      <vt:lpstr>Aptos</vt:lpstr>
      <vt:lpstr>Aptos Narrow</vt:lpstr>
      <vt:lpstr>Arial</vt:lpstr>
      <vt:lpstr>Avenir Next LT Pro Light</vt:lpstr>
      <vt:lpstr>AlignmentVTI</vt:lpstr>
      <vt:lpstr>Systematic Review on IoT Systems Testing</vt:lpstr>
      <vt:lpstr>Why this topic?</vt:lpstr>
      <vt:lpstr>Why Systematic Literature Review?</vt:lpstr>
      <vt:lpstr>What is SLR?</vt:lpstr>
      <vt:lpstr>Research Questions</vt:lpstr>
      <vt:lpstr>Methodology</vt:lpstr>
      <vt:lpstr>Data Extraction</vt:lpstr>
      <vt:lpstr>Tabulation (Papers Overview)</vt:lpstr>
      <vt:lpstr>Prevalent Methods</vt:lpstr>
      <vt:lpstr>Quality Measurement Techniques</vt:lpstr>
      <vt:lpstr>Tools</vt:lpstr>
      <vt:lpstr>Trade-offs</vt:lpstr>
      <vt:lpstr>Results</vt:lpstr>
      <vt:lpstr>Visual Insights</vt:lpstr>
      <vt:lpstr>Future Work and 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SERGIU-RAREŞ GOIAN</dc:creator>
  <cp:lastModifiedBy>SERGIU-RAREŞ GOIAN</cp:lastModifiedBy>
  <cp:revision>2</cp:revision>
  <dcterms:created xsi:type="dcterms:W3CDTF">2026-01-27T16:20:30Z</dcterms:created>
  <dcterms:modified xsi:type="dcterms:W3CDTF">2026-01-27T17:13:02Z</dcterms:modified>
</cp:coreProperties>
</file>